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78" r:id="rId4"/>
    <p:sldId id="279" r:id="rId5"/>
    <p:sldId id="282" r:id="rId6"/>
    <p:sldId id="276" r:id="rId7"/>
    <p:sldId id="284" r:id="rId8"/>
    <p:sldId id="280" r:id="rId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557" autoAdjust="0"/>
  </p:normalViewPr>
  <p:slideViewPr>
    <p:cSldViewPr snapToGrid="0">
      <p:cViewPr varScale="1">
        <p:scale>
          <a:sx n="60" d="100"/>
          <a:sy n="60" d="100"/>
        </p:scale>
        <p:origin x="908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3A61-7C40-2DA8-2DCA-4B6CA30E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8BDA2-0007-D966-C0C0-38C4B2C88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8EE422-B9A2-5E1B-9A40-36F773DC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3DA599-98D9-51A5-4E10-B8954C66E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47994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224B2-0198-2A83-8D46-3B22DDB10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AE86F6-7ECD-7286-4EB5-33A398AAF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51B3197-904C-219F-3B11-0F50FEF5E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A398D06-BD5E-3F31-FF24-25D8FB1A0D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75646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8B1B-DDC8-31BE-2F18-22F64C423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4F5BA10-82A0-B3C0-FC04-EB2C960DC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9BDEC87-839F-C284-A91C-8285A0783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F6D73EA-1A6B-D363-9F70-B9A4F207D6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5944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&lt; TORSION CORRECTION &gt;</a:t>
            </a:r>
          </a:p>
          <a:p>
            <a:endParaRPr lang="it-IT" b="1" i="1" dirty="0">
              <a:solidFill>
                <a:schemeClr val="bg1"/>
              </a:solidFill>
            </a:endParaRPr>
          </a:p>
          <a:p>
            <a:r>
              <a:rPr lang="it-IT" b="1" i="1" dirty="0">
                <a:solidFill>
                  <a:schemeClr val="bg1"/>
                </a:solidFill>
              </a:rPr>
              <a:t>2024 dataset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for TCCP and TCCPA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For the longer crystals (TCCP and TCCPA), the effect of the torsion is not negligible and must be incorporated into the analysis.</a:t>
                </a:r>
              </a:p>
              <a:p>
                <a:r>
                  <a:rPr lang="en-US" dirty="0"/>
                  <a:t>The effect of the torsion can be corrected by doing a checkerboard analysis:</a:t>
                </a:r>
              </a:p>
              <a:p>
                <a:pPr lvl="1"/>
                <a:r>
                  <a:rPr lang="en-US" sz="2800" dirty="0"/>
                  <a:t>By dividing the data sample into square bins (for example 0.1 mm x 0.1 mm) as a function of the impact position on the crystal surface</a:t>
                </a:r>
              </a:p>
              <a:p>
                <a:pPr lvl="1"/>
                <a:r>
                  <a:rPr lang="en-US" sz="2800" dirty="0"/>
                  <a:t>The angular shift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is then varied to find the maximum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en-US" sz="2800" dirty="0"/>
                  <a:t> for each bin</a:t>
                </a:r>
              </a:p>
              <a:p>
                <a:pPr lvl="1"/>
                <a:r>
                  <a:rPr lang="en-US" sz="2800" dirty="0"/>
                  <a:t>We obtain a 2D map of torsion variation across the crystal surface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 t="-2299" r="-1739" b="-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5455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62C2-9CB7-F31D-2593-1B8F6E4F4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C8479E72-EF8C-7B07-BBB6-1817F9461A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309"/>
            <a:ext cx="6263248" cy="468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3D0BF2F-9325-5F55-02E7-64455C9C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p:pic>
        <p:nvPicPr>
          <p:cNvPr id="10" name="Segnaposto contenuto 9">
            <a:extLst>
              <a:ext uri="{FF2B5EF4-FFF2-40B4-BE49-F238E27FC236}">
                <a16:creationId xmlns:a16="http://schemas.microsoft.com/office/drawing/2014/main" id="{593973D7-9D30-694C-3199-822A09125A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792" y="1568309"/>
            <a:ext cx="6263249" cy="4680000"/>
          </a:xfrm>
          <a:prstGeom prst="rect">
            <a:avLst/>
          </a:prstGeom>
        </p:spPr>
      </p:pic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EF3CCB-61D1-2DA6-E3A6-01002ED48F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9FF704-6E26-2FC7-9CEB-79B3BF633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CF3FE8-4F29-F885-9E68-FFF0B88F3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0893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526EB-D122-6CEE-6C64-7A2AD6DA4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18C1DE-6D96-6DA1-4E12-2A1BB694A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B5C2D23-C0AC-680A-9985-7B673F13F0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/>
                  <a:t>The 2d map is fitted through: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p>
                      <m:s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𝑥𝑦</m:t>
                    </m:r>
                  </m:oMath>
                </a14:m>
                <a:endParaRPr lang="en-US" sz="2800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it-IT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endParaRPr lang="en-US" sz="2800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B5C2D23-C0AC-680A-9985-7B673F13F0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31EE0F-E66C-8187-4B47-29A6C15CF8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12E6716-1637-677C-6156-4F7A04ED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B63049B-43B9-E82A-F634-D683E5DB4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17AB9AA-3F99-A362-9BD4-9C519CC04F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437" y="3538662"/>
            <a:ext cx="3960000" cy="2958976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AEE7A0B8-744D-AD8E-ADDF-62186AE2AE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5100" y="3534220"/>
            <a:ext cx="3960000" cy="2958976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9A5E4D0-ADDD-A284-C2A4-1C3745AF17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4450" y="3534220"/>
            <a:ext cx="3960000" cy="2958976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C8455F5-2068-D03A-9DDA-7B2223D71704}"/>
              </a:ext>
            </a:extLst>
          </p:cNvPr>
          <p:cNvSpPr txBox="1">
            <a:spLocks noChangeAspect="1"/>
          </p:cNvSpPr>
          <p:nvPr/>
        </p:nvSpPr>
        <p:spPr>
          <a:xfrm>
            <a:off x="350445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593FF22-014A-2E56-EDBA-8791C520CBC9}"/>
              </a:ext>
            </a:extLst>
          </p:cNvPr>
          <p:cNvSpPr txBox="1">
            <a:spLocks noChangeAspect="1"/>
          </p:cNvSpPr>
          <p:nvPr/>
        </p:nvSpPr>
        <p:spPr>
          <a:xfrm>
            <a:off x="723690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4B4DAFEE-C0D3-EDD8-7AED-A3AF8C739833}"/>
              </a:ext>
            </a:extLst>
          </p:cNvPr>
          <p:cNvSpPr txBox="1">
            <a:spLocks noChangeAspect="1"/>
          </p:cNvSpPr>
          <p:nvPr/>
        </p:nvSpPr>
        <p:spPr>
          <a:xfrm>
            <a:off x="1096290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337362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84BC6-F619-3D20-E561-CBF538445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64777B-C649-39D4-6641-30DE28AA1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FA5B10C-4815-DBEA-D799-9052F3AF19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Now we should correct the effect of torsion using the parameter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𝑓𝑖𝑡</m:t>
                        </m:r>
                      </m:sup>
                    </m:sSub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found for each bin.</a:t>
                </a:r>
              </a:p>
              <a:p>
                <a:pPr marL="0" indent="0" algn="ctr">
                  <a:buNone/>
                </a:pPr>
                <a:r>
                  <a:rPr lang="en-US" sz="2800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we will use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sz="2800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FFC000"/>
                    </a:solidFill>
                  </a:rPr>
                  <a:t>How </a:t>
                </a:r>
                <a:r>
                  <a:rPr lang="en-US" dirty="0">
                    <a:solidFill>
                      <a:srgbClr val="FFC000"/>
                    </a:solidFill>
                  </a:rPr>
                  <a:t>am I behaving if the fit is not linear but parabolic?</a:t>
                </a:r>
                <a:endParaRPr lang="en-US" sz="2800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FA5B10C-4815-DBEA-D799-9052F3AF19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8BA674C-6706-D004-56D6-D583186BEB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BFD406-E3DF-14FC-E56A-CB95E3DBB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FF23DC4-C8C1-3A3D-8308-E545C76B8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8727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0566D-086B-A069-03EE-5C52C1B9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24D58B-E816-CD82-AD8D-B8A58B9B2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EFFICIENCY COMPUTATION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28AD20-5427-DB4F-5449-669AE5F4D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 err="1"/>
              <a:t>If</a:t>
            </a:r>
            <a:r>
              <a:rPr lang="it-IT" dirty="0"/>
              <a:t> I </a:t>
            </a:r>
            <a:r>
              <a:rPr lang="it-IT" dirty="0" err="1"/>
              <a:t>keep</a:t>
            </a:r>
            <a:r>
              <a:rPr lang="it-IT" dirty="0"/>
              <a:t> the second-</a:t>
            </a:r>
            <a:r>
              <a:rPr lang="it-IT" dirty="0" err="1"/>
              <a:t>order</a:t>
            </a:r>
            <a:r>
              <a:rPr lang="it-IT" dirty="0"/>
              <a:t> </a:t>
            </a:r>
            <a:r>
              <a:rPr lang="it-IT" dirty="0" err="1"/>
              <a:t>corrections</a:t>
            </a:r>
            <a:r>
              <a:rPr lang="it-IT" dirty="0"/>
              <a:t>: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FE18A1-4E14-0402-2728-8DF7329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EE51FA-C2CE-E809-F2E8-83E423BFD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E171ED-CAF4-3550-08FE-9B10AE7CE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039DBF4-755C-A609-11E8-605A1238D5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653" y="1979385"/>
            <a:ext cx="3600000" cy="257594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44C95204-F1CD-D63C-C469-51744C8144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9653" y="1979385"/>
            <a:ext cx="3600000" cy="2575940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6E182947-0044-AA46-C176-18A656083C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6653" y="1979385"/>
            <a:ext cx="3600000" cy="2575940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2C7F6AD-2DC8-F3CC-05D2-B92254D0CCB0}"/>
              </a:ext>
            </a:extLst>
          </p:cNvPr>
          <p:cNvSpPr txBox="1">
            <a:spLocks noChangeAspect="1"/>
          </p:cNvSpPr>
          <p:nvPr/>
        </p:nvSpPr>
        <p:spPr>
          <a:xfrm>
            <a:off x="2928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9EEE5F4-1237-8DB5-4970-4380998802FD}"/>
              </a:ext>
            </a:extLst>
          </p:cNvPr>
          <p:cNvSpPr txBox="1">
            <a:spLocks noChangeAspect="1"/>
          </p:cNvSpPr>
          <p:nvPr/>
        </p:nvSpPr>
        <p:spPr>
          <a:xfrm>
            <a:off x="7005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CCC6664-CC29-FE03-25C2-1D9A3CF069DD}"/>
              </a:ext>
            </a:extLst>
          </p:cNvPr>
          <p:cNvSpPr txBox="1">
            <a:spLocks noChangeAspect="1"/>
          </p:cNvSpPr>
          <p:nvPr/>
        </p:nvSpPr>
        <p:spPr>
          <a:xfrm>
            <a:off x="11083800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DD154CF2-3719-8AC5-5982-400145D4689D}"/>
                  </a:ext>
                </a:extLst>
              </p:cNvPr>
              <p:cNvSpPr txBox="1"/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=18.9%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DD154CF2-3719-8AC5-5982-400145D46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904F42E7-04C9-C4DB-086A-1AB99052C2E4}"/>
                  </a:ext>
                </a:extLst>
              </p:cNvPr>
              <p:cNvSpPr txBox="1"/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13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=18.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904F42E7-04C9-C4DB-086A-1AB99052C2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BE86D837-FB9C-08B9-09A2-D655E9F77432}"/>
                  </a:ext>
                </a:extLst>
              </p:cNvPr>
              <p:cNvSpPr txBox="1"/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=18.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BE86D837-FB9C-08B9-09A2-D655E9F77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24971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E2D0A-4DBA-73CF-1FA1-DAE62884D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4FB1E8-4357-33B5-9CFB-A500A9A01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EFFICIENCY COMPUTATION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20966FF-4330-5311-0FC3-55C06A65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 err="1"/>
              <a:t>If</a:t>
            </a:r>
            <a:r>
              <a:rPr lang="it-IT" dirty="0"/>
              <a:t> I do not (</a:t>
            </a:r>
            <a:r>
              <a:rPr lang="it-IT" dirty="0" err="1"/>
              <a:t>still</a:t>
            </a:r>
            <a:r>
              <a:rPr lang="it-IT" dirty="0"/>
              <a:t> </a:t>
            </a:r>
            <a:r>
              <a:rPr lang="it-IT" dirty="0" err="1"/>
              <a:t>doing</a:t>
            </a:r>
            <a:r>
              <a:rPr lang="it-IT" dirty="0"/>
              <a:t> a 3d </a:t>
            </a:r>
            <a:r>
              <a:rPr lang="it-IT" dirty="0" err="1"/>
              <a:t>fit</a:t>
            </a:r>
            <a:r>
              <a:rPr lang="it-IT" dirty="0"/>
              <a:t>):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1E90FDF-EBD8-BE12-4727-FFB1540E2C1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6EB338-15F0-AE12-96CB-D40A63B4A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D9D16BF-B598-E7BB-224E-13BBA135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8C10532F-FA5B-0CFB-1803-C586EAB544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553" y="1979385"/>
            <a:ext cx="3594200" cy="257594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27C1EEF-892C-95EB-8D88-93978C150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59653" y="1979785"/>
            <a:ext cx="3600000" cy="2575140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D8AA8EC-057D-2B93-430C-A42D979763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9553" y="1979385"/>
            <a:ext cx="3594200" cy="2575940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E92AEF6-987C-22D3-2AF6-BA1DD5CA7D13}"/>
              </a:ext>
            </a:extLst>
          </p:cNvPr>
          <p:cNvSpPr txBox="1">
            <a:spLocks noChangeAspect="1"/>
          </p:cNvSpPr>
          <p:nvPr/>
        </p:nvSpPr>
        <p:spPr>
          <a:xfrm>
            <a:off x="2928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8340BEA-104A-4BD8-07C0-85331CC62F3D}"/>
              </a:ext>
            </a:extLst>
          </p:cNvPr>
          <p:cNvSpPr txBox="1">
            <a:spLocks noChangeAspect="1"/>
          </p:cNvSpPr>
          <p:nvPr/>
        </p:nvSpPr>
        <p:spPr>
          <a:xfrm>
            <a:off x="7005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EEE0B01-D711-6418-B98B-B2DC9C3800D8}"/>
              </a:ext>
            </a:extLst>
          </p:cNvPr>
          <p:cNvSpPr txBox="1">
            <a:spLocks noChangeAspect="1"/>
          </p:cNvSpPr>
          <p:nvPr/>
        </p:nvSpPr>
        <p:spPr>
          <a:xfrm>
            <a:off x="11083800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88C66464-97B4-1526-9E81-40BD05D19AD4}"/>
                  </a:ext>
                </a:extLst>
              </p:cNvPr>
              <p:cNvSpPr txBox="1"/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88C66464-97B4-1526-9E81-40BD05D19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14993B24-0593-32D8-8A3F-C748A8AB7B2A}"/>
                  </a:ext>
                </a:extLst>
              </p:cNvPr>
              <p:cNvSpPr txBox="1"/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=4.13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14993B24-0593-32D8-8A3F-C748A8AB7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08DB138D-1E46-ECF0-2112-1A771448BFB3}"/>
                  </a:ext>
                </a:extLst>
              </p:cNvPr>
              <p:cNvSpPr txBox="1"/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08DB138D-1E46-ECF0-2112-1A771448B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4750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CDE03-FA90-C268-77AD-44C789ECD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60C76F-B643-2509-A182-79CF71BD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 DO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2B3989D-9B78-F069-E1AA-3BD85CEE1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endParaRPr lang="it-IT" sz="25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56EA0BA-49F8-240A-5AAA-A3179ABEE9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9EA5A1-5E5C-F667-A9C0-7806A82BC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1494B3D-EEA2-5440-40D0-DD25818BE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795292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2618</TotalTime>
  <Words>383</Words>
  <Application>Microsoft Office PowerPoint</Application>
  <PresentationFormat>Widescreen</PresentationFormat>
  <Paragraphs>86</Paragraphs>
  <Slides>8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Wingdings</vt:lpstr>
      <vt:lpstr>Tema di Office</vt:lpstr>
      <vt:lpstr>Presentazione standard di PowerPoint</vt:lpstr>
      <vt:lpstr>TORSION CORRECTION</vt:lpstr>
      <vt:lpstr>TORSION CORRECTION</vt:lpstr>
      <vt:lpstr>TORSION CORRECTION</vt:lpstr>
      <vt:lpstr>TORSION CORRECTION</vt:lpstr>
      <vt:lpstr>EFFICIENCY COMPUTATION</vt:lpstr>
      <vt:lpstr>EFFICIENCY COMPUTATION</vt:lpstr>
      <vt:lpstr>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15</cp:revision>
  <dcterms:created xsi:type="dcterms:W3CDTF">2026-07-09T15:21:04Z</dcterms:created>
  <dcterms:modified xsi:type="dcterms:W3CDTF">2026-07-16T13:40:56Z</dcterms:modified>
</cp:coreProperties>
</file>