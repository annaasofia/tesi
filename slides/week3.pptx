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8" r:id="rId3"/>
    <p:sldId id="278" r:id="rId4"/>
    <p:sldId id="279" r:id="rId5"/>
    <p:sldId id="282" r:id="rId6"/>
    <p:sldId id="276" r:id="rId7"/>
    <p:sldId id="284" r:id="rId8"/>
    <p:sldId id="280" r:id="rId9"/>
    <p:sldId id="285" r:id="rId10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557" autoAdjust="0"/>
  </p:normalViewPr>
  <p:slideViewPr>
    <p:cSldViewPr snapToGrid="0">
      <p:cViewPr varScale="1">
        <p:scale>
          <a:sx n="60" d="100"/>
          <a:sy n="60" d="100"/>
        </p:scale>
        <p:origin x="9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A422DF-4847-4D6E-BB97-9B75D56F5D74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05392F-55BF-4B8E-AF01-45F81C88C28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70756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73A61-7C40-2DA8-2DCA-4B6CA30E3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1F8BDA2-0007-D966-C0C0-38C4B2C887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08EE422-B9A2-5E1B-9A40-36F773DC0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63DA599-98D9-51A5-4E10-B8954C66E9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447994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224B2-0198-2A83-8D46-3B22DDB10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CAE86F6-7ECD-7286-4EB5-33A398AAFC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51B3197-904C-219F-3B11-0F50FEF5E4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A398D06-BD5E-3F31-FF24-25D8FB1A0D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775646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D8B1B-DDC8-31BE-2F18-22F64C423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4F5BA10-82A0-B3C0-FC04-EB2C960DC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9BDEC87-839F-C284-A91C-8285A07831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F6D73EA-1A6B-D363-9F70-B9A4F207D6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459441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89A20-A2F7-AC27-B0AD-3107CF491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F5D3DE7-4030-6B2C-ED7C-3A792E4EF9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A775644-8DF2-CB36-F83B-7F5C556F72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E520744-A9BE-214F-0FA1-93926D99E4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827123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821984-7078-FB6F-53DE-65CB49592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9B0F579-13AD-1739-E1E4-4A793161E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C366BD3-025C-431C-F893-5E744EEA4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6B1278-2C38-DAAA-2180-B3C7CF9E2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A97CBF5-3F4D-EE8F-2948-DA6B6F727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3875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5BF9F7-DF67-1E3C-547B-A5DD6323C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897D17-B33A-6EF1-CEF4-981888F7F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88FE08-6E28-2435-B1EC-792C36B67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6292FF-01B5-7AC1-867C-EEFA64FD6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8C4693C-59F1-46F6-6F7F-2B896072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51532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8FA5AA-FBCD-6954-D2E4-9E6A30EC9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D157C25-DA71-A412-A8F8-C57915EA4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5B257C5-C8D1-BC78-EB2A-67B902CA7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C0A21B9-77D6-757F-FA97-6E2E8511A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F6EEBBD-AFF0-E5A1-86E3-6BF12AA63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7015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4FECF5-18C9-81B6-0E7F-7D0C714EB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F01EA4-A558-FA53-457E-90179EFC9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796ED2A-F813-DC16-E2A0-22104D9372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583BCB6-BE83-B09D-6860-23AA5F3B8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807251-F5D2-194C-A28B-1FF256E4F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1282E7D-96B1-1FEB-7101-C83209A2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94326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510D65-D9F5-6682-A088-CCB2E189F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C1461FA-1BD4-41E7-5612-B9A63DC68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8E14A22-90A5-A90F-BD0E-F256D29DF7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C80727B-7142-286E-DE3B-7B8E833DC0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5203D91-1775-8A1D-169A-D6CE16954D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26E9141-3575-E6BC-31BD-40D6F8C18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3ED44CC-825C-252C-F9E7-9AFB2DDFE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B4EAFB81-9B92-09AB-31C7-9964D6A0F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13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17CDB2-4B02-4B07-9307-AA112DA8B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445ED6FB-CF38-9B06-4770-9487CFF1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524D896-7BDD-3114-11AB-2CAEBBB03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13DBC53-D20A-CA44-6D1D-3E3F05E17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0041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C8297C2-0D3B-ED56-8B61-FCB9774E0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748E9F0-0B23-D251-AC8F-D94B00C1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ECAA01-23A7-6F7F-6E50-FED32F981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0161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4600CA-7798-78EF-A297-14320CA83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1CFEC1-C59B-4282-7ECD-EED1E5185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FA0D9B-562D-BA61-6460-5B681C24F5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66EF93F-C388-68A8-6F71-1DF2A7CA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C792410-D57D-8112-5C15-B3FE6B716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3A02F4E-4C83-F922-9862-ADBD0F70D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589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02439D-E4F5-5CFC-2A7E-3B7111003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76CAC3F-4306-8C93-FAFD-71172627CC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77C4C85-4610-E23F-E411-CAB1446C0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F0750AC-EC3B-956F-684D-3C0FEE6CB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3A1C4B6-8AD9-702F-FC48-361C84EE6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4A69AD3-3C4C-17D2-A40D-87D5ECD2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9463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5266DE-32C7-73E6-6685-47860E28A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0B3BC10-8E18-A721-00DD-56CA590D6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B7F265D-9538-2214-0D6D-0C6078CC5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1A8A0C-1534-981E-3D4B-30FF7C642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CFED61-CB81-D9BC-C52D-CE21C2E80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69185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ECC69D5-05DB-95B6-C17D-00B311146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E743714-00DC-E371-9597-EB25A8FBA0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70DE6F-350B-6C8A-3068-BFEE6901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5165C43-787E-C48A-1E67-0D099BC1C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0D0913-985D-6312-E38E-9477ADF1A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865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7D8B87C-FD1A-B59F-78B3-6892EFB87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C67C8B9-89B9-D7BA-FB20-C7EB581367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A205FC-B67D-F4FD-003E-9D2FD2A1C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6218BC-0ED4-07D9-A0D8-A1B2B24A2C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910B92-3F1F-78FA-6C70-FEC529A95B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5483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04856A9A-3EED-F0B3-DD7D-25DC283AB95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CHARACTERIZATION OF CRYSTAL EFFICIENCY:</a:t>
            </a:r>
          </a:p>
          <a:p>
            <a:r>
              <a:rPr lang="it-IT" b="1" i="1" dirty="0">
                <a:solidFill>
                  <a:schemeClr val="bg1"/>
                </a:solidFill>
              </a:rPr>
              <a:t>&lt; TORSION CORRECTION &gt;</a:t>
            </a:r>
          </a:p>
          <a:p>
            <a:endParaRPr lang="it-IT" b="1" i="1" dirty="0">
              <a:solidFill>
                <a:schemeClr val="bg1"/>
              </a:solidFill>
            </a:endParaRPr>
          </a:p>
          <a:p>
            <a:r>
              <a:rPr lang="it-IT" b="1" i="1" dirty="0">
                <a:solidFill>
                  <a:schemeClr val="bg1"/>
                </a:solidFill>
              </a:rPr>
              <a:t>2024 dataset</a:t>
            </a:r>
          </a:p>
          <a:p>
            <a:r>
              <a:rPr lang="it-IT" b="1" i="1" dirty="0">
                <a:solidFill>
                  <a:schemeClr val="bg1"/>
                </a:solidFill>
              </a:rPr>
              <a:t>long </a:t>
            </a:r>
            <a:r>
              <a:rPr lang="it-IT" b="1" i="1" dirty="0" err="1">
                <a:solidFill>
                  <a:schemeClr val="bg1"/>
                </a:solidFill>
              </a:rPr>
              <a:t>crystals</a:t>
            </a:r>
            <a:r>
              <a:rPr lang="it-IT" b="1" i="1" dirty="0">
                <a:solidFill>
                  <a:schemeClr val="bg1"/>
                </a:solidFill>
              </a:rPr>
              <a:t> 1 &amp; 2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BC78894-2BE6-7008-73A1-DD7B80075B0A}"/>
              </a:ext>
            </a:extLst>
          </p:cNvPr>
          <p:cNvSpPr txBox="1"/>
          <p:nvPr/>
        </p:nvSpPr>
        <p:spPr>
          <a:xfrm>
            <a:off x="0" y="6211669"/>
            <a:ext cx="1219200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</a:rPr>
              <a:t>JULY 2026</a:t>
            </a:r>
          </a:p>
          <a:p>
            <a:pPr algn="ctr"/>
            <a:r>
              <a:rPr lang="it-IT" dirty="0">
                <a:solidFill>
                  <a:schemeClr val="bg1"/>
                </a:solidFill>
              </a:rPr>
              <a:t>ANNA SOFIA MORO</a:t>
            </a:r>
          </a:p>
        </p:txBody>
      </p:sp>
    </p:spTree>
    <p:extLst>
      <p:ext uri="{BB962C8B-B14F-4D97-AF65-F5344CB8AC3E}">
        <p14:creationId xmlns:p14="http://schemas.microsoft.com/office/powerpoint/2010/main" val="3895283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EC8513-F988-C98D-D333-B6789C129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TORSION CORRECTION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D705E017-952C-14B0-9906-4510932BCA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For the longer crystals (TCCP and TCCPA), the effect of the torsion is not negligible and must be incorporated into the analysis.</a:t>
                </a:r>
              </a:p>
              <a:p>
                <a:r>
                  <a:rPr lang="en-US" dirty="0"/>
                  <a:t>The effect of the torsion can be corrected by doing a checkerboard analysis:</a:t>
                </a:r>
              </a:p>
              <a:p>
                <a:pPr lvl="1"/>
                <a:r>
                  <a:rPr lang="en-US" sz="2800" dirty="0"/>
                  <a:t>By dividing the data sample into square bins (for example 0.1 mm x 0.1 mm) as a function of the impact position on the crystal surface</a:t>
                </a:r>
              </a:p>
              <a:p>
                <a:pPr lvl="1"/>
                <a:r>
                  <a:rPr lang="en-US" sz="2800" dirty="0"/>
                  <a:t>The angular shift parameter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800" dirty="0"/>
                  <a:t> is then varied to find the maximum channeling efficiency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r>
                  <a:rPr lang="en-US" sz="2800" dirty="0"/>
                  <a:t> for each bin</a:t>
                </a:r>
              </a:p>
              <a:p>
                <a:pPr lvl="1"/>
                <a:r>
                  <a:rPr lang="en-US" sz="2800" dirty="0"/>
                  <a:t>We obtain a 2D map of torsion variation across the crystal surface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D705E017-952C-14B0-9906-4510932BCA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2"/>
                <a:stretch>
                  <a:fillRect l="-1043" t="-2299" r="-1739" b="-63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9CBEBE7-5AD1-2A5D-D796-FC860CFACB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65DDE3E-B94E-09A0-E6FC-740927746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B429AC5-2B17-3AA7-829E-3FADDA4D0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54551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62C2-9CB7-F31D-2593-1B8F6E4F4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magine 7">
            <a:extLst>
              <a:ext uri="{FF2B5EF4-FFF2-40B4-BE49-F238E27FC236}">
                <a16:creationId xmlns:a16="http://schemas.microsoft.com/office/drawing/2014/main" id="{C8479E72-EF8C-7B07-BBB6-1817F9461A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68309"/>
            <a:ext cx="6263248" cy="468000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13D0BF2F-9325-5F55-02E7-64455C9CB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TORSION CORRECTION</a:t>
            </a:r>
          </a:p>
        </p:txBody>
      </p:sp>
      <p:pic>
        <p:nvPicPr>
          <p:cNvPr id="10" name="Segnaposto contenuto 9">
            <a:extLst>
              <a:ext uri="{FF2B5EF4-FFF2-40B4-BE49-F238E27FC236}">
                <a16:creationId xmlns:a16="http://schemas.microsoft.com/office/drawing/2014/main" id="{593973D7-9D30-694C-3199-822A09125A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3792" y="1568309"/>
            <a:ext cx="6263249" cy="4680000"/>
          </a:xfrm>
          <a:prstGeom prst="rect">
            <a:avLst/>
          </a:prstGeom>
        </p:spPr>
      </p:pic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3EF3CCB-61D1-2DA6-E3A6-01002ED48F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89FF704-6E26-2FC7-9CEB-79B3BF633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0CF3FE8-4F29-F885-9E68-FFF0B88F3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3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08937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526EB-D122-6CEE-6C64-7A2AD6DA4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18C1DE-6D96-6DA1-4E12-2A1BB694A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TORSION CORRECTION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7B5C2D23-C0AC-680A-9985-7B673F13F0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/>
                  <a:t>The 2d map is fitted through:</a:t>
                </a:r>
                <a:endParaRPr lang="it-IT" sz="2800" b="0" i="1" dirty="0">
                  <a:latin typeface="Cambria Math" panose="02040503050406030204" pitchFamily="18" charset="0"/>
                </a:endParaRPr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𝑐𝑜𝑟𝑟</m:t>
                        </m:r>
                      </m:sub>
                    </m:sSub>
                    <m:d>
                      <m:d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p>
                      <m:sSup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sSup>
                      <m:sSup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𝑥𝑦</m:t>
                    </m:r>
                  </m:oMath>
                </a14:m>
                <a:endParaRPr lang="en-US" sz="2800" dirty="0"/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𝑐𝑜𝑟𝑟</m:t>
                        </m:r>
                      </m:sub>
                    </m:sSub>
                    <m:d>
                      <m:d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it-IT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p>
                      <m:sSup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it-IT" dirty="0"/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𝑐𝑜𝑟𝑟</m:t>
                        </m:r>
                      </m:sub>
                    </m:sSub>
                    <m:d>
                      <m:d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it-IT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endParaRPr lang="en-US" sz="2800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7B5C2D23-C0AC-680A-9985-7B673F13F0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2"/>
                <a:stretch>
                  <a:fillRect l="-1217" t="-22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C31EE0F-E66C-8187-4B47-29A6C15CF81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12E6716-1637-677C-6156-4F7A04ED0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B63049B-43B9-E82A-F634-D683E5DB4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017AB9AA-3F99-A362-9BD4-9C519CC04F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437" y="3538662"/>
            <a:ext cx="3960000" cy="2958976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AEE7A0B8-744D-AD8E-ADDF-62186AE2AE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5100" y="3534220"/>
            <a:ext cx="3960000" cy="2958976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E9A5E4D0-ADDD-A284-C2A4-1C3745AF173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4450" y="3534220"/>
            <a:ext cx="3960000" cy="2958976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C8455F5-2068-D03A-9DDA-7B2223D71704}"/>
              </a:ext>
            </a:extLst>
          </p:cNvPr>
          <p:cNvSpPr txBox="1">
            <a:spLocks noChangeAspect="1"/>
          </p:cNvSpPr>
          <p:nvPr/>
        </p:nvSpPr>
        <p:spPr>
          <a:xfrm>
            <a:off x="3504450" y="369878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593FF22-014A-2E56-EDBA-8791C520CBC9}"/>
              </a:ext>
            </a:extLst>
          </p:cNvPr>
          <p:cNvSpPr txBox="1">
            <a:spLocks noChangeAspect="1"/>
          </p:cNvSpPr>
          <p:nvPr/>
        </p:nvSpPr>
        <p:spPr>
          <a:xfrm>
            <a:off x="7236900" y="369878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4B4DAFEE-C0D3-EDD8-7AED-A3AF8C739833}"/>
              </a:ext>
            </a:extLst>
          </p:cNvPr>
          <p:cNvSpPr txBox="1">
            <a:spLocks noChangeAspect="1"/>
          </p:cNvSpPr>
          <p:nvPr/>
        </p:nvSpPr>
        <p:spPr>
          <a:xfrm>
            <a:off x="10962900" y="369878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4337362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84BC6-F619-3D20-E561-CBF538445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564777B-C649-39D4-6641-30DE28AA1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TORSION CORRECTION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EFA5B10C-4815-DBEA-D799-9052F3AF19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en-US" sz="2800" dirty="0"/>
              </a:p>
              <a:p>
                <a:pPr marL="0" indent="0">
                  <a:buNone/>
                </a:pPr>
                <a:r>
                  <a:rPr lang="en-US" sz="2800" dirty="0"/>
                  <a:t>Now we should correct the effect of torsion using the parameter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𝑓𝑖𝑡</m:t>
                        </m:r>
                      </m:sup>
                    </m:sSubSup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 found for each bin.</a:t>
                </a:r>
              </a:p>
              <a:p>
                <a:pPr marL="0" indent="0" algn="ctr">
                  <a:buNone/>
                </a:pPr>
                <a:r>
                  <a:rPr lang="en-US" sz="2800" dirty="0"/>
                  <a:t>instead of the Lindhard cut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𝑖𝑛</m:t>
                        </m:r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|≤</m:t>
                    </m:r>
                    <m:f>
                      <m:f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sz="2800" dirty="0"/>
                  <a:t> we will use</a:t>
                </a:r>
                <a:endParaRPr lang="it-IT" sz="2800" b="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  <m:sup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p>
                        </m:sSubSup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  <m:sup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𝑜𝑓𝑓</m:t>
                                </m:r>
                              </m:sup>
                            </m:sSubSup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sz="2800" b="0" i="1" smtClean="0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sz="28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8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sz="28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it-IT" sz="2800" b="0" i="1" smtClean="0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sz="28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8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sz="28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sz="2800" dirty="0"/>
                  <a:t> </a:t>
                </a:r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sz="2800" dirty="0">
                    <a:solidFill>
                      <a:srgbClr val="FFC000"/>
                    </a:solidFill>
                  </a:rPr>
                  <a:t>How </a:t>
                </a:r>
                <a:r>
                  <a:rPr lang="en-US" dirty="0">
                    <a:solidFill>
                      <a:srgbClr val="FFC000"/>
                    </a:solidFill>
                  </a:rPr>
                  <a:t>am I behaving if the fit is not linear but parabolic?</a:t>
                </a:r>
                <a:endParaRPr lang="en-US" sz="2800" dirty="0">
                  <a:solidFill>
                    <a:srgbClr val="FFC000"/>
                  </a:solidFill>
                </a:endParaRP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EFA5B10C-4815-DBEA-D799-9052F3AF19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2"/>
                <a:stretch>
                  <a:fillRect l="-121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8BA674C-6706-D004-56D6-D583186BEB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5BFD406-E3DF-14FC-E56A-CB95E3DBB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FF23DC4-C8C1-3A3D-8308-E545C76B8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5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87276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0566D-086B-A069-03EE-5C52C1B94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24D58B-E816-CD82-AD8D-B8A58B9B2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EFFICIENCY COMPUTATION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428AD20-5427-DB4F-5449-669AE5F4D3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r>
              <a:rPr lang="it-IT" dirty="0" err="1"/>
              <a:t>If</a:t>
            </a:r>
            <a:r>
              <a:rPr lang="it-IT" dirty="0"/>
              <a:t> I </a:t>
            </a:r>
            <a:r>
              <a:rPr lang="it-IT" dirty="0" err="1"/>
              <a:t>keep</a:t>
            </a:r>
            <a:r>
              <a:rPr lang="it-IT" dirty="0"/>
              <a:t> the second-</a:t>
            </a:r>
            <a:r>
              <a:rPr lang="it-IT" dirty="0" err="1"/>
              <a:t>order</a:t>
            </a:r>
            <a:r>
              <a:rPr lang="it-IT" dirty="0"/>
              <a:t> </a:t>
            </a:r>
            <a:r>
              <a:rPr lang="it-IT" dirty="0" err="1"/>
              <a:t>corrections</a:t>
            </a:r>
            <a:r>
              <a:rPr lang="it-IT" dirty="0"/>
              <a:t>: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pPr marL="0" indent="0">
              <a:buNone/>
            </a:pP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9FE18A1-4E14-0402-2728-8DF7329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3EE51FA-C2CE-E809-F2E8-83E423BFD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8E171ED-CAF4-3550-08FE-9B10AE7CE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E039DBF4-755C-A609-11E8-605A1238D5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653" y="1979385"/>
            <a:ext cx="3600000" cy="257594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44C95204-F1CD-D63C-C469-51744C8144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9653" y="1979385"/>
            <a:ext cx="3600000" cy="2575940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6E182947-0044-AA46-C176-18A656083C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6653" y="1979385"/>
            <a:ext cx="3600000" cy="2575940"/>
          </a:xfrm>
          <a:prstGeom prst="rect">
            <a:avLst/>
          </a:prstGeom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02C7F6AD-2DC8-F3CC-05D2-B92254D0CCB0}"/>
              </a:ext>
            </a:extLst>
          </p:cNvPr>
          <p:cNvSpPr txBox="1">
            <a:spLocks noChangeAspect="1"/>
          </p:cNvSpPr>
          <p:nvPr/>
        </p:nvSpPr>
        <p:spPr>
          <a:xfrm>
            <a:off x="2928532" y="273370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19EEE5F4-1237-8DB5-4970-4380998802FD}"/>
              </a:ext>
            </a:extLst>
          </p:cNvPr>
          <p:cNvSpPr txBox="1">
            <a:spLocks noChangeAspect="1"/>
          </p:cNvSpPr>
          <p:nvPr/>
        </p:nvSpPr>
        <p:spPr>
          <a:xfrm>
            <a:off x="7005532" y="273370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7CCC6664-CC29-FE03-25C2-1D9A3CF069DD}"/>
              </a:ext>
            </a:extLst>
          </p:cNvPr>
          <p:cNvSpPr txBox="1">
            <a:spLocks noChangeAspect="1"/>
          </p:cNvSpPr>
          <p:nvPr/>
        </p:nvSpPr>
        <p:spPr>
          <a:xfrm>
            <a:off x="11083800" y="273370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sellaDiTesto 20">
                <a:extLst>
                  <a:ext uri="{FF2B5EF4-FFF2-40B4-BE49-F238E27FC236}">
                    <a16:creationId xmlns:a16="http://schemas.microsoft.com/office/drawing/2014/main" id="{DD154CF2-3719-8AC5-5982-400145D4689D}"/>
                  </a:ext>
                </a:extLst>
              </p:cNvPr>
              <p:cNvSpPr txBox="1"/>
              <p:nvPr/>
            </p:nvSpPr>
            <p:spPr>
              <a:xfrm>
                <a:off x="396647" y="4555325"/>
                <a:ext cx="3184753" cy="987079"/>
              </a:xfrm>
              <a:prstGeom prst="roundRect">
                <a:avLst/>
              </a:prstGeom>
              <a:ln>
                <a:solidFill>
                  <a:srgbClr val="FFC000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=4. 11 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rad</m:t>
                      </m:r>
                      <m:r>
                        <a:rPr lang="it-IT" sz="2500" b="0" i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5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=18.9%</m:t>
                      </m:r>
                    </m:oMath>
                  </m:oMathPara>
                </a14:m>
                <a:endParaRPr lang="it-IT" sz="2500" dirty="0"/>
              </a:p>
            </p:txBody>
          </p:sp>
        </mc:Choice>
        <mc:Fallback xmlns="">
          <p:sp>
            <p:nvSpPr>
              <p:cNvPr id="21" name="CasellaDiTesto 20">
                <a:extLst>
                  <a:ext uri="{FF2B5EF4-FFF2-40B4-BE49-F238E27FC236}">
                    <a16:creationId xmlns:a16="http://schemas.microsoft.com/office/drawing/2014/main" id="{DD154CF2-3719-8AC5-5982-400145D46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647" y="4555325"/>
                <a:ext cx="3184753" cy="987079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sellaDiTesto 22">
                <a:extLst>
                  <a:ext uri="{FF2B5EF4-FFF2-40B4-BE49-F238E27FC236}">
                    <a16:creationId xmlns:a16="http://schemas.microsoft.com/office/drawing/2014/main" id="{904F42E7-04C9-C4DB-086A-1AB99052C2E4}"/>
                  </a:ext>
                </a:extLst>
              </p:cNvPr>
              <p:cNvSpPr txBox="1"/>
              <p:nvPr/>
            </p:nvSpPr>
            <p:spPr>
              <a:xfrm>
                <a:off x="4491365" y="4555324"/>
                <a:ext cx="3184753" cy="987079"/>
              </a:xfrm>
              <a:prstGeom prst="roundRect">
                <a:avLst/>
              </a:prstGeom>
              <a:ln>
                <a:solidFill>
                  <a:srgbClr val="FFC000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=4.13 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rad</m:t>
                      </m:r>
                      <m:r>
                        <a:rPr lang="it-IT" sz="2500" b="0" i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5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=18.7%</m:t>
                      </m:r>
                    </m:oMath>
                  </m:oMathPara>
                </a14:m>
                <a:endParaRPr lang="it-IT" sz="2500" dirty="0"/>
              </a:p>
            </p:txBody>
          </p:sp>
        </mc:Choice>
        <mc:Fallback xmlns="">
          <p:sp>
            <p:nvSpPr>
              <p:cNvPr id="23" name="CasellaDiTesto 22">
                <a:extLst>
                  <a:ext uri="{FF2B5EF4-FFF2-40B4-BE49-F238E27FC236}">
                    <a16:creationId xmlns:a16="http://schemas.microsoft.com/office/drawing/2014/main" id="{904F42E7-04C9-C4DB-086A-1AB99052C2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1365" y="4555324"/>
                <a:ext cx="3184753" cy="987079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asellaDiTesto 24">
                <a:extLst>
                  <a:ext uri="{FF2B5EF4-FFF2-40B4-BE49-F238E27FC236}">
                    <a16:creationId xmlns:a16="http://schemas.microsoft.com/office/drawing/2014/main" id="{BE86D837-FB9C-08B9-09A2-D655E9F77432}"/>
                  </a:ext>
                </a:extLst>
              </p:cNvPr>
              <p:cNvSpPr txBox="1"/>
              <p:nvPr/>
            </p:nvSpPr>
            <p:spPr>
              <a:xfrm>
                <a:off x="8578697" y="4555323"/>
                <a:ext cx="3184753" cy="987079"/>
              </a:xfrm>
              <a:prstGeom prst="roundRect">
                <a:avLst/>
              </a:prstGeom>
              <a:ln>
                <a:solidFill>
                  <a:srgbClr val="FFC000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=4. 11 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rad</m:t>
                      </m:r>
                      <m:r>
                        <a:rPr lang="it-IT" sz="2500" b="0" i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5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=18.7%</m:t>
                      </m:r>
                    </m:oMath>
                  </m:oMathPara>
                </a14:m>
                <a:endParaRPr lang="it-IT" sz="2500" dirty="0"/>
              </a:p>
            </p:txBody>
          </p:sp>
        </mc:Choice>
        <mc:Fallback xmlns="">
          <p:sp>
            <p:nvSpPr>
              <p:cNvPr id="25" name="CasellaDiTesto 24">
                <a:extLst>
                  <a:ext uri="{FF2B5EF4-FFF2-40B4-BE49-F238E27FC236}">
                    <a16:creationId xmlns:a16="http://schemas.microsoft.com/office/drawing/2014/main" id="{BE86D837-FB9C-08B9-09A2-D655E9F77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8697" y="4555323"/>
                <a:ext cx="3184753" cy="987079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24971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E2D0A-4DBA-73CF-1FA1-DAE62884D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14FB1E8-4357-33B5-9CFB-A500A9A01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EFFICIENCY COMPUTATION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20966FF-4330-5311-0FC3-55C06A650F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r>
              <a:rPr lang="it-IT" dirty="0" err="1"/>
              <a:t>If</a:t>
            </a:r>
            <a:r>
              <a:rPr lang="it-IT" dirty="0"/>
              <a:t> I do not (</a:t>
            </a:r>
            <a:r>
              <a:rPr lang="it-IT" dirty="0" err="1"/>
              <a:t>still</a:t>
            </a:r>
            <a:r>
              <a:rPr lang="it-IT" dirty="0"/>
              <a:t> </a:t>
            </a:r>
            <a:r>
              <a:rPr lang="it-IT" dirty="0" err="1"/>
              <a:t>doing</a:t>
            </a:r>
            <a:r>
              <a:rPr lang="it-IT" dirty="0"/>
              <a:t> a 3d </a:t>
            </a:r>
            <a:r>
              <a:rPr lang="it-IT" dirty="0" err="1"/>
              <a:t>fit</a:t>
            </a:r>
            <a:r>
              <a:rPr lang="it-IT" dirty="0"/>
              <a:t>):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pPr marL="0" indent="0">
              <a:buNone/>
            </a:pP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1E90FDF-EBD8-BE12-4727-FFB1540E2C1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36EB338-15F0-AE12-96CB-D40A63B4A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D9D16BF-B598-E7BB-224E-13BBA135C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7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8C10532F-FA5B-0CFB-1803-C586EAB544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5553" y="1979385"/>
            <a:ext cx="3594200" cy="257594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D27C1EEF-892C-95EB-8D88-93978C150B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59653" y="1979785"/>
            <a:ext cx="3600000" cy="2575140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0D8AA8EC-057D-2B93-430C-A42D979763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439553" y="1979385"/>
            <a:ext cx="3594200" cy="2575940"/>
          </a:xfrm>
          <a:prstGeom prst="rect">
            <a:avLst/>
          </a:prstGeom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7E92AEF6-987C-22D3-2AF6-BA1DD5CA7D13}"/>
              </a:ext>
            </a:extLst>
          </p:cNvPr>
          <p:cNvSpPr txBox="1">
            <a:spLocks noChangeAspect="1"/>
          </p:cNvSpPr>
          <p:nvPr/>
        </p:nvSpPr>
        <p:spPr>
          <a:xfrm>
            <a:off x="2928532" y="273370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A8340BEA-104A-4BD8-07C0-85331CC62F3D}"/>
              </a:ext>
            </a:extLst>
          </p:cNvPr>
          <p:cNvSpPr txBox="1">
            <a:spLocks noChangeAspect="1"/>
          </p:cNvSpPr>
          <p:nvPr/>
        </p:nvSpPr>
        <p:spPr>
          <a:xfrm>
            <a:off x="7005532" y="273370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0EEE0B01-D711-6418-B98B-B2DC9C3800D8}"/>
              </a:ext>
            </a:extLst>
          </p:cNvPr>
          <p:cNvSpPr txBox="1">
            <a:spLocks noChangeAspect="1"/>
          </p:cNvSpPr>
          <p:nvPr/>
        </p:nvSpPr>
        <p:spPr>
          <a:xfrm>
            <a:off x="11083800" y="273370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sellaDiTesto 20">
                <a:extLst>
                  <a:ext uri="{FF2B5EF4-FFF2-40B4-BE49-F238E27FC236}">
                    <a16:creationId xmlns:a16="http://schemas.microsoft.com/office/drawing/2014/main" id="{88C66464-97B4-1526-9E81-40BD05D19AD4}"/>
                  </a:ext>
                </a:extLst>
              </p:cNvPr>
              <p:cNvSpPr txBox="1"/>
              <p:nvPr/>
            </p:nvSpPr>
            <p:spPr>
              <a:xfrm>
                <a:off x="396647" y="4555325"/>
                <a:ext cx="3184753" cy="987079"/>
              </a:xfrm>
              <a:prstGeom prst="roundRect">
                <a:avLst/>
              </a:prstGeom>
              <a:ln>
                <a:solidFill>
                  <a:srgbClr val="FFC000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=4. 11 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rad</m:t>
                      </m:r>
                      <m:r>
                        <a:rPr lang="it-IT" sz="2500" b="0" i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5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=15.8%</m:t>
                      </m:r>
                    </m:oMath>
                  </m:oMathPara>
                </a14:m>
                <a:endParaRPr lang="it-IT" sz="2500" dirty="0"/>
              </a:p>
            </p:txBody>
          </p:sp>
        </mc:Choice>
        <mc:Fallback xmlns="">
          <p:sp>
            <p:nvSpPr>
              <p:cNvPr id="21" name="CasellaDiTesto 20">
                <a:extLst>
                  <a:ext uri="{FF2B5EF4-FFF2-40B4-BE49-F238E27FC236}">
                    <a16:creationId xmlns:a16="http://schemas.microsoft.com/office/drawing/2014/main" id="{88C66464-97B4-1526-9E81-40BD05D19A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647" y="4555325"/>
                <a:ext cx="3184753" cy="987079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sellaDiTesto 22">
                <a:extLst>
                  <a:ext uri="{FF2B5EF4-FFF2-40B4-BE49-F238E27FC236}">
                    <a16:creationId xmlns:a16="http://schemas.microsoft.com/office/drawing/2014/main" id="{14993B24-0593-32D8-8A3F-C748A8AB7B2A}"/>
                  </a:ext>
                </a:extLst>
              </p:cNvPr>
              <p:cNvSpPr txBox="1"/>
              <p:nvPr/>
            </p:nvSpPr>
            <p:spPr>
              <a:xfrm>
                <a:off x="4491365" y="4555324"/>
                <a:ext cx="3184753" cy="987079"/>
              </a:xfrm>
              <a:prstGeom prst="roundRect">
                <a:avLst/>
              </a:prstGeom>
              <a:ln>
                <a:solidFill>
                  <a:srgbClr val="FFC000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=4.13 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rad</m:t>
                      </m:r>
                      <m:r>
                        <a:rPr lang="it-IT" sz="2500" b="0" i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5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=15.7%</m:t>
                      </m:r>
                    </m:oMath>
                  </m:oMathPara>
                </a14:m>
                <a:endParaRPr lang="it-IT" sz="2500" dirty="0"/>
              </a:p>
            </p:txBody>
          </p:sp>
        </mc:Choice>
        <mc:Fallback xmlns="">
          <p:sp>
            <p:nvSpPr>
              <p:cNvPr id="23" name="CasellaDiTesto 22">
                <a:extLst>
                  <a:ext uri="{FF2B5EF4-FFF2-40B4-BE49-F238E27FC236}">
                    <a16:creationId xmlns:a16="http://schemas.microsoft.com/office/drawing/2014/main" id="{14993B24-0593-32D8-8A3F-C748A8AB7B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1365" y="4555324"/>
                <a:ext cx="3184753" cy="987079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asellaDiTesto 24">
                <a:extLst>
                  <a:ext uri="{FF2B5EF4-FFF2-40B4-BE49-F238E27FC236}">
                    <a16:creationId xmlns:a16="http://schemas.microsoft.com/office/drawing/2014/main" id="{08DB138D-1E46-ECF0-2112-1A771448BFB3}"/>
                  </a:ext>
                </a:extLst>
              </p:cNvPr>
              <p:cNvSpPr txBox="1"/>
              <p:nvPr/>
            </p:nvSpPr>
            <p:spPr>
              <a:xfrm>
                <a:off x="8578697" y="4555323"/>
                <a:ext cx="3184753" cy="987079"/>
              </a:xfrm>
              <a:prstGeom prst="roundRect">
                <a:avLst/>
              </a:prstGeom>
              <a:ln>
                <a:solidFill>
                  <a:srgbClr val="FFC000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=4. 11 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rad</m:t>
                      </m:r>
                      <m:r>
                        <a:rPr lang="it-IT" sz="2500" b="0" i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5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=15.7%</m:t>
                      </m:r>
                    </m:oMath>
                  </m:oMathPara>
                </a14:m>
                <a:endParaRPr lang="it-IT" sz="2500" dirty="0"/>
              </a:p>
            </p:txBody>
          </p:sp>
        </mc:Choice>
        <mc:Fallback xmlns="">
          <p:sp>
            <p:nvSpPr>
              <p:cNvPr id="25" name="CasellaDiTesto 24">
                <a:extLst>
                  <a:ext uri="{FF2B5EF4-FFF2-40B4-BE49-F238E27FC236}">
                    <a16:creationId xmlns:a16="http://schemas.microsoft.com/office/drawing/2014/main" id="{08DB138D-1E46-ECF0-2112-1A771448BF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8697" y="4555323"/>
                <a:ext cx="3184753" cy="987079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47505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CDE03-FA90-C268-77AD-44C789ECD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E60C76F-B643-2509-A182-79CF71BDD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LOOKING AT THE REST OF THE DATA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42B3989D-9B78-F069-E1AA-3BD85CEE11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rmAutofit/>
              </a:bodyPr>
              <a:lstStyle/>
              <a:p>
                <a:endParaRPr lang="it-IT" sz="2500" dirty="0"/>
              </a:p>
              <a:p>
                <a:r>
                  <a:rPr lang="it-IT" sz="2500" dirty="0"/>
                  <a:t>TCCP and TCCPA from the </a:t>
                </a:r>
                <a:r>
                  <a:rPr lang="it-IT" sz="2500" dirty="0" err="1"/>
                  <a:t>article</a:t>
                </a:r>
                <a:r>
                  <a:rPr lang="it-IT" sz="2500" dirty="0"/>
                  <a:t> </a:t>
                </a:r>
                <a:r>
                  <a:rPr lang="it-IT" sz="2500" dirty="0" err="1"/>
                  <a:t>had</a:t>
                </a:r>
                <a:r>
                  <a:rPr lang="it-IT" sz="2500" dirty="0"/>
                  <a:t> a </a:t>
                </a:r>
                <a:r>
                  <a:rPr lang="it-IT" sz="2500" dirty="0" err="1"/>
                  <a:t>channeling</a:t>
                </a:r>
                <a:r>
                  <a:rPr lang="it-IT" sz="2500" dirty="0"/>
                  <a:t> </a:t>
                </a:r>
                <a:r>
                  <a:rPr lang="it-IT" sz="2500" dirty="0" err="1"/>
                  <a:t>peak</a:t>
                </a:r>
                <a:r>
                  <a:rPr lang="it-IT" sz="2500" dirty="0"/>
                  <a:t> of </a:t>
                </a:r>
                <a14:m>
                  <m:oMath xmlns:m="http://schemas.openxmlformats.org/officeDocument/2006/math"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∼7000 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it-IT" sz="2500" dirty="0"/>
                  <a:t>rad and </a:t>
                </a:r>
                <a14:m>
                  <m:oMath xmlns:m="http://schemas.openxmlformats.org/officeDocument/2006/math"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∼13000 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it-IT" sz="2500" dirty="0"/>
                  <a:t>rad</a:t>
                </a:r>
              </a:p>
              <a:p>
                <a:pPr>
                  <a:buFont typeface="Aptos" panose="020B0004020202020204" pitchFamily="34" charset="0"/>
                  <a:buChar char="→"/>
                </a:pPr>
                <a:r>
                  <a:rPr lang="it-IT" sz="2500" dirty="0"/>
                  <a:t>Here </a:t>
                </a:r>
                <a:r>
                  <a:rPr lang="it-IT" sz="2500" dirty="0" err="1"/>
                  <a:t>both</a:t>
                </a:r>
                <a:r>
                  <a:rPr lang="it-IT" sz="2500" dirty="0"/>
                  <a:t> long </a:t>
                </a:r>
                <a:r>
                  <a:rPr lang="it-IT" sz="2500" dirty="0" err="1"/>
                  <a:t>crystals</a:t>
                </a:r>
                <a:r>
                  <a:rPr lang="it-IT" sz="2500" dirty="0"/>
                  <a:t> </a:t>
                </a:r>
                <a:r>
                  <a:rPr lang="it-IT" sz="2500" dirty="0" err="1"/>
                  <a:t>have</a:t>
                </a:r>
                <a:r>
                  <a:rPr lang="it-IT" sz="2500" dirty="0"/>
                  <a:t> </a:t>
                </a:r>
                <a:r>
                  <a:rPr lang="it-IT" sz="2500" dirty="0" err="1"/>
                  <a:t>peaks</a:t>
                </a:r>
                <a:r>
                  <a:rPr lang="it-IT" sz="2500" dirty="0"/>
                  <a:t> @ </a:t>
                </a:r>
                <a14:m>
                  <m:oMath xmlns:m="http://schemas.openxmlformats.org/officeDocument/2006/math"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∼6000 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it-IT" sz="2500" dirty="0"/>
                  <a:t>rad</a:t>
                </a:r>
              </a:p>
              <a:p>
                <a:pPr marL="0" indent="0">
                  <a:buNone/>
                </a:pPr>
                <a:endParaRPr lang="it-IT" sz="2500" dirty="0"/>
              </a:p>
              <a:p>
                <a:r>
                  <a:rPr lang="it-IT" sz="2500" dirty="0"/>
                  <a:t>TCCP and TCCPA </a:t>
                </a:r>
                <a:r>
                  <a:rPr lang="it-IT" sz="2500" dirty="0" err="1"/>
                  <a:t>had</a:t>
                </a:r>
                <a:r>
                  <a:rPr lang="it-IT" sz="2500" dirty="0"/>
                  <a:t> </a:t>
                </a:r>
                <a:r>
                  <a:rPr lang="it-IT" sz="2500" dirty="0" err="1"/>
                  <a:t>same</a:t>
                </a:r>
                <a:r>
                  <a:rPr lang="it-IT" sz="2500" dirty="0"/>
                  <a:t> width </a:t>
                </a:r>
                <a:r>
                  <a:rPr lang="it-IT" sz="2500" dirty="0" err="1"/>
                  <a:t>but</a:t>
                </a:r>
                <a:r>
                  <a:rPr lang="it-IT" sz="2500" dirty="0"/>
                  <a:t> </a:t>
                </a:r>
                <a:r>
                  <a:rPr lang="it-IT" sz="2500" dirty="0" err="1"/>
                  <a:t>different</a:t>
                </a:r>
                <a:r>
                  <a:rPr lang="it-IT" sz="2500" dirty="0"/>
                  <a:t> </a:t>
                </a:r>
                <a:r>
                  <a:rPr lang="it-IT" sz="2500" dirty="0" err="1"/>
                  <a:t>heights</a:t>
                </a:r>
                <a:endParaRPr lang="it-IT" sz="2500" dirty="0"/>
              </a:p>
              <a:p>
                <a:pPr>
                  <a:buFont typeface="Aptos" panose="020B0004020202020204" pitchFamily="34" charset="0"/>
                  <a:buChar char="→"/>
                </a:pPr>
                <a:r>
                  <a:rPr lang="it-IT" sz="2500" dirty="0"/>
                  <a:t>Here </a:t>
                </a:r>
                <a:r>
                  <a:rPr lang="it-IT" sz="2500" dirty="0" err="1"/>
                  <a:t>both</a:t>
                </a:r>
                <a:r>
                  <a:rPr lang="it-IT" sz="2500" dirty="0"/>
                  <a:t> </a:t>
                </a:r>
                <a:r>
                  <a:rPr lang="it-IT" sz="2500" dirty="0" err="1"/>
                  <a:t>seems</a:t>
                </a:r>
                <a:r>
                  <a:rPr lang="it-IT" sz="2500" dirty="0"/>
                  <a:t> to </a:t>
                </a:r>
                <a:r>
                  <a:rPr lang="it-IT" sz="2500" dirty="0" err="1"/>
                  <a:t>have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same</a:t>
                </a:r>
                <a:r>
                  <a:rPr lang="it-IT" sz="2500" dirty="0"/>
                  <a:t> TCCP </a:t>
                </a:r>
                <a:r>
                  <a:rPr lang="it-IT" sz="2500" dirty="0" err="1"/>
                  <a:t>dimensions</a:t>
                </a:r>
                <a:endParaRPr lang="it-IT" sz="2500" dirty="0"/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42B3989D-9B78-F069-E1AA-3BD85CEE11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3"/>
                <a:stretch>
                  <a:fillRect l="-1020" r="-147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56EA0BA-49F8-240A-5AAA-A3179ABEE9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59EA5A1-5E5C-F667-A9C0-7806A82BC2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1494B3D-EEA2-5440-40D0-DD25818BE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8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79529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8154E-7F22-4DBC-E7DA-281DDC5DF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A20D539-0F6D-CCCA-51DB-2AC77193A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LOOKING AT THE REST OF THE DATA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5AA59D4-1902-8E97-BB0E-30CEED7BA6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ü"/>
            </a:pPr>
            <a:endParaRPr lang="it-IT" sz="2500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07BDFA9-8AFA-667E-2DD9-96E182334C3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5BA8E51-8FEC-0FBC-2BA8-C1249E527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38B9141-9E60-0A4C-178E-4687CA825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9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63532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2626</TotalTime>
  <Words>452</Words>
  <Application>Microsoft Office PowerPoint</Application>
  <PresentationFormat>Widescreen</PresentationFormat>
  <Paragraphs>97</Paragraphs>
  <Slides>9</Slides>
  <Notes>4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Cambria Math</vt:lpstr>
      <vt:lpstr>Wingdings</vt:lpstr>
      <vt:lpstr>Tema di Office</vt:lpstr>
      <vt:lpstr>Presentazione standard di PowerPoint</vt:lpstr>
      <vt:lpstr>TORSION CORRECTION</vt:lpstr>
      <vt:lpstr>TORSION CORRECTION</vt:lpstr>
      <vt:lpstr>TORSION CORRECTION</vt:lpstr>
      <vt:lpstr>TORSION CORRECTION</vt:lpstr>
      <vt:lpstr>EFFICIENCY COMPUTATION</vt:lpstr>
      <vt:lpstr>EFFICIENCY COMPUTATION</vt:lpstr>
      <vt:lpstr>LOOKING AT THE REST OF THE DATA</vt:lpstr>
      <vt:lpstr>LOOKING AT THE REST OF THE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Sofia Moro</dc:creator>
  <cp:lastModifiedBy>Anna Sofia Moro</cp:lastModifiedBy>
  <cp:revision>17</cp:revision>
  <dcterms:created xsi:type="dcterms:W3CDTF">2026-07-09T15:21:04Z</dcterms:created>
  <dcterms:modified xsi:type="dcterms:W3CDTF">2026-07-17T09:38:39Z</dcterms:modified>
</cp:coreProperties>
</file>