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75" r:id="rId6"/>
    <p:sldId id="262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3" r:id="rId15"/>
    <p:sldId id="277" r:id="rId16"/>
    <p:sldId id="272" r:id="rId17"/>
    <p:sldId id="276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422DF-4847-4D6E-BB97-9B75D56F5D74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5392F-55BF-4B8E-AF01-45F81C88C28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07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different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orientations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of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crystallographic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planes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along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crystal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front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surface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influence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angular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range in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which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particles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can be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channelled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i.e., the cut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14:m>
                  <m:oMath xmlns:m="http://schemas.openxmlformats.org/officeDocument/2006/math">
                    <m:r>
                      <a:rPr lang="it-IT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±</m:t>
                    </m:r>
                    <m:r>
                      <a:rPr lang="it-IT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1/2</m:t>
                    </m:r>
                    <m:r>
                      <m:rPr>
                        <m:nor/>
                      </m:rPr>
                      <a:rPr lang="it-IT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sSub>
                      <m:sSubPr>
                        <m:ctrlPr>
                          <a:rPr lang="it-IT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it-IT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lang="it-IT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may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not be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centred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zero,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different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orientations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of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crystallographic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planes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along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crystal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front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surface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influence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angular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range in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which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particles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can be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channelled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i.e., the cut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it-IT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±1/2</a:t>
                </a:r>
                <a:r>
                  <a:rPr lang="it-IT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it-IT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𝜃_𝐿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may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not be </a:t>
                </a:r>
                <a:r>
                  <a:rPr lang="it-IT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centred</a:t>
                </a:r>
                <a:r>
                  <a:rPr lang="it-IT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zero,</a:t>
                </a:r>
                <a:endParaRPr lang="it-IT" dirty="0"/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2080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48058-2228-4F03-EFE7-2155EA40A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8876322-17FB-CC3C-ED94-DFA035C62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2AFDADB-643C-24FF-9CFC-8F7EE029E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BBA149-1C23-043C-5571-219A8147C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4759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1492-086C-4732-0D48-86B18600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ED753C6-DC44-C8E0-8A7D-031A9B87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B3AC461-ACD3-CA31-0C47-7225E1440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ACF8FD3-1D31-A9D8-6CDB-A21CBECF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2524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A9179-DEEB-5D70-FC9B-90BA8718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0032C8C-FA1E-579C-FB6B-776F385E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3F89D9-6B97-A43F-DC9E-21DDFD7BE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66BD4B-BA23-9707-483D-290CE2D9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258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2ADA8-8BDF-CE2B-3BD9-2FD2708A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D7B7814-ED6B-1EFB-4AF3-92F07E9E9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E4E9DC2-CC99-C0FC-D536-35C76B318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13F01A-037F-2887-7264-B648B8EFB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720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7C61-56F0-38C3-69A6-DD491E67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570481-CB0F-B431-651A-B60BF0455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2E312B-5B52-C4BA-A51A-A333A437E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74D365-6BC0-797A-4D62-081A06DD5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982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1D02-9246-80CA-335A-280BAC706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0A8C497-A14B-9CC8-C2F5-A8BE0032A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CF72B2C-5C37-9F43-CF80-DDD416B71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E5169E8-76C4-B623-B3F4-1B4DFF774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5122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EC58-F4D6-33DF-5D88-FC0638CC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0FB3365-8065-9A48-5C88-D3DAB05CA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1F0704D-F3BC-66C1-3AEB-5F90304AB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C09824-5FA1-4C54-A71C-220FDC457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7274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7EFF-AD41-CD79-43CD-222EEEC4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9D92168-7F4C-4C56-563A-63D5C8EA4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77E416-8329-4658-74E2-3C5ACB262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2D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beam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(d0</a:t>
            </a:r>
            <a:r>
              <a:rPr lang="it-IT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vs d0</a:t>
            </a:r>
            <a:r>
              <a:rPr lang="it-IT" sz="1200" b="0" i="0" kern="1200" baseline="-25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shows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crystal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area in red. This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filter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ensures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impact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parameters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F64FCFD-6BB5-1DA4-B5CA-44065FD19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2749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39B3-2AC5-2807-A572-533AB773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C0BE19-8C98-D247-919D-6898DBB99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E64A7AD-8AB0-AA88-A5D5-2D951273E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4F7BC8C-A458-AF99-D160-A843848EF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6639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1210-2A8E-7BD5-2A46-AFCBD00C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981A723-A904-DCD0-B020-16F6CBE6D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0F77BC-3DFC-4D99-99DD-2DE9A0045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2FC43A-D994-8225-C70F-94DB19D19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7442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973B-FD39-7D46-08B5-D5FDB2FC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E56359-0B61-6701-E5A4-B98EA741A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7B37DF1-0C4F-D2B7-48BA-BDD5F8A56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A6E6BA-2D1B-3477-EDFD-5A99E4FD8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4457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87265-1968-9F40-DCD4-B05DA41F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DB6090C-73C0-0AE1-5D15-A044ED5FE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89C44C6-11EC-A343-61D4-4E957A9CC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5FF34B-7EF6-70C5-575C-FD01CD9AA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9571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F0520-249D-8DDB-E8C0-D326B992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DB0771-2FFB-7164-C544-ECE911212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5161551-DBF6-FF31-FBBF-9D015DA31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0F76A2-ACD2-8CC8-4EAF-65E030232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3439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73A61-7C40-2DA8-2DCA-4B6CA30E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F8BDA2-0007-D966-C0C0-38C4B2C88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08EE422-B9A2-5E1B-9A40-36F773DC0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3DA599-98D9-51A5-4E10-B8954C66E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4799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21984-7078-FB6F-53DE-65CB4959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0F579-13AD-1739-E1E4-4A793161E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66BD3-025C-431C-F893-5E744EEA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6B1278-2C38-DAAA-2180-B3C7CF9E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CBF5-3F4D-EE8F-2948-DA6B6F7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5BF9F7-DF67-1E3C-547B-A5DD6323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97D17-B33A-6EF1-CEF4-981888F7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88FE08-6E28-2435-B1EC-792C36B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292FF-01B5-7AC1-867C-EEFA64F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C4693C-59F1-46F6-6F7F-2B896072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FA5AA-FBCD-6954-D2E4-9E6A30EC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157C25-DA71-A412-A8F8-C57915EA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B257C5-C8D1-BC78-EB2A-67B902C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0A21B9-77D6-757F-FA97-6E2E851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EEBBD-AFF0-E5A1-86E3-6BF12AA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01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FECF5-18C9-81B6-0E7F-7D0C714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01EA4-A558-FA53-457E-90179EFC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96ED2A-F813-DC16-E2A0-22104D93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83BCB6-BE83-B09D-6860-23AA5F3B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807251-F5D2-194C-A28B-1FF256E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282E7D-96B1-1FEB-7101-C83209A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3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10D65-D9F5-6682-A088-CCB2E189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1461FA-1BD4-41E7-5612-B9A63DC6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E14A22-90A5-A90F-BD0E-F256D29D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80727B-7142-286E-DE3B-7B8E833DC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203D91-1775-8A1D-169A-D6CE1695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26E9141-3575-E6BC-31BD-40D6F8C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ED44CC-825C-252C-F9E7-9AFB2DDF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EAFB81-9B92-09AB-31C7-9964D6A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CDB2-4B02-4B07-9307-AA112DA8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5ED6FB-CF38-9B06-4770-9487CFF1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24D896-7BDD-3114-11AB-2CAEBBB0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3DBC53-D20A-CA44-6D1D-3E3F05E1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0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8297C2-0D3B-ED56-8B61-FCB9774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48E9F0-0B23-D251-AC8F-D94B00C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CAA01-23A7-6F7F-6E50-FED32F98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1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600CA-7798-78EF-A297-14320CA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CFEC1-C59B-4282-7ECD-EED1E518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FA0D9B-562D-BA61-6460-5B681C24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6EF93F-C388-68A8-6F71-1DF2A7CA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792410-D57D-8112-5C15-B3FE6B7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02F4E-4C83-F922-9862-ADBD0F7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8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2439D-E4F5-5CFC-2A7E-3B71110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6CAC3F-4306-8C93-FAFD-71172627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7C4C85-4610-E23F-E411-CAB1446C0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0750AC-EC3B-956F-684D-3C0FEE6C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A1C4B6-8AD9-702F-FC48-361C84E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A69AD3-3C4C-17D2-A40D-87D5ECD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266DE-32C7-73E6-6685-47860E28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B3BC10-8E18-A721-00DD-56CA590D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F265D-9538-2214-0D6D-0C6078CC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1A8A0C-1534-981E-3D4B-30FF7C64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CFED61-CB81-D9BC-C52D-CE21C2E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18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CC69D5-05DB-95B6-C17D-00B31114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43714-00DC-E371-9597-EB25A8FB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0DE6F-350B-6C8A-3068-BFEE690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165C43-787E-C48A-1E67-0D099BC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0D0913-985D-6312-E38E-9477ADF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8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8B87C-FD1A-B59F-78B3-6892EFB8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7C8B9-89B9-D7BA-FB20-C7EB5813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A205FC-B67D-F4FD-003E-9D2FD2A1C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34174-4AE7-4BE8-A29D-97641C0FB41A}" type="datetimeFigureOut">
              <a:rPr lang="it-IT" smtClean="0"/>
              <a:t>13/07/2026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218BC-0ED4-07D9-A0D8-A1B2B24A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10B92-3F1F-78FA-6C70-FEC529A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4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4856A9A-3EED-F0B3-DD7D-25DC283AB9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CHARACTERIZATION OF CRYSTAL EFFICIENCY</a:t>
            </a:r>
          </a:p>
          <a:p>
            <a:endParaRPr lang="it-IT" b="1" i="1" dirty="0">
              <a:solidFill>
                <a:schemeClr val="bg1"/>
              </a:solidFill>
            </a:endParaRPr>
          </a:p>
          <a:p>
            <a:r>
              <a:rPr lang="it-IT" b="1" i="1" dirty="0">
                <a:solidFill>
                  <a:schemeClr val="bg1"/>
                </a:solidFill>
              </a:rPr>
              <a:t>2024 dataset</a:t>
            </a:r>
          </a:p>
          <a:p>
            <a:r>
              <a:rPr lang="it-IT" b="1" i="1" dirty="0">
                <a:solidFill>
                  <a:schemeClr val="bg1"/>
                </a:solidFill>
              </a:rPr>
              <a:t>for TCCP and TCCPA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C78894-2BE6-7008-73A1-DD7B80075B0A}"/>
              </a:ext>
            </a:extLst>
          </p:cNvPr>
          <p:cNvSpPr txBox="1"/>
          <p:nvPr/>
        </p:nvSpPr>
        <p:spPr>
          <a:xfrm>
            <a:off x="0" y="621166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JULY 2026</a:t>
            </a:r>
          </a:p>
          <a:p>
            <a:pPr algn="ctr"/>
            <a:r>
              <a:rPr lang="it-IT" dirty="0">
                <a:solidFill>
                  <a:schemeClr val="bg1"/>
                </a:solidFill>
              </a:rPr>
              <a:t>ANNA SOFIA MORO</a:t>
            </a:r>
          </a:p>
        </p:txBody>
      </p:sp>
    </p:spTree>
    <p:extLst>
      <p:ext uri="{BB962C8B-B14F-4D97-AF65-F5344CB8AC3E}">
        <p14:creationId xmlns:p14="http://schemas.microsoft.com/office/powerpoint/2010/main" val="38952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C8513-F988-C98D-D333-B6789C129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705E017-952C-14B0-9906-4510932BC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endParaRPr lang="en-US" dirty="0"/>
              </a:p>
              <a:p>
                <a:r>
                  <a:rPr lang="en-US" dirty="0"/>
                  <a:t>Aim of reproducing the data analysis described in the article </a:t>
                </a:r>
                <a:r>
                  <a:rPr lang="it-IT" dirty="0"/>
                  <a:t>"Performance of short and long </a:t>
                </a:r>
                <a:r>
                  <a:rPr lang="it-IT" dirty="0" err="1"/>
                  <a:t>bent</a:t>
                </a:r>
                <a:r>
                  <a:rPr lang="it-IT" dirty="0"/>
                  <a:t> </a:t>
                </a:r>
                <a:r>
                  <a:rPr lang="it-IT" dirty="0" err="1"/>
                  <a:t>crystals</a:t>
                </a:r>
                <a:r>
                  <a:rPr lang="it-IT" dirty="0"/>
                  <a:t> for the TWOCRYST </a:t>
                </a:r>
                <a:r>
                  <a:rPr lang="it-IT" dirty="0" err="1"/>
                  <a:t>experiment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the LHC." (</a:t>
                </a:r>
                <a:r>
                  <a:rPr lang="it-IT" i="1" dirty="0"/>
                  <a:t>The </a:t>
                </a:r>
                <a:r>
                  <a:rPr lang="it-IT" i="1" dirty="0" err="1"/>
                  <a:t>European</a:t>
                </a:r>
                <a:r>
                  <a:rPr lang="it-IT" i="1" dirty="0"/>
                  <a:t> </a:t>
                </a:r>
                <a:r>
                  <a:rPr lang="it-IT" i="1" dirty="0" err="1"/>
                  <a:t>Physical</a:t>
                </a:r>
                <a:r>
                  <a:rPr lang="it-IT" i="1" dirty="0"/>
                  <a:t> Journal)</a:t>
                </a:r>
                <a:r>
                  <a:rPr lang="it-IT" dirty="0"/>
                  <a:t> with the October 2024 dataset for the 2 long </a:t>
                </a:r>
                <a:r>
                  <a:rPr lang="it-IT" dirty="0" err="1"/>
                  <a:t>crystals</a:t>
                </a:r>
                <a:r>
                  <a:rPr lang="it-IT" dirty="0"/>
                  <a:t> TCCP, TCCPA</a:t>
                </a:r>
              </a:p>
              <a:p>
                <a:r>
                  <a:rPr lang="en-US" dirty="0"/>
                  <a:t>Ultimate goal: measure the channeling efficiency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it-IT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it-IT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r>
                  <a:rPr lang="it-IT" dirty="0"/>
                  <a:t>, the </a:t>
                </a:r>
                <a:r>
                  <a:rPr lang="it-IT" dirty="0" err="1"/>
                  <a:t>particles</a:t>
                </a:r>
                <a:r>
                  <a:rPr lang="it-IT" dirty="0"/>
                  <a:t> that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entered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with the 	right angle, so that </a:t>
                </a:r>
                <a:r>
                  <a:rPr lang="it-IT" dirty="0" err="1"/>
                  <a:t>have</a:t>
                </a:r>
                <a:r>
                  <a:rPr lang="it-IT" dirty="0"/>
                  <a:t> the </a:t>
                </a:r>
                <a:r>
                  <a:rPr lang="it-IT" dirty="0" err="1"/>
                  <a:t>potential</a:t>
                </a:r>
                <a:r>
                  <a:rPr lang="it-IT" dirty="0"/>
                  <a:t> to be </a:t>
                </a:r>
                <a:r>
                  <a:rPr lang="it-IT" dirty="0" err="1"/>
                  <a:t>channeled</a:t>
                </a: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 dirty="0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705E017-952C-14B0-9906-4510932BC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CBEBE7-5AD1-2A5D-D796-FC860CFA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5DDE3E-B94E-09A0-E6FC-74092774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429AC5-2B17-3AA7-829E-3FADDA4D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B376A125-324C-74EB-4E12-2EBFBCD510EC}"/>
              </a:ext>
            </a:extLst>
          </p:cNvPr>
          <p:cNvCxnSpPr/>
          <p:nvPr/>
        </p:nvCxnSpPr>
        <p:spPr>
          <a:xfrm>
            <a:off x="1190847" y="4327254"/>
            <a:ext cx="51036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9E75C524-EB3E-7D59-E306-58E04B60B893}"/>
              </a:ext>
            </a:extLst>
          </p:cNvPr>
          <p:cNvCxnSpPr/>
          <p:nvPr/>
        </p:nvCxnSpPr>
        <p:spPr>
          <a:xfrm>
            <a:off x="1190847" y="5203554"/>
            <a:ext cx="51036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45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F2ED9-E51E-1C72-D1A3-3A7CC054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1F7B29E-F440-08BD-299F-056A8FBF90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solidFill>
                <a:srgbClr val="002060"/>
              </a:solidFill>
            </p:spPr>
            <p:txBody>
              <a:bodyPr>
                <a:normAutofit/>
              </a:bodyPr>
              <a:lstStyle/>
              <a:p>
                <a:pPr algn="ctr"/>
                <a:r>
                  <a:rPr lang="it-IT" b="1" dirty="0">
                    <a:solidFill>
                      <a:schemeClr val="bg1"/>
                    </a:solidFill>
                  </a:rPr>
                  <a:t>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endParaRPr lang="it-IT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F1F7B29E-F440-08BD-299F-056A8FBF9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blipFill>
                <a:blip r:embed="rId3"/>
                <a:stretch>
                  <a:fillRect b="-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2E8D58-9E34-D9B2-DF04-B024F6672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Filtering the data:</a:t>
            </a:r>
          </a:p>
          <a:p>
            <a:pPr marL="0" indent="0">
              <a:buNone/>
            </a:pPr>
            <a:r>
              <a:rPr lang="it-IT" dirty="0">
                <a:solidFill>
                  <a:srgbClr val="FFC000"/>
                </a:solidFill>
              </a:rPr>
              <a:t>1.</a:t>
            </a:r>
            <a:r>
              <a:rPr lang="it-IT" dirty="0"/>
              <a:t> The </a:t>
            </a:r>
            <a:r>
              <a:rPr lang="it-IT" dirty="0" err="1"/>
              <a:t>particle</a:t>
            </a:r>
            <a:r>
              <a:rPr lang="it-IT" dirty="0"/>
              <a:t> produce a single track:</a:t>
            </a:r>
          </a:p>
          <a:p>
            <a:pPr marL="0" indent="0">
              <a:buNone/>
            </a:pPr>
            <a:r>
              <a:rPr lang="it-IT" dirty="0"/>
              <a:t>	 </a:t>
            </a:r>
            <a:r>
              <a:rPr lang="it-IT" dirty="0" err="1"/>
              <a:t>prevent</a:t>
            </a:r>
            <a:r>
              <a:rPr lang="it-IT" dirty="0"/>
              <a:t> from </a:t>
            </a:r>
            <a:r>
              <a:rPr lang="it-IT" dirty="0" err="1"/>
              <a:t>considering</a:t>
            </a:r>
            <a:r>
              <a:rPr lang="it-IT" dirty="0"/>
              <a:t> events from «pile-up </a:t>
            </a:r>
            <a:r>
              <a:rPr lang="it-IT" dirty="0" err="1"/>
              <a:t>effect</a:t>
            </a:r>
            <a:r>
              <a:rPr lang="it-IT" dirty="0"/>
              <a:t>», 	</a:t>
            </a:r>
            <a:r>
              <a:rPr lang="it-IT" dirty="0" err="1"/>
              <a:t>electronic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 and </a:t>
            </a:r>
            <a:r>
              <a:rPr lang="it-IT"/>
              <a:t>delta rays.</a:t>
            </a:r>
            <a:endParaRPr lang="it-IT" dirty="0"/>
          </a:p>
          <a:p>
            <a:pPr marL="0" indent="0">
              <a:buNone/>
            </a:pPr>
            <a:r>
              <a:rPr lang="it-IT" dirty="0">
                <a:solidFill>
                  <a:srgbClr val="FFC000"/>
                </a:solidFill>
              </a:rPr>
              <a:t>2. </a:t>
            </a:r>
            <a:r>
              <a:rPr lang="it-IT" dirty="0"/>
              <a:t>The </a:t>
            </a:r>
            <a:r>
              <a:rPr lang="it-IT" dirty="0" err="1"/>
              <a:t>beam</a:t>
            </a:r>
            <a:r>
              <a:rPr lang="it-IT" dirty="0"/>
              <a:t> </a:t>
            </a:r>
            <a:r>
              <a:rPr lang="it-IT" dirty="0" err="1"/>
              <a:t>profile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larger</a:t>
            </a:r>
            <a:r>
              <a:rPr lang="it-IT" dirty="0"/>
              <a:t> than the </a:t>
            </a:r>
            <a:r>
              <a:rPr lang="it-IT" dirty="0" err="1"/>
              <a:t>crystal</a:t>
            </a:r>
            <a:r>
              <a:rPr lang="it-IT" dirty="0"/>
              <a:t>. We must </a:t>
            </a:r>
            <a:r>
              <a:rPr lang="it-IT" dirty="0" err="1"/>
              <a:t>select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that </a:t>
            </a:r>
            <a:r>
              <a:rPr lang="it-IT" dirty="0" err="1"/>
              <a:t>physically</a:t>
            </a:r>
            <a:r>
              <a:rPr lang="it-IT" dirty="0"/>
              <a:t> </a:t>
            </a:r>
            <a:r>
              <a:rPr lang="it-IT" dirty="0" err="1"/>
              <a:t>enter</a:t>
            </a:r>
            <a:r>
              <a:rPr lang="it-IT" dirty="0"/>
              <a:t> the </a:t>
            </a:r>
            <a:r>
              <a:rPr lang="it-IT" dirty="0" err="1"/>
              <a:t>crystal</a:t>
            </a:r>
            <a:r>
              <a:rPr lang="it-IT" dirty="0"/>
              <a:t> area:</a:t>
            </a:r>
          </a:p>
          <a:p>
            <a:pPr marL="0" indent="0">
              <a:buNone/>
            </a:pPr>
            <a:r>
              <a:rPr lang="it-IT" dirty="0"/>
              <a:t>	we </a:t>
            </a:r>
            <a:r>
              <a:rPr lang="it-IT" dirty="0" err="1"/>
              <a:t>need</a:t>
            </a:r>
            <a:r>
              <a:rPr lang="it-IT" dirty="0"/>
              <a:t> to know the position of the </a:t>
            </a:r>
            <a:r>
              <a:rPr lang="it-IT" dirty="0" err="1"/>
              <a:t>crystals</a:t>
            </a:r>
            <a:r>
              <a:rPr lang="it-IT" dirty="0"/>
              <a:t> with </a:t>
            </a:r>
            <a:r>
              <a:rPr lang="it-IT" dirty="0" err="1"/>
              <a:t>respect</a:t>
            </a:r>
            <a:r>
              <a:rPr lang="it-IT" dirty="0"/>
              <a:t> to   	the incoming </a:t>
            </a:r>
            <a:r>
              <a:rPr lang="it-IT" dirty="0" err="1"/>
              <a:t>flux</a:t>
            </a:r>
            <a:r>
              <a:rPr lang="it-IT" dirty="0"/>
              <a:t> of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D039AC-185A-1339-2C8B-9713121DDC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CFD0B9-72A1-32EF-CA11-C268829F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72AC57-E7F1-9042-87CB-7F994000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48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D1AF-78DB-2825-A2B1-37D454781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44BD5FB-AAC9-82A5-3EDC-7DBBDD9826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solidFill>
                <a:srgbClr val="002060"/>
              </a:solidFill>
            </p:spPr>
            <p:txBody>
              <a:bodyPr>
                <a:normAutofit/>
              </a:bodyPr>
              <a:lstStyle/>
              <a:p>
                <a:pPr algn="ctr"/>
                <a:r>
                  <a:rPr lang="it-IT" b="1" dirty="0">
                    <a:solidFill>
                      <a:schemeClr val="bg1"/>
                    </a:solidFill>
                  </a:rPr>
                  <a:t>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endParaRPr lang="it-IT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644BD5FB-AAC9-82A5-3EDC-7DBBDD9826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00" y="69651"/>
                <a:ext cx="12114000" cy="1153094"/>
              </a:xfrm>
              <a:prstGeom prst="roundRect">
                <a:avLst>
                  <a:gd name="adj" fmla="val 36459"/>
                </a:avLst>
              </a:prstGeom>
              <a:blipFill>
                <a:blip r:embed="rId3"/>
                <a:stretch>
                  <a:fillRect b="-5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0A53336-A181-BBE2-DB69-E2A148A056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it-IT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C000"/>
                    </a:solidFill>
                  </a:rPr>
                  <a:t>3.</a:t>
                </a:r>
                <a:r>
                  <a:rPr lang="it-IT" dirty="0"/>
                  <a:t> </a:t>
                </a:r>
                <a:r>
                  <a:rPr lang="it-IT" dirty="0" err="1"/>
                  <a:t>Choosing</a:t>
                </a:r>
                <a:r>
                  <a:rPr lang="it-IT" dirty="0"/>
                  <a:t> the </a:t>
                </a:r>
                <a:r>
                  <a:rPr lang="it-IT" dirty="0" err="1"/>
                  <a:t>particles</a:t>
                </a:r>
                <a:r>
                  <a:rPr lang="it-IT" dirty="0"/>
                  <a:t> that </a:t>
                </a:r>
                <a:r>
                  <a:rPr lang="it-IT" dirty="0" err="1"/>
                  <a:t>enter</a:t>
                </a:r>
                <a:r>
                  <a:rPr lang="it-IT" dirty="0"/>
                  <a:t> with the right angle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dirty="0"/>
                  <a:t>:</a:t>
                </a:r>
              </a:p>
              <a:p>
                <a:pPr marL="0" indent="0">
                  <a:buNone/>
                </a:pPr>
                <a:r>
                  <a:rPr lang="it-IT" dirty="0"/>
                  <a:t>	we </a:t>
                </a:r>
                <a:r>
                  <a:rPr lang="it-IT" dirty="0" err="1"/>
                  <a:t>need</a:t>
                </a:r>
                <a:r>
                  <a:rPr lang="it-IT" dirty="0"/>
                  <a:t> to </a:t>
                </a:r>
                <a:r>
                  <a:rPr lang="it-IT" dirty="0" err="1"/>
                  <a:t>apply</a:t>
                </a:r>
                <a:r>
                  <a:rPr lang="it-IT" dirty="0"/>
                  <a:t> a </a:t>
                </a:r>
                <a:r>
                  <a:rPr lang="it-IT" dirty="0" err="1"/>
                  <a:t>correction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because</a:t>
                </a:r>
                <a:r>
                  <a:rPr lang="it-IT" dirty="0"/>
                  <a:t> the cut </a:t>
                </a:r>
                <a:r>
                  <a:rPr lang="it-IT" dirty="0" err="1"/>
                  <a:t>may</a:t>
                </a:r>
                <a:r>
                  <a:rPr lang="it-IT" dirty="0"/>
                  <a:t> not be 	</a:t>
                </a:r>
                <a:r>
                  <a:rPr lang="it-IT" dirty="0" err="1"/>
                  <a:t>centered</a:t>
                </a:r>
                <a:r>
                  <a:rPr lang="it-IT" dirty="0"/>
                  <a:t> </a:t>
                </a:r>
                <a:r>
                  <a:rPr lang="it-IT" dirty="0" err="1"/>
                  <a:t>at</a:t>
                </a:r>
                <a:r>
                  <a:rPr lang="it-IT" dirty="0"/>
                  <a:t> zero (the </a:t>
                </a:r>
                <a:r>
                  <a:rPr lang="it-IT" dirty="0" err="1"/>
                  <a:t>different</a:t>
                </a:r>
                <a:r>
                  <a:rPr lang="it-IT" dirty="0"/>
                  <a:t> </a:t>
                </a:r>
                <a:r>
                  <a:rPr lang="it-IT" dirty="0" err="1"/>
                  <a:t>orientations</a:t>
                </a:r>
                <a:r>
                  <a:rPr lang="it-IT" dirty="0"/>
                  <a:t> of the 	</a:t>
                </a:r>
                <a:r>
                  <a:rPr lang="it-IT" dirty="0" err="1"/>
                  <a:t>crystallographic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</a:t>
                </a:r>
                <a:r>
                  <a:rPr lang="it-IT" dirty="0" err="1"/>
                  <a:t>along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front </a:t>
                </a:r>
                <a:r>
                  <a:rPr lang="it-IT" dirty="0" err="1"/>
                  <a:t>surface</a:t>
                </a:r>
                <a:r>
                  <a:rPr lang="it-IT" dirty="0"/>
                  <a:t> 	</a:t>
                </a:r>
                <a:r>
                  <a:rPr lang="it-IT" dirty="0" err="1"/>
                  <a:t>influence</a:t>
                </a:r>
                <a:r>
                  <a:rPr lang="it-IT" dirty="0"/>
                  <a:t> the </a:t>
                </a:r>
                <a:r>
                  <a:rPr lang="it-IT" dirty="0" err="1"/>
                  <a:t>angular</a:t>
                </a:r>
                <a:r>
                  <a:rPr lang="it-IT" dirty="0"/>
                  <a:t> range in </a:t>
                </a:r>
                <a:r>
                  <a:rPr lang="it-IT" dirty="0" err="1"/>
                  <a:t>which</a:t>
                </a:r>
                <a:r>
                  <a:rPr lang="it-IT" dirty="0"/>
                  <a:t> </a:t>
                </a:r>
                <a:r>
                  <a:rPr lang="it-IT" dirty="0" err="1"/>
                  <a:t>particles</a:t>
                </a:r>
                <a:r>
                  <a:rPr lang="it-IT" dirty="0"/>
                  <a:t> can be 	</a:t>
                </a:r>
                <a:r>
                  <a:rPr lang="it-IT" dirty="0" err="1"/>
                  <a:t>channelled</a:t>
                </a:r>
                <a:r>
                  <a:rPr lang="it-IT" dirty="0"/>
                  <a:t>).</a:t>
                </a: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C000"/>
                    </a:solidFill>
                  </a:rPr>
                  <a:t>4.</a:t>
                </a:r>
                <a:r>
                  <a:rPr lang="it-IT" dirty="0"/>
                  <a:t> </a:t>
                </a:r>
                <a:r>
                  <a:rPr lang="it-IT" dirty="0" err="1"/>
                  <a:t>Choosing</a:t>
                </a:r>
                <a:r>
                  <a:rPr lang="it-IT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in </a:t>
                </a:r>
                <a:r>
                  <a:rPr lang="it-IT" dirty="0" err="1"/>
                  <a:t>order</a:t>
                </a:r>
                <a:r>
                  <a:rPr lang="it-IT" dirty="0"/>
                  <a:t> to </a:t>
                </a:r>
                <a:r>
                  <a:rPr lang="it-IT" dirty="0" err="1"/>
                  <a:t>also</a:t>
                </a:r>
                <a:r>
                  <a:rPr lang="it-IT" dirty="0"/>
                  <a:t> </a:t>
                </a:r>
                <a:r>
                  <a:rPr lang="it-IT" dirty="0" err="1"/>
                  <a:t>apply</a:t>
                </a:r>
                <a:r>
                  <a:rPr lang="it-IT" dirty="0"/>
                  <a:t> a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 (</a:t>
                </a:r>
                <a:r>
                  <a:rPr lang="it-IT" dirty="0" err="1"/>
                  <a:t>because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actually</a:t>
                </a:r>
                <a:r>
                  <a:rPr lang="it-IT" dirty="0"/>
                  <a:t> </a:t>
                </a:r>
                <a:r>
                  <a:rPr lang="it-IT" dirty="0" err="1"/>
                  <a:t>depends</a:t>
                </a:r>
                <a:r>
                  <a:rPr lang="it-IT" dirty="0"/>
                  <a:t> on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particle</a:t>
                </a:r>
                <a:r>
                  <a:rPr lang="it-IT" dirty="0"/>
                  <a:t> hits the </a:t>
                </a:r>
                <a:r>
                  <a:rPr lang="it-IT" dirty="0" err="1"/>
                  <a:t>crystal</a:t>
                </a:r>
                <a:r>
                  <a:rPr lang="it-IT" dirty="0"/>
                  <a:t> in the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t-IT" dirty="0"/>
                  <a:t> direction), </a:t>
                </a:r>
                <a:r>
                  <a:rPr lang="it-IT" dirty="0" err="1"/>
                  <a:t>which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not </a:t>
                </a:r>
                <a:r>
                  <a:rPr lang="it-IT" dirty="0" err="1"/>
                  <a:t>negligible</a:t>
                </a:r>
                <a:r>
                  <a:rPr lang="it-IT" dirty="0"/>
                  <a:t> in the long </a:t>
                </a:r>
                <a:r>
                  <a:rPr lang="it-IT" dirty="0" err="1"/>
                  <a:t>crystals</a:t>
                </a:r>
                <a:r>
                  <a:rPr lang="it-IT" dirty="0"/>
                  <a:t>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0A53336-A181-BBE2-DB69-E2A148A056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4"/>
                <a:stretch>
                  <a:fillRect l="-1190" r="-14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807179-9721-BA1A-F9F2-3D9FADAF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508B0D-7409-FEBA-1122-6D676CBAA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3269CB-1D6B-7D8E-C5CC-2BE78C58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85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D13E-A0D8-C44B-C723-7545723A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B1347A-C78A-228B-2065-0E1D4E353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619AB4-96C5-137A-814A-E1A811976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288"/>
            <a:ext cx="11027735" cy="4955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To </a:t>
            </a:r>
            <a:r>
              <a:rPr lang="it-IT" dirty="0" err="1"/>
              <a:t>select</a:t>
            </a:r>
            <a:r>
              <a:rPr lang="it-IT" dirty="0"/>
              <a:t> the </a:t>
            </a:r>
            <a:r>
              <a:rPr lang="it-IT" dirty="0" err="1"/>
              <a:t>particles</a:t>
            </a:r>
            <a:r>
              <a:rPr lang="it-IT" dirty="0"/>
              <a:t> that </a:t>
            </a:r>
            <a:r>
              <a:rPr lang="it-IT" dirty="0" err="1"/>
              <a:t>actually</a:t>
            </a:r>
            <a:r>
              <a:rPr lang="it-IT" dirty="0"/>
              <a:t> </a:t>
            </a:r>
            <a:r>
              <a:rPr lang="it-IT" dirty="0" err="1"/>
              <a:t>enter</a:t>
            </a:r>
            <a:r>
              <a:rPr lang="it-IT" dirty="0"/>
              <a:t> the </a:t>
            </a:r>
            <a:r>
              <a:rPr lang="it-IT" dirty="0" err="1"/>
              <a:t>crystal</a:t>
            </a:r>
            <a:r>
              <a:rPr lang="it-IT" dirty="0"/>
              <a:t> we first </a:t>
            </a:r>
            <a:r>
              <a:rPr lang="it-IT" dirty="0" err="1"/>
              <a:t>need</a:t>
            </a:r>
            <a:r>
              <a:rPr lang="it-IT" dirty="0"/>
              <a:t> to know the position of the </a:t>
            </a:r>
            <a:r>
              <a:rPr lang="it-IT" dirty="0" err="1"/>
              <a:t>crystal</a:t>
            </a:r>
            <a:r>
              <a:rPr lang="it-IT" dirty="0"/>
              <a:t> with </a:t>
            </a:r>
            <a:r>
              <a:rPr lang="it-IT" dirty="0" err="1"/>
              <a:t>respect</a:t>
            </a:r>
            <a:r>
              <a:rPr lang="it-IT" dirty="0"/>
              <a:t> to the </a:t>
            </a:r>
            <a:r>
              <a:rPr lang="it-IT" dirty="0" err="1"/>
              <a:t>beam</a:t>
            </a:r>
            <a:r>
              <a:rPr lang="it-IT" dirty="0"/>
              <a:t> of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  <a:p>
            <a:pPr marL="0" indent="0" algn="ctr">
              <a:buNone/>
            </a:pPr>
            <a:r>
              <a:rPr lang="it-IT" dirty="0"/>
              <a:t>Incoming and </a:t>
            </a:r>
            <a:r>
              <a:rPr lang="it-IT" dirty="0" err="1"/>
              <a:t>outgoing</a:t>
            </a:r>
            <a:r>
              <a:rPr lang="it-IT" dirty="0"/>
              <a:t> streams of </a:t>
            </a:r>
            <a:r>
              <a:rPr lang="it-IT" dirty="0" err="1"/>
              <a:t>particles</a:t>
            </a:r>
            <a:r>
              <a:rPr lang="it-IT" dirty="0"/>
              <a:t>:</a:t>
            </a:r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pPr marL="0" indent="0" algn="ctr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We </a:t>
            </a:r>
            <a:r>
              <a:rPr lang="it-IT" dirty="0" err="1"/>
              <a:t>then</a:t>
            </a:r>
            <a:r>
              <a:rPr lang="it-IT" dirty="0"/>
              <a:t> look </a:t>
            </a:r>
            <a:r>
              <a:rPr lang="it-IT" dirty="0" err="1"/>
              <a:t>at</a:t>
            </a:r>
            <a:r>
              <a:rPr lang="it-IT" dirty="0"/>
              <a:t> </a:t>
            </a:r>
            <a:r>
              <a:rPr lang="it-IT" dirty="0" err="1"/>
              <a:t>channeled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 using a </a:t>
            </a:r>
            <a:r>
              <a:rPr lang="it-IT" dirty="0" err="1"/>
              <a:t>preliminary</a:t>
            </a:r>
            <a:r>
              <a:rPr lang="it-IT" dirty="0"/>
              <a:t> </a:t>
            </a:r>
            <a:r>
              <a:rPr lang="it-IT" dirty="0" err="1"/>
              <a:t>deflection</a:t>
            </a:r>
            <a:r>
              <a:rPr lang="it-IT" dirty="0"/>
              <a:t> cut. </a:t>
            </a:r>
            <a:r>
              <a:rPr lang="it-IT" dirty="0" err="1"/>
              <a:t>Their</a:t>
            </a:r>
            <a:r>
              <a:rPr lang="it-IT" dirty="0"/>
              <a:t> impact points </a:t>
            </a:r>
            <a:r>
              <a:rPr lang="it-IT" dirty="0" err="1"/>
              <a:t>reveal</a:t>
            </a:r>
            <a:r>
              <a:rPr lang="it-IT" dirty="0"/>
              <a:t> the </a:t>
            </a:r>
            <a:r>
              <a:rPr lang="it-IT" dirty="0" err="1"/>
              <a:t>crystal's</a:t>
            </a:r>
            <a:r>
              <a:rPr lang="it-IT" dirty="0"/>
              <a:t> </a:t>
            </a:r>
            <a:r>
              <a:rPr lang="it-IT" dirty="0" err="1"/>
              <a:t>physical</a:t>
            </a:r>
            <a:r>
              <a:rPr lang="it-IT" dirty="0"/>
              <a:t> location.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5E880F-D2F4-CB7D-7886-AECD2469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E1F8CE-E271-3D4E-CF95-4AB827CA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FFBD75-CFE7-9894-9D6A-4F523CFA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E2F35CE-4891-12E2-8CA7-D2A72B6A6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>
          <a:xfrm>
            <a:off x="1785595" y="2779068"/>
            <a:ext cx="8620810" cy="234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94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8E1EE-631D-DCC1-ED9A-390BF275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3DE000-1862-C355-86AE-B8036CEB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F152E2-866B-ACF7-4DC1-428F2D388B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8F80D4-B63E-5C35-8C7C-CA667011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FBD94F-ACF3-4F81-CC5B-CEC0B355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DEB6AE9-C91C-DCDA-468B-AE7744FD2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-302"/>
          <a:stretch>
            <a:fillRect/>
          </a:stretch>
        </p:blipFill>
        <p:spPr>
          <a:xfrm>
            <a:off x="1111250" y="1222745"/>
            <a:ext cx="10210800" cy="5582366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2F236B27-3FBD-D2CD-DCC3-1DB90A8A7EE8}"/>
              </a:ext>
            </a:extLst>
          </p:cNvPr>
          <p:cNvSpPr/>
          <p:nvPr/>
        </p:nvSpPr>
        <p:spPr>
          <a:xfrm>
            <a:off x="2740025" y="2292350"/>
            <a:ext cx="527050" cy="536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AEBBF98-19B6-16C5-8AAC-33F34EE99A95}"/>
              </a:ext>
            </a:extLst>
          </p:cNvPr>
          <p:cNvSpPr/>
          <p:nvPr/>
        </p:nvSpPr>
        <p:spPr>
          <a:xfrm>
            <a:off x="7850299" y="2292350"/>
            <a:ext cx="527050" cy="536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1F5554DE-3799-077A-738D-493B0B5E8AFD}"/>
              </a:ext>
            </a:extLst>
          </p:cNvPr>
          <p:cNvCxnSpPr>
            <a:cxnSpLocks/>
          </p:cNvCxnSpPr>
          <p:nvPr/>
        </p:nvCxnSpPr>
        <p:spPr>
          <a:xfrm flipV="1">
            <a:off x="1708150" y="2828925"/>
            <a:ext cx="1038225" cy="149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AB9C9A7A-5672-08FB-60DF-FA385B683409}"/>
              </a:ext>
            </a:extLst>
          </p:cNvPr>
          <p:cNvCxnSpPr>
            <a:cxnSpLocks/>
          </p:cNvCxnSpPr>
          <p:nvPr/>
        </p:nvCxnSpPr>
        <p:spPr>
          <a:xfrm flipV="1">
            <a:off x="6812074" y="2828925"/>
            <a:ext cx="1038225" cy="149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630380B7-E12E-9CDB-C5AA-596E9CF18914}"/>
              </a:ext>
            </a:extLst>
          </p:cNvPr>
          <p:cNvCxnSpPr>
            <a:cxnSpLocks/>
          </p:cNvCxnSpPr>
          <p:nvPr/>
        </p:nvCxnSpPr>
        <p:spPr>
          <a:xfrm flipH="1" flipV="1">
            <a:off x="3267075" y="2823793"/>
            <a:ext cx="2343262" cy="1503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536E0137-9A0B-6F7B-CF23-698D594C7545}"/>
              </a:ext>
            </a:extLst>
          </p:cNvPr>
          <p:cNvCxnSpPr>
            <a:cxnSpLocks/>
          </p:cNvCxnSpPr>
          <p:nvPr/>
        </p:nvCxnSpPr>
        <p:spPr>
          <a:xfrm flipH="1" flipV="1">
            <a:off x="8386080" y="2823793"/>
            <a:ext cx="2343262" cy="15037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13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0056-B99D-90C0-F9E3-4B856F1A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A0F6-1E48-6ABE-1282-852FE39E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ED12E15-4858-3A45-BF2F-3B5D9ECA54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endParaRPr lang="it-IT" sz="2500" dirty="0"/>
              </a:p>
              <a:p>
                <a:pPr marL="0" indent="0">
                  <a:buNone/>
                </a:pPr>
                <a:r>
                  <a:rPr lang="it-IT" sz="2500" dirty="0"/>
                  <a:t>We </a:t>
                </a:r>
                <a:r>
                  <a:rPr lang="it-IT" sz="2500" dirty="0" err="1"/>
                  <a:t>notice</a:t>
                </a:r>
                <a:r>
                  <a:rPr lang="it-IT" sz="2500" dirty="0"/>
                  <a:t> that the position in the </a:t>
                </a:r>
                <a:r>
                  <a:rPr lang="it-IT" sz="2500" dirty="0" err="1"/>
                  <a:t>beam</a:t>
                </a:r>
                <a:r>
                  <a:rPr lang="it-IT" sz="2500" dirty="0"/>
                  <a:t> of the </a:t>
                </a:r>
                <a:r>
                  <a:rPr lang="it-IT" sz="2500" dirty="0" err="1"/>
                  <a:t>channeled</a:t>
                </a:r>
                <a:r>
                  <a:rPr lang="it-IT" sz="2500" dirty="0"/>
                  <a:t> </a:t>
                </a:r>
                <a:r>
                  <a:rPr lang="it-IT" sz="2500" dirty="0" err="1"/>
                  <a:t>particles</a:t>
                </a:r>
                <a:r>
                  <a:rPr lang="it-IT" sz="2500" dirty="0"/>
                  <a:t> </a:t>
                </a:r>
                <a:r>
                  <a:rPr lang="it-IT" sz="2500" dirty="0" err="1"/>
                  <a:t>has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dimension</a:t>
                </a:r>
                <a:r>
                  <a:rPr lang="it-IT" sz="2500" dirty="0"/>
                  <a:t> of the </a:t>
                </a:r>
                <a:r>
                  <a:rPr lang="it-IT" sz="2500" dirty="0" err="1"/>
                  <a:t>crystal</a:t>
                </a:r>
                <a:r>
                  <a:rPr lang="it-IT" sz="2500" dirty="0"/>
                  <a:t> (2mm x 8mm).</a:t>
                </a:r>
              </a:p>
              <a:p>
                <a:pPr marL="0" indent="0">
                  <a:buNone/>
                </a:pPr>
                <a:r>
                  <a:rPr lang="it-IT" sz="2500" dirty="0"/>
                  <a:t>To </a:t>
                </a:r>
                <a:r>
                  <a:rPr lang="it-IT" sz="2500" dirty="0" err="1"/>
                  <a:t>find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edges</a:t>
                </a:r>
                <a:r>
                  <a:rPr lang="it-IT" sz="2500" dirty="0"/>
                  <a:t> </a:t>
                </a:r>
                <a:r>
                  <a:rPr lang="it-IT" sz="2500" dirty="0" err="1"/>
                  <a:t>along</a:t>
                </a:r>
                <a:r>
                  <a:rPr lang="it-IT" sz="2500" dirty="0"/>
                  <a:t> </a:t>
                </a:r>
                <a14:m>
                  <m:oMath xmlns:m="http://schemas.openxmlformats.org/officeDocument/2006/math"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500" dirty="0"/>
                  <a:t> (that </a:t>
                </a:r>
                <a:r>
                  <a:rPr lang="it-IT" sz="2500" dirty="0" err="1"/>
                  <a:t>have</a:t>
                </a:r>
                <a:r>
                  <a:rPr lang="it-IT" sz="2500" dirty="0"/>
                  <a:t> an </a:t>
                </a:r>
                <a:r>
                  <a:rPr lang="it-IT" sz="2500" dirty="0" err="1"/>
                  <a:t>asymmetrical</a:t>
                </a:r>
                <a:r>
                  <a:rPr lang="it-IT" sz="2500" dirty="0"/>
                  <a:t> </a:t>
                </a:r>
                <a:r>
                  <a:rPr lang="it-IT" sz="2500" dirty="0" err="1"/>
                  <a:t>distribution</a:t>
                </a:r>
                <a:r>
                  <a:rPr lang="it-IT" sz="2500" dirty="0"/>
                  <a:t>) we </a:t>
                </a:r>
                <a:r>
                  <a:rPr lang="it-IT" sz="2500" dirty="0" err="1"/>
                  <a:t>perform</a:t>
                </a:r>
                <a:r>
                  <a:rPr lang="it-IT" sz="2500" dirty="0"/>
                  <a:t> a «sliding window» </a:t>
                </a:r>
                <a:r>
                  <a:rPr lang="it-IT" sz="2500" dirty="0" err="1"/>
                  <a:t>method</a:t>
                </a:r>
                <a:r>
                  <a:rPr lang="it-IT" sz="2500" dirty="0"/>
                  <a:t> (</a:t>
                </a:r>
                <a:r>
                  <a:rPr lang="it-IT" sz="2500" dirty="0" err="1"/>
                  <a:t>fixed</a:t>
                </a:r>
                <a:r>
                  <a:rPr lang="it-IT" sz="2500" dirty="0"/>
                  <a:t> width  &amp; </a:t>
                </a:r>
                <a:r>
                  <a:rPr lang="it-IT" sz="2500" dirty="0" err="1"/>
                  <a:t>precision</a:t>
                </a:r>
                <a:r>
                  <a:rPr lang="it-IT" sz="2500" dirty="0"/>
                  <a:t> of 0.01mm), </a:t>
                </a:r>
                <a:r>
                  <a:rPr lang="it-IT" sz="2500" dirty="0" err="1"/>
                  <a:t>aiming</a:t>
                </a:r>
                <a:r>
                  <a:rPr lang="it-IT" sz="2500" dirty="0"/>
                  <a:t> for the position that </a:t>
                </a:r>
                <a:r>
                  <a:rPr lang="it-IT" sz="2500" dirty="0" err="1"/>
                  <a:t>maximize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number</a:t>
                </a:r>
                <a:r>
                  <a:rPr lang="it-IT" sz="2500" dirty="0"/>
                  <a:t> of </a:t>
                </a:r>
                <a:r>
                  <a:rPr lang="it-IT" sz="2500" dirty="0" err="1"/>
                  <a:t>particles</a:t>
                </a:r>
                <a:r>
                  <a:rPr lang="it-IT" sz="2500" dirty="0"/>
                  <a:t> inside.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ED12E15-4858-3A45-BF2F-3B5D9ECA54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3"/>
                <a:stretch>
                  <a:fillRect l="-96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501F51-AA98-62F4-F72B-C9C4B8BC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2060F8-6037-556E-789D-480F195E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C31E74-DFB0-FC97-08DE-F3BDAE9C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9BEDB6B-7F83-4619-EBA5-6AE9EE01BB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964" b="1054"/>
          <a:stretch>
            <a:fillRect/>
          </a:stretch>
        </p:blipFill>
        <p:spPr>
          <a:xfrm>
            <a:off x="1065450" y="1401288"/>
            <a:ext cx="10059300" cy="2575932"/>
          </a:xfrm>
          <a:prstGeom prst="rect">
            <a:avLst/>
          </a:prstGeom>
        </p:spPr>
      </p:pic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887BF78E-E70B-F6F0-FC61-D413D5509765}"/>
              </a:ext>
            </a:extLst>
          </p:cNvPr>
          <p:cNvSpPr/>
          <p:nvPr/>
        </p:nvSpPr>
        <p:spPr>
          <a:xfrm flipH="1">
            <a:off x="1983740" y="1838960"/>
            <a:ext cx="452120" cy="1625600"/>
          </a:xfrm>
          <a:prstGeom prst="rightBrace">
            <a:avLst>
              <a:gd name="adj1" fmla="val 341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16CD1D6C-784A-ACF0-3D7C-B564544346CC}"/>
              </a:ext>
            </a:extLst>
          </p:cNvPr>
          <p:cNvSpPr/>
          <p:nvPr/>
        </p:nvSpPr>
        <p:spPr>
          <a:xfrm rot="5400000">
            <a:off x="3293110" y="2632710"/>
            <a:ext cx="411480" cy="2075180"/>
          </a:xfrm>
          <a:prstGeom prst="rightBrace">
            <a:avLst>
              <a:gd name="adj1" fmla="val 341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Parentesi graffa chiusa 11">
            <a:extLst>
              <a:ext uri="{FF2B5EF4-FFF2-40B4-BE49-F238E27FC236}">
                <a16:creationId xmlns:a16="http://schemas.microsoft.com/office/drawing/2014/main" id="{E041253E-284E-847E-C467-6C8CAB390283}"/>
              </a:ext>
            </a:extLst>
          </p:cNvPr>
          <p:cNvSpPr/>
          <p:nvPr/>
        </p:nvSpPr>
        <p:spPr>
          <a:xfrm flipH="1">
            <a:off x="7203442" y="1838960"/>
            <a:ext cx="452120" cy="1625600"/>
          </a:xfrm>
          <a:prstGeom prst="rightBrace">
            <a:avLst>
              <a:gd name="adj1" fmla="val 341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Parentesi graffa chiusa 13">
            <a:extLst>
              <a:ext uri="{FF2B5EF4-FFF2-40B4-BE49-F238E27FC236}">
                <a16:creationId xmlns:a16="http://schemas.microsoft.com/office/drawing/2014/main" id="{4A965C7D-EBCF-AC68-F38E-2AF96497BDD9}"/>
              </a:ext>
            </a:extLst>
          </p:cNvPr>
          <p:cNvSpPr/>
          <p:nvPr/>
        </p:nvSpPr>
        <p:spPr>
          <a:xfrm rot="5400000">
            <a:off x="8536940" y="2682241"/>
            <a:ext cx="411480" cy="1976120"/>
          </a:xfrm>
          <a:prstGeom prst="rightBrace">
            <a:avLst>
              <a:gd name="adj1" fmla="val 34139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976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5EAFE-3FA5-6E36-ED66-31C8AC6E2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7CBC09-FF6D-4D6C-5752-686E0BD2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1FF654-3D17-7D98-F8A0-E3044458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63A475-92B6-A5DF-316C-D22487E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4FA153-C77F-5D54-6F7E-377A9FDC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5AE06E6-F16F-BC36-D7EF-1736BD139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100" y="1287677"/>
            <a:ext cx="5362389" cy="4680000"/>
          </a:xfrm>
          <a:prstGeom prst="rect">
            <a:avLst/>
          </a:prstGeom>
        </p:spPr>
      </p:pic>
      <p:pic>
        <p:nvPicPr>
          <p:cNvPr id="14" name="Segnaposto contenuto 13">
            <a:extLst>
              <a:ext uri="{FF2B5EF4-FFF2-40B4-BE49-F238E27FC236}">
                <a16:creationId xmlns:a16="http://schemas.microsoft.com/office/drawing/2014/main" id="{9AEF76AB-710D-0428-03E0-E38DE18A4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66" y="1287677"/>
            <a:ext cx="5362388" cy="4680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F5B7B24-FBC3-D2AF-CE17-A25092FFCD8E}"/>
              </a:ext>
            </a:extLst>
          </p:cNvPr>
          <p:cNvSpPr txBox="1"/>
          <p:nvPr/>
        </p:nvSpPr>
        <p:spPr>
          <a:xfrm>
            <a:off x="0" y="5967677"/>
            <a:ext cx="609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INCOMING BEAM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597C0D0-B9F7-EA65-E9AA-533E366D61F5}"/>
              </a:ext>
            </a:extLst>
          </p:cNvPr>
          <p:cNvSpPr txBox="1"/>
          <p:nvPr/>
        </p:nvSpPr>
        <p:spPr>
          <a:xfrm>
            <a:off x="6096900" y="5977347"/>
            <a:ext cx="609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OUTGOING BEAM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F6F9551-EDB4-94B3-3294-9B6682D3B40D}"/>
              </a:ext>
            </a:extLst>
          </p:cNvPr>
          <p:cNvSpPr txBox="1"/>
          <p:nvPr/>
        </p:nvSpPr>
        <p:spPr>
          <a:xfrm>
            <a:off x="9342120" y="1287677"/>
            <a:ext cx="24447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900" dirty="0"/>
              <a:t>The sliding window </a:t>
            </a:r>
            <a:r>
              <a:rPr lang="it-IT" sz="1900" dirty="0" err="1"/>
              <a:t>method</a:t>
            </a:r>
            <a:r>
              <a:rPr lang="it-IT" sz="1900" dirty="0"/>
              <a:t> was </a:t>
            </a:r>
            <a:r>
              <a:rPr lang="it-IT" sz="1900" dirty="0" err="1"/>
              <a:t>performed</a:t>
            </a:r>
            <a:r>
              <a:rPr lang="it-IT" sz="1900" dirty="0"/>
              <a:t> on the </a:t>
            </a:r>
            <a:r>
              <a:rPr lang="it-IT" sz="1900" dirty="0" err="1"/>
              <a:t>outgoing</a:t>
            </a:r>
            <a:r>
              <a:rPr lang="it-IT" sz="1900" dirty="0"/>
              <a:t> </a:t>
            </a:r>
            <a:r>
              <a:rPr lang="it-IT" sz="1900" dirty="0" err="1"/>
              <a:t>distribution</a:t>
            </a:r>
            <a:r>
              <a:rPr lang="it-IT" sz="1900" dirty="0"/>
              <a:t>, </a:t>
            </a:r>
            <a:r>
              <a:rPr lang="it-IT" sz="1900" dirty="0" err="1"/>
              <a:t>since</a:t>
            </a:r>
            <a:r>
              <a:rPr lang="it-IT" sz="1900" dirty="0"/>
              <a:t> </a:t>
            </a:r>
            <a:r>
              <a:rPr lang="it-IT" sz="1900" dirty="0" err="1"/>
              <a:t>presents</a:t>
            </a:r>
            <a:r>
              <a:rPr lang="it-IT" sz="1900" dirty="0"/>
              <a:t> more </a:t>
            </a:r>
            <a:r>
              <a:rPr lang="it-IT" sz="1900" dirty="0" err="1"/>
              <a:t>defined</a:t>
            </a:r>
            <a:r>
              <a:rPr lang="it-IT" sz="1900" dirty="0"/>
              <a:t> </a:t>
            </a:r>
            <a:r>
              <a:rPr lang="it-IT" sz="1900" dirty="0" err="1"/>
              <a:t>edges</a:t>
            </a:r>
            <a:r>
              <a:rPr lang="it-IT" sz="1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420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69E6D-A8D0-98EF-36A0-055BFAD7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D1DF21-21FD-6755-A338-19C1D490B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F62380-45A7-3D15-D130-357D2286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176BFC-6C1E-F5A2-9C35-A998F1CD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679799-D519-DF8F-9606-A979B25C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1C5F0D2-04A2-3B1E-60B4-6CC475DFC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454" y="1287677"/>
            <a:ext cx="5361680" cy="4680000"/>
          </a:xfrm>
          <a:prstGeom prst="rect">
            <a:avLst/>
          </a:prstGeom>
        </p:spPr>
      </p:pic>
      <p:pic>
        <p:nvPicPr>
          <p:cNvPr id="14" name="Segnaposto contenuto 13">
            <a:extLst>
              <a:ext uri="{FF2B5EF4-FFF2-40B4-BE49-F238E27FC236}">
                <a16:creationId xmlns:a16="http://schemas.microsoft.com/office/drawing/2014/main" id="{26723AFC-1A4D-F9E9-1AFD-6C15B2046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966" y="1287677"/>
            <a:ext cx="5362388" cy="468000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3DEC565-07E5-43FC-4C9D-21BA7FE430D6}"/>
              </a:ext>
            </a:extLst>
          </p:cNvPr>
          <p:cNvSpPr txBox="1"/>
          <p:nvPr/>
        </p:nvSpPr>
        <p:spPr>
          <a:xfrm>
            <a:off x="0" y="5967677"/>
            <a:ext cx="609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INCOMING BEAM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7102561F-6DC6-7623-D61B-EBBCDAB5F838}"/>
              </a:ext>
            </a:extLst>
          </p:cNvPr>
          <p:cNvSpPr txBox="1"/>
          <p:nvPr/>
        </p:nvSpPr>
        <p:spPr>
          <a:xfrm>
            <a:off x="6096900" y="5977347"/>
            <a:ext cx="609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OUTGOING BEAM</a:t>
            </a:r>
          </a:p>
        </p:txBody>
      </p:sp>
    </p:spTree>
    <p:extLst>
      <p:ext uri="{BB962C8B-B14F-4D97-AF65-F5344CB8AC3E}">
        <p14:creationId xmlns:p14="http://schemas.microsoft.com/office/powerpoint/2010/main" val="3405406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82EF-8A36-163F-01D0-9D6A253D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BF3D6C-05C2-DA81-B54D-E1B68C1E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0FCBA3A-E3A9-97F4-F4CA-2C05AD6DD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Due to the drift of the </a:t>
                </a:r>
                <a:r>
                  <a:rPr lang="it-IT" dirty="0" err="1"/>
                  <a:t>channeled</a:t>
                </a:r>
                <a:r>
                  <a:rPr lang="it-IT" dirty="0"/>
                  <a:t> </a:t>
                </a:r>
                <a:r>
                  <a:rPr lang="it-IT" dirty="0" err="1"/>
                  <a:t>particles</a:t>
                </a:r>
                <a:r>
                  <a:rPr lang="it-IT" dirty="0"/>
                  <a:t> the window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shifted</a:t>
                </a:r>
                <a:r>
                  <a:rPr lang="it-IT" dirty="0"/>
                  <a:t> of    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∼0.24</m:t>
                    </m:r>
                  </m:oMath>
                </a14:m>
                <a:r>
                  <a:rPr lang="it-IT" dirty="0"/>
                  <a:t> mm.</a:t>
                </a:r>
              </a:p>
              <a:p>
                <a:pPr marL="0" indent="0">
                  <a:buNone/>
                </a:pPr>
                <a:endParaRPr lang="it-IT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it-IT" dirty="0">
                    <a:solidFill>
                      <a:srgbClr val="FFC000"/>
                    </a:solidFill>
                  </a:rPr>
                  <a:t>This </a:t>
                </a:r>
                <a:r>
                  <a:rPr lang="it-IT" dirty="0" err="1">
                    <a:solidFill>
                      <a:srgbClr val="FFC000"/>
                    </a:solidFill>
                  </a:rPr>
                  <a:t>value</a:t>
                </a:r>
                <a:r>
                  <a:rPr lang="it-IT" dirty="0">
                    <a:solidFill>
                      <a:srgbClr val="FFC000"/>
                    </a:solidFill>
                  </a:rPr>
                  <a:t> was </a:t>
                </a:r>
                <a:r>
                  <a:rPr lang="it-IT" dirty="0" err="1">
                    <a:solidFill>
                      <a:srgbClr val="FFC000"/>
                    </a:solidFill>
                  </a:rPr>
                  <a:t>found</a:t>
                </a:r>
                <a:r>
                  <a:rPr lang="it-IT" dirty="0">
                    <a:solidFill>
                      <a:srgbClr val="FFC000"/>
                    </a:solidFill>
                  </a:rPr>
                  <a:t> </a:t>
                </a:r>
                <a:r>
                  <a:rPr lang="it-IT" dirty="0" err="1">
                    <a:solidFill>
                      <a:srgbClr val="FFC000"/>
                    </a:solidFill>
                  </a:rPr>
                  <a:t>empirically</a:t>
                </a:r>
                <a:r>
                  <a:rPr lang="it-IT" dirty="0">
                    <a:solidFill>
                      <a:srgbClr val="FFC000"/>
                    </a:solidFill>
                  </a:rPr>
                  <a:t>! To make the </a:t>
                </a:r>
                <a:r>
                  <a:rPr lang="it-IT" dirty="0" err="1">
                    <a:solidFill>
                      <a:srgbClr val="FFC000"/>
                    </a:solidFill>
                  </a:rPr>
                  <a:t>computation</a:t>
                </a:r>
                <a:r>
                  <a:rPr lang="it-IT" dirty="0">
                    <a:solidFill>
                      <a:srgbClr val="FFC000"/>
                    </a:solidFill>
                  </a:rPr>
                  <a:t> more accurate we </a:t>
                </a:r>
                <a:r>
                  <a:rPr lang="it-IT" dirty="0" err="1">
                    <a:solidFill>
                      <a:srgbClr val="FFC000"/>
                    </a:solidFill>
                  </a:rPr>
                  <a:t>need</a:t>
                </a:r>
                <a:r>
                  <a:rPr lang="it-IT" dirty="0">
                    <a:solidFill>
                      <a:srgbClr val="FFC000"/>
                    </a:solidFill>
                  </a:rPr>
                  <a:t> the </a:t>
                </a:r>
                <a:r>
                  <a:rPr lang="it-IT" dirty="0" err="1">
                    <a:solidFill>
                      <a:srgbClr val="FFC000"/>
                    </a:solidFill>
                  </a:rPr>
                  <a:t>distance</a:t>
                </a:r>
                <a:r>
                  <a:rPr lang="it-IT" dirty="0">
                    <a:solidFill>
                      <a:srgbClr val="FFC000"/>
                    </a:solidFill>
                  </a:rPr>
                  <a:t> </a:t>
                </a:r>
                <a:r>
                  <a:rPr lang="it-IT" dirty="0" err="1">
                    <a:solidFill>
                      <a:srgbClr val="FFC000"/>
                    </a:solidFill>
                  </a:rPr>
                  <a:t>between</a:t>
                </a:r>
                <a:r>
                  <a:rPr lang="it-IT" dirty="0">
                    <a:solidFill>
                      <a:srgbClr val="FFC000"/>
                    </a:solidFill>
                  </a:rPr>
                  <a:t> the detectors (for </a:t>
                </a:r>
                <a:r>
                  <a:rPr lang="it-IT" dirty="0" err="1">
                    <a:solidFill>
                      <a:srgbClr val="FFC000"/>
                    </a:solidFill>
                  </a:rPr>
                  <a:t>example</a:t>
                </a:r>
                <a:r>
                  <a:rPr lang="it-IT" dirty="0">
                    <a:solidFill>
                      <a:srgbClr val="FFC000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0FCBA3A-E3A9-97F4-F4CA-2C05AD6DD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3"/>
                <a:stretch>
                  <a:fillRect l="-1190" b="-7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7A5BD0-D97E-24ED-26B7-64CA548D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88F218-9842-0422-0560-F9159FF9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BAB289-EAAC-712E-E55A-A55BF191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9" name="Segnaposto contenuto 15">
            <a:extLst>
              <a:ext uri="{FF2B5EF4-FFF2-40B4-BE49-F238E27FC236}">
                <a16:creationId xmlns:a16="http://schemas.microsoft.com/office/drawing/2014/main" id="{99EE364B-CBE8-551C-6CFF-46E8AE728F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95"/>
          <a:stretch>
            <a:fillRect/>
          </a:stretch>
        </p:blipFill>
        <p:spPr>
          <a:xfrm>
            <a:off x="1092161" y="1222745"/>
            <a:ext cx="10005877" cy="281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3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70F8A-3F13-1989-49C6-40D2398A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28228D85-08BD-C911-45B6-CEA370FFA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897" y="2374900"/>
            <a:ext cx="5476207" cy="398144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FEBD677-C603-E5BD-D37F-4964ABF23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2: SPATIAL CUT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F009E3-299A-73B4-F5DB-3925DBB9B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This 2D </a:t>
            </a:r>
            <a:r>
              <a:rPr lang="it-IT" dirty="0" err="1"/>
              <a:t>beam</a:t>
            </a:r>
            <a:r>
              <a:rPr lang="it-IT" dirty="0"/>
              <a:t> </a:t>
            </a:r>
            <a:r>
              <a:rPr lang="it-IT" dirty="0" err="1"/>
              <a:t>profile</a:t>
            </a:r>
            <a:r>
              <a:rPr lang="it-IT" dirty="0"/>
              <a:t> (d0</a:t>
            </a:r>
            <a:r>
              <a:rPr lang="it-IT" baseline="-25000" dirty="0"/>
              <a:t>x</a:t>
            </a:r>
            <a:r>
              <a:rPr lang="it-IT" dirty="0"/>
              <a:t> vs d0</a:t>
            </a:r>
            <a:r>
              <a:rPr lang="it-IT" baseline="-25000" dirty="0"/>
              <a:t>y</a:t>
            </a:r>
            <a:r>
              <a:rPr lang="it-IT" dirty="0"/>
              <a:t>) shows the </a:t>
            </a:r>
            <a:r>
              <a:rPr lang="it-IT" dirty="0" err="1"/>
              <a:t>selected</a:t>
            </a:r>
            <a:r>
              <a:rPr lang="it-IT" dirty="0"/>
              <a:t> </a:t>
            </a:r>
            <a:r>
              <a:rPr lang="it-IT" dirty="0" err="1"/>
              <a:t>crystal</a:t>
            </a:r>
            <a:r>
              <a:rPr lang="it-IT" dirty="0"/>
              <a:t> area in red. This </a:t>
            </a:r>
            <a:r>
              <a:rPr lang="it-IT" dirty="0" err="1"/>
              <a:t>spatial</a:t>
            </a:r>
            <a:r>
              <a:rPr lang="it-IT" dirty="0"/>
              <a:t> filter </a:t>
            </a:r>
            <a:r>
              <a:rPr lang="it-IT" dirty="0" err="1"/>
              <a:t>ensures</a:t>
            </a:r>
            <a:r>
              <a:rPr lang="it-IT" dirty="0"/>
              <a:t> we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analyze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with </a:t>
            </a:r>
            <a:r>
              <a:rPr lang="it-IT" dirty="0" err="1"/>
              <a:t>correct</a:t>
            </a:r>
            <a:r>
              <a:rPr lang="it-IT" dirty="0"/>
              <a:t> impact </a:t>
            </a:r>
            <a:r>
              <a:rPr lang="it-IT" dirty="0" err="1"/>
              <a:t>parameters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170D1B-D3CF-273A-BD67-EE0D5759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EE1F47-86A5-ADCD-F093-96250C72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3CB083B-F4AE-09F8-5B4A-FC182488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88AD701-3C39-CFD6-E386-739994974D02}"/>
              </a:ext>
            </a:extLst>
          </p:cNvPr>
          <p:cNvSpPr/>
          <p:nvPr/>
        </p:nvSpPr>
        <p:spPr>
          <a:xfrm>
            <a:off x="5196417" y="3958170"/>
            <a:ext cx="302683" cy="6307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324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94FB-4729-AFF2-920E-E5A9B82A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C37168-7D74-D8BA-496F-87369D3EA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3: ANGULAR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5230B19-D68C-3DE0-14BB-765721A6C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We </a:t>
                </a:r>
                <a:r>
                  <a:rPr lang="it-IT" dirty="0" err="1"/>
                  <a:t>perform</a:t>
                </a:r>
                <a:r>
                  <a:rPr lang="it-IT" dirty="0"/>
                  <a:t> a </a:t>
                </a:r>
                <a:r>
                  <a:rPr lang="it-IT" dirty="0" err="1"/>
                  <a:t>scan</a:t>
                </a:r>
                <a:r>
                  <a:rPr lang="it-IT" dirty="0"/>
                  <a:t> to </a:t>
                </a:r>
                <a:r>
                  <a:rPr lang="it-IT" dirty="0" err="1"/>
                  <a:t>find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: the angle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are </a:t>
                </a:r>
                <a:r>
                  <a:rPr lang="it-IT" dirty="0" err="1"/>
                  <a:t>perfectly</a:t>
                </a:r>
                <a:r>
                  <a:rPr lang="it-IT" dirty="0"/>
                  <a:t> </a:t>
                </a:r>
                <a:r>
                  <a:rPr lang="it-IT" dirty="0" err="1"/>
                  <a:t>aligned</a:t>
                </a:r>
                <a:r>
                  <a:rPr lang="it-IT" dirty="0"/>
                  <a:t> with the </a:t>
                </a:r>
                <a:r>
                  <a:rPr lang="it-IT" dirty="0" err="1"/>
                  <a:t>beam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algn="ctr"/>
                <a:r>
                  <a:rPr lang="it-IT" dirty="0" err="1"/>
                  <a:t>variation</a:t>
                </a:r>
                <a:r>
                  <a:rPr lang="it-IT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along</a:t>
                </a:r>
                <a:r>
                  <a:rPr lang="it-IT" dirty="0"/>
                  <a:t>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axis</a:t>
                </a:r>
                <a:r>
                  <a:rPr lang="it-IT" dirty="0"/>
                  <a:t> with a </a:t>
                </a:r>
                <a:r>
                  <a:rPr lang="it-IT" dirty="0" err="1"/>
                  <a:t>precision</a:t>
                </a:r>
                <a:r>
                  <a:rPr lang="it-IT" dirty="0"/>
                  <a:t> of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it-IT" dirty="0"/>
                  <a:t>rad</a:t>
                </a:r>
              </a:p>
              <a:p>
                <a:pPr algn="ctr"/>
                <a:r>
                  <a:rPr lang="it-IT" dirty="0"/>
                  <a:t>with </a:t>
                </a:r>
                <a:r>
                  <a:rPr lang="it-IT" dirty="0" err="1"/>
                  <a:t>every</a:t>
                </a:r>
                <a:r>
                  <a:rPr lang="it-IT" dirty="0"/>
                  <a:t> </a:t>
                </a:r>
                <a:r>
                  <a:rPr lang="it-IT" dirty="0" err="1"/>
                  <a:t>value</a:t>
                </a:r>
                <a:r>
                  <a:rPr lang="it-IT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we </a:t>
                </a:r>
                <a:r>
                  <a:rPr lang="it-IT" dirty="0" err="1"/>
                  <a:t>select</a:t>
                </a:r>
                <a:r>
                  <a:rPr lang="it-IT" dirty="0"/>
                  <a:t> the </a:t>
                </a:r>
                <a:r>
                  <a:rPr lang="it-IT" dirty="0" err="1"/>
                  <a:t>particles</a:t>
                </a:r>
                <a:r>
                  <a:rPr lang="it-IT" dirty="0"/>
                  <a:t> that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entered</a:t>
                </a:r>
                <a:r>
                  <a:rPr lang="it-IT" dirty="0"/>
                  <a:t> with the right angle,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dirty="0"/>
              </a:p>
              <a:p>
                <a:pPr algn="ctr"/>
                <a:r>
                  <a:rPr lang="it-IT" dirty="0"/>
                  <a:t>with the </a:t>
                </a:r>
                <a:r>
                  <a:rPr lang="it-IT" dirty="0" err="1"/>
                  <a:t>selected</a:t>
                </a:r>
                <a:r>
                  <a:rPr lang="it-IT" dirty="0"/>
                  <a:t> data we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</m:oMath>
                </a14:m>
                <a:endParaRPr lang="it-IT" dirty="0"/>
              </a:p>
              <a:p>
                <a:pPr algn="ctr"/>
                <a:r>
                  <a:rPr lang="it-IT" dirty="0"/>
                  <a:t>we </a:t>
                </a:r>
                <a:r>
                  <a:rPr lang="it-IT" dirty="0" err="1"/>
                  <a:t>select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that </a:t>
                </a:r>
                <a:r>
                  <a:rPr lang="it-IT" dirty="0" err="1"/>
                  <a:t>maximize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endParaRPr lang="it-IT" dirty="0"/>
              </a:p>
              <a:p>
                <a:pPr marL="0" indent="0" algn="ctr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5230B19-D68C-3DE0-14BB-765721A6C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3"/>
                <a:stretch>
                  <a:fillRect l="-1190" r="-11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2653BC-EB45-E5D6-A556-FF03A2F5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890629-407C-AB27-5655-5BFD9DFE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85A72A-ED6E-0535-CB11-017F470A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12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94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9FF2-336B-668D-F07E-61E374F9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632DE359-F59D-2092-121A-49C9E440D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967" y="2204186"/>
            <a:ext cx="6599660" cy="443724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A9E4A8-6CC4-E218-244F-327D8EC0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3: ANGULAR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1A3B7DF-56F3-AFA0-2BCB-B749755A1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dirty="0"/>
                  <a:t>The </a:t>
                </a:r>
                <a:r>
                  <a:rPr lang="it-IT" dirty="0" err="1"/>
                  <a:t>efficiency</a:t>
                </a:r>
                <a:r>
                  <a:rPr lang="it-IT" dirty="0"/>
                  <a:t> vs </a:t>
                </a:r>
                <a:r>
                  <a:rPr lang="it-IT" dirty="0" err="1"/>
                  <a:t>incident</a:t>
                </a:r>
                <a:r>
                  <a:rPr lang="it-IT" dirty="0"/>
                  <a:t> angle </a:t>
                </a:r>
                <a:r>
                  <a:rPr lang="it-IT" dirty="0" err="1"/>
                  <a:t>profile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fitted</a:t>
                </a:r>
                <a:r>
                  <a:rPr lang="it-IT" dirty="0"/>
                  <a:t> with a </a:t>
                </a:r>
                <a:r>
                  <a:rPr lang="it-IT" dirty="0" err="1"/>
                  <a:t>Gaussian</a:t>
                </a:r>
                <a:r>
                  <a:rPr lang="it-IT" dirty="0"/>
                  <a:t> function. This </a:t>
                </a:r>
                <a:r>
                  <a:rPr lang="it-IT" dirty="0" err="1"/>
                  <a:t>identifies</a:t>
                </a:r>
                <a:r>
                  <a:rPr lang="it-IT" dirty="0"/>
                  <a:t> the </a:t>
                </a:r>
                <a:r>
                  <a:rPr lang="it-IT" dirty="0" err="1"/>
                  <a:t>mean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with high </a:t>
                </a:r>
                <a:r>
                  <a:rPr lang="it-IT" dirty="0" err="1"/>
                  <a:t>precision</a:t>
                </a:r>
                <a:r>
                  <a:rPr lang="it-IT" dirty="0"/>
                  <a:t>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1A3B7DF-56F3-AFA0-2BCB-B749755A1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4"/>
                <a:stretch>
                  <a:fillRect l="-1190" t="-22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C5AB5B-5E3E-CEBF-EF2A-26F22DD072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5E0A5B-20F6-B5C8-648B-B8931C2D9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BE1972-BDA9-A969-77CE-AD02BF37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13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275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972F-08E9-8734-6EE5-2B37756BC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B15401-86C7-F279-3C30-6676E511A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3: ANGULAR SELECTION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75757F-4C54-F71E-A04C-C6226F0E9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93F211-811F-9902-BB96-3A39D8CD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46BE27-73BF-7031-CD68-BDF5A32B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CF36C0-4E1E-B231-EBC0-A9AA101F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743AE7C-0039-E32E-FE49-5B847BD44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714" y="1241995"/>
            <a:ext cx="8432572" cy="5253769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91DD1EA-6215-9F5E-8339-1B149A48A401}"/>
              </a:ext>
            </a:extLst>
          </p:cNvPr>
          <p:cNvCxnSpPr/>
          <p:nvPr/>
        </p:nvCxnSpPr>
        <p:spPr>
          <a:xfrm flipH="1">
            <a:off x="4340994" y="1876926"/>
            <a:ext cx="625642" cy="192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F2D33145-A0D1-A48F-D1F2-1B3F301FB854}"/>
                  </a:ext>
                </a:extLst>
              </p:cNvPr>
              <p:cNvSpPr/>
              <p:nvPr/>
            </p:nvSpPr>
            <p:spPr>
              <a:xfrm>
                <a:off x="4966636" y="1588168"/>
                <a:ext cx="1197097" cy="5678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 cut</a:t>
                </a:r>
              </a:p>
            </p:txBody>
          </p:sp>
        </mc:Choice>
        <mc:Fallback xmlns="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F2D33145-A0D1-A48F-D1F2-1B3F301FB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636" y="1588168"/>
                <a:ext cx="1197097" cy="56789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263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E42B-4D17-29F1-0492-833D4D13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4C0463-F978-9C3E-6B5F-97FDCA56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FILTER 3: ANGULAR SELECTION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767C3C-41AE-C823-40BF-F48CEACF7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890638-8AE9-0D8A-1B1B-EDEFFD81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8DCFCE-6738-8F5E-949B-A7D3E0F9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E116E6-A16F-D0F6-246D-521630EA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E0777E0-C005-D9B9-AC61-B5240A93F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714" y="1241995"/>
            <a:ext cx="8432572" cy="5253769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0ED31A2-2750-6DBE-A550-5FFADC87C0BF}"/>
              </a:ext>
            </a:extLst>
          </p:cNvPr>
          <p:cNvCxnSpPr/>
          <p:nvPr/>
        </p:nvCxnSpPr>
        <p:spPr>
          <a:xfrm flipH="1">
            <a:off x="4340994" y="1876926"/>
            <a:ext cx="625642" cy="1925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CC9112EC-AE86-AFD9-0174-3481E39BB98E}"/>
                  </a:ext>
                </a:extLst>
              </p:cNvPr>
              <p:cNvSpPr/>
              <p:nvPr/>
            </p:nvSpPr>
            <p:spPr>
              <a:xfrm>
                <a:off x="4966636" y="1588168"/>
                <a:ext cx="1197097" cy="5678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 cut</a:t>
                </a:r>
              </a:p>
            </p:txBody>
          </p:sp>
        </mc:Choice>
        <mc:Fallback xmlns="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CC9112EC-AE86-AFD9-0174-3481E39BB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636" y="1588168"/>
                <a:ext cx="1197097" cy="56789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tangolo con angoli arrotondati 10">
                <a:extLst>
                  <a:ext uri="{FF2B5EF4-FFF2-40B4-BE49-F238E27FC236}">
                    <a16:creationId xmlns:a16="http://schemas.microsoft.com/office/drawing/2014/main" id="{5E292DFE-89F8-ED17-3853-C163B1C769F0}"/>
                  </a:ext>
                </a:extLst>
              </p:cNvPr>
              <p:cNvSpPr/>
              <p:nvPr/>
            </p:nvSpPr>
            <p:spPr>
              <a:xfrm>
                <a:off x="7768117" y="3165481"/>
                <a:ext cx="4125433" cy="1406795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100" dirty="0">
                    <a:solidFill>
                      <a:srgbClr val="FFC000"/>
                    </a:solidFill>
                  </a:rPr>
                  <a:t>next step:  </a:t>
                </a:r>
                <a:r>
                  <a:rPr lang="it-IT" sz="2100" dirty="0" err="1">
                    <a:solidFill>
                      <a:srgbClr val="FFC000"/>
                    </a:solidFill>
                  </a:rPr>
                  <a:t>instead</a:t>
                </a:r>
                <a:r>
                  <a:rPr lang="it-IT" sz="2100" dirty="0">
                    <a:solidFill>
                      <a:srgbClr val="FFC000"/>
                    </a:solidFill>
                  </a:rPr>
                  <a:t> of a </a:t>
                </a:r>
                <a:r>
                  <a:rPr lang="it-IT" sz="2100" dirty="0" err="1">
                    <a:solidFill>
                      <a:srgbClr val="FFC000"/>
                    </a:solidFill>
                  </a:rPr>
                  <a:t>flat</a:t>
                </a:r>
                <a:r>
                  <a:rPr lang="it-IT" sz="2100" dirty="0">
                    <a:solidFill>
                      <a:srgbClr val="FFC000"/>
                    </a:solidFill>
                  </a:rPr>
                  <a:t> cut, we upgrade to: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t-IT" sz="21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it-IT" sz="21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it-IT" sz="21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it-IT" sz="21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it-IT" sz="21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it-IT" sz="21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1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1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it-IT" sz="21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1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sz="21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it-IT" sz="21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" name="Rettangolo con angoli arrotondati 10">
                <a:extLst>
                  <a:ext uri="{FF2B5EF4-FFF2-40B4-BE49-F238E27FC236}">
                    <a16:creationId xmlns:a16="http://schemas.microsoft.com/office/drawing/2014/main" id="{5E292DFE-89F8-ED17-3853-C163B1C76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117" y="3165481"/>
                <a:ext cx="4125433" cy="140679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003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B9E4-761A-9415-9AC0-44BD4B48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6C7DFC3-85E1-3B16-E7F6-8018D2838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9" r="6847"/>
          <a:stretch>
            <a:fillRect/>
          </a:stretch>
        </p:blipFill>
        <p:spPr>
          <a:xfrm>
            <a:off x="5446277" y="2379483"/>
            <a:ext cx="6705823" cy="415540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3C67E34-5A70-2DA7-7F2A-9A556303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MEASUREMENT EXTRACTION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6BD093-3D1D-864F-DE2C-6CCBE3BAD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56900" cy="4955061"/>
          </a:xfrm>
        </p:spPr>
        <p:txBody>
          <a:bodyPr>
            <a:normAutofit/>
          </a:bodyPr>
          <a:lstStyle/>
          <a:p>
            <a:r>
              <a:rPr lang="it-IT" dirty="0"/>
              <a:t>A </a:t>
            </a:r>
            <a:r>
              <a:rPr lang="it-IT" dirty="0" err="1"/>
              <a:t>Gaussian</a:t>
            </a:r>
            <a:r>
              <a:rPr lang="it-IT" dirty="0"/>
              <a:t> </a:t>
            </a:r>
            <a:r>
              <a:rPr lang="it-IT" dirty="0" err="1"/>
              <a:t>fit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performed</a:t>
            </a:r>
            <a:r>
              <a:rPr lang="it-IT" dirty="0"/>
              <a:t> on the </a:t>
            </a:r>
            <a:r>
              <a:rPr lang="it-IT" dirty="0" err="1"/>
              <a:t>deflection</a:t>
            </a:r>
            <a:r>
              <a:rPr lang="it-IT" dirty="0"/>
              <a:t> </a:t>
            </a:r>
            <a:r>
              <a:rPr lang="it-IT" dirty="0" err="1"/>
              <a:t>peak</a:t>
            </a:r>
            <a:r>
              <a:rPr lang="it-IT" dirty="0"/>
              <a:t>. We </a:t>
            </a:r>
            <a:r>
              <a:rPr lang="it-IT" dirty="0" err="1"/>
              <a:t>fit</a:t>
            </a:r>
            <a:r>
              <a:rPr lang="it-IT" dirty="0"/>
              <a:t> the right side of the </a:t>
            </a:r>
            <a:r>
              <a:rPr lang="it-IT" dirty="0" err="1"/>
              <a:t>peak</a:t>
            </a:r>
            <a:r>
              <a:rPr lang="it-IT" dirty="0"/>
              <a:t> to </a:t>
            </a:r>
            <a:r>
              <a:rPr lang="it-IT" dirty="0" err="1"/>
              <a:t>ensure</a:t>
            </a:r>
            <a:r>
              <a:rPr lang="it-IT" dirty="0"/>
              <a:t> the </a:t>
            </a:r>
            <a:r>
              <a:rPr lang="it-IT" dirty="0" err="1"/>
              <a:t>cleanest</a:t>
            </a:r>
            <a:r>
              <a:rPr lang="it-IT" dirty="0"/>
              <a:t> </a:t>
            </a:r>
            <a:r>
              <a:rPr lang="it-IT" dirty="0" err="1"/>
              <a:t>measurement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9A3136-9A88-861B-2648-A5527AF3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51A24F-0C4C-0835-4F90-ACC106AF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7793FE-1475-D8E3-9EBF-63B156B5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EDA4C04-3930-FC09-7EE2-8A39379A2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8" r="6027"/>
          <a:stretch>
            <a:fillRect/>
          </a:stretch>
        </p:blipFill>
        <p:spPr>
          <a:xfrm>
            <a:off x="206168" y="2846354"/>
            <a:ext cx="5240109" cy="3221665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CECD470C-12A1-83B7-E062-7A38A330735A}"/>
              </a:ext>
            </a:extLst>
          </p:cNvPr>
          <p:cNvSpPr/>
          <p:nvPr/>
        </p:nvSpPr>
        <p:spPr>
          <a:xfrm>
            <a:off x="3794967" y="2984577"/>
            <a:ext cx="1286540" cy="29452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Arco 11">
            <a:extLst>
              <a:ext uri="{FF2B5EF4-FFF2-40B4-BE49-F238E27FC236}">
                <a16:creationId xmlns:a16="http://schemas.microsoft.com/office/drawing/2014/main" id="{E5376B56-48A9-AC49-ED50-C8DFAD99B2B4}"/>
              </a:ext>
            </a:extLst>
          </p:cNvPr>
          <p:cNvSpPr/>
          <p:nvPr/>
        </p:nvSpPr>
        <p:spPr>
          <a:xfrm rot="18171475">
            <a:off x="5124294" y="2234943"/>
            <a:ext cx="2827745" cy="3968027"/>
          </a:xfrm>
          <a:prstGeom prst="arc">
            <a:avLst>
              <a:gd name="adj1" fmla="val 15945701"/>
              <a:gd name="adj2" fmla="val 1052481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FB82387-DFA6-19CC-48C8-10B73F6691CF}"/>
                  </a:ext>
                </a:extLst>
              </p:cNvPr>
              <p:cNvSpPr txBox="1"/>
              <p:nvPr/>
            </p:nvSpPr>
            <p:spPr>
              <a:xfrm>
                <a:off x="6585850" y="5343861"/>
                <a:ext cx="5029200" cy="578882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𝑐h</m:t>
                          </m:r>
                        </m:sub>
                      </m:sSub>
                      <m:d>
                        <m:d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800">
                              <a:latin typeface="Cambria Math" panose="02040503050406030204" pitchFamily="18" charset="0"/>
                            </a:rPr>
                            <m:t>TCCP</m:t>
                          </m:r>
                        </m:e>
                      </m:d>
                      <m:r>
                        <a:rPr lang="it-IT" sz="2800" i="1">
                          <a:latin typeface="Cambria Math" panose="02040503050406030204" pitchFamily="18" charset="0"/>
                        </a:rPr>
                        <m:t>=(15.7±0.1)%</m:t>
                      </m:r>
                    </m:oMath>
                  </m:oMathPara>
                </a14:m>
                <a:endParaRPr lang="it-IT" sz="2800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3FB82387-DFA6-19CC-48C8-10B73F669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850" y="5343861"/>
                <a:ext cx="5029200" cy="57888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469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0566D-086B-A069-03EE-5C52C1B9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24D58B-E816-CD82-AD8D-B8A58B9B2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TO 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28AD20-5427-DB4F-5449-669AE5F4D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</p:spPr>
            <p:txBody>
              <a:bodyPr>
                <a:normAutofit/>
              </a:bodyPr>
              <a:lstStyle/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sz="2500" dirty="0" err="1"/>
                  <a:t>Improve</a:t>
                </a:r>
                <a:r>
                  <a:rPr lang="it-IT" sz="2500" dirty="0"/>
                  <a:t>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5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500" dirty="0"/>
                  <a:t> of </a:t>
                </a:r>
                <a:r>
                  <a:rPr lang="it-IT" sz="2500" dirty="0" err="1"/>
                  <a:t>spatial</a:t>
                </a:r>
                <a:r>
                  <a:rPr lang="it-IT" sz="2500" dirty="0"/>
                  <a:t> shift from incoming and </a:t>
                </a:r>
                <a:r>
                  <a:rPr lang="it-IT" sz="2500" dirty="0" err="1"/>
                  <a:t>outgoing</a:t>
                </a:r>
                <a:r>
                  <a:rPr lang="it-IT" sz="2500" dirty="0"/>
                  <a:t> </a:t>
                </a:r>
                <a:r>
                  <a:rPr lang="it-IT" sz="2500" dirty="0" err="1"/>
                  <a:t>fluxes</a:t>
                </a:r>
                <a:r>
                  <a:rPr lang="it-IT" sz="2500" dirty="0"/>
                  <a:t> of </a:t>
                </a:r>
                <a:r>
                  <a:rPr lang="it-IT" sz="2500" dirty="0" err="1"/>
                  <a:t>particles</a:t>
                </a:r>
                <a:r>
                  <a:rPr lang="it-IT" sz="2500" dirty="0"/>
                  <a:t> by </a:t>
                </a:r>
                <a:r>
                  <a:rPr lang="it-IT" sz="2500" dirty="0" err="1"/>
                  <a:t>knowing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distance</a:t>
                </a:r>
                <a:r>
                  <a:rPr lang="it-IT" sz="2500" dirty="0"/>
                  <a:t> </a:t>
                </a:r>
                <a:r>
                  <a:rPr lang="it-IT" sz="2500" dirty="0" err="1"/>
                  <a:t>between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two</a:t>
                </a:r>
                <a:r>
                  <a:rPr lang="it-IT" sz="2500" dirty="0"/>
                  <a:t> detectors (in the </a:t>
                </a:r>
                <a:r>
                  <a:rPr lang="it-IT" sz="2500" dirty="0" err="1"/>
                  <a:t>spatial</a:t>
                </a:r>
                <a:r>
                  <a:rPr lang="it-IT" sz="2500" dirty="0"/>
                  <a:t> cut)</a:t>
                </a:r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sz="2500" dirty="0"/>
                  <a:t>Take </a:t>
                </a:r>
                <a:r>
                  <a:rPr lang="it-IT" sz="2500" dirty="0" err="1"/>
                  <a:t>into</a:t>
                </a:r>
                <a:r>
                  <a:rPr lang="it-IT" sz="2500" dirty="0"/>
                  <a:t> account the </a:t>
                </a:r>
                <a:r>
                  <a:rPr lang="it-IT" sz="2500" dirty="0" err="1"/>
                  <a:t>torsion</a:t>
                </a:r>
                <a:r>
                  <a:rPr lang="it-IT" sz="2500" dirty="0"/>
                  <a:t> </a:t>
                </a:r>
                <a:r>
                  <a:rPr lang="it-IT" sz="2500" dirty="0" err="1"/>
                  <a:t>effect</a:t>
                </a:r>
                <a:r>
                  <a:rPr lang="it-IT" sz="2500" dirty="0"/>
                  <a:t> on the </a:t>
                </a:r>
                <a:r>
                  <a:rPr lang="it-IT" sz="2500" dirty="0" err="1"/>
                  <a:t>crystals</a:t>
                </a:r>
                <a:r>
                  <a:rPr lang="it-IT" sz="2500" dirty="0"/>
                  <a:t>, computing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5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500" dirty="0"/>
                  <a:t> by </a:t>
                </a:r>
                <a:r>
                  <a:rPr lang="it-IT" sz="2500" dirty="0" err="1"/>
                  <a:t>performing</a:t>
                </a:r>
                <a:r>
                  <a:rPr lang="it-IT" sz="2500" dirty="0"/>
                  <a:t> a «</a:t>
                </a:r>
                <a:r>
                  <a:rPr lang="it-IT" sz="2500" dirty="0" err="1"/>
                  <a:t>grid</a:t>
                </a:r>
                <a:r>
                  <a:rPr lang="it-IT" sz="2500" dirty="0"/>
                  <a:t>» </a:t>
                </a:r>
                <a:r>
                  <a:rPr lang="it-IT" sz="2500" dirty="0" err="1"/>
                  <a:t>analysis</a:t>
                </a:r>
                <a:endParaRPr lang="it-IT" sz="2500" dirty="0"/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sz="2500" dirty="0"/>
                  <a:t>Compute the </a:t>
                </a:r>
                <a:r>
                  <a:rPr lang="it-IT" sz="2500" dirty="0" err="1"/>
                  <a:t>torsion</a:t>
                </a:r>
                <a:r>
                  <a:rPr lang="it-IT" sz="2500" dirty="0"/>
                  <a:t> </a:t>
                </a:r>
                <a:r>
                  <a:rPr lang="it-IT" sz="2500" dirty="0" err="1"/>
                  <a:t>contribution</a:t>
                </a:r>
                <a:r>
                  <a:rPr lang="it-IT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5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it-IT" sz="2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it-IT" sz="2500" dirty="0"/>
                  <a:t> (variation of the </a:t>
                </a:r>
                <a:r>
                  <a:rPr lang="it-IT" sz="2500" dirty="0" err="1"/>
                  <a:t>crystalline</a:t>
                </a:r>
                <a:r>
                  <a:rPr lang="it-IT" sz="2500" dirty="0"/>
                  <a:t> </a:t>
                </a:r>
                <a:r>
                  <a:rPr lang="it-IT" sz="2500" dirty="0" err="1"/>
                  <a:t>plane</a:t>
                </a:r>
                <a:r>
                  <a:rPr lang="it-IT" sz="2500" dirty="0"/>
                  <a:t> </a:t>
                </a:r>
                <a:r>
                  <a:rPr lang="it-IT" sz="2500" dirty="0" err="1"/>
                  <a:t>orientation</a:t>
                </a:r>
                <a:r>
                  <a:rPr lang="it-IT" sz="2500" dirty="0"/>
                  <a:t> </a:t>
                </a:r>
                <a:r>
                  <a:rPr lang="it-IT" sz="2500" dirty="0" err="1"/>
                  <a:t>along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direction</a:t>
                </a:r>
                <a:r>
                  <a:rPr lang="it-IT" sz="2500" dirty="0"/>
                  <a:t> (</a:t>
                </a:r>
                <a14:m>
                  <m:oMath xmlns:m="http://schemas.openxmlformats.org/officeDocument/2006/math">
                    <m:r>
                      <a:rPr lang="it-IT" sz="25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t-IT" sz="2500" dirty="0"/>
                  <a:t>) </a:t>
                </a:r>
                <a:r>
                  <a:rPr lang="it-IT" sz="2500" dirty="0" err="1"/>
                  <a:t>perpendicular</a:t>
                </a:r>
                <a:r>
                  <a:rPr lang="it-IT" sz="2500" dirty="0"/>
                  <a:t> to the bending </a:t>
                </a:r>
                <a:r>
                  <a:rPr lang="it-IT" sz="2500" dirty="0" err="1"/>
                  <a:t>plane</a:t>
                </a:r>
                <a:r>
                  <a:rPr lang="it-IT" sz="2500" dirty="0"/>
                  <a:t> (</a:t>
                </a:r>
                <a14:m>
                  <m:oMath xmlns:m="http://schemas.openxmlformats.org/officeDocument/2006/math">
                    <m:r>
                      <a:rPr lang="it-IT" sz="2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500" dirty="0"/>
                  <a:t>))</a:t>
                </a:r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sz="2500" dirty="0" err="1"/>
                  <a:t>Removing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dechanneling</a:t>
                </a:r>
                <a:r>
                  <a:rPr lang="it-IT" sz="2500" dirty="0"/>
                  <a:t> background from the </a:t>
                </a:r>
                <a:r>
                  <a:rPr lang="it-IT" sz="2500" dirty="0" err="1"/>
                  <a:t>deflection</a:t>
                </a:r>
                <a:r>
                  <a:rPr lang="it-IT" sz="2500" dirty="0"/>
                  <a:t> </a:t>
                </a:r>
                <a:r>
                  <a:rPr lang="it-IT" sz="2500" dirty="0" err="1"/>
                  <a:t>peak</a:t>
                </a:r>
                <a:r>
                  <a:rPr lang="it-IT" sz="2500" dirty="0"/>
                  <a:t> (Crystal Ball function?)</a:t>
                </a:r>
              </a:p>
              <a:p>
                <a:pPr algn="ctr">
                  <a:buFont typeface="Wingdings" panose="05000000000000000000" pitchFamily="2" charset="2"/>
                  <a:buChar char="ü"/>
                </a:pPr>
                <a:r>
                  <a:rPr lang="it-IT" sz="2500" dirty="0"/>
                  <a:t> </a:t>
                </a:r>
                <a:r>
                  <a:rPr lang="it-IT" sz="2500" dirty="0" err="1"/>
                  <a:t>Perform</a:t>
                </a:r>
                <a:r>
                  <a:rPr lang="it-IT" sz="2500" dirty="0"/>
                  <a:t> the </a:t>
                </a:r>
                <a:r>
                  <a:rPr lang="it-IT" sz="2500" dirty="0" err="1"/>
                  <a:t>analysis</a:t>
                </a:r>
                <a:r>
                  <a:rPr lang="it-IT" sz="2500" dirty="0"/>
                  <a:t> for the </a:t>
                </a:r>
                <a:r>
                  <a:rPr lang="it-IT" sz="2500" dirty="0" err="1"/>
                  <a:t>other</a:t>
                </a:r>
                <a:r>
                  <a:rPr lang="it-IT" sz="2500" dirty="0"/>
                  <a:t> 4 datasets (for TCCP and TCCPA) </a:t>
                </a:r>
                <a:r>
                  <a:rPr lang="it-IT" sz="2500" dirty="0" err="1"/>
                  <a:t>also</a:t>
                </a:r>
                <a:r>
                  <a:rPr lang="it-IT" sz="2500" dirty="0"/>
                  <a:t> using </a:t>
                </a:r>
                <a:r>
                  <a:rPr lang="it-IT" sz="2500" dirty="0" err="1"/>
                  <a:t>them</a:t>
                </a:r>
                <a:r>
                  <a:rPr lang="it-IT" sz="2500" dirty="0"/>
                  <a:t> </a:t>
                </a:r>
                <a:r>
                  <a:rPr lang="it-IT" sz="2500" dirty="0" err="1"/>
                  <a:t>together</a:t>
                </a:r>
                <a:r>
                  <a:rPr lang="it-IT" sz="2500" dirty="0"/>
                  <a:t> to </a:t>
                </a:r>
                <a:r>
                  <a:rPr lang="it-IT" sz="2500" dirty="0" err="1"/>
                  <a:t>have</a:t>
                </a:r>
                <a:r>
                  <a:rPr lang="it-IT" sz="2500" dirty="0"/>
                  <a:t> more </a:t>
                </a:r>
                <a:r>
                  <a:rPr lang="it-IT" sz="2500" dirty="0" err="1"/>
                  <a:t>statistics</a:t>
                </a:r>
                <a:endParaRPr lang="it-IT" sz="2500" dirty="0"/>
              </a:p>
              <a:p>
                <a:pPr algn="ctr">
                  <a:buFont typeface="Wingdings" panose="05000000000000000000" pitchFamily="2" charset="2"/>
                  <a:buChar char="ü"/>
                </a:pPr>
                <a:endParaRPr lang="it-IT" sz="25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28AD20-5427-DB4F-5449-669AE5F4D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756900" cy="4955061"/>
              </a:xfrm>
              <a:blipFill>
                <a:blip r:embed="rId3"/>
                <a:stretch>
                  <a:fillRect l="-397" t="-1722" r="-102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FE18A1-4E14-0402-2728-8DF7329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EE51FA-C2CE-E809-F2E8-83E423BF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E171ED-CAF4-3550-08FE-9B10AE7C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17</a:t>
            </a:fld>
            <a:endParaRPr lang="it-IT" sz="1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497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</TotalTime>
  <Words>1001</Words>
  <Application>Microsoft Office PowerPoint</Application>
  <PresentationFormat>Widescreen</PresentationFormat>
  <Paragraphs>150</Paragraphs>
  <Slides>17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Wingdings</vt:lpstr>
      <vt:lpstr>Tema di Office</vt:lpstr>
      <vt:lpstr>Presentazione standard di PowerPoint</vt:lpstr>
      <vt:lpstr>…</vt:lpstr>
      <vt:lpstr>FINDING N_tot</vt:lpstr>
      <vt:lpstr>FINDING N_tot</vt:lpstr>
      <vt:lpstr>FILTER 2: SPATIAL CUT</vt:lpstr>
      <vt:lpstr>FILTER 2: SPATIAL CUT</vt:lpstr>
      <vt:lpstr>FILTER 2: SPATIAL CUT</vt:lpstr>
      <vt:lpstr>FILTER 2: SPATIAL CUT</vt:lpstr>
      <vt:lpstr>FILTER 2: SPATIAL CUT</vt:lpstr>
      <vt:lpstr>FILTER 2: SPATIAL CUT</vt:lpstr>
      <vt:lpstr>FILTER 2: SPATIAL CUT</vt:lpstr>
      <vt:lpstr>FILTER 3: ANGULAR SELECTION</vt:lpstr>
      <vt:lpstr>FILTER 3: ANGULAR SELECTION</vt:lpstr>
      <vt:lpstr>FILTER 3: ANGULAR SELECTION</vt:lpstr>
      <vt:lpstr>FILTER 3: ANGULAR SELECTION</vt:lpstr>
      <vt:lpstr>MEASUREMENT EXTRACTION</vt:lpstr>
      <vt:lpstr>TO 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11</cp:revision>
  <dcterms:created xsi:type="dcterms:W3CDTF">2026-07-09T15:21:04Z</dcterms:created>
  <dcterms:modified xsi:type="dcterms:W3CDTF">2026-07-13T08:08:19Z</dcterms:modified>
</cp:coreProperties>
</file>