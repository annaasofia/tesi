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331" r:id="rId3"/>
    <p:sldId id="323" r:id="rId4"/>
    <p:sldId id="325" r:id="rId5"/>
    <p:sldId id="326" r:id="rId6"/>
    <p:sldId id="327" r:id="rId7"/>
    <p:sldId id="328" r:id="rId8"/>
    <p:sldId id="330" r:id="rId9"/>
    <p:sldId id="329" r:id="rId10"/>
    <p:sldId id="337" r:id="rId11"/>
    <p:sldId id="332" r:id="rId12"/>
    <p:sldId id="333" r:id="rId13"/>
    <p:sldId id="334" r:id="rId14"/>
    <p:sldId id="335" r:id="rId15"/>
    <p:sldId id="336" r:id="rId16"/>
    <p:sldId id="305" r:id="rId1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09" autoAdjust="0"/>
    <p:restoredTop sz="82493" autoAdjust="0"/>
  </p:normalViewPr>
  <p:slideViewPr>
    <p:cSldViewPr snapToGrid="0">
      <p:cViewPr varScale="1">
        <p:scale>
          <a:sx n="52" d="100"/>
          <a:sy n="52" d="100"/>
        </p:scale>
        <p:origin x="9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53D2B-C14B-C923-E666-2BE98336C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1E73501-4C4F-7EA7-F309-EC9432A82A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102C8D8-9566-F6BA-2D4C-09E243EDE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A1D6B02-C167-B05C-9F5F-29D88237B7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064290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53D2B-C14B-C923-E666-2BE98336C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1E73501-4C4F-7EA7-F309-EC9432A82A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102C8D8-9566-F6BA-2D4C-09E243EDE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A1D6B02-C167-B05C-9F5F-29D88237B7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06429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E05E5-664A-3971-F777-9641B047E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0FD5A65-EF32-14DA-AB55-FF3AABE8BB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65864DF-991D-93D0-0CC6-070E8125D5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5D0658B-CD24-6037-3D3D-340773B766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611750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F8DD1-90F9-4E2B-11C6-D4036B85D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AC1DF8A-F2D8-483A-98D4-D291D41FF8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8D0344D-61E8-2421-CBA2-FCA82EF371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468E994-A7F9-1CBB-BD70-023E1AF147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753926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FD516-74FD-0501-D655-2D09973C5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6A89C9C-FC71-A27C-185F-274E44B58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778C4AB-1707-6397-BBAF-F6C2CB8705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AFB5880-9067-F648-160D-6BE9E22DF8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496924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38AF5-AD4F-E326-635B-E58299E71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D0AECC9-08B9-9D33-01F0-A7F6FB79A0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A6D344-D6C1-57F7-D3D0-8647CD9B95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9405858-E6BF-96A8-B380-D76A397F02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084276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8CEFD-3625-4A57-44B6-A06030ED7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3F783D5-00A2-701B-4675-FBE1EE77DF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C04BEAE-A21D-A6AE-4C23-6E8FB3EEB2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B4606D3-88CC-590D-B1E4-51275CBEB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736842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8FA00-778D-4E6F-3BDC-E541F84E9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3428135-F279-33E3-09DD-472B5ADE9C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F0C7797-8C5D-7E2C-20E0-141A50E9AB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3FD32A7-0024-19CB-BACA-81AAB553EA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97025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6F5DB-6BFB-6C5C-336A-3B431C6ED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08275E5-0B39-7FA2-7BFD-EBE01446A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BAEE575-51D8-54B2-D4D4-F5D9E0AA99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3DB9C1D-4E4B-8E0C-0EE6-8F2C2959DC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352451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40D25-D513-44E6-7201-AA2F52787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D180756-B18C-1C03-AA8B-27F7CABB3C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1B72458-411A-8938-C76F-621AFCB05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7E5F338-8551-8690-4EB8-39371D39D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195706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0E52A-AE9E-EF31-4847-15EA692A5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3D7F543-3BA6-5432-8F7F-63BFB76AD3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7432BF7-36A7-ED07-6245-B860036BA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DD010B-06B2-5CB6-74AD-2035CBDE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29227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A7664-76DA-527F-81D4-3A5832891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217D64F-85FA-9242-C1AF-0381CAAF9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582EF77-62AA-DF3D-ADFA-F2F6A4662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sharp transition is exactly what I expected.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D6F1AA2-50E2-9593-05D2-77611599C5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36422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993D9-A4A3-C2EF-F57C-4F8B5FB13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07E042F-0C69-1FE2-492F-508C57FD3D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E89C93D-EE29-78BB-A33C-C776F30438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7B2BFB1-BBCE-44F4-0693-18A63EB851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17648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13A2B-5A11-D823-0904-63EE33C8C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ACEF337-0A99-611D-D9A0-DB251789BB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8A43E95-3040-4EDD-E46B-5EB9C70D7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A13B3DD-2D7B-907C-D8AB-82A4D64495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904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13/08/2026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EFFICIENCY:</a:t>
            </a:r>
          </a:p>
          <a:p>
            <a:r>
              <a:rPr lang="it-IT" sz="3000" b="1" dirty="0">
                <a:solidFill>
                  <a:schemeClr val="bg1"/>
                </a:solidFill>
              </a:rPr>
              <a:t>STATISTICAL AND SYSTEMATIC ERRORS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5842337"/>
            <a:ext cx="1219200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3000" b="1" dirty="0">
                <a:solidFill>
                  <a:schemeClr val="bg1"/>
                </a:solidFill>
              </a:rPr>
              <a:t>AUGUST 2026</a:t>
            </a:r>
          </a:p>
          <a:p>
            <a:pPr algn="ctr"/>
            <a:r>
              <a:rPr lang="it-IT" sz="3000" b="1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D15EE-E0CD-DBB8-0557-41AFA45E1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4CADC3-A97E-6CE9-A43A-682A34F02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PREVIOUS RESULTS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DED9B23-6341-6217-27A2-9458D68E28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6628363-9935-E4B6-77DD-A483B2C3D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7F505CC-6018-7E71-413B-1016AEE17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8019FF7-6D4B-2DBF-09E8-CC4A5508A71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A1B56BD-FD0F-1F4B-BB59-5AFD665E3673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62BAA7C-A2B4-88F1-D5D2-96BF5F09E29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64ACAFC3-799E-8B06-CC81-4AD4B1D9346E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76894076"/>
                  </p:ext>
                </p:extLst>
              </p:nvPr>
            </p:nvGraphicFramePr>
            <p:xfrm>
              <a:off x="1658656" y="2441956"/>
              <a:ext cx="8872888" cy="197408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2358189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159446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b>
                                </m:sSub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 [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𝐫𝐚𝐝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𝐦𝐦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sub>
                              </m:sSub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 [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  <m:r>
                                <a:rPr lang="it-IT" sz="2400" b="1" i="0" smtClean="0">
                                  <a:latin typeface="Cambria Math" panose="02040503050406030204" pitchFamily="18" charset="0"/>
                                </a:rPr>
                                <m:t>𝐫𝐚𝐝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r>
                            <a:rPr lang="it-IT" sz="2400" b="1" dirty="0"/>
                            <a:t> </a:t>
                          </a:r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𝝐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𝒄𝒉</m:t>
                                    </m:r>
                                  </m:sub>
                                </m:sSub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 [%]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7416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5.98±0.03</m:t>
                                </m:r>
                              </m:oMath>
                            </m:oMathPara>
                          </a14:m>
                          <a:endParaRPr lang="it-IT" sz="2400" b="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6008.4±0.1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19.4±0.01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7416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kumimoji="0" lang="it-IT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3.77±0.01</m:t>
                                </m:r>
                              </m:oMath>
                            </m:oMathPara>
                          </a14:m>
                          <a:endParaRPr kumimoji="0" lang="it-IT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Aptos" panose="0211000402020202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kumimoji="0" lang="it-IT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6122.3±0.2</m:t>
                                </m:r>
                              </m:oMath>
                            </m:oMathPara>
                          </a14:m>
                          <a:endParaRPr kumimoji="0" lang="it-IT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Aptos" panose="0211000402020202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kumimoji="0" lang="it-IT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18.</m:t>
                                </m:r>
                                <m:r>
                                  <a:rPr kumimoji="0" lang="en-US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it-IT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±0.01</m:t>
                                </m:r>
                              </m:oMath>
                            </m:oMathPara>
                          </a14:m>
                          <a:endParaRPr kumimoji="0" lang="it-IT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Aptos" panose="02110004020202020204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64ACAFC3-799E-8B06-CC81-4AD4B1D9346E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76894076"/>
                  </p:ext>
                </p:extLst>
              </p:nvPr>
            </p:nvGraphicFramePr>
            <p:xfrm>
              <a:off x="1658656" y="2441956"/>
              <a:ext cx="8872888" cy="197408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2358189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159446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490728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9147" r="-187597" b="-3037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6780" r="-105085" b="-3037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3514" r="-541" b="-30370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7416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9147" t="-66393" r="-187597" b="-10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6780" t="-66393" r="-105085" b="-10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3514" t="-66393" r="-541" b="-10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7416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9147" t="-166393" r="-187597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6780" t="-166393" r="-105085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3514" t="-166393" r="-541" b="-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569714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D15EE-E0CD-DBB8-0557-41AFA45E1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4CADC3-A97E-6CE9-A43A-682A34F02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</a:t>
            </a:r>
            <a:r>
              <a:rPr lang="it-IT" b="1" dirty="0">
                <a:solidFill>
                  <a:srgbClr val="002060"/>
                </a:solidFill>
              </a:rPr>
              <a:t>UNCERTAINTY EVALUATION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DED9B23-6341-6217-27A2-9458D68E28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6628363-9935-E4B6-77DD-A483B2C3D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7F505CC-6018-7E71-413B-1016AEE17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8019FF7-6D4B-2DBF-09E8-CC4A5508A71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A1B56BD-FD0F-1F4B-BB59-5AFD665E3673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62BAA7C-A2B4-88F1-D5D2-96BF5F09E29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CAB3D29B-0EDF-F125-85E9-D4BA4ECA73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Statistical uncertainty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∼0.1%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Binomial fluctuation of the particle count</a:t>
                </a:r>
              </a:p>
              <a:p>
                <a:pPr lvl="1"/>
                <a:r>
                  <a:rPr lang="en-US" dirty="0"/>
                  <a:t>Fit errors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&lt;0.001%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Stability of the results during the whole run</a:t>
                </a:r>
                <a:endParaRPr lang="it-IT" dirty="0"/>
              </a:p>
              <a:p>
                <a:pPr lvl="1"/>
                <a:endParaRPr lang="it-IT" dirty="0"/>
              </a:p>
              <a:p>
                <a:r>
                  <a:rPr lang="it-IT" dirty="0"/>
                  <a:t>Systematic uncertainty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∼1.5%</m:t>
                    </m:r>
                  </m:oMath>
                </a14:m>
                <a:r>
                  <a:rPr lang="it-IT" dirty="0"/>
                  <a:t>):</a:t>
                </a:r>
              </a:p>
              <a:p>
                <a:pPr marL="0" indent="0">
                  <a:buNone/>
                </a:pPr>
                <a:r>
                  <a:rPr lang="it-IT" dirty="0"/>
                  <a:t>evaluated by individually perturbing the key parameters of the analysis algorithm and computing the half spread of the efficiency: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𝑢𝑝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𝑑𝑜𝑤𝑛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CAB3D29B-0EDF-F125-85E9-D4BA4ECA73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3580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9E01-BFD4-A3EA-AE52-41E124A5B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3A251A-BC87-E461-724B-92B5B71A0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SYSTEMATIC ERRORS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DC7A8D8-B142-334A-E81F-44DC383AF3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629EE5F-4A53-528A-B265-9C9B68FD1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4CE2B7A-BB91-8299-2543-D29ED7299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85B9E03A-7E4F-EFD9-602E-979AD631FC14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23FDAF3-C2F9-B129-BD2F-B0EFE4B7ED0E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2E58600-AD2B-6ACA-E62F-1D3C433F6AE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BA0B2F7C-723C-1A58-ACB1-A72156F742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9308"/>
                <a:ext cx="10515600" cy="46076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i="1" dirty="0"/>
                  <a:t>Classification of sources:</a:t>
                </a:r>
              </a:p>
              <a:p>
                <a:r>
                  <a:rPr lang="en-US" dirty="0"/>
                  <a:t>Dominant: tracker resolution</a:t>
                </a:r>
              </a:p>
              <a:p>
                <a:pPr lvl="1"/>
                <a:r>
                  <a:rPr lang="en-US" dirty="0"/>
                  <a:t>Spatial cuts along the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-axis</a:t>
                </a:r>
              </a:p>
              <a:p>
                <a:pPr lvl="1"/>
                <a:r>
                  <a:rPr lang="en-US" dirty="0"/>
                  <a:t>Lindhard angular acceptance</a:t>
                </a:r>
              </a:p>
              <a:p>
                <a:r>
                  <a:rPr lang="en-US" dirty="0"/>
                  <a:t>Modeling (torsion analysis)</a:t>
                </a:r>
              </a:p>
              <a:p>
                <a:pPr lvl="1"/>
                <a:r>
                  <a:rPr lang="en-US" dirty="0"/>
                  <a:t>Fit model choice</a:t>
                </a:r>
              </a:p>
              <a:p>
                <a:pPr lvl="1"/>
                <a:r>
                  <a:rPr lang="en-US" dirty="0"/>
                  <a:t>Grid binning</a:t>
                </a:r>
              </a:p>
              <a:p>
                <a:r>
                  <a:rPr lang="en-US" dirty="0"/>
                  <a:t>Selection</a:t>
                </a:r>
              </a:p>
              <a:p>
                <a:pPr lvl="1"/>
                <a:r>
                  <a:rPr lang="en-US" dirty="0"/>
                  <a:t>Integration windows</a:t>
                </a:r>
              </a:p>
              <a:p>
                <a:pPr lvl="1"/>
                <a:r>
                  <a:rPr lang="en-US" dirty="0"/>
                  <a:t>Preliminary cuts</a:t>
                </a:r>
                <a:endParaRPr lang="it-IT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BA0B2F7C-723C-1A58-ACB1-A72156F742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9308"/>
                <a:ext cx="10515600" cy="4607655"/>
              </a:xfrm>
              <a:blipFill>
                <a:blip r:embed="rId3"/>
                <a:stretch>
                  <a:fillRect l="-1217" t="-211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910BE27-F1A2-B72D-E5DF-DD323FAE96A6}"/>
                  </a:ext>
                </a:extLst>
              </p:cNvPr>
              <p:cNvSpPr/>
              <p:nvPr/>
            </p:nvSpPr>
            <p:spPr>
              <a:xfrm>
                <a:off x="6095100" y="2406821"/>
                <a:ext cx="1244600" cy="717034"/>
              </a:xfrm>
              <a:prstGeom prst="ellipse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1.4%</m:t>
                      </m:r>
                    </m:oMath>
                  </m:oMathPara>
                </a14:m>
                <a:endParaRPr lang="it-IT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910BE27-F1A2-B72D-E5DF-DD323FAE96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100" y="2406821"/>
                <a:ext cx="1244600" cy="71703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FD55422-5273-5B0E-B4E9-E8F7BFC28896}"/>
                  </a:ext>
                </a:extLst>
              </p:cNvPr>
              <p:cNvSpPr/>
              <p:nvPr/>
            </p:nvSpPr>
            <p:spPr>
              <a:xfrm>
                <a:off x="4240900" y="3960229"/>
                <a:ext cx="1244600" cy="717034"/>
              </a:xfrm>
              <a:prstGeom prst="ellipse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.03%</m:t>
                      </m:r>
                    </m:oMath>
                  </m:oMathPara>
                </a14:m>
                <a:endParaRPr lang="it-IT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FD55422-5273-5B0E-B4E9-E8F7BFC288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900" y="3960229"/>
                <a:ext cx="1244600" cy="71703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BBBD226E-209E-2581-4B03-04FE135FBFDC}"/>
                  </a:ext>
                </a:extLst>
              </p:cNvPr>
              <p:cNvSpPr/>
              <p:nvPr/>
            </p:nvSpPr>
            <p:spPr>
              <a:xfrm>
                <a:off x="4698100" y="5236249"/>
                <a:ext cx="1244600" cy="717034"/>
              </a:xfrm>
              <a:prstGeom prst="ellipse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.01%</m:t>
                      </m:r>
                    </m:oMath>
                  </m:oMathPara>
                </a14:m>
                <a:endParaRPr lang="it-IT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BBBD226E-209E-2581-4B03-04FE135FBF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8100" y="5236249"/>
                <a:ext cx="1244600" cy="71703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EF12D4A-08F8-1075-823B-B612DD9B7BA7}"/>
                  </a:ext>
                </a:extLst>
              </p:cNvPr>
              <p:cNvSpPr/>
              <p:nvPr/>
            </p:nvSpPr>
            <p:spPr>
              <a:xfrm>
                <a:off x="9146658" y="3595132"/>
                <a:ext cx="2186200" cy="1063597"/>
              </a:xfrm>
              <a:prstGeom prst="ellipse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b="1" dirty="0">
                    <a:solidFill>
                      <a:srgbClr val="FFC000"/>
                    </a:solidFill>
                    <a:latin typeface="+mj-lt"/>
                  </a:rPr>
                  <a:t>total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it-IT" sz="2800" b="1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EF12D4A-08F8-1075-823B-B612DD9B7B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6658" y="3595132"/>
                <a:ext cx="2186200" cy="1063597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70803E0-61D9-1C1F-DA47-488C56437838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7339700" y="2765338"/>
            <a:ext cx="1988450" cy="800203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12F1D34-CE60-DE63-DADD-1BE7FD32FB5D}"/>
              </a:ext>
            </a:extLst>
          </p:cNvPr>
          <p:cNvCxnSpPr>
            <a:cxnSpLocks/>
            <a:stCxn id="12" idx="6"/>
          </p:cNvCxnSpPr>
          <p:nvPr/>
        </p:nvCxnSpPr>
        <p:spPr>
          <a:xfrm flipV="1">
            <a:off x="5485500" y="4109409"/>
            <a:ext cx="3518800" cy="209337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36F2833-DF5A-2EFE-DB5F-2013C840E8B8}"/>
              </a:ext>
            </a:extLst>
          </p:cNvPr>
          <p:cNvCxnSpPr>
            <a:cxnSpLocks/>
            <a:stCxn id="16" idx="6"/>
          </p:cNvCxnSpPr>
          <p:nvPr/>
        </p:nvCxnSpPr>
        <p:spPr>
          <a:xfrm flipV="1">
            <a:off x="5942700" y="4600658"/>
            <a:ext cx="3385450" cy="994108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37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A3073-7761-3807-CC68-AC1855CD7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F64A15-2208-82A8-B015-F52485E05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SYSTEMATIC ERRORS: DOMINANT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F795DBB-E7BA-9ABC-1FA9-C69C42C4C4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6C537DD-F4A4-D5B3-A132-873FC3B5F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8D993F2-28F5-8442-3527-68BB5F281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729F7997-3413-821F-2811-7E199A36D6A2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05E02B9-35B6-008E-7628-CC855E0CE59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87A432F-2EAA-6008-FDC1-B55D62D40F6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10A784A-81B8-8E08-785C-565925B139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22746"/>
                <a:ext cx="10515600" cy="506622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Shift of the margins along the bending axis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):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1.10%</m:t>
                    </m:r>
                  </m:oMath>
                </a14:m>
                <a:endParaRPr lang="en-US" dirty="0">
                  <a:solidFill>
                    <a:srgbClr val="FFC000"/>
                  </a:solidFill>
                </a:endParaRPr>
              </a:p>
              <a:p>
                <a:pPr lvl="1"/>
                <a:r>
                  <a:rPr lang="en-US" dirty="0"/>
                  <a:t>The margins of the spatial box were widened and narrowed by a value equal to the position error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∼0.1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endParaRPr lang="en-US" dirty="0"/>
              </a:p>
              <a:p>
                <a:pPr lvl="1"/>
                <a:r>
                  <a:rPr lang="it-IT" dirty="0"/>
                  <a:t>The width of the crystal along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dirty="0"/>
                  <a:t> is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2 </m:t>
                    </m:r>
                    <m:r>
                      <m:rPr>
                        <m:sty m:val="p"/>
                      </m:rPr>
                      <a:rPr lang="it-IT" i="0" dirty="0" smtClean="0">
                        <a:latin typeface="Cambria Math" panose="02040503050406030204" pitchFamily="18" charset="0"/>
                      </a:rPr>
                      <m:t>mm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→5%</m:t>
                    </m:r>
                  </m:oMath>
                </a14:m>
                <a:r>
                  <a:rPr lang="it-IT" dirty="0"/>
                  <a:t> of the active face</a:t>
                </a:r>
              </a:p>
              <a:p>
                <a:pPr lvl="1"/>
                <a:r>
                  <a:rPr lang="it-IT" dirty="0"/>
                  <a:t>At the margins the statistical distriution decreases, the angular acceptance is less precise (miscut, edge damage ...)  so the signal becomes less reliable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it-IT" dirty="0"/>
                  <a:t> consistent with the fact that we do not consider them in our analysis</a:t>
                </a:r>
              </a:p>
              <a:p>
                <a:r>
                  <a:rPr lang="it-IT" dirty="0"/>
                  <a:t>Variation of the critical angle cut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/>
                  <a:t>):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0.98%</m:t>
                    </m:r>
                  </m:oMath>
                </a14:m>
                <a:endParaRPr lang="it-IT" dirty="0">
                  <a:solidFill>
                    <a:srgbClr val="FFC000"/>
                  </a:solidFill>
                </a:endParaRPr>
              </a:p>
              <a:p>
                <a:pPr lvl="1"/>
                <a:r>
                  <a:rPr lang="it-IT" dirty="0"/>
                  <a:t>The angular resolution of the tracker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∼8.9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rad</m:t>
                    </m:r>
                  </m:oMath>
                </a14:m>
                <a:r>
                  <a:rPr lang="it-IT" dirty="0"/>
                  <a:t>) is broader than the Lindhard half-angle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∼6.5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rad</m:t>
                    </m:r>
                  </m:oMath>
                </a14:m>
                <a:r>
                  <a:rPr lang="it-IT" dirty="0"/>
                  <a:t>). </a:t>
                </a:r>
              </a:p>
              <a:p>
                <a:pPr lvl="1"/>
                <a:r>
                  <a:rPr lang="it-IT" dirty="0"/>
                  <a:t>Performing the analysis with a small shift of the acceptance window tested the sensitivity of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𝑐ℎ</m:t>
                        </m:r>
                      </m:sub>
                    </m:sSub>
                  </m:oMath>
                </a14:m>
                <a:r>
                  <a:rPr lang="it-IT" dirty="0"/>
                  <a:t> count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10A784A-81B8-8E08-785C-565925B139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22746"/>
                <a:ext cx="10515600" cy="5066228"/>
              </a:xfrm>
              <a:blipFill>
                <a:blip r:embed="rId3"/>
                <a:stretch>
                  <a:fillRect l="-1043" t="-2166" b="-132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84893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309B6-0E24-4EE1-C849-857DCB849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C98016-9688-0B88-1CDB-220FC547E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SYSTEMATIC ERRORS: MODELING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FBE11C7-10E2-04B2-49CE-C9B599AE14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ECA2468-9DD0-8F4F-F382-F30D06B2C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A9F7806-05A3-7968-AACD-FA01401BB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9988B2B-BE12-CF48-A73E-6EF258F2844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A8D725E-B728-5237-FDFA-822B92663DF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963D12E-2968-178D-CE6D-2C147C3C91F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61C0373-C026-C3A1-B363-5BDF5F5311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9308"/>
                <a:ext cx="10515600" cy="46076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Recalculating the entire filtering chain to prove that the algorithmic choices do not introduce bias:</a:t>
                </a:r>
              </a:p>
              <a:p>
                <a:r>
                  <a:rPr lang="en-US" dirty="0"/>
                  <a:t>Fit model choice: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[0.03% −0.20%]</m:t>
                    </m:r>
                  </m:oMath>
                </a14:m>
                <a:endParaRPr lang="it-IT" dirty="0">
                  <a:solidFill>
                    <a:srgbClr val="FFC000"/>
                  </a:solidFill>
                </a:endParaRPr>
              </a:p>
              <a:p>
                <a:pPr lvl="1"/>
                <a:r>
                  <a:rPr lang="it-IT" dirty="0"/>
                  <a:t>Using different models: parabolic model, quadratic model (which includes mixed terms)</a:t>
                </a:r>
              </a:p>
              <a:p>
                <a:r>
                  <a:rPr lang="it-IT" dirty="0"/>
                  <a:t>Binning choice:</a:t>
                </a:r>
                <a:r>
                  <a:rPr lang="it-IT" dirty="0">
                    <a:solidFill>
                      <a:srgbClr val="FFC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[0.005%]</m:t>
                    </m:r>
                  </m:oMath>
                </a14:m>
                <a:endParaRPr lang="it-IT" dirty="0">
                  <a:solidFill>
                    <a:srgbClr val="FFC000"/>
                  </a:solidFill>
                </a:endParaRPr>
              </a:p>
              <a:p>
                <a:pPr lvl="1"/>
                <a:r>
                  <a:rPr lang="it-IT" dirty="0"/>
                  <a:t>Variation of the number of slices for the local gaussian scan</a:t>
                </a:r>
              </a:p>
              <a:p>
                <a:pPr lvl="1"/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The stability of the torsion value and of the efficiency proves the correction does not depend on the statistical fluctuations.</a:t>
                </a:r>
              </a:p>
              <a:p>
                <a:endParaRPr lang="it-IT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961C0373-C026-C3A1-B363-5BDF5F5311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9308"/>
                <a:ext cx="10515600" cy="4607655"/>
              </a:xfrm>
              <a:blipFill>
                <a:blip r:embed="rId3"/>
                <a:stretch>
                  <a:fillRect l="-1217" t="-2249" r="-5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341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0C5A3-EFB8-5767-54BF-1200BE326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0F00BA-AB4D-ACCB-BEF3-97D23C30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SYSTEMATIC ERRORS: SELECTION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72EBE20-6F75-5D1E-9E7F-3BCD4EE4CE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ED64DF6-F403-3A59-47C9-7BCD5104D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E30492E-A9E6-B394-5451-C31B27BA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9698818-941D-4189-9C07-FFC72CE66BB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04DEEC0-B16C-0CC0-21E4-6F76216D169E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17E76A9-5CFC-D730-DC72-8188D654FF2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7DDF6B9-238E-079D-C8D6-481B497920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9308"/>
                <a:ext cx="10515600" cy="1697795"/>
              </a:xfrm>
            </p:spPr>
            <p:txBody>
              <a:bodyPr>
                <a:normAutofit/>
              </a:bodyPr>
              <a:lstStyle/>
              <a:p>
                <a:r>
                  <a:rPr lang="en-US" sz="2700" dirty="0"/>
                  <a:t>These systematics test arbitrary “cut-based” choices made (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700" dirty="0"/>
                  <a:t>).</a:t>
                </a:r>
              </a:p>
              <a:p>
                <a:r>
                  <a:rPr lang="en-US" sz="2700" dirty="0"/>
                  <a:t>The overall impact is well below 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0.1%</m:t>
                    </m:r>
                  </m:oMath>
                </a14:m>
                <a:r>
                  <a:rPr lang="it-IT" sz="2700" dirty="0"/>
                  <a:t> conforming the absence of human bias.</a:t>
                </a:r>
              </a:p>
              <a:p>
                <a:endParaRPr lang="it-IT" sz="2700" dirty="0"/>
              </a:p>
              <a:p>
                <a:endParaRPr lang="it-IT" sz="270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67DDF6B9-238E-079D-C8D6-481B497920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9308"/>
                <a:ext cx="10515600" cy="1697795"/>
              </a:xfrm>
              <a:blipFill>
                <a:blip r:embed="rId3"/>
                <a:stretch>
                  <a:fillRect l="-986" t="-5018" r="-6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8471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D8535-28B2-ECF9-91F0-9A2E50792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E6147BD-F855-ACBA-B7FF-A0E4ED07A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SYSTEMATIC ERRORS: SELECTION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9694A12-6790-D3D8-9E24-038F734985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88BB740-78E1-95DF-996A-9C5477999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0669032-132A-AC4F-227F-05D02AC90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8E4AE61E-C466-A447-9510-0ABD1161A907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3C43751-3C26-9F58-824D-5B2E44086B1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C94614F-6B44-2F3C-B460-89DCA62C45D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29E77A4-AD78-38BB-C185-225456D261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9308"/>
                <a:ext cx="10515600" cy="1697795"/>
              </a:xfrm>
            </p:spPr>
            <p:txBody>
              <a:bodyPr>
                <a:normAutofit/>
              </a:bodyPr>
              <a:lstStyle/>
              <a:p>
                <a:r>
                  <a:rPr lang="en-US" sz="2700" dirty="0"/>
                  <a:t>These systematics test arbitrary “cut-based” choices made (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700" dirty="0"/>
                  <a:t>).</a:t>
                </a:r>
              </a:p>
              <a:p>
                <a:r>
                  <a:rPr lang="en-US" sz="2700" dirty="0"/>
                  <a:t>The overall impact is well below 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0.1%</m:t>
                    </m:r>
                  </m:oMath>
                </a14:m>
                <a:r>
                  <a:rPr lang="it-IT" sz="2700" dirty="0"/>
                  <a:t> conforming the absence of human bias.</a:t>
                </a:r>
              </a:p>
              <a:p>
                <a:endParaRPr lang="it-IT" sz="2700" dirty="0"/>
              </a:p>
              <a:p>
                <a:endParaRPr lang="it-IT" sz="270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29E77A4-AD78-38BB-C185-225456D261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9308"/>
                <a:ext cx="10515600" cy="1697795"/>
              </a:xfrm>
              <a:blipFill>
                <a:blip r:embed="rId3"/>
                <a:stretch>
                  <a:fillRect l="-986" t="-5018" r="-6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BEC2C93-D4EC-17AC-533B-1D7FF7699609}"/>
              </a:ext>
            </a:extLst>
          </p:cNvPr>
          <p:cNvSpPr/>
          <p:nvPr/>
        </p:nvSpPr>
        <p:spPr>
          <a:xfrm>
            <a:off x="469557" y="3613667"/>
            <a:ext cx="11257005" cy="2231080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800" i="1" dirty="0">
                <a:solidFill>
                  <a:schemeClr val="tx1"/>
                </a:solidFill>
              </a:rPr>
              <a:t>The final calculated value is robust from a data analysis perspective. The only real limitations seems to come from the telescope resolution, not from the software or the assumptions made to extract the torsion map.</a:t>
            </a:r>
            <a:endParaRPr lang="it-IT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20204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0B46C-CB04-A669-DCD8-79B27194A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82B6C87-0667-ACAA-0C5E-705621AD0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ERROR BUDGET SUMMARY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1DBDCF2-37CB-FAF6-C3FD-5C41CF82B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83D81E9-3B04-D7D7-65F8-E57FF8ACC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629A6F0-A6EA-975B-E3FB-7C09AFEAB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82B3B89A-C5EB-0030-0C66-AD5A9388B1D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CD60147-F30B-15C0-29C5-A4A47A95205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738A61A-2D9D-384D-F5AC-5D118EF846A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D93A6182-1835-684F-D7B4-41F9369CEF2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3595048"/>
              </p:ext>
            </p:extLst>
          </p:nvPr>
        </p:nvGraphicFramePr>
        <p:xfrm>
          <a:off x="838200" y="2059186"/>
          <a:ext cx="10515603" cy="3108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309329023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2762609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918894891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2128888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4330262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662530287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5487487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run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efficiency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error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stat error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syst err (</a:t>
                      </a:r>
                      <a:r>
                        <a:rPr lang="en-US" sz="2400" dirty="0" err="1"/>
                        <a:t>dom</a:t>
                      </a:r>
                      <a:r>
                        <a:rPr lang="en-US" sz="2400" dirty="0"/>
                        <a:t>)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syst err (model)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syst err (select)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9406889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crystal 1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19.6%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1.5%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1.5%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0.03%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217823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19.1%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1.5%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1.4%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64097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17.1%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1.3%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1.3%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0.05%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0.07%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384287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crystal 2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18.2%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1.4%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1.4%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958084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18.3%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1.5%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1.4%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0.2%</a:t>
                      </a:r>
                      <a:endParaRPr lang="it-IT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7665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4986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8CD08-537E-6061-EE6B-333D819B7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598C48-64FB-49DF-7F0D-36A3F7FE5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	ERROR BUDGET SUMMARY</a:t>
            </a:r>
            <a:endParaRPr lang="it-IT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B857E75-F7C1-947F-83CD-AD71FC25A25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0C75B25-A3FB-C278-DF48-7DDBF6729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83C204F-0EBA-71FD-DDE0-6924FE12F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C3EC72D-00E5-51B7-DC04-3C97B61009F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DDB093C-5F0E-9FBA-B75D-9AF97AB6B8B0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2D60652-0760-17DD-7AA8-57A966133FB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E183E11D-8901-368C-E3DF-CC67F0B6A4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6870531"/>
              </p:ext>
            </p:extLst>
          </p:nvPr>
        </p:nvGraphicFramePr>
        <p:xfrm>
          <a:off x="766200" y="2383343"/>
          <a:ext cx="10657800" cy="17219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4450">
                  <a:extLst>
                    <a:ext uri="{9D8B030D-6E8A-4147-A177-3AD203B41FA5}">
                      <a16:colId xmlns:a16="http://schemas.microsoft.com/office/drawing/2014/main" val="3093290233"/>
                    </a:ext>
                  </a:extLst>
                </a:gridCol>
                <a:gridCol w="7993350">
                  <a:extLst>
                    <a:ext uri="{9D8B030D-6E8A-4147-A177-3AD203B41FA5}">
                      <a16:colId xmlns:a16="http://schemas.microsoft.com/office/drawing/2014/main" val="1276260950"/>
                    </a:ext>
                  </a:extLst>
                </a:gridCol>
              </a:tblGrid>
              <a:tr h="860991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crystal 1</a:t>
                      </a:r>
                      <a:endParaRPr lang="it-IT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(19.6 </a:t>
                      </a:r>
                      <a:r>
                        <a:rPr lang="it-IT" sz="2800" dirty="0"/>
                        <a:t>± </a:t>
                      </a:r>
                      <a:r>
                        <a:rPr lang="en-US" sz="2800" dirty="0"/>
                        <a:t>0.1 [stat] </a:t>
                      </a:r>
                      <a:r>
                        <a:rPr lang="it-IT" sz="2800" dirty="0"/>
                        <a:t>± </a:t>
                      </a:r>
                      <a:r>
                        <a:rPr lang="en-US" sz="2800" dirty="0"/>
                        <a:t>1.5 [syst]) %</a:t>
                      </a:r>
                      <a:endParaRPr lang="it-IT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2178235"/>
                  </a:ext>
                </a:extLst>
              </a:tr>
              <a:tr h="860991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crystal 2</a:t>
                      </a:r>
                      <a:endParaRPr lang="it-IT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(18.2 </a:t>
                      </a:r>
                      <a:r>
                        <a:rPr lang="it-IT" sz="2800" dirty="0"/>
                        <a:t>± </a:t>
                      </a:r>
                      <a:r>
                        <a:rPr lang="en-US" sz="2800" dirty="0"/>
                        <a:t>0.1 [stat] </a:t>
                      </a:r>
                      <a:r>
                        <a:rPr lang="it-IT" sz="2800" dirty="0"/>
                        <a:t>± </a:t>
                      </a:r>
                      <a:r>
                        <a:rPr lang="en-US" sz="2800" dirty="0"/>
                        <a:t>1.4 [syst]) %</a:t>
                      </a:r>
                      <a:endParaRPr lang="it-IT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95808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5638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E3C09-0DC8-3009-33E3-87B2E233B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508424-E383-5F56-74A1-426E2D6B7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986E310-6487-3BCC-B312-1308E013A7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B514782-42DA-66E5-A47A-44458CB00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1FA40DA-00B0-1804-59BE-900DC2043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F1D6763-6BDB-076C-3E05-79BD7773D0E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1F1C976-80DB-CA2B-2A3E-977E89CC73D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52E67DA-AC45-E3C0-7C3D-F969D6525BC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FF42F02-1EC7-5E16-152F-2C57ADF8DE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Limitation of the previous method:</a:t>
                </a:r>
              </a:p>
              <a:p>
                <a:pPr lvl="1"/>
                <a:r>
                  <a:rPr lang="en-US" dirty="0"/>
                  <a:t>Isolating channeled particles to map the crystal footprint only uses a fraction of the beam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∼20%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Can introduce biases near the edges</a:t>
                </a:r>
              </a:p>
              <a:p>
                <a:endParaRPr lang="en-US" dirty="0"/>
              </a:p>
              <a:p>
                <a:r>
                  <a:rPr lang="en-US" dirty="0"/>
                  <a:t>Using MCS:</a:t>
                </a:r>
              </a:p>
              <a:p>
                <a:pPr lvl="1"/>
                <a:r>
                  <a:rPr lang="en-US" dirty="0"/>
                  <a:t>Every particle that traverses the crystal interacts with its atomic lattice, picking up extra angular deflection due to MCS</a:t>
                </a:r>
              </a:p>
              <a:p>
                <a:pPr lvl="1"/>
                <a:r>
                  <a:rPr lang="en-US" dirty="0"/>
                  <a:t>Using 100% of the available beam statistics</a:t>
                </a:r>
                <a:endParaRPr lang="it-IT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FF42F02-1EC7-5E16-152F-2C57ADF8DE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28849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405C-6D45-8954-1444-BCD11467A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4FCCAC-F871-19BB-1DB9-A799D5A5D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1CEAF9E-BE3E-5C6D-7367-619BAD4C65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C82166C-D392-7820-4D24-6F7B5D294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C7A8A5C-343C-FAD2-1497-574FADFE1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18365AA-B1D1-C447-2B5F-C638FA62D1A2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2B0EE0E-5840-CBFD-FF67-2A244F06E9C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3DD62F0-621C-EEC0-7E76-C612357FE56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086EA36-9CCD-FD6F-2F86-F0947A1280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For each bin the angular distribution of the outgoing tracks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Δ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it-IT" sz="2400" dirty="0"/>
                  <a:t> is fitted with a Gaussian curve</a:t>
                </a:r>
              </a:p>
              <a:p>
                <a:r>
                  <a:rPr lang="it-IT" sz="2400" dirty="0"/>
                  <a:t>The extracted gaussian widths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it-IT" sz="2400" dirty="0"/>
                  <a:t> are plotted against the impact position</a:t>
                </a:r>
              </a:p>
              <a:p>
                <a:r>
                  <a:rPr lang="it-IT" sz="2400" dirty="0"/>
                  <a:t>The transition between the outside and inside regions is fitted using a Error function (Erf)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086EA36-9CCD-FD6F-2F86-F0947A1280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  <a:blipFill>
                <a:blip r:embed="rId3"/>
                <a:stretch>
                  <a:fillRect l="-812" t="-1629" r="-87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AB431E9E-C74E-05B8-41A3-42262D2D85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96"/>
          <a:stretch>
            <a:fillRect/>
          </a:stretch>
        </p:blipFill>
        <p:spPr>
          <a:xfrm>
            <a:off x="6815570" y="3341082"/>
            <a:ext cx="4501923" cy="301526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79D28AD-20B1-4AF9-15AE-F5E4998B801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55"/>
          <a:stretch>
            <a:fillRect/>
          </a:stretch>
        </p:blipFill>
        <p:spPr>
          <a:xfrm>
            <a:off x="1531437" y="3341082"/>
            <a:ext cx="4320000" cy="2925574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D9C38B2-29CB-9342-E615-7E96DC8F48A2}"/>
              </a:ext>
            </a:extLst>
          </p:cNvPr>
          <p:cNvSpPr/>
          <p:nvPr/>
        </p:nvSpPr>
        <p:spPr>
          <a:xfrm>
            <a:off x="4436076" y="4411362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OUTSIDE</a:t>
            </a:r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D36F4BE-A80C-E642-02E1-5246DAF049E6}"/>
              </a:ext>
            </a:extLst>
          </p:cNvPr>
          <p:cNvSpPr/>
          <p:nvPr/>
        </p:nvSpPr>
        <p:spPr>
          <a:xfrm>
            <a:off x="10330879" y="4411362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INSIDE</a:t>
            </a:r>
            <a:endParaRPr lang="it-IT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1421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7A32D-8FC5-0D92-3505-A21082727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353289-9AD8-440E-3B9A-5505DEB2B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DDE659F-8F35-A966-2CD7-4D988A7717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36E6FC-21F1-EE10-F936-6E7D303DE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3956885-FDA0-D03A-7CA8-19E0EC4F7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485EEFC-A8DC-F8C5-14AF-14F7F3E81BF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9BEE80B-6033-01E9-AEA5-3E75E472FC4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D01C0A9-8B4B-EB8F-A538-388A89B20FE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B96617C-F915-8A03-9469-0E7F7F511D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1165" y="1312863"/>
            <a:ext cx="7649670" cy="4864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056139-0729-303B-C7A2-C103BD4EB3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96"/>
          <a:stretch>
            <a:fillRect/>
          </a:stretch>
        </p:blipFill>
        <p:spPr>
          <a:xfrm>
            <a:off x="7928946" y="1451083"/>
            <a:ext cx="2687477" cy="180000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6A3EB-6E0A-3054-C38C-F7C527E94C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55"/>
          <a:stretch>
            <a:fillRect/>
          </a:stretch>
        </p:blipFill>
        <p:spPr>
          <a:xfrm>
            <a:off x="9272684" y="4466656"/>
            <a:ext cx="2657940" cy="180000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0C0185F-512B-741C-9B82-3151193FC7CF}"/>
              </a:ext>
            </a:extLst>
          </p:cNvPr>
          <p:cNvSpPr/>
          <p:nvPr/>
        </p:nvSpPr>
        <p:spPr>
          <a:xfrm>
            <a:off x="10601306" y="3873532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OUTSIDE</a:t>
            </a:r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522C0AE-61F4-F6C4-A902-7D9FEAE91874}"/>
              </a:ext>
            </a:extLst>
          </p:cNvPr>
          <p:cNvSpPr/>
          <p:nvPr/>
        </p:nvSpPr>
        <p:spPr>
          <a:xfrm>
            <a:off x="9875624" y="1845194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INSIDE</a:t>
            </a:r>
            <a:endParaRPr lang="it-IT" sz="20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3A8177B-3AB5-4C1C-E0D3-2DFD72119160}"/>
              </a:ext>
            </a:extLst>
          </p:cNvPr>
          <p:cNvCxnSpPr>
            <a:cxnSpLocks/>
          </p:cNvCxnSpPr>
          <p:nvPr/>
        </p:nvCxnSpPr>
        <p:spPr>
          <a:xfrm flipH="1" flipV="1">
            <a:off x="6426200" y="2282677"/>
            <a:ext cx="1502746" cy="15564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1607AC-B76D-07BC-F0E7-528BBEAFDA51}"/>
              </a:ext>
            </a:extLst>
          </p:cNvPr>
          <p:cNvCxnSpPr>
            <a:cxnSpLocks/>
          </p:cNvCxnSpPr>
          <p:nvPr/>
        </p:nvCxnSpPr>
        <p:spPr>
          <a:xfrm flipH="1" flipV="1">
            <a:off x="7806088" y="5406917"/>
            <a:ext cx="1466596" cy="27959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23CB971-15BC-496E-7A1D-BFFBC0FC6EAC}"/>
              </a:ext>
            </a:extLst>
          </p:cNvPr>
          <p:cNvCxnSpPr>
            <a:cxnSpLocks/>
          </p:cNvCxnSpPr>
          <p:nvPr/>
        </p:nvCxnSpPr>
        <p:spPr>
          <a:xfrm flipH="1">
            <a:off x="4968076" y="4061172"/>
            <a:ext cx="1470481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3B67743A-D519-E4BA-7FDB-C3D494C82764}"/>
                  </a:ext>
                </a:extLst>
              </p:cNvPr>
              <p:cNvSpPr/>
              <p:nvPr/>
            </p:nvSpPr>
            <p:spPr>
              <a:xfrm>
                <a:off x="1669554" y="3793052"/>
                <a:ext cx="2945930" cy="1153087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The window corresponds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∼2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3B67743A-D519-E4BA-7FDB-C3D494C827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9554" y="3793052"/>
                <a:ext cx="2945930" cy="115308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41404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5A86C-FFFB-CE2C-A997-6CDA84EA3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8">
            <a:extLst>
              <a:ext uri="{FF2B5EF4-FFF2-40B4-BE49-F238E27FC236}">
                <a16:creationId xmlns:a16="http://schemas.microsoft.com/office/drawing/2014/main" id="{8146DEFF-31B8-C9FD-6EEC-73C96C4FE1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58"/>
          <a:stretch>
            <a:fillRect/>
          </a:stretch>
        </p:blipFill>
        <p:spPr>
          <a:xfrm>
            <a:off x="335593" y="3534294"/>
            <a:ext cx="4495897" cy="264266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438CF04-4E4C-8CA9-93E9-3C9E5AF2E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CAC3703-0773-7984-77F8-CEFB93AD43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06F8D96-7A44-2EF6-3ABA-1627B320E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69E283-707A-81F7-52F5-5342647F2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8758721-40BB-259A-7A9A-861F4026CE6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0A9F725-D121-A8FD-96B1-D9781C4AC64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04DD4A2-E32F-EC55-83F2-628AB1E517A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66FF68F-F94B-A4B2-E7C3-C52958F87B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13.6 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MeV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𝑐𝑝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ad>
                        <m:radPr>
                          <m:degHide m:val="on"/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1+0.038 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=66.5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400" dirty="0"/>
              </a:p>
              <a:p>
                <a:pPr marL="0" indent="0">
                  <a:buNone/>
                </a:pPr>
                <a:r>
                  <a:rPr lang="it-IT" sz="2400" dirty="0"/>
                  <a:t>The measured angular width in each bin is not purely the scattering form the crystal, but has the detector resolution contribution: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𝑚𝑒𝑎𝑠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𝑚𝑐𝑠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𝑡𝑟𝑎𝑐𝑘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66FF68F-F94B-A4B2-E7C3-C52958F87B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12438"/>
                <a:ext cx="10515600" cy="4864525"/>
              </a:xfrm>
              <a:blipFill>
                <a:blip r:embed="rId4"/>
                <a:stretch>
                  <a:fillRect l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27CD657-7070-260B-A911-797F4F98AA56}"/>
              </a:ext>
            </a:extLst>
          </p:cNvPr>
          <p:cNvCxnSpPr>
            <a:cxnSpLocks/>
          </p:cNvCxnSpPr>
          <p:nvPr/>
        </p:nvCxnSpPr>
        <p:spPr>
          <a:xfrm>
            <a:off x="4213654" y="5668429"/>
            <a:ext cx="2138405" cy="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D17E67D5-F236-24D2-710C-C0F4FB47C7B4}"/>
                  </a:ext>
                </a:extLst>
              </p:cNvPr>
              <p:cNvSpPr/>
              <p:nvPr/>
            </p:nvSpPr>
            <p:spPr>
              <a:xfrm>
                <a:off x="6584053" y="4856206"/>
                <a:ext cx="4339319" cy="1500140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not zero, but </a:t>
                </a: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12.5 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rad</m:t>
                    </m:r>
                  </m:oMath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2000" dirty="0">
                    <a:solidFill>
                      <a:schemeClr val="tx1"/>
                    </a:solidFill>
                  </a:rPr>
                  <a:t>which corresponds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𝑡𝑟𝑎𝑐𝑘</m:t>
                        </m:r>
                      </m:sub>
                    </m:sSub>
                  </m:oMath>
                </a14:m>
                <a:endParaRPr lang="en-US" sz="2000" b="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𝑡𝑟𝑎𝑐𝑘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𝑡𝑟𝑎𝑐𝑘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</m:sub>
                            <m:sup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𝑡𝑟𝑎𝑐𝑘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  <m:sup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D17E67D5-F236-24D2-710C-C0F4FB47C7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053" y="4856206"/>
                <a:ext cx="4339319" cy="150014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62BAF0E-0B50-5F83-434F-C211CFA8C8B0}"/>
              </a:ext>
            </a:extLst>
          </p:cNvPr>
          <p:cNvCxnSpPr>
            <a:cxnSpLocks/>
          </p:cNvCxnSpPr>
          <p:nvPr/>
        </p:nvCxnSpPr>
        <p:spPr>
          <a:xfrm>
            <a:off x="2891481" y="3903626"/>
            <a:ext cx="2446638" cy="483023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F1899BFA-F5A7-2A02-3EFD-3065E103651B}"/>
                  </a:ext>
                </a:extLst>
              </p:cNvPr>
              <p:cNvSpPr/>
              <p:nvPr/>
            </p:nvSpPr>
            <p:spPr>
              <a:xfrm>
                <a:off x="5451351" y="4073736"/>
                <a:ext cx="2765892" cy="692777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79.5 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F1899BFA-F5A7-2A02-3EFD-3065E10365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1351" y="4073736"/>
                <a:ext cx="2765892" cy="69277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8135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A147E-9583-17A2-C251-DFBD06409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F230C73-EB01-57B1-6C81-AB0A86448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Autofit/>
          </a:bodyPr>
          <a:lstStyle/>
          <a:p>
            <a:r>
              <a:rPr lang="en-US" sz="3400" b="1" dirty="0">
                <a:solidFill>
                  <a:srgbClr val="002060"/>
                </a:solidFill>
              </a:rPr>
              <a:t>	FIND THE CRYSTAL FOOTPRINT THROUGH SCATTERING</a:t>
            </a:r>
            <a:endParaRPr lang="it-IT" sz="34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12E0B60-1F33-9826-84B7-9FEAB3F57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F23F36-3686-07AA-92E1-46A183255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CA6A74B-1DD1-4436-C95C-22F8A6AE1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26ED73A-6FA4-1E1F-54C4-FC9655F562F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F0FB334-719D-89E7-A3B2-FC39615E343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CB31ED8-F7E7-AF0A-851D-7A5316E8089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326585B-7D73-44ED-F6C1-C4711CA58A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1165" y="1312863"/>
            <a:ext cx="7649670" cy="4864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D9F59BF-1E53-7001-C3D7-32D2FE353A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73" b="3273"/>
          <a:stretch/>
        </p:blipFill>
        <p:spPr>
          <a:xfrm>
            <a:off x="7928946" y="1451083"/>
            <a:ext cx="2687477" cy="180000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05F8B1C-DA2A-E818-14A1-4D26F4BCBD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54" b="2754"/>
          <a:stretch/>
        </p:blipFill>
        <p:spPr>
          <a:xfrm>
            <a:off x="9272684" y="4466656"/>
            <a:ext cx="2657940" cy="1800000"/>
          </a:xfrm>
          <a:prstGeom prst="rect">
            <a:avLst/>
          </a:prstGeom>
          <a:ln w="38100">
            <a:solidFill>
              <a:srgbClr val="FFC000"/>
            </a:solidFill>
          </a:ln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83D1D24-3363-6BE1-CCD2-CF448535CB23}"/>
              </a:ext>
            </a:extLst>
          </p:cNvPr>
          <p:cNvSpPr/>
          <p:nvPr/>
        </p:nvSpPr>
        <p:spPr>
          <a:xfrm>
            <a:off x="10601306" y="3873532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INSIDE</a:t>
            </a:r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6BE05DE-0BBC-D16E-75BE-8162E9A8E7AA}"/>
              </a:ext>
            </a:extLst>
          </p:cNvPr>
          <p:cNvSpPr/>
          <p:nvPr/>
        </p:nvSpPr>
        <p:spPr>
          <a:xfrm>
            <a:off x="9875624" y="1845194"/>
            <a:ext cx="1504987" cy="59312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OUTSIDE</a:t>
            </a:r>
            <a:endParaRPr lang="it-IT" sz="20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5EABA61-82F1-D53E-9065-2ED3206D0D58}"/>
              </a:ext>
            </a:extLst>
          </p:cNvPr>
          <p:cNvCxnSpPr>
            <a:cxnSpLocks/>
          </p:cNvCxnSpPr>
          <p:nvPr/>
        </p:nvCxnSpPr>
        <p:spPr>
          <a:xfrm flipH="1">
            <a:off x="4473146" y="2438318"/>
            <a:ext cx="3455800" cy="1100162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6E8A367-C685-925C-E04D-0FD772300057}"/>
              </a:ext>
            </a:extLst>
          </p:cNvPr>
          <p:cNvCxnSpPr>
            <a:cxnSpLocks/>
          </p:cNvCxnSpPr>
          <p:nvPr/>
        </p:nvCxnSpPr>
        <p:spPr>
          <a:xfrm flipH="1" flipV="1">
            <a:off x="7806088" y="5406917"/>
            <a:ext cx="1466596" cy="279591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222D206-5695-8B93-6C3F-8DF0E82DA48E}"/>
              </a:ext>
            </a:extLst>
          </p:cNvPr>
          <p:cNvCxnSpPr>
            <a:cxnSpLocks/>
          </p:cNvCxnSpPr>
          <p:nvPr/>
        </p:nvCxnSpPr>
        <p:spPr>
          <a:xfrm flipH="1">
            <a:off x="4473146" y="4061172"/>
            <a:ext cx="3345299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D12E9DD2-C9DA-58D9-0E6D-2505DB2C12FF}"/>
                  </a:ext>
                </a:extLst>
              </p:cNvPr>
              <p:cNvSpPr/>
              <p:nvPr/>
            </p:nvSpPr>
            <p:spPr>
              <a:xfrm>
                <a:off x="457200" y="2889547"/>
                <a:ext cx="2202825" cy="2655590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</a:rPr>
                  <a:t>The window corresponds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∼8 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2000" dirty="0">
                    <a:solidFill>
                      <a:schemeClr val="tx1"/>
                    </a:solidFill>
                  </a:rPr>
                  <a:t>while crystal measures 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12.8 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D12E9DD2-C9DA-58D9-0E6D-2505DB2C12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889547"/>
                <a:ext cx="2202825" cy="265559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15244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C6EFF-B9B4-605B-23DF-EDC01FF41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797431-BBE5-CB25-093B-D04D3DF2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987156-1AA3-606D-F960-F5521BB0A1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August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89376CE-2672-8B5F-17F8-C7FABE69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18D8F0-CFAD-5A22-0C45-35621E72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9CCD89B-D23E-B601-CB0F-35F735A548A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868D235-E176-E7CA-EEBD-17788382E36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B2D0B5E-0AD3-1AC2-900A-351764AC43C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6347869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4087</TotalTime>
  <Words>948</Words>
  <Application>Microsoft Office PowerPoint</Application>
  <PresentationFormat>Widescreen</PresentationFormat>
  <Paragraphs>203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Tema di Office</vt:lpstr>
      <vt:lpstr>PowerPoint Presentation</vt:lpstr>
      <vt:lpstr> PREVIOUS RESULTS</vt:lpstr>
      <vt:lpstr> UNCERTAINTY EVALUATION</vt:lpstr>
      <vt:lpstr> SYSTEMATIC ERRORS</vt:lpstr>
      <vt:lpstr> SYSTEMATIC ERRORS: DOMINANT</vt:lpstr>
      <vt:lpstr> SYSTEMATIC ERRORS: MODELING</vt:lpstr>
      <vt:lpstr> SYSTEMATIC ERRORS: SELECTION</vt:lpstr>
      <vt:lpstr> SYSTEMATIC ERRORS: SELECTION</vt:lpstr>
      <vt:lpstr> ERROR BUDGET SUMMARY</vt:lpstr>
      <vt:lpstr> ERROR BUDGET SUMMARY</vt:lpstr>
      <vt:lpstr> FIND THE CRYSTAL FOOTPRINT THROUGH SCATTERING</vt:lpstr>
      <vt:lpstr> FIND THE CRYSTAL FOOTPRINT THROUGH SCATTERING</vt:lpstr>
      <vt:lpstr> FIND THE CRYSTAL FOOTPRINT THROUGH SCATTERING</vt:lpstr>
      <vt:lpstr> FIND THE CRYSTAL FOOTPRINT THROUGH SCATTERING</vt:lpstr>
      <vt:lpstr> FIND THE CRYSTAL FOOTPRINT THROUGH SCATTERING</vt:lpstr>
      <vt:lpstr> BACKUP SLIDES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43</cp:revision>
  <dcterms:created xsi:type="dcterms:W3CDTF">2026-07-09T15:21:04Z</dcterms:created>
  <dcterms:modified xsi:type="dcterms:W3CDTF">2026-08-13T08:12:26Z</dcterms:modified>
</cp:coreProperties>
</file>