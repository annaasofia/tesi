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323" r:id="rId3"/>
    <p:sldId id="325" r:id="rId4"/>
    <p:sldId id="326" r:id="rId5"/>
    <p:sldId id="327" r:id="rId6"/>
    <p:sldId id="328" r:id="rId7"/>
    <p:sldId id="329" r:id="rId8"/>
    <p:sldId id="305" r:id="rId9"/>
    <p:sldId id="320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2493" autoAdjust="0"/>
  </p:normalViewPr>
  <p:slideViewPr>
    <p:cSldViewPr snapToGrid="0">
      <p:cViewPr varScale="1">
        <p:scale>
          <a:sx n="52" d="100"/>
          <a:sy n="52" d="100"/>
        </p:scale>
        <p:origin x="110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E05E5-664A-3971-F777-9641B047E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0FD5A65-EF32-14DA-AB55-FF3AABE8B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65864DF-991D-93D0-0CC6-070E8125D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D0658B-CD24-6037-3D3D-340773B766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1175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F8DD1-90F9-4E2B-11C6-D4036B85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AC1DF8A-F2D8-483A-98D4-D291D41FF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8D0344D-61E8-2421-CBA2-FCA82EF37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468E994-A7F9-1CBB-BD70-023E1AF14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5392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FD516-74FD-0501-D655-2D09973C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A89C9C-FC71-A27C-185F-274E44B58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78C4AB-1707-6397-BBAF-F6C2CB870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FB5880-9067-F648-160D-6BE9E22DF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9692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38AF5-AD4F-E326-635B-E58299E71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D0AECC9-08B9-9D33-01F0-A7F6FB79A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6D344-D6C1-57F7-D3D0-8647CD9B9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405858-E6BF-96A8-B380-D76A397F0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8427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8FA00-778D-4E6F-3BDC-E541F84E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428135-F279-33E3-09DD-472B5ADE9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F0C7797-8C5D-7E2C-20E0-141A50E9A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FD32A7-0024-19CB-BACA-81AAB553EA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702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12/08/2026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>
                <a:solidFill>
                  <a:schemeClr val="bg1"/>
                </a:solidFill>
              </a:rPr>
              <a:t>STATISTICAL AND SYSTEMATIC ERRORS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AUGUST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</a:t>
            </a:r>
            <a:r>
              <a:rPr lang="it-IT" b="1" dirty="0">
                <a:solidFill>
                  <a:srgbClr val="002060"/>
                </a:solidFill>
              </a:rPr>
              <a:t>UNCERTAINTY EVALUATION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Statistical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Binomial fluctuation of the particle count</a:t>
                </a:r>
              </a:p>
              <a:p>
                <a:pPr lvl="1"/>
                <a:endParaRPr lang="it-IT" dirty="0"/>
              </a:p>
              <a:p>
                <a:pPr lvl="1"/>
                <a:endParaRPr lang="it-IT" dirty="0"/>
              </a:p>
              <a:p>
                <a:r>
                  <a:rPr lang="it-IT" dirty="0"/>
                  <a:t>Systematic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∼1.5%</m:t>
                    </m:r>
                  </m:oMath>
                </a14:m>
                <a:r>
                  <a:rPr lang="it-IT" dirty="0"/>
                  <a:t>):</a:t>
                </a:r>
              </a:p>
              <a:p>
                <a:pPr marL="0" indent="0">
                  <a:buNone/>
                </a:pPr>
                <a:r>
                  <a:rPr lang="it-IT" dirty="0"/>
                  <a:t>evaluated by individually perturbing the key parameters of the analysis algorithm and computing the half spread of the efficiency: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𝑑𝑜𝑤𝑛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580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9E01-BFD4-A3EA-AE52-41E124A5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3A251A-BC87-E461-724B-92B5B71A0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DC7A8D8-B142-334A-E81F-44DC383A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29EE5F-4A53-528A-B265-9C9B68FD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CE2B7A-BB91-8299-2543-D29ED729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5B9E03A-7E4F-EFD9-602E-979AD631FC1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23FDAF3-C2F9-B129-BD2F-B0EFE4B7ED0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2E58600-AD2B-6ACA-E62F-1D3C433F6AE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i="1" dirty="0"/>
                  <a:t>Classification of sources:</a:t>
                </a:r>
              </a:p>
              <a:p>
                <a:r>
                  <a:rPr lang="en-US" dirty="0"/>
                  <a:t>Dominant: tracker resolution</a:t>
                </a:r>
              </a:p>
              <a:p>
                <a:pPr lvl="1"/>
                <a:r>
                  <a:rPr lang="en-US" dirty="0"/>
                  <a:t>Spatial cuts along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-axis</a:t>
                </a:r>
              </a:p>
              <a:p>
                <a:pPr lvl="1"/>
                <a:r>
                  <a:rPr lang="en-US" dirty="0"/>
                  <a:t>Lindhard angular acceptance</a:t>
                </a:r>
              </a:p>
              <a:p>
                <a:r>
                  <a:rPr lang="en-US" dirty="0"/>
                  <a:t>Modeling (torsion analysis)</a:t>
                </a:r>
              </a:p>
              <a:p>
                <a:pPr lvl="1"/>
                <a:r>
                  <a:rPr lang="en-US" dirty="0"/>
                  <a:t>Fit model choice</a:t>
                </a:r>
              </a:p>
              <a:p>
                <a:pPr lvl="1"/>
                <a:r>
                  <a:rPr lang="en-US" dirty="0"/>
                  <a:t>Grid binning</a:t>
                </a:r>
              </a:p>
              <a:p>
                <a:r>
                  <a:rPr lang="en-US" dirty="0"/>
                  <a:t>Selection</a:t>
                </a:r>
              </a:p>
              <a:p>
                <a:pPr lvl="1"/>
                <a:r>
                  <a:rPr lang="en-US" dirty="0"/>
                  <a:t>Integration windows</a:t>
                </a:r>
              </a:p>
              <a:p>
                <a:pPr lvl="1"/>
                <a:r>
                  <a:rPr lang="en-US" dirty="0"/>
                  <a:t>Preliminary cuts</a:t>
                </a:r>
                <a:endParaRPr lang="it-IT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11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/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1.4%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/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/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.01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/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FFC000"/>
                    </a:solidFill>
                    <a:latin typeface="+mj-lt"/>
                  </a:rPr>
                  <a:t>total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b="1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70803E0-61D9-1C1F-DA47-488C56437838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7339700" y="2765338"/>
            <a:ext cx="1988450" cy="80020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2F1D34-CE60-DE63-DADD-1BE7FD32FB5D}"/>
              </a:ext>
            </a:extLst>
          </p:cNvPr>
          <p:cNvCxnSpPr>
            <a:cxnSpLocks/>
            <a:stCxn id="12" idx="6"/>
          </p:cNvCxnSpPr>
          <p:nvPr/>
        </p:nvCxnSpPr>
        <p:spPr>
          <a:xfrm flipV="1">
            <a:off x="5485500" y="4109409"/>
            <a:ext cx="3518800" cy="209337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36F2833-DF5A-2EFE-DB5F-2013C840E8B8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5942700" y="4600658"/>
            <a:ext cx="3385450" cy="99410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37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3073-7761-3807-CC68-AC1855CD7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64A15-2208-82A8-B015-F52485E05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DOMINANT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F795DBB-E7BA-9ABC-1FA9-C69C42C4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C537DD-F4A4-D5B3-A132-873FC3B5F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8D993F2-28F5-8442-3527-68BB5F28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29F7997-3413-821F-2811-7E199A36D6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05E02B9-35B6-008E-7628-CC855E0CE59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87A432F-2EAA-6008-FDC1-B55D62D40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Shift of the margins along the bending axis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1.10%</m:t>
                    </m:r>
                  </m:oMath>
                </a14:m>
                <a:endParaRPr lang="en-US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en-US" dirty="0"/>
                  <a:t>The margins of the spatial box were widened and narrowed by a value equal to the position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dirty="0"/>
              </a:p>
              <a:p>
                <a:pPr lvl="1"/>
                <a:r>
                  <a:rPr lang="it-IT" dirty="0"/>
                  <a:t>The width of the crystal along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is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it-IT" i="0" dirty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→5%</m:t>
                    </m:r>
                  </m:oMath>
                </a14:m>
                <a:r>
                  <a:rPr lang="it-IT" dirty="0"/>
                  <a:t> of the active face</a:t>
                </a:r>
              </a:p>
              <a:p>
                <a:pPr lvl="1"/>
                <a:r>
                  <a:rPr lang="it-IT" dirty="0"/>
                  <a:t>At the margins the statistical distriution decreases, the angular acceptance is less precise (miscut, edge damage ...)  so the signal becomes less reliable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dirty="0"/>
                  <a:t> consistent with the fact that we do not consider them in our analysis</a:t>
                </a:r>
              </a:p>
              <a:p>
                <a:r>
                  <a:rPr lang="it-IT" dirty="0"/>
                  <a:t>Variation of the critical angle cut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0.98%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The angular resolution of the tracker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∼8.9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 is broader than the Lindhard half-angle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6.5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). </a:t>
                </a:r>
              </a:p>
              <a:p>
                <a:pPr lvl="1"/>
                <a:r>
                  <a:rPr lang="it-IT" dirty="0"/>
                  <a:t>Performing the analysis with a small shift of the acceptance window tested the sensitivity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dirty="0"/>
                  <a:t> count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  <a:blipFill>
                <a:blip r:embed="rId3"/>
                <a:stretch>
                  <a:fillRect l="-1043" t="-2166" b="-13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489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09B6-0E24-4EE1-C849-857DCB84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C98016-9688-0B88-1CDB-220FC547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MODELING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FBE11C7-10E2-04B2-49CE-C9B599AE14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CA2468-9DD0-8F4F-F382-F30D06B2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A9F7806-05A3-7968-AACD-FA01401B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9988B2B-BE12-CF48-A73E-6EF258F284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A8D725E-B728-5237-FDFA-822B92663D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63D12E-2968-178D-CE6D-2C147C3C91F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Recalculating the entire filtering chain to prove that the algorithmic choices do not introduce bias:</a:t>
                </a:r>
              </a:p>
              <a:p>
                <a:r>
                  <a:rPr lang="en-US" dirty="0"/>
                  <a:t>Fit model choice: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[0.03% −0.20%]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Using different models: parabolic model, quadratic model (which includes mixed terms)</a:t>
                </a:r>
              </a:p>
              <a:p>
                <a:r>
                  <a:rPr lang="it-IT" dirty="0"/>
                  <a:t>Binning choice: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[0.005%]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Variation of the number of slices for the local gaussian scan</a:t>
                </a:r>
              </a:p>
              <a:p>
                <a:pPr lvl="1"/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The stability of the torsion value and of the efficiency proves the correction does not depend on the statistical fluctuations.</a:t>
                </a:r>
              </a:p>
              <a:p>
                <a:endParaRPr lang="it-IT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249" r="-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41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0C5A3-EFB8-5767-54BF-1200BE326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0F00BA-AB4D-ACCB-BEF3-97D23C3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72EBE20-6F75-5D1E-9E7F-3BCD4EE4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ED64DF6-F403-3A59-47C9-7BCD5104D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30492E-A9E6-B394-5451-C31B27BA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698818-941D-4189-9C07-FFC72CE66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04DEEC0-B16C-0CC0-21E4-6F76216D169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7E76A9-5CFC-D730-DC72-8188D654FF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986" t="-1852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471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0B46C-CB04-A669-DCD8-79B27194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2B6C87-0667-ACAA-0C5E-705621AD0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1DBDCF2-37CB-FAF6-C3FD-5C41CF82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3D81E9-3B04-D7D7-65F8-E57FF8AC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9A6F0-A6EA-975B-E3FB-7C09AFEAB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B3B89A-C5EB-0030-0C66-AD5A9388B1D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CD60147-F30B-15C0-29C5-A4A47A95205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738A61A-2D9D-384D-F5AC-5D118EF846A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D93A6182-1835-684F-D7B4-41F9369CEF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83051050"/>
              </p:ext>
            </p:extLst>
          </p:nvPr>
        </p:nvGraphicFramePr>
        <p:xfrm>
          <a:off x="838200" y="1825625"/>
          <a:ext cx="10515603" cy="249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91889489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12888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330262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66253028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5487487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run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efficiency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error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 error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syst err (</a:t>
                      </a:r>
                      <a:r>
                        <a:rPr lang="en-US" dirty="0" err="1"/>
                        <a:t>dom</a:t>
                      </a:r>
                      <a:r>
                        <a:rPr lang="en-US" dirty="0"/>
                        <a:t>)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syst err (model)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syst err (select)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9406889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crystal 1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19.6%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0.03%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64097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0.05%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0.07%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8428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crystal 2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18.2%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18.3%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0.2%</a:t>
                      </a:r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7665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9865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9" y="1545256"/>
            <a:ext cx="11303581" cy="470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3965</TotalTime>
  <Words>523</Words>
  <Application>Microsoft Office PowerPoint</Application>
  <PresentationFormat>Widescreen</PresentationFormat>
  <Paragraphs>120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Tema di Office</vt:lpstr>
      <vt:lpstr>PowerPoint Presentation</vt:lpstr>
      <vt:lpstr> UNCERTAINTY EVALUATION</vt:lpstr>
      <vt:lpstr> SYSTEMATIC ERRORS</vt:lpstr>
      <vt:lpstr> SYSTEMATIC ERRORS: DOMINANT</vt:lpstr>
      <vt:lpstr> SYSTEMATIC ERRORS: MODELING</vt:lpstr>
      <vt:lpstr> SYSTEMATIC ERRORS: SELECTION</vt:lpstr>
      <vt:lpstr> ERROR BUDGET SUMMARY</vt:lpstr>
      <vt:lpstr> BACKUP SLIDES</vt:lpstr>
      <vt:lpstr> BACKUP SLIDES: SCHEMATIC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38</cp:revision>
  <dcterms:created xsi:type="dcterms:W3CDTF">2026-07-09T15:21:04Z</dcterms:created>
  <dcterms:modified xsi:type="dcterms:W3CDTF">2026-08-12T13:04:36Z</dcterms:modified>
</cp:coreProperties>
</file>