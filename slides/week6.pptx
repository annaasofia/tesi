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31" r:id="rId3"/>
    <p:sldId id="323" r:id="rId4"/>
    <p:sldId id="325" r:id="rId5"/>
    <p:sldId id="326" r:id="rId6"/>
    <p:sldId id="327" r:id="rId7"/>
    <p:sldId id="328" r:id="rId8"/>
    <p:sldId id="330" r:id="rId9"/>
    <p:sldId id="329" r:id="rId10"/>
    <p:sldId id="332" r:id="rId11"/>
    <p:sldId id="333" r:id="rId12"/>
    <p:sldId id="334" r:id="rId13"/>
    <p:sldId id="305" r:id="rId14"/>
    <p:sldId id="320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2493" autoAdjust="0"/>
  </p:normalViewPr>
  <p:slideViewPr>
    <p:cSldViewPr snapToGrid="0">
      <p:cViewPr varScale="1">
        <p:scale>
          <a:sx n="52" d="100"/>
          <a:sy n="52" d="100"/>
        </p:scale>
        <p:origin x="11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422DF-4847-4D6E-BB97-9B75D56F5D74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5392F-55BF-4B8E-AF01-45F81C88C28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075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53D2B-C14B-C923-E666-2BE98336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1E73501-4C4F-7EA7-F309-EC9432A82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02C8D8-9566-F6BA-2D4C-09E243EDE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A1D6B02-C167-B05C-9F5F-29D88237B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6429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53D2B-C14B-C923-E666-2BE98336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1E73501-4C4F-7EA7-F309-EC9432A82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02C8D8-9566-F6BA-2D4C-09E243EDE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A1D6B02-C167-B05C-9F5F-29D88237B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6429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E05E5-664A-3971-F777-9641B047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0FD5A65-EF32-14DA-AB55-FF3AABE8B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65864DF-991D-93D0-0CC6-070E8125D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D0658B-CD24-6037-3D3D-340773B76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1175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F8DD1-90F9-4E2B-11C6-D4036B85D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AC1DF8A-F2D8-483A-98D4-D291D41FF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8D0344D-61E8-2421-CBA2-FCA82EF37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468E994-A7F9-1CBB-BD70-023E1AF14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5392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FD516-74FD-0501-D655-2D09973C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6A89C9C-FC71-A27C-185F-274E44B58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78C4AB-1707-6397-BBAF-F6C2CB870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AFB5880-9067-F648-160D-6BE9E22DF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9692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38AF5-AD4F-E326-635B-E58299E71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0AECC9-08B9-9D33-01F0-A7F6FB79A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A6D344-D6C1-57F7-D3D0-8647CD9B9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405858-E6BF-96A8-B380-D76A397F0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8427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CEFD-3625-4A57-44B6-A06030ED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3F783D5-00A2-701B-4675-FBE1EE77D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04BEAE-A21D-A6AE-4C23-6E8FB3EEB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4606D3-88CC-590D-B1E4-51275CBEB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3684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8FA00-778D-4E6F-3BDC-E541F84E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3428135-F279-33E3-09DD-472B5ADE9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F0C7797-8C5D-7E2C-20E0-141A50E9A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FD32A7-0024-19CB-BACA-81AAB553E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702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0D25-D513-44E6-7201-AA2F52787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D180756-B18C-1C03-AA8B-27F7CABB3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1B72458-411A-8938-C76F-621AFCB05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7E5F338-8551-8690-4EB8-39371D39D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9570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0E52A-AE9E-EF31-4847-15EA692A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3D7F543-3BA6-5432-8F7F-63BFB76AD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7432BF7-36A7-ED07-6245-B860036BA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DD010B-06B2-5CB6-74AD-2035CBDEA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2922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7664-76DA-527F-81D4-3A583289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217D64F-85FA-9242-C1AF-0381CAAF9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582EF77-62AA-DF3D-ADFA-F2F6A4662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D6F1AA2-50E2-9593-05D2-77611599C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3642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21984-7078-FB6F-53DE-65CB49592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0F579-13AD-1739-E1E4-4A793161E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366BD3-025C-431C-F893-5E744EEA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6B1278-2C38-DAAA-2180-B3C7CF9E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97CBF5-3F4D-EE8F-2948-DA6B6F72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5BF9F7-DF67-1E3C-547B-A5DD6323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897D17-B33A-6EF1-CEF4-981888F7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88FE08-6E28-2435-B1EC-792C36B6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6292FF-01B5-7AC1-867C-EEFA64FD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C4693C-59F1-46F6-6F7F-2B896072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53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FA5AA-FBCD-6954-D2E4-9E6A30EC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157C25-DA71-A412-A8F8-C57915EA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B257C5-C8D1-BC78-EB2A-67B902C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0A21B9-77D6-757F-FA97-6E2E8511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EEBBD-AFF0-E5A1-86E3-6BF12AA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01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FECF5-18C9-81B6-0E7F-7D0C714E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F01EA4-A558-FA53-457E-90179EFC9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96ED2A-F813-DC16-E2A0-22104D93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83BCB6-BE83-B09D-6860-23AA5F3B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807251-F5D2-194C-A28B-1FF256E4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282E7D-96B1-1FEB-7101-C83209A2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3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10D65-D9F5-6682-A088-CCB2E189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1461FA-1BD4-41E7-5612-B9A63DC6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E14A22-90A5-A90F-BD0E-F256D29DF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80727B-7142-286E-DE3B-7B8E833DC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203D91-1775-8A1D-169A-D6CE16954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26E9141-3575-E6BC-31BD-40D6F8C1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ED44CC-825C-252C-F9E7-9AFB2DDF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EAFB81-9B92-09AB-31C7-9964D6A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7CDB2-4B02-4B07-9307-AA112DA8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45ED6FB-CF38-9B06-4770-9487CFF1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24D896-7BDD-3114-11AB-2CAEBBB0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13DBC53-D20A-CA44-6D1D-3E3F05E1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04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8297C2-0D3B-ED56-8B61-FCB9774E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48E9F0-0B23-D251-AC8F-D94B00C1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CAA01-23A7-6F7F-6E50-FED32F98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1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600CA-7798-78EF-A297-14320CA8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CFEC1-C59B-4282-7ECD-EED1E518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FA0D9B-562D-BA61-6460-5B681C24F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6EF93F-C388-68A8-6F71-1DF2A7CA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C792410-D57D-8112-5C15-B3FE6B71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A02F4E-4C83-F922-9862-ADBD0F7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8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2439D-E4F5-5CFC-2A7E-3B711100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76CAC3F-4306-8C93-FAFD-71172627C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77C4C85-4610-E23F-E411-CAB1446C0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0750AC-EC3B-956F-684D-3C0FEE6C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A1C4B6-8AD9-702F-FC48-361C84EE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A69AD3-3C4C-17D2-A40D-87D5ECD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4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266DE-32C7-73E6-6685-47860E28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B3BC10-8E18-A721-00DD-56CA590D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F265D-9538-2214-0D6D-0C6078CC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1A8A0C-1534-981E-3D4B-30FF7C64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CFED61-CB81-D9BC-C52D-CE21C2E8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18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CC69D5-05DB-95B6-C17D-00B311146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743714-00DC-E371-9597-EB25A8FBA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0DE6F-350B-6C8A-3068-BFEE6901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165C43-787E-C48A-1E67-0D099BC1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0D0913-985D-6312-E38E-9477ADF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8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8B87C-FD1A-B59F-78B3-6892EFB8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67C8B9-89B9-D7BA-FB20-C7EB5813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A205FC-B67D-F4FD-003E-9D2FD2A1C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34174-4AE7-4BE8-A29D-97641C0FB41A}" type="datetimeFigureOut">
              <a:rPr lang="it-IT" smtClean="0"/>
              <a:t>12/08/2026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218BC-0ED4-07D9-A0D8-A1B2B24A2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910B92-3F1F-78FA-6C70-FEC529A9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4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4856A9A-3EED-F0B3-DD7D-25DC283AB9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CHARACTERIZATION OF CRYSTAL EFFICIENCY:</a:t>
            </a:r>
          </a:p>
          <a:p>
            <a:r>
              <a:rPr lang="it-IT" sz="3000" b="1" dirty="0">
                <a:solidFill>
                  <a:schemeClr val="bg1"/>
                </a:solidFill>
              </a:rPr>
              <a:t>STATISTICAL AND SYSTEMATIC ERRORS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C78894-2BE6-7008-73A1-DD7B80075B0A}"/>
              </a:ext>
            </a:extLst>
          </p:cNvPr>
          <p:cNvSpPr txBox="1"/>
          <p:nvPr/>
        </p:nvSpPr>
        <p:spPr>
          <a:xfrm>
            <a:off x="0" y="5842337"/>
            <a:ext cx="121920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3000" b="1" dirty="0">
                <a:solidFill>
                  <a:schemeClr val="bg1"/>
                </a:solidFill>
              </a:rPr>
              <a:t>AUGUST 2026</a:t>
            </a:r>
          </a:p>
          <a:p>
            <a:pPr algn="ctr"/>
            <a:r>
              <a:rPr lang="it-IT" sz="3000" b="1" dirty="0">
                <a:solidFill>
                  <a:schemeClr val="bg1"/>
                </a:solidFill>
              </a:rPr>
              <a:t>ANNA SOFIA MORO</a:t>
            </a:r>
          </a:p>
        </p:txBody>
      </p:sp>
    </p:spTree>
    <p:extLst>
      <p:ext uri="{BB962C8B-B14F-4D97-AF65-F5344CB8AC3E}">
        <p14:creationId xmlns:p14="http://schemas.microsoft.com/office/powerpoint/2010/main" val="389528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15EE-E0CD-DBB8-0557-41AFA45E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4CADC3-A97E-6CE9-A43A-682A34F02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PREVIOUS RESULTS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ED9B23-6341-6217-27A2-9458D68E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628363-9935-E4B6-77DD-A483B2C3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F505CC-6018-7E71-413B-1016AEE1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8019FF7-6D4B-2DBF-09E8-CC4A5508A71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A1B56BD-FD0F-1F4B-BB59-5AFD665E3673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62BAA7C-A2B4-88F1-D5D2-96BF5F09E29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64ACAFC3-799E-8B06-CC81-4AD4B1D9346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6894076"/>
                  </p:ext>
                </p:extLst>
              </p:nvPr>
            </p:nvGraphicFramePr>
            <p:xfrm>
              <a:off x="1658656" y="2441956"/>
              <a:ext cx="8872888" cy="197408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2358189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159446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𝐫𝐚𝐝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𝐦𝐦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it-IT" sz="2400" b="1" i="0" smtClean="0">
                                  <a:latin typeface="Cambria Math" panose="02040503050406030204" pitchFamily="18" charset="0"/>
                                </a:rPr>
                                <m:t>𝐫𝐚𝐝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it-IT" sz="2400" b="1" dirty="0"/>
                            <a:t> 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𝝐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𝒄𝒉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[%]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741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5.98±0.03</m:t>
                                </m:r>
                              </m:oMath>
                            </m:oMathPara>
                          </a14:m>
                          <a:endParaRPr lang="it-IT" sz="2400" b="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6008.4±0.1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19.4±0.01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741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3.77±0.01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6122.3±0.2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18.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64ACAFC3-799E-8B06-CC81-4AD4B1D9346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6894076"/>
                  </p:ext>
                </p:extLst>
              </p:nvPr>
            </p:nvGraphicFramePr>
            <p:xfrm>
              <a:off x="1658656" y="2441956"/>
              <a:ext cx="8872888" cy="197408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2358189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159446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147" r="-187597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6780" r="-105085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3514" r="-541" b="-3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741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147" t="-66393" r="-18759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6780" t="-66393" r="-10508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3514" t="-66393" r="-541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741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147" t="-166393" r="-187597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6780" t="-166393" r="-105085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3514" t="-166393" r="-541" b="-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6971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15EE-E0CD-DBB8-0557-41AFA45E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4CADC3-A97E-6CE9-A43A-682A34F02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it-IT" b="1" dirty="0">
                <a:solidFill>
                  <a:srgbClr val="002060"/>
                </a:solidFill>
              </a:rPr>
              <a:t>UNCERTAINTY EVALUATION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ED9B23-6341-6217-27A2-9458D68E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628363-9935-E4B6-77DD-A483B2C3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F505CC-6018-7E71-413B-1016AEE1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8019FF7-6D4B-2DBF-09E8-CC4A5508A71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A1B56BD-FD0F-1F4B-BB59-5AFD665E3673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62BAA7C-A2B4-88F1-D5D2-96BF5F09E29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AB3D29B-0EDF-F125-85E9-D4BA4ECA73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Statistical uncertainty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∼0.1%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Binomial fluctuation of the particle count</a:t>
                </a:r>
                <a:endParaRPr lang="it-IT" dirty="0"/>
              </a:p>
              <a:p>
                <a:pPr lvl="1"/>
                <a:endParaRPr lang="it-IT" dirty="0"/>
              </a:p>
              <a:p>
                <a:r>
                  <a:rPr lang="it-IT" dirty="0"/>
                  <a:t>Systematic uncertainty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∼1.5%</m:t>
                    </m:r>
                  </m:oMath>
                </a14:m>
                <a:r>
                  <a:rPr lang="it-IT" dirty="0"/>
                  <a:t>):</a:t>
                </a:r>
              </a:p>
              <a:p>
                <a:pPr marL="0" indent="0">
                  <a:buNone/>
                </a:pPr>
                <a:r>
                  <a:rPr lang="it-IT" dirty="0"/>
                  <a:t>evaluated by individually perturbing the key parameters of the analysis algorithm and computing the half spread of the efficiency: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𝑑𝑜𝑤𝑛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AB3D29B-0EDF-F125-85E9-D4BA4ECA73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58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9E01-BFD4-A3EA-AE52-41E124A5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3A251A-BC87-E461-724B-92B5B71A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SYSTEMATIC ERRORS</a:t>
            </a:r>
            <a:endParaRPr lang="it-IT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C7A8D8-B142-334A-E81F-44DC383A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29EE5F-4A53-528A-B265-9C9B68FD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CE2B7A-BB91-8299-2543-D29ED729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5B9E03A-7E4F-EFD9-602E-979AD631FC14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23FDAF3-C2F9-B129-BD2F-B0EFE4B7ED0E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2E58600-AD2B-6ACA-E62F-1D3C433F6AE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A0B2F7C-723C-1A58-ACB1-A72156F742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9308"/>
                <a:ext cx="10515600" cy="4607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/>
                  <a:t>Classification of sources:</a:t>
                </a:r>
              </a:p>
              <a:p>
                <a:r>
                  <a:rPr lang="en-US" dirty="0"/>
                  <a:t>Dominant: tracker resolution</a:t>
                </a:r>
              </a:p>
              <a:p>
                <a:pPr lvl="1"/>
                <a:r>
                  <a:rPr lang="en-US" dirty="0"/>
                  <a:t>Spatial cuts along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-axis</a:t>
                </a:r>
              </a:p>
              <a:p>
                <a:pPr lvl="1"/>
                <a:r>
                  <a:rPr lang="en-US" dirty="0"/>
                  <a:t>Lindhard angular acceptance</a:t>
                </a:r>
              </a:p>
              <a:p>
                <a:r>
                  <a:rPr lang="en-US" dirty="0"/>
                  <a:t>Modeling (torsion analysis)</a:t>
                </a:r>
              </a:p>
              <a:p>
                <a:pPr lvl="1"/>
                <a:r>
                  <a:rPr lang="en-US" dirty="0"/>
                  <a:t>Fit model choice</a:t>
                </a:r>
              </a:p>
              <a:p>
                <a:pPr lvl="1"/>
                <a:r>
                  <a:rPr lang="en-US" dirty="0"/>
                  <a:t>Grid binning</a:t>
                </a:r>
              </a:p>
              <a:p>
                <a:r>
                  <a:rPr lang="en-US" dirty="0"/>
                  <a:t>Selection</a:t>
                </a:r>
              </a:p>
              <a:p>
                <a:pPr lvl="1"/>
                <a:r>
                  <a:rPr lang="en-US" dirty="0"/>
                  <a:t>Integration windows</a:t>
                </a:r>
              </a:p>
              <a:p>
                <a:pPr lvl="1"/>
                <a:r>
                  <a:rPr lang="en-US" dirty="0"/>
                  <a:t>Preliminary cuts</a:t>
                </a:r>
                <a:endParaRPr lang="it-IT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A0B2F7C-723C-1A58-ACB1-A72156F74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9308"/>
                <a:ext cx="10515600" cy="4607655"/>
              </a:xfrm>
              <a:blipFill>
                <a:blip r:embed="rId3"/>
                <a:stretch>
                  <a:fillRect l="-1217" t="-21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910BE27-F1A2-B72D-E5DF-DD323FAE96A6}"/>
                  </a:ext>
                </a:extLst>
              </p:cNvPr>
              <p:cNvSpPr/>
              <p:nvPr/>
            </p:nvSpPr>
            <p:spPr>
              <a:xfrm>
                <a:off x="6095100" y="2406821"/>
                <a:ext cx="1244600" cy="717034"/>
              </a:xfrm>
              <a:prstGeom prst="ellipse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1.4%</m:t>
                      </m:r>
                    </m:oMath>
                  </m:oMathPara>
                </a14:m>
                <a:endParaRPr lang="it-IT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910BE27-F1A2-B72D-E5DF-DD323FAE96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100" y="2406821"/>
                <a:ext cx="1244600" cy="71703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FD55422-5273-5B0E-B4E9-E8F7BFC28896}"/>
                  </a:ext>
                </a:extLst>
              </p:cNvPr>
              <p:cNvSpPr/>
              <p:nvPr/>
            </p:nvSpPr>
            <p:spPr>
              <a:xfrm>
                <a:off x="4240900" y="3960229"/>
                <a:ext cx="1244600" cy="717034"/>
              </a:xfrm>
              <a:prstGeom prst="ellipse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.03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it-IT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FD55422-5273-5B0E-B4E9-E8F7BFC288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900" y="3960229"/>
                <a:ext cx="1244600" cy="71703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BBD226E-209E-2581-4B03-04FE135FBFDC}"/>
                  </a:ext>
                </a:extLst>
              </p:cNvPr>
              <p:cNvSpPr/>
              <p:nvPr/>
            </p:nvSpPr>
            <p:spPr>
              <a:xfrm>
                <a:off x="4698100" y="5236249"/>
                <a:ext cx="1244600" cy="717034"/>
              </a:xfrm>
              <a:prstGeom prst="ellipse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.01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it-IT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BBD226E-209E-2581-4B03-04FE135FBF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100" y="5236249"/>
                <a:ext cx="1244600" cy="71703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EF12D4A-08F8-1075-823B-B612DD9B7BA7}"/>
                  </a:ext>
                </a:extLst>
              </p:cNvPr>
              <p:cNvSpPr/>
              <p:nvPr/>
            </p:nvSpPr>
            <p:spPr>
              <a:xfrm>
                <a:off x="9146658" y="3595132"/>
                <a:ext cx="2186200" cy="1063597"/>
              </a:xfrm>
              <a:prstGeom prst="ellipse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FFC000"/>
                    </a:solidFill>
                    <a:latin typeface="+mj-lt"/>
                  </a:rPr>
                  <a:t>total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it-IT" sz="2800" b="1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EF12D4A-08F8-1075-823B-B612DD9B7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658" y="3595132"/>
                <a:ext cx="2186200" cy="1063597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0803E0-61D9-1C1F-DA47-488C56437838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7339700" y="2765338"/>
            <a:ext cx="1988450" cy="80020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2F1D34-CE60-DE63-DADD-1BE7FD32FB5D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5485500" y="4109409"/>
            <a:ext cx="3518800" cy="20933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6F2833-DF5A-2EFE-DB5F-2013C840E8B8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5942700" y="4600658"/>
            <a:ext cx="3385450" cy="99410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3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A3073-7761-3807-CC68-AC1855CD7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F64A15-2208-82A8-B015-F52485E05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SYSTEMATIC ERRORS: DOMINANT</a:t>
            </a:r>
            <a:endParaRPr lang="it-IT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795DBB-E7BA-9ABC-1FA9-C69C42C4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C537DD-F4A4-D5B3-A132-873FC3B5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D993F2-28F5-8442-3527-68BB5F28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29F7997-3413-821F-2811-7E199A36D6A2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05E02B9-35B6-008E-7628-CC855E0CE59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87A432F-2EAA-6008-FDC1-B55D62D40F6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10A784A-81B8-8E08-785C-565925B139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2746"/>
                <a:ext cx="10515600" cy="506622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Shift of the margins along the bending axis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1.10%</m:t>
                    </m:r>
                  </m:oMath>
                </a14:m>
                <a:endParaRPr lang="en-US" dirty="0">
                  <a:solidFill>
                    <a:srgbClr val="FFC000"/>
                  </a:solidFill>
                </a:endParaRPr>
              </a:p>
              <a:p>
                <a:pPr lvl="1"/>
                <a:r>
                  <a:rPr lang="en-US" dirty="0"/>
                  <a:t>The margins of the spatial box were widened and narrowed by a value equal to the position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∼0.1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endParaRPr lang="en-US" dirty="0"/>
              </a:p>
              <a:p>
                <a:pPr lvl="1"/>
                <a:r>
                  <a:rPr lang="it-IT" dirty="0"/>
                  <a:t>The width of the crystal along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dirty="0"/>
                  <a:t> is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it-IT" i="0" dirty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→5%</m:t>
                    </m:r>
                  </m:oMath>
                </a14:m>
                <a:r>
                  <a:rPr lang="it-IT" dirty="0"/>
                  <a:t> of the active face</a:t>
                </a:r>
              </a:p>
              <a:p>
                <a:pPr lvl="1"/>
                <a:r>
                  <a:rPr lang="it-IT" dirty="0"/>
                  <a:t>At the margins the statistical distriution decreases, the angular acceptance is less precise (miscut, edge damage ...)  so the signal becomes less reliable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dirty="0"/>
                  <a:t> consistent with the fact that we do not consider them in our analysis</a:t>
                </a:r>
              </a:p>
              <a:p>
                <a:r>
                  <a:rPr lang="it-IT" dirty="0"/>
                  <a:t>Variation of the critical angle cut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dirty="0"/>
                  <a:t>):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0.98%</m:t>
                    </m:r>
                  </m:oMath>
                </a14:m>
                <a:endParaRPr lang="it-IT" dirty="0">
                  <a:solidFill>
                    <a:srgbClr val="FFC000"/>
                  </a:solidFill>
                </a:endParaRPr>
              </a:p>
              <a:p>
                <a:pPr lvl="1"/>
                <a:r>
                  <a:rPr lang="it-IT" dirty="0"/>
                  <a:t>The angular resolution of the tracker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∼8.9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rad</m:t>
                    </m:r>
                  </m:oMath>
                </a14:m>
                <a:r>
                  <a:rPr lang="it-IT" dirty="0"/>
                  <a:t>) is broader than the Lindhard half-angle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6.5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rad</m:t>
                    </m:r>
                  </m:oMath>
                </a14:m>
                <a:r>
                  <a:rPr lang="it-IT" dirty="0"/>
                  <a:t>). </a:t>
                </a:r>
              </a:p>
              <a:p>
                <a:pPr lvl="1"/>
                <a:r>
                  <a:rPr lang="it-IT" dirty="0"/>
                  <a:t>Performing the analysis with a small shift of the acceptance window tested the sensitivity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𝑐ℎ</m:t>
                        </m:r>
                      </m:sub>
                    </m:sSub>
                  </m:oMath>
                </a14:m>
                <a:r>
                  <a:rPr lang="it-IT" dirty="0"/>
                  <a:t> count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10A784A-81B8-8E08-785C-565925B139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2746"/>
                <a:ext cx="10515600" cy="5066228"/>
              </a:xfrm>
              <a:blipFill>
                <a:blip r:embed="rId3"/>
                <a:stretch>
                  <a:fillRect l="-1043" t="-2166" b="-13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48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09B6-0E24-4EE1-C849-857DCB84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C98016-9688-0B88-1CDB-220FC547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SYSTEMATIC ERRORS: MODELING</a:t>
            </a:r>
            <a:endParaRPr lang="it-IT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BE11C7-10E2-04B2-49CE-C9B599AE14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CA2468-9DD0-8F4F-F382-F30D06B2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9F7806-05A3-7968-AACD-FA01401B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9988B2B-BE12-CF48-A73E-6EF258F2844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A8D725E-B728-5237-FDFA-822B92663DF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963D12E-2968-178D-CE6D-2C147C3C91F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61C0373-C026-C3A1-B363-5BDF5F531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9308"/>
                <a:ext cx="10515600" cy="4607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Recalculating the entire filtering chain to prove that the algorithmic choices do not introduce bias:</a:t>
                </a:r>
              </a:p>
              <a:p>
                <a:r>
                  <a:rPr lang="en-US" dirty="0"/>
                  <a:t>Fit model choice: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[0.03% −0.20%]</m:t>
                    </m:r>
                  </m:oMath>
                </a14:m>
                <a:endParaRPr lang="it-IT" dirty="0">
                  <a:solidFill>
                    <a:srgbClr val="FFC000"/>
                  </a:solidFill>
                </a:endParaRPr>
              </a:p>
              <a:p>
                <a:pPr lvl="1"/>
                <a:r>
                  <a:rPr lang="it-IT" dirty="0"/>
                  <a:t>Using different models: parabolic model, quadratic model (which includes mixed terms)</a:t>
                </a:r>
              </a:p>
              <a:p>
                <a:r>
                  <a:rPr lang="it-IT" dirty="0"/>
                  <a:t>Binning choice:</a:t>
                </a:r>
                <a:r>
                  <a:rPr lang="it-IT" dirty="0">
                    <a:solidFill>
                      <a:srgbClr val="FFC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[0.005%]</m:t>
                    </m:r>
                  </m:oMath>
                </a14:m>
                <a:endParaRPr lang="it-IT" dirty="0">
                  <a:solidFill>
                    <a:srgbClr val="FFC000"/>
                  </a:solidFill>
                </a:endParaRPr>
              </a:p>
              <a:p>
                <a:pPr lvl="1"/>
                <a:r>
                  <a:rPr lang="it-IT" dirty="0"/>
                  <a:t>Variation of the number of slices for the local gaussian scan</a:t>
                </a:r>
              </a:p>
              <a:p>
                <a:pPr lvl="1"/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The stability of the torsion value and of the efficiency proves the correction does not depend on the statistical fluctuations.</a:t>
                </a:r>
              </a:p>
              <a:p>
                <a:endParaRPr lang="it-IT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61C0373-C026-C3A1-B363-5BDF5F531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9308"/>
                <a:ext cx="10515600" cy="4607655"/>
              </a:xfrm>
              <a:blipFill>
                <a:blip r:embed="rId3"/>
                <a:stretch>
                  <a:fillRect l="-1217" t="-2249" r="-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41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0C5A3-EFB8-5767-54BF-1200BE326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0F00BA-AB4D-ACCB-BEF3-97D23C30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SYSTEMATIC ERRORS: SELECTION</a:t>
            </a:r>
            <a:endParaRPr lang="it-IT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2EBE20-6F75-5D1E-9E7F-3BCD4EE4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ED64DF6-F403-3A59-47C9-7BCD5104D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30492E-A9E6-B394-5451-C31B27BA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9698818-941D-4189-9C07-FFC72CE66BB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04DEEC0-B16C-0CC0-21E4-6F76216D169E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17E76A9-5CFC-D730-DC72-8188D654FF2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7DDF6B9-238E-079D-C8D6-481B497920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9308"/>
                <a:ext cx="10515600" cy="1697795"/>
              </a:xfrm>
            </p:spPr>
            <p:txBody>
              <a:bodyPr>
                <a:normAutofit/>
              </a:bodyPr>
              <a:lstStyle/>
              <a:p>
                <a:r>
                  <a:rPr lang="en-US" sz="2700" dirty="0"/>
                  <a:t>These systematics test arbitrary “cut-based” choices made (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±3</m:t>
                    </m:r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700" dirty="0"/>
                  <a:t>).</a:t>
                </a:r>
              </a:p>
              <a:p>
                <a:r>
                  <a:rPr lang="en-US" sz="2700" dirty="0"/>
                  <a:t>The overall impact is well below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0.1%</m:t>
                    </m:r>
                  </m:oMath>
                </a14:m>
                <a:r>
                  <a:rPr lang="it-IT" sz="2700" dirty="0"/>
                  <a:t> conforming the absence of human bias.</a:t>
                </a:r>
              </a:p>
              <a:p>
                <a:endParaRPr lang="it-IT" sz="2700" dirty="0"/>
              </a:p>
              <a:p>
                <a:endParaRPr lang="it-IT" sz="270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7DDF6B9-238E-079D-C8D6-481B497920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9308"/>
                <a:ext cx="10515600" cy="1697795"/>
              </a:xfrm>
              <a:blipFill>
                <a:blip r:embed="rId3"/>
                <a:stretch>
                  <a:fillRect l="-986" t="-5018" r="-6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47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D8535-28B2-ECF9-91F0-9A2E5079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6147BD-F855-ACBA-B7FF-A0E4ED07A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SYSTEMATIC ERRORS: SELECTION</a:t>
            </a:r>
            <a:endParaRPr lang="it-IT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694A12-6790-D3D8-9E24-038F7349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8BB740-78E1-95DF-996A-9C547799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669032-132A-AC4F-227F-05D02AC9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E4AE61E-C466-A447-9510-0ABD1161A907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3C43751-3C26-9F58-824D-5B2E44086B1C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C94614F-6B44-2F3C-B460-89DCA62C45D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29E77A4-AD78-38BB-C185-225456D261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9308"/>
                <a:ext cx="10515600" cy="1697795"/>
              </a:xfrm>
            </p:spPr>
            <p:txBody>
              <a:bodyPr>
                <a:normAutofit/>
              </a:bodyPr>
              <a:lstStyle/>
              <a:p>
                <a:r>
                  <a:rPr lang="en-US" sz="2700" dirty="0"/>
                  <a:t>These systematics test arbitrary “cut-based” choices made (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±3</m:t>
                    </m:r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700" dirty="0"/>
                  <a:t>).</a:t>
                </a:r>
              </a:p>
              <a:p>
                <a:r>
                  <a:rPr lang="en-US" sz="2700" dirty="0"/>
                  <a:t>The overall impact is well below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0.1%</m:t>
                    </m:r>
                  </m:oMath>
                </a14:m>
                <a:r>
                  <a:rPr lang="it-IT" sz="2700" dirty="0"/>
                  <a:t> conforming the absence of human bias.</a:t>
                </a:r>
              </a:p>
              <a:p>
                <a:endParaRPr lang="it-IT" sz="2700" dirty="0"/>
              </a:p>
              <a:p>
                <a:endParaRPr lang="it-IT" sz="270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29E77A4-AD78-38BB-C185-225456D26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9308"/>
                <a:ext cx="10515600" cy="1697795"/>
              </a:xfrm>
              <a:blipFill>
                <a:blip r:embed="rId3"/>
                <a:stretch>
                  <a:fillRect l="-986" t="-5018" r="-6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EC2C93-D4EC-17AC-533B-1D7FF7699609}"/>
              </a:ext>
            </a:extLst>
          </p:cNvPr>
          <p:cNvSpPr/>
          <p:nvPr/>
        </p:nvSpPr>
        <p:spPr>
          <a:xfrm>
            <a:off x="469557" y="3613667"/>
            <a:ext cx="11257005" cy="223108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i="1" dirty="0">
                <a:solidFill>
                  <a:schemeClr val="tx1"/>
                </a:solidFill>
              </a:rPr>
              <a:t>The final calculated value is robust from a data analysis perspective. The only real limitations seems to come from the telescope resolution, not from the software or the assumptions made to extract the torsion map.</a:t>
            </a:r>
            <a:endParaRPr lang="it-IT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20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0B46C-CB04-A669-DCD8-79B27194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2B6C87-0667-ACAA-0C5E-705621AD0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	ERROR BUDGET SUMMARY</a:t>
            </a:r>
            <a:endParaRPr lang="it-IT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DBDCF2-37CB-FAF6-C3FD-5C41CF82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3D81E9-3B04-D7D7-65F8-E57FF8AC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29A6F0-A6EA-975B-E3FB-7C09AFEAB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2B3B89A-C5EB-0030-0C66-AD5A9388B1D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CD60147-F30B-15C0-29C5-A4A47A95205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738A61A-2D9D-384D-F5AC-5D118EF846A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93A6182-1835-684F-D7B4-41F9369CE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595048"/>
              </p:ext>
            </p:extLst>
          </p:nvPr>
        </p:nvGraphicFramePr>
        <p:xfrm>
          <a:off x="838200" y="2059186"/>
          <a:ext cx="10515603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09329023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27626095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1889489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12888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3302622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6253028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8748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run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efficiency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error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stat error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syst err (</a:t>
                      </a:r>
                      <a:r>
                        <a:rPr lang="en-US" sz="2400" dirty="0" err="1"/>
                        <a:t>dom</a:t>
                      </a:r>
                      <a:r>
                        <a:rPr lang="en-US" sz="2400" dirty="0"/>
                        <a:t>)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syst err (model)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syst err (select)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940688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crystal 1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19.6%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1.5%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1.5%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0.03%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1782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19.1%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1.5%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1.4%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64097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1.3%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1.3%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0.05%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0.07%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8428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crystal 2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18.2%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1.4%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1.4%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5808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18.3%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1.5%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1.4%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0.2%</a:t>
                      </a:r>
                      <a:endParaRPr lang="it-IT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665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986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E3C09-0DC8-3009-33E3-87B2E233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508424-E383-5F56-74A1-426E2D6B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	FIND THE CRYSTAL FOOTPRINT THROUGH SCATTERING</a:t>
            </a:r>
            <a:endParaRPr lang="it-IT" sz="34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86E310-6487-3BCC-B312-1308E013A7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514782-42DA-66E5-A47A-44458CB0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FA40DA-00B0-1804-59BE-900DC204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2F1D6763-6BDB-076C-3E05-79BD7773D0EE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1F1C976-80DB-CA2B-2A3E-977E89CC73D8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52E67DA-AC45-E3C0-7C3D-F969D6525BC8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FF42F02-1EC7-5E16-152F-2C57ADF8DE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Limitation of the previous method:</a:t>
                </a:r>
              </a:p>
              <a:p>
                <a:pPr lvl="1"/>
                <a:r>
                  <a:rPr lang="en-US" dirty="0"/>
                  <a:t>Isolating channeled particles to map the crystal footprint only uses a fraction of the beam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∼20%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Can introduce biases near the edges</a:t>
                </a:r>
              </a:p>
              <a:p>
                <a:endParaRPr lang="en-US" dirty="0"/>
              </a:p>
              <a:p>
                <a:r>
                  <a:rPr lang="en-US" dirty="0"/>
                  <a:t>Using MCS:</a:t>
                </a:r>
              </a:p>
              <a:p>
                <a:pPr lvl="1"/>
                <a:r>
                  <a:rPr lang="en-US" dirty="0"/>
                  <a:t>Every particle that traverses the crystal interacts with its atomic lattice, picking up extra angular deflection due to MCS</a:t>
                </a:r>
              </a:p>
              <a:p>
                <a:pPr lvl="1"/>
                <a:r>
                  <a:rPr lang="en-US" dirty="0"/>
                  <a:t>Using 100% of the available beam statistics</a:t>
                </a:r>
                <a:endParaRPr lang="it-IT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FF42F02-1EC7-5E16-152F-2C57ADF8DE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884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D405C-6D45-8954-1444-BCD11467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4FCCAC-F871-19BB-1DB9-A799D5A5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	FIND THE CRYSTAL FOOTPRINT THROUGH SCATTERING</a:t>
            </a:r>
            <a:endParaRPr lang="it-IT" sz="34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CEAF9E-BE3E-5C6D-7367-619BAD4C6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82166C-D392-7820-4D24-6F7B5D29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7A8A5C-343C-FAD2-1497-574FADFE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18365AA-B1D1-C447-2B5F-C638FA62D1A2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2B0EE0E-5840-CBFD-FF67-2A244F06E9C2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3DD62F0-621C-EEC0-7E76-C612357FE56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86EA36-9CCD-FD6F-2F86-F0947A1280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2438"/>
                <a:ext cx="10515600" cy="486452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For each bin the angular distribution of the outgoing tracks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it-IT" sz="2400" dirty="0"/>
                  <a:t> is fitted with a Gaussian curve</a:t>
                </a:r>
              </a:p>
              <a:p>
                <a:r>
                  <a:rPr lang="it-IT" sz="2400" dirty="0"/>
                  <a:t>The extracted gaussian widths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it-IT" sz="2400" dirty="0"/>
                  <a:t> are plotted against the impact position</a:t>
                </a:r>
              </a:p>
              <a:p>
                <a:r>
                  <a:rPr lang="it-IT" sz="2400" dirty="0"/>
                  <a:t>The transition between the outside and inside regions is fitted using a Error function (Erf)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86EA36-9CCD-FD6F-2F86-F0947A1280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2438"/>
                <a:ext cx="10515600" cy="4864525"/>
              </a:xfrm>
              <a:blipFill>
                <a:blip r:embed="rId3"/>
                <a:stretch>
                  <a:fillRect l="-812" t="-1629" r="-8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B431E9E-C74E-05B8-41A3-42262D2D85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6"/>
          <a:stretch>
            <a:fillRect/>
          </a:stretch>
        </p:blipFill>
        <p:spPr>
          <a:xfrm>
            <a:off x="6815570" y="3341082"/>
            <a:ext cx="4501923" cy="30152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9D28AD-20B1-4AF9-15AE-F5E4998B80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5"/>
          <a:stretch>
            <a:fillRect/>
          </a:stretch>
        </p:blipFill>
        <p:spPr>
          <a:xfrm>
            <a:off x="1531437" y="3341082"/>
            <a:ext cx="4320000" cy="292557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9C38B2-29CB-9342-E615-7E96DC8F48A2}"/>
              </a:ext>
            </a:extLst>
          </p:cNvPr>
          <p:cNvSpPr/>
          <p:nvPr/>
        </p:nvSpPr>
        <p:spPr>
          <a:xfrm>
            <a:off x="4436076" y="4411362"/>
            <a:ext cx="1504987" cy="59312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OUTSIDE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36F4BE-A80C-E642-02E1-5246DAF049E6}"/>
              </a:ext>
            </a:extLst>
          </p:cNvPr>
          <p:cNvSpPr/>
          <p:nvPr/>
        </p:nvSpPr>
        <p:spPr>
          <a:xfrm>
            <a:off x="10330879" y="4411362"/>
            <a:ext cx="1504987" cy="59312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INSIDE</a:t>
            </a:r>
            <a:endParaRPr lang="it-IT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421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7A32D-8FC5-0D92-3505-A2108272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353289-9AD8-440E-3B9A-5505DEB2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	FIND THE CRYSTAL FOOTPRINT THROUGH SCATTERING</a:t>
            </a:r>
            <a:endParaRPr lang="it-IT" sz="34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DE659F-8F35-A966-2CD7-4D988A77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36E6FC-21F1-EE10-F936-6E7D303D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956885-FDA0-D03A-7CA8-19E0EC4F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485EEFC-A8DC-F8C5-14AF-14F7F3E81BF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9BEE80B-6033-01E9-AEA5-3E75E472FC4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D01C0A9-8B4B-EB8F-A538-388A89B20FE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96617C-F915-8A03-9469-0E7F7F511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165" y="1312863"/>
            <a:ext cx="7649670" cy="4864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056139-0729-303B-C7A2-C103BD4EB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6"/>
          <a:stretch>
            <a:fillRect/>
          </a:stretch>
        </p:blipFill>
        <p:spPr>
          <a:xfrm>
            <a:off x="7928946" y="1451083"/>
            <a:ext cx="2687477" cy="180000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B6A3EB-6E0A-3054-C38C-F7C527E94C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5"/>
          <a:stretch>
            <a:fillRect/>
          </a:stretch>
        </p:blipFill>
        <p:spPr>
          <a:xfrm>
            <a:off x="9272684" y="4466656"/>
            <a:ext cx="2657940" cy="180000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C0185F-512B-741C-9B82-3151193FC7CF}"/>
              </a:ext>
            </a:extLst>
          </p:cNvPr>
          <p:cNvSpPr/>
          <p:nvPr/>
        </p:nvSpPr>
        <p:spPr>
          <a:xfrm>
            <a:off x="10601306" y="3873532"/>
            <a:ext cx="1504987" cy="59312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OUTSIDE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22C0AE-61F4-F6C4-A902-7D9FEAE91874}"/>
              </a:ext>
            </a:extLst>
          </p:cNvPr>
          <p:cNvSpPr/>
          <p:nvPr/>
        </p:nvSpPr>
        <p:spPr>
          <a:xfrm>
            <a:off x="9875624" y="1845194"/>
            <a:ext cx="1504987" cy="59312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INSIDE</a:t>
            </a:r>
            <a:endParaRPr lang="it-IT" sz="20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A8177B-3AB5-4C1C-E0D3-2DFD72119160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2282677"/>
            <a:ext cx="1502746" cy="15564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1607AC-B76D-07BC-F0E7-528BBEAFDA51}"/>
              </a:ext>
            </a:extLst>
          </p:cNvPr>
          <p:cNvCxnSpPr>
            <a:cxnSpLocks/>
          </p:cNvCxnSpPr>
          <p:nvPr/>
        </p:nvCxnSpPr>
        <p:spPr>
          <a:xfrm flipH="1" flipV="1">
            <a:off x="7806088" y="5406917"/>
            <a:ext cx="1466596" cy="27959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140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C6EFF-B9B4-605B-23DF-EDC01FF4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797431-BBE5-CB25-093B-D04D3DF2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987156-1AA3-606D-F960-F5521BB0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9376CE-2672-8B5F-17F8-C7FABE69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18D8F0-CFAD-5A22-0C45-35621E72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9CCD89B-D23E-B601-CB0F-35F735A548A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68D235-E176-E7CA-EEBD-17788382E362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B2D0B5E-0AD3-1AC2-900A-351764AC43C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3478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418D0-178A-C93A-FF92-79CB2388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89A4B7-4387-2BB7-3C48-46DB1951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DBFB0E-FB82-3C32-FE20-89DEF342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DDD74D-1EB9-2D22-F8E3-99411AEA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F57EDD-504C-8703-B373-775040D9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A8C001C-29B0-3295-646E-77D6416186F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E83A5A8-9F52-79AB-6097-3ED9E0DA104E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9D0E9B7-7CD4-2769-C5D2-C454E014F2EC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D1CB2A6-1166-CF2E-28FE-9AF384B5B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9" y="1545256"/>
            <a:ext cx="11303581" cy="47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6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4004</TotalTime>
  <Words>793</Words>
  <Application>Microsoft Office PowerPoint</Application>
  <PresentationFormat>Widescreen</PresentationFormat>
  <Paragraphs>172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Tema di Office</vt:lpstr>
      <vt:lpstr>PowerPoint Presentation</vt:lpstr>
      <vt:lpstr> PREVIOUS RESULTS</vt:lpstr>
      <vt:lpstr> UNCERTAINTY EVALUATION</vt:lpstr>
      <vt:lpstr> SYSTEMATIC ERRORS</vt:lpstr>
      <vt:lpstr> SYSTEMATIC ERRORS: DOMINANT</vt:lpstr>
      <vt:lpstr> SYSTEMATIC ERRORS: MODELING</vt:lpstr>
      <vt:lpstr> SYSTEMATIC ERRORS: SELECTION</vt:lpstr>
      <vt:lpstr> SYSTEMATIC ERRORS: SELECTION</vt:lpstr>
      <vt:lpstr> ERROR BUDGET SUMMARY</vt:lpstr>
      <vt:lpstr> FIND THE CRYSTAL FOOTPRINT THROUGH SCATTERING</vt:lpstr>
      <vt:lpstr> FIND THE CRYSTAL FOOTPRINT THROUGH SCATTERING</vt:lpstr>
      <vt:lpstr> FIND THE CRYSTAL FOOTPRINT THROUGH SCATTERING</vt:lpstr>
      <vt:lpstr> BACKUP SLIDES</vt:lpstr>
      <vt:lpstr> BACKUP SLIDES: SCHEMATIC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Sofia Moro</dc:creator>
  <cp:lastModifiedBy>Anna Sofia Moro</cp:lastModifiedBy>
  <cp:revision>39</cp:revision>
  <dcterms:created xsi:type="dcterms:W3CDTF">2026-07-09T15:21:04Z</dcterms:created>
  <dcterms:modified xsi:type="dcterms:W3CDTF">2026-08-12T13:44:13Z</dcterms:modified>
</cp:coreProperties>
</file>