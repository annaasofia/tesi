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0" r:id="rId2"/>
    <p:sldId id="335" r:id="rId3"/>
    <p:sldId id="319" r:id="rId4"/>
    <p:sldId id="331" r:id="rId5"/>
    <p:sldId id="332" r:id="rId6"/>
    <p:sldId id="333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1DC66-512F-4560-8FAD-7D75B50290D4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4C7ED-4709-4D2D-849C-860F7F274AE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45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53D2B-C14B-C923-E666-2BE98336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E73501-4C4F-7EA7-F309-EC9432A8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02C8D8-9566-F6BA-2D4C-09E243ED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1D6B02-C167-B05C-9F5F-29D88237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42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391E-D5FB-AAE5-E380-070C9304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500384-8FBC-2FBA-6ECE-1CFBC1380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0C0D2B3-188B-333F-FC81-9815499EE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852DF3-3BB9-FB2D-7195-553F884E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480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FC3A-F0FE-EC84-97F8-E62C4C0E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23B2D4-13DD-E2E4-6AB4-344F22CD0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606AD30-4A8B-D84A-3E5E-A26EC8DF5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5FF3C4-B83C-EC61-DB64-AABB4BE3D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593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C464-D210-C779-3E8D-9B777088B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DE8E1-C871-C673-1824-60E32EE11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786F0-56A0-AB00-1BA5-4F594FC8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0E48E-D732-992B-0A6E-2482B18E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DB234-86F0-863F-2862-0BD7407A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00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06C8-D824-5DB2-9C27-9E92A555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2116E-B179-A1FA-3F93-A71A4FD58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FD72A-BCF1-2A9A-1E5D-5BEAD8BA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FE70-5114-D8CF-89E0-9525218F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F9231-4C30-9B88-656D-A3E05908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64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B58B-B5FB-8406-E36C-0B367557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1DAB1-6856-74B9-1BA6-CC8856172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E49B-5D7B-FDE5-AE38-C5CF1B58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20F-889A-1D82-D86C-545D9447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2C180-9ED9-4C48-7849-97FAB27D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45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5E85-A49D-6A2C-7623-8D7A781A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8D68-9742-6923-C1FD-E515B1A68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9A26E-4707-4A87-1E3E-21003359A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A88CC-A9DF-5C8C-BF35-9757BC17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FCB15-29CE-BA64-393C-B3D156B1E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AC067-0108-BC3D-A177-64F5B89F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241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5639-1D3F-13DF-AC8C-E142260E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51FC7-840B-1D9C-1505-2BBF5403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E87DD-FED4-E5FF-8E8C-9172AD843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276E3-37B3-953B-3792-E9B0845D6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DE282-3A8E-7ADA-D56D-D616B038E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DDAFC-EB10-9D97-CFDC-1073D808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7A94D-B9C2-041A-4453-AE3434B4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5EC64-CD29-8F5C-3F8C-F20F4234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99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5F7D-40B3-9396-AA74-285C285B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1A3D6-254A-53F0-363F-37045287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D4F1D-69C0-42F1-2797-18C2A63D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60A5E-185B-3E84-17DB-AF4E1527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169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5E808-1A88-939B-C24B-875BA686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1BE4F-A2A5-75B0-3116-FFBB5E7E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688D5-2F13-2BBB-C3DB-20302309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647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4183-7897-4544-BD07-167274809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1BB42-7DD4-63A2-BBAB-EF6BF7C69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DE76F-C2ED-DF54-A1A7-3EE51AD36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13032-5262-5605-ACF9-1F8C84CC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8642-857E-BF3F-05B8-B7E3ECBB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3B1C1-AAA3-16FA-C921-E39479F5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86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D639-CDA1-7823-05BD-20569A84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BE2EE6-CCE8-39DA-1DC1-3F4EFD367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51F48-6EBC-1833-3B68-E205CD909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14D46-10EE-2CAD-9036-A152C1C0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A49E0-82C1-0BBB-E867-D061D958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FD89F-825E-CA9C-6CED-93E83148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69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E418-1B9B-2D85-60C9-DF65591A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8E9A9-77CF-DEA1-926C-C802902EA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AD3F1-9ED3-F2B6-8328-7EC0A12E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0FE32-47CE-0551-CDC9-53225A2A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0A648-921F-3793-7203-1F24C821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651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1E918-1DB4-B981-8DD9-DEC8AD29F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A5DAE-616A-5CB7-7DAB-0AAC2E672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EE4EA-81B8-852C-6451-828AEE07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AE06-E94B-23C0-C71E-AD3CAE6C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0518-B43E-63A9-875A-52B87946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557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7AE14-FBB5-DA30-422C-02AF5580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2A280-BF62-53A6-2FBD-CFF3B1256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59208-42AD-07A6-0935-B8137603E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695CF-0371-4FED-818D-977EF1A1FE29}" type="datetimeFigureOut">
              <a:rPr lang="it-IT" smtClean="0"/>
              <a:t>13/08/2026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AAC0-CFA4-D337-FDC0-F52AC4098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FC07C-9913-896E-BF9E-646EBE7E6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3E7B1-BE9B-44D2-A2CA-A563E880837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898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18D0-178A-C93A-FF92-79CB2388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89A4B7-4387-2BB7-3C48-46DB1951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DBFB0E-FB82-3C32-FE20-89DEF342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DDD74D-1EB9-2D22-F8E3-99411AEA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F57EDD-504C-8703-B373-775040D9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A8C001C-29B0-3295-646E-77D6416186F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E83A5A8-9F52-79AB-6097-3ED9E0DA104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D0E9B7-7CD4-2769-C5D2-C454E014F2E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D1CB2A6-1166-CF2E-28FE-9AF384B5B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914" y="1545256"/>
            <a:ext cx="10732370" cy="470559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2C95AA-3584-0321-D966-14084241CEA9}"/>
              </a:ext>
            </a:extLst>
          </p:cNvPr>
          <p:cNvCxnSpPr>
            <a:cxnSpLocks/>
          </p:cNvCxnSpPr>
          <p:nvPr/>
        </p:nvCxnSpPr>
        <p:spPr>
          <a:xfrm>
            <a:off x="2245783" y="5910944"/>
            <a:ext cx="118533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22545F-2C13-D03F-EC4B-BE362EE42041}"/>
              </a:ext>
            </a:extLst>
          </p:cNvPr>
          <p:cNvCxnSpPr>
            <a:cxnSpLocks/>
          </p:cNvCxnSpPr>
          <p:nvPr/>
        </p:nvCxnSpPr>
        <p:spPr>
          <a:xfrm>
            <a:off x="3431117" y="5910944"/>
            <a:ext cx="299508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29FC3D-0AB2-7AEF-240D-6FCF86845D54}"/>
              </a:ext>
            </a:extLst>
          </p:cNvPr>
          <p:cNvCxnSpPr>
            <a:cxnSpLocks/>
          </p:cNvCxnSpPr>
          <p:nvPr/>
        </p:nvCxnSpPr>
        <p:spPr>
          <a:xfrm>
            <a:off x="6426200" y="5903688"/>
            <a:ext cx="677333" cy="725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473B7C-80F3-143C-5819-34610E573C7A}"/>
              </a:ext>
            </a:extLst>
          </p:cNvPr>
          <p:cNvCxnSpPr>
            <a:cxnSpLocks/>
          </p:cNvCxnSpPr>
          <p:nvPr/>
        </p:nvCxnSpPr>
        <p:spPr>
          <a:xfrm>
            <a:off x="7103533" y="5903688"/>
            <a:ext cx="182880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BD4C96-FF77-C7BD-4D13-817D669217E3}"/>
              </a:ext>
            </a:extLst>
          </p:cNvPr>
          <p:cNvSpPr txBox="1"/>
          <p:nvPr/>
        </p:nvSpPr>
        <p:spPr>
          <a:xfrm>
            <a:off x="1735667" y="6036733"/>
            <a:ext cx="871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2.078     		10.356		  0.487     	       4.227		[m]</a:t>
            </a:r>
            <a:endParaRPr lang="it-IT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2EC020-D1E4-6E5D-96A6-CFCCD4D3C336}"/>
              </a:ext>
            </a:extLst>
          </p:cNvPr>
          <p:cNvSpPr txBox="1"/>
          <p:nvPr/>
        </p:nvSpPr>
        <p:spPr>
          <a:xfrm>
            <a:off x="1735667" y="2463278"/>
            <a:ext cx="871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-12.434          -10.356			0          0. 487	        4.714 [m]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8236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4030-A8AB-756E-7B6F-E15ADDA9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9094B-98B8-79C6-D910-E49A6676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D001E6-BE12-0E1C-E34E-F8F3589F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936A48-A600-E3BE-4414-86FAF9C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D475C3-3B66-B577-42F5-6585EDD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B26D157-5346-067C-2B45-7F428AF580F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B1B2EDD-5C24-17A1-EC00-F4E9170F2D6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351722-4EA8-0597-4ABC-52AA3FC95A0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50D853-3E25-ECC8-09EE-F01F4D7525D7}"/>
              </a:ext>
            </a:extLst>
          </p:cNvPr>
          <p:cNvSpPr/>
          <p:nvPr/>
        </p:nvSpPr>
        <p:spPr>
          <a:xfrm>
            <a:off x="696000" y="2152137"/>
            <a:ext cx="1785943" cy="107406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1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-12434 mm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5120B7-CD7D-1D69-0AB8-7C9C80459C75}"/>
              </a:ext>
            </a:extLst>
          </p:cNvPr>
          <p:cNvSpPr/>
          <p:nvPr/>
        </p:nvSpPr>
        <p:spPr>
          <a:xfrm>
            <a:off x="2955175" y="2152137"/>
            <a:ext cx="1785943" cy="107406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2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-10356 mm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E1A454-66A3-17B6-13E9-76F57C85B558}"/>
              </a:ext>
            </a:extLst>
          </p:cNvPr>
          <p:cNvSpPr/>
          <p:nvPr/>
        </p:nvSpPr>
        <p:spPr>
          <a:xfrm>
            <a:off x="5198795" y="2152137"/>
            <a:ext cx="1785943" cy="107406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crystal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0 mm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24E37D-C093-D1EC-F9D6-3260C33D719E}"/>
              </a:ext>
            </a:extLst>
          </p:cNvPr>
          <p:cNvSpPr/>
          <p:nvPr/>
        </p:nvSpPr>
        <p:spPr>
          <a:xfrm>
            <a:off x="7454426" y="2152137"/>
            <a:ext cx="1785943" cy="107406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3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487 mm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1B532E1-DA99-182C-90E4-4DB41FC919F6}"/>
              </a:ext>
            </a:extLst>
          </p:cNvPr>
          <p:cNvSpPr/>
          <p:nvPr/>
        </p:nvSpPr>
        <p:spPr>
          <a:xfrm>
            <a:off x="9710057" y="2152137"/>
            <a:ext cx="1785943" cy="107406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4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4714 mm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85D0FE-C569-AA98-BFD2-570144BC2493}"/>
              </a:ext>
            </a:extLst>
          </p:cNvPr>
          <p:cNvSpPr/>
          <p:nvPr/>
        </p:nvSpPr>
        <p:spPr>
          <a:xfrm>
            <a:off x="2740837" y="5485255"/>
            <a:ext cx="3060934" cy="77783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Incoming arm vacuum pipe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F48CD1-0863-4C8F-C0AC-DCB07C53C10B}"/>
              </a:ext>
            </a:extLst>
          </p:cNvPr>
          <p:cNvSpPr/>
          <p:nvPr/>
        </p:nvSpPr>
        <p:spPr>
          <a:xfrm>
            <a:off x="6590985" y="5485255"/>
            <a:ext cx="3433300" cy="77783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Downstream arm vacuum pipe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98D6E1D-B587-F8F6-07D7-328F0D43AA3D}"/>
              </a:ext>
            </a:extLst>
          </p:cNvPr>
          <p:cNvGrpSpPr/>
          <p:nvPr/>
        </p:nvGrpSpPr>
        <p:grpSpPr>
          <a:xfrm>
            <a:off x="401771" y="3429000"/>
            <a:ext cx="11379989" cy="1629275"/>
            <a:chOff x="658586" y="3936191"/>
            <a:chExt cx="11379989" cy="162927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9BBDFA-E4CA-D3B2-4D78-E57706BA8F27}"/>
                </a:ext>
              </a:extLst>
            </p:cNvPr>
            <p:cNvCxnSpPr>
              <a:cxnSpLocks/>
            </p:cNvCxnSpPr>
            <p:nvPr/>
          </p:nvCxnSpPr>
          <p:spPr>
            <a:xfrm>
              <a:off x="658586" y="4973562"/>
              <a:ext cx="1080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E4228AB-141A-A392-8988-D12EAA0C03BE}"/>
                </a:ext>
              </a:extLst>
            </p:cNvPr>
            <p:cNvSpPr/>
            <p:nvPr/>
          </p:nvSpPr>
          <p:spPr>
            <a:xfrm>
              <a:off x="14260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33B110-1C10-5F2F-1244-95B57A49D9C7}"/>
                </a:ext>
              </a:extLst>
            </p:cNvPr>
            <p:cNvSpPr/>
            <p:nvPr/>
          </p:nvSpPr>
          <p:spPr>
            <a:xfrm>
              <a:off x="2367643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175891-15C6-D445-D99D-79A521952D9A}"/>
                </a:ext>
              </a:extLst>
            </p:cNvPr>
            <p:cNvSpPr/>
            <p:nvPr/>
          </p:nvSpPr>
          <p:spPr>
            <a:xfrm>
              <a:off x="66736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493E57-5D00-058D-B38F-4AEE81470707}"/>
                </a:ext>
              </a:extLst>
            </p:cNvPr>
            <p:cNvSpPr/>
            <p:nvPr/>
          </p:nvSpPr>
          <p:spPr>
            <a:xfrm>
              <a:off x="8523514" y="4419238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F643138-287C-5536-5A0B-C75F72E12EF6}"/>
                </a:ext>
              </a:extLst>
            </p:cNvPr>
            <p:cNvSpPr/>
            <p:nvPr/>
          </p:nvSpPr>
          <p:spPr>
            <a:xfrm>
              <a:off x="10428857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6370486-EF26-3AF2-4A68-075A7B3BC08B}"/>
                </a:ext>
              </a:extLst>
            </p:cNvPr>
            <p:cNvSpPr/>
            <p:nvPr/>
          </p:nvSpPr>
          <p:spPr>
            <a:xfrm>
              <a:off x="2693528" y="4660626"/>
              <a:ext cx="3419422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8ED58A-372D-827C-7F8B-F81AFE3615CA}"/>
                </a:ext>
              </a:extLst>
            </p:cNvPr>
            <p:cNvSpPr/>
            <p:nvPr/>
          </p:nvSpPr>
          <p:spPr>
            <a:xfrm>
              <a:off x="7002266" y="4660625"/>
              <a:ext cx="1366781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76AAFBB-9626-88EA-00D6-7954A0C0AFDA}"/>
                </a:ext>
              </a:extLst>
            </p:cNvPr>
            <p:cNvSpPr/>
            <p:nvPr/>
          </p:nvSpPr>
          <p:spPr>
            <a:xfrm>
              <a:off x="8889908" y="4660624"/>
              <a:ext cx="1366781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1CB113D-C53D-FB48-569B-9ED897091C42}"/>
                </a:ext>
              </a:extLst>
            </p:cNvPr>
            <p:cNvSpPr/>
            <p:nvPr/>
          </p:nvSpPr>
          <p:spPr>
            <a:xfrm>
              <a:off x="6306204" y="4604500"/>
              <a:ext cx="174171" cy="760103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/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685CF0-FAD7-F521-35BA-EFA05D5DB957}"/>
                </a:ext>
              </a:extLst>
            </p:cNvPr>
            <p:cNvSpPr txBox="1"/>
            <p:nvPr/>
          </p:nvSpPr>
          <p:spPr>
            <a:xfrm>
              <a:off x="10671794" y="3936191"/>
              <a:ext cx="13667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Beam</a:t>
              </a:r>
            </a:p>
            <a:p>
              <a:pPr algn="ctr"/>
              <a:r>
                <a:rPr lang="en-US" b="1" dirty="0"/>
                <a:t>direction</a:t>
              </a:r>
              <a:endParaRPr lang="it-IT" b="1" dirty="0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11A1F4-B289-588A-B70F-96D16C16952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343385" y="3226204"/>
            <a:ext cx="245587" cy="64826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FCAA7B-A105-9BD4-26F9-87F74BD84BA6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304387" y="3226204"/>
            <a:ext cx="1543760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280D7C-DDF6-8D3E-F022-6E7B9DC26AA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641286" y="3226204"/>
            <a:ext cx="1706112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D2C29E-3B28-1C80-FF69-A3D86852808D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8501440" y="3226204"/>
            <a:ext cx="2101589" cy="668000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AA7C04-B2FD-28B1-8D71-C8503B04E3DF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6091767" y="3226204"/>
            <a:ext cx="44707" cy="80411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8004C26-DF47-9F1B-D130-5B1428BFD5FC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4215144" y="4877687"/>
            <a:ext cx="56160" cy="60756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5C40DD8-C829-9CAC-EC85-0076DC92B1F1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7586432" y="4833761"/>
            <a:ext cx="721203" cy="65149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8B2EEA5D-539D-88EE-986F-D678DEE81F59}"/>
              </a:ext>
            </a:extLst>
          </p:cNvPr>
          <p:cNvSpPr/>
          <p:nvPr/>
        </p:nvSpPr>
        <p:spPr>
          <a:xfrm>
            <a:off x="7859306" y="3536407"/>
            <a:ext cx="3354933" cy="1874954"/>
          </a:xfrm>
          <a:prstGeom prst="mathMultiply">
            <a:avLst>
              <a:gd name="adj1" fmla="val 668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073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78-2C97-10B4-34B5-10A73494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C2323-4074-7D2D-42E4-448B5D17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05303-D450-DE41-FD4D-E965DB4B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32D726-6862-785A-B00C-19309D53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18A926-43E2-8B1A-948C-DD69E168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EB45A51-E901-915B-0293-EC5A0957C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A421A-CF34-DE89-C38E-406198ECC43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3A2D6F-A325-D7E7-DEFD-6EE799EFE07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C19DACC-8BF8-944F-AFBE-0BF9ECAB5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00" y="1486933"/>
            <a:ext cx="9000000" cy="46052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87936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15EE-E0CD-DBB8-0557-41AFA45E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4CADC3-A97E-6CE9-A43A-682A34F0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VACUUM PIPES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ED9B23-6341-6217-27A2-9458D68E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628363-9935-E4B6-77DD-A483B2C3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F505CC-6018-7E71-413B-1016AEE1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8019FF7-6D4B-2DBF-09E8-CC4A5508A71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1B56BD-FD0F-1F4B-BB59-5AFD665E367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2BAA7C-A2B4-88F1-D5D2-96BF5F09E29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625823-FC64-FF8E-0245-89EB36B66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Vacuum pipes segments fill the arm specifically to suppress MCS in air between stations, the tracker stations themselves sit in the short breaks where a pipe segment has been removed to house the plane</a:t>
            </a:r>
          </a:p>
          <a:p>
            <a:r>
              <a:rPr lang="en-US" dirty="0"/>
              <a:t>In a standard UA9 5-plane layout, the longest pipe sections are between plane 1-2 and 4-5</a:t>
            </a:r>
          </a:p>
          <a:p>
            <a:r>
              <a:rPr lang="en-US" dirty="0"/>
              <a:t>For large bending long crystals, only 4 planes are used, and the downstream is deliberately short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697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DD8A-C6D1-4C4B-21AC-68BD64C2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CB7661-F66C-92F0-024D-6065433ED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BEAM FEATURES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38580B-6807-E05A-8D3F-DC1B60A6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8EB59-C72F-1995-49B7-68CE68FD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C4D990-6233-7F81-A0A0-A4C5601D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776552E-3363-423C-88D3-0C873F65EE5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A3F47DD-30B7-8E4E-053E-7AE98BA8BD0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69BC3FE-C49F-F470-34B1-14086521AA4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7B21722-1D56-95CA-DA80-B69AA88CE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H8 secondary beamline off the SPS, driven by 400 GeV protons.</a:t>
                </a:r>
              </a:p>
              <a:p>
                <a:r>
                  <a:rPr lang="en-US" dirty="0"/>
                  <a:t>Beamline operates with a target, and a spectrometer selection 180 GeV hadrons (mixed 30%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and 70%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Target material: beryllium</a:t>
                </a:r>
              </a:p>
              <a:p>
                <a:pPr lvl="1"/>
                <a:r>
                  <a:rPr lang="en-US" dirty="0"/>
                  <a:t>Target thickness</a:t>
                </a:r>
              </a:p>
              <a:p>
                <a:r>
                  <a:rPr lang="en-US" dirty="0"/>
                  <a:t>Beam divergence: order tens of urad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7B21722-1D56-95CA-DA80-B69AA88CE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934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0383-DD46-715A-2128-48FF1869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51A739-277C-08A6-191D-5D198387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TRACKERS FEATURES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D3479C-2585-B8E0-A5BB-0AB04027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07868B-9838-D7BC-9B10-A13AF81F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7488A1-9867-77D0-87CB-9378E096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1BFB6FC-ACD1-9489-CBAE-09ACC6237875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6F77B2-69FB-FD69-8D20-DBCF972EE85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48D2702-5EA9-8A48-0401-110C43A9582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780F412-520D-F03F-EFCC-12EC73667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2745"/>
                <a:ext cx="10515600" cy="495421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4 silicon detectors, 2 upstream and 2 downstream used to track</a:t>
                </a:r>
              </a:p>
              <a:p>
                <a:r>
                  <a:rPr lang="en-US" dirty="0"/>
                  <a:t>Each station: two silicon microstrip sensors (each measures position in one dimension)</a:t>
                </a:r>
              </a:p>
              <a:p>
                <a:r>
                  <a:rPr lang="en-US" dirty="0"/>
                  <a:t>Each sensor: </a:t>
                </a:r>
              </a:p>
              <a:p>
                <a:pPr lvl="1"/>
                <a:r>
                  <a:rPr lang="en-US" dirty="0"/>
                  <a:t>Active length 98 mm</a:t>
                </a:r>
              </a:p>
              <a:p>
                <a:pPr lvl="1"/>
                <a:r>
                  <a:rPr lang="en-US" dirty="0"/>
                  <a:t>639 strips on a 60 um pitch </a:t>
                </a:r>
                <a:r>
                  <a:rPr lang="en-US"/>
                  <a:t>and … um width</a:t>
                </a:r>
                <a:endParaRPr lang="en-US" dirty="0"/>
              </a:p>
              <a:p>
                <a:pPr lvl="1"/>
                <a:r>
                  <a:rPr lang="en-US" dirty="0"/>
                  <a:t>38 x 38 mm</a:t>
                </a:r>
                <a:r>
                  <a:rPr lang="en-US" baseline="30000" dirty="0"/>
                  <a:t>2</a:t>
                </a:r>
                <a:r>
                  <a:rPr lang="en-US" dirty="0"/>
                  <a:t> aperture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dirty="0"/>
                  <a:t> 7 um resolution</a:t>
                </a:r>
              </a:p>
              <a:p>
                <a:pPr lvl="1"/>
                <a:r>
                  <a:rPr lang="en-US" dirty="0"/>
                  <a:t>Nominal thickness 320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 20 um</a:t>
                </a:r>
              </a:p>
              <a:p>
                <a:pPr lvl="1"/>
                <a:r>
                  <a:rPr lang="en-US" dirty="0"/>
                  <a:t>Measured thickness 328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 2 um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780F412-520D-F03F-EFCC-12EC73667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2745"/>
                <a:ext cx="10515600" cy="4954218"/>
              </a:xfrm>
              <a:blipFill>
                <a:blip r:embed="rId3"/>
                <a:stretch>
                  <a:fillRect l="-1043" t="-2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754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318</Words>
  <Application>Microsoft Office PowerPoint</Application>
  <PresentationFormat>Widescreen</PresentationFormat>
  <Paragraphs>61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 SCHEMATIC LAYOUT</vt:lpstr>
      <vt:lpstr> SCHEMATIC LAYOUT</vt:lpstr>
      <vt:lpstr> SCHEMATIC LAYOUT</vt:lpstr>
      <vt:lpstr> VACUUM PIPES</vt:lpstr>
      <vt:lpstr> BEAM FEATURES</vt:lpstr>
      <vt:lpstr> TRACKERS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7</cp:revision>
  <dcterms:created xsi:type="dcterms:W3CDTF">2026-08-12T14:51:16Z</dcterms:created>
  <dcterms:modified xsi:type="dcterms:W3CDTF">2026-08-13T15:11:18Z</dcterms:modified>
</cp:coreProperties>
</file>