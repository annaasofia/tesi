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20" r:id="rId2"/>
    <p:sldId id="335" r:id="rId3"/>
    <p:sldId id="319" r:id="rId4"/>
    <p:sldId id="331" r:id="rId5"/>
    <p:sldId id="332" r:id="rId6"/>
    <p:sldId id="333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1DC66-512F-4560-8FAD-7D75B50290D4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4C7ED-4709-4D2D-849C-860F7F274AE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5458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B391E-D5FB-AAE5-E380-070C93046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500384-8FBC-2FBA-6ECE-1CFBC1380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0C0D2B3-188B-333F-FC81-9815499EE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F852DF3-3BB9-FB2D-7195-553F884E8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480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FC3A-F0FE-EC84-97F8-E62C4C0E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23B2D4-13DD-E2E4-6AB4-344F22CD0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06AD30-4A8B-D84A-3E5E-A26EC8DF5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85FF3C4-B83C-EC61-DB64-AABB4BE3D9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5939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DC464-D210-C779-3E8D-9B777088B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0DE8E1-C871-C673-1824-60E32EE11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786F0-56A0-AB00-1BA5-4F594FC8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0E48E-D732-992B-0A6E-2482B18E6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DB234-86F0-863F-2862-0BD7407A9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00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606C8-D824-5DB2-9C27-9E92A555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2116E-B179-A1FA-3F93-A71A4FD58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FD72A-BCF1-2A9A-1E5D-5BEAD8BA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1FE70-5114-D8CF-89E0-9525218F2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F9231-4C30-9B88-656D-A3E05908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7642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AB58B-B5FB-8406-E36C-0B3675573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1DAB1-6856-74B9-1BA6-CC8856172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85E49B-5D7B-FDE5-AE38-C5CF1B58C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CA20F-889A-1D82-D86C-545D94479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2C180-9ED9-4C48-7849-97FAB27D2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3455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45E85-A49D-6A2C-7623-8D7A781A3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58D68-9742-6923-C1FD-E515B1A683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9A26E-4707-4A87-1E3E-21003359A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A88CC-A9DF-5C8C-BF35-9757BC176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FCB15-29CE-BA64-393C-B3D156B1E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DAC067-0108-BC3D-A177-64F5B89F8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2415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05639-1D3F-13DF-AC8C-E142260E5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651FC7-840B-1D9C-1505-2BBF54037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DE87DD-FED4-E5FF-8E8C-9172AD8439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8276E3-37B3-953B-3792-E9B0845D6A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DE282-3A8E-7ADA-D56D-D616B038EF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DDAFC-EB10-9D97-CFDC-1073D8088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57A94D-B9C2-041A-4453-AE3434B4C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45EC64-CD29-8F5C-3F8C-F20F4234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99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5F7D-40B3-9396-AA74-285C285BB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E1A3D6-254A-53F0-363F-370452874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D4F1D-69C0-42F1-2797-18C2A63D0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60A5E-185B-3E84-17DB-AF4E1527E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1695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5E808-1A88-939B-C24B-875BA686E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31BE4F-A2A5-75B0-3116-FFBB5E7E1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88D5-2F13-2BBB-C3DB-20302309D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647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24183-7897-4544-BD07-167274809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1BB42-7DD4-63A2-BBAB-EF6BF7C69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DE76F-C2ED-DF54-A1A7-3EE51AD36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F13032-5262-5605-ACF9-1F8C84CC6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8642-857E-BF3F-05B8-B7E3ECBB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3B1C1-AAA3-16FA-C921-E39479F58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60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D639-CDA1-7823-05BD-20569A849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BE2EE6-CCE8-39DA-1DC1-3F4EFD3675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51F48-6EBC-1833-3B68-E205CD90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14D46-10EE-2CAD-9036-A152C1C0C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DA49E0-82C1-0BBB-E867-D061D958E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FD89F-825E-CA9C-6CED-93E831480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9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E418-1B9B-2D85-60C9-DF65591A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8E9A9-77CF-DEA1-926C-C802902EA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AD3F1-9ED3-F2B6-8328-7EC0A12EE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0FE32-47CE-0551-CDC9-53225A2A7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0A648-921F-3793-7203-1F24C821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651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D1E918-1DB4-B981-8DD9-DEC8AD29F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A5DAE-616A-5CB7-7DAB-0AAC2E672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EE4EA-81B8-852C-6451-828AEE074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E5AE06-E94B-23C0-C71E-AD3CAE6CC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0518-B43E-63A9-875A-52B87946C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5579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7AE14-FBB5-DA30-422C-02AF5580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2A280-BF62-53A6-2FBD-CFF3B1256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59208-42AD-07A6-0935-B8137603E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0695CF-0371-4FED-818D-977EF1A1FE29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AAAC0-CFA4-D337-FDC0-F52AC40981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FC07C-9913-896E-BF9E-646EBE7E6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3E7B1-BE9B-44D2-A2CA-A563E880837A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8988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914" y="1545256"/>
            <a:ext cx="10732370" cy="470559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2C95AA-3584-0321-D966-14084241CEA9}"/>
              </a:ext>
            </a:extLst>
          </p:cNvPr>
          <p:cNvCxnSpPr>
            <a:cxnSpLocks/>
          </p:cNvCxnSpPr>
          <p:nvPr/>
        </p:nvCxnSpPr>
        <p:spPr>
          <a:xfrm>
            <a:off x="2245783" y="5910944"/>
            <a:ext cx="1185334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22545F-2C13-D03F-EC4B-BE362EE42041}"/>
              </a:ext>
            </a:extLst>
          </p:cNvPr>
          <p:cNvCxnSpPr>
            <a:cxnSpLocks/>
          </p:cNvCxnSpPr>
          <p:nvPr/>
        </p:nvCxnSpPr>
        <p:spPr>
          <a:xfrm>
            <a:off x="3431117" y="5910944"/>
            <a:ext cx="299508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29FC3D-0AB2-7AEF-240D-6FCF86845D54}"/>
              </a:ext>
            </a:extLst>
          </p:cNvPr>
          <p:cNvCxnSpPr>
            <a:cxnSpLocks/>
          </p:cNvCxnSpPr>
          <p:nvPr/>
        </p:nvCxnSpPr>
        <p:spPr>
          <a:xfrm>
            <a:off x="6426200" y="5903688"/>
            <a:ext cx="677333" cy="7256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473B7C-80F3-143C-5819-34610E573C7A}"/>
              </a:ext>
            </a:extLst>
          </p:cNvPr>
          <p:cNvCxnSpPr>
            <a:cxnSpLocks/>
          </p:cNvCxnSpPr>
          <p:nvPr/>
        </p:nvCxnSpPr>
        <p:spPr>
          <a:xfrm>
            <a:off x="7103533" y="5903688"/>
            <a:ext cx="182880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CBD4C96-FF77-C7BD-4D13-817D669217E3}"/>
              </a:ext>
            </a:extLst>
          </p:cNvPr>
          <p:cNvSpPr txBox="1"/>
          <p:nvPr/>
        </p:nvSpPr>
        <p:spPr>
          <a:xfrm>
            <a:off x="1735667" y="6036733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	2.078     		10.356		  0.487     	       4.227		[m]</a:t>
            </a:r>
            <a:endParaRPr lang="it-IT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EC020-D1E4-6E5D-96A6-CFCCD4D3C336}"/>
              </a:ext>
            </a:extLst>
          </p:cNvPr>
          <p:cNvSpPr txBox="1"/>
          <p:nvPr/>
        </p:nvSpPr>
        <p:spPr>
          <a:xfrm>
            <a:off x="1735667" y="2463278"/>
            <a:ext cx="871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-12.434          -10.356			0          0. 487	        4.714 [m]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4030-A8AB-756E-7B6F-E15ADDA9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9094B-98B8-79C6-D910-E49A66769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FD001E6-BE12-0E1C-E34E-F8F3589F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936A48-A600-E3BE-4414-86FAF9C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D475C3-3B66-B577-42F5-6585EDDD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B26D157-5346-067C-2B45-7F428AF580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1B2EDD-5C24-17A1-EC00-F4E9170F2D6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0351722-4EA8-0597-4ABC-52AA3FC95A0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50D853-3E25-ECC8-09EE-F01F4D7525D7}"/>
              </a:ext>
            </a:extLst>
          </p:cNvPr>
          <p:cNvSpPr/>
          <p:nvPr/>
        </p:nvSpPr>
        <p:spPr>
          <a:xfrm>
            <a:off x="696000" y="2152137"/>
            <a:ext cx="1785943" cy="107406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1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-12434 mm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25120B7-CD7D-1D69-0AB8-7C9C80459C75}"/>
              </a:ext>
            </a:extLst>
          </p:cNvPr>
          <p:cNvSpPr/>
          <p:nvPr/>
        </p:nvSpPr>
        <p:spPr>
          <a:xfrm>
            <a:off x="2955175" y="2152137"/>
            <a:ext cx="1785943" cy="107406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2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-10356 mm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8E1A454-66A3-17B6-13E9-76F57C85B558}"/>
              </a:ext>
            </a:extLst>
          </p:cNvPr>
          <p:cNvSpPr/>
          <p:nvPr/>
        </p:nvSpPr>
        <p:spPr>
          <a:xfrm>
            <a:off x="5198795" y="2152137"/>
            <a:ext cx="1785943" cy="1074067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crystal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0 mm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24E37D-C093-D1EC-F9D6-3260C33D719E}"/>
              </a:ext>
            </a:extLst>
          </p:cNvPr>
          <p:cNvSpPr/>
          <p:nvPr/>
        </p:nvSpPr>
        <p:spPr>
          <a:xfrm>
            <a:off x="7454426" y="2152137"/>
            <a:ext cx="1785943" cy="107406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3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487 mm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1B532E1-DA99-182C-90E4-4DB41FC919F6}"/>
              </a:ext>
            </a:extLst>
          </p:cNvPr>
          <p:cNvSpPr/>
          <p:nvPr/>
        </p:nvSpPr>
        <p:spPr>
          <a:xfrm>
            <a:off x="9710057" y="2152137"/>
            <a:ext cx="1785943" cy="107406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4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4714 mm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EEB8EA7-D22E-D56F-1E21-CA849C000DDB}"/>
              </a:ext>
            </a:extLst>
          </p:cNvPr>
          <p:cNvGrpSpPr/>
          <p:nvPr/>
        </p:nvGrpSpPr>
        <p:grpSpPr>
          <a:xfrm>
            <a:off x="658586" y="1576920"/>
            <a:ext cx="10930058" cy="384929"/>
            <a:chOff x="658586" y="2575987"/>
            <a:chExt cx="10930058" cy="38492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7EC9734-F563-AD02-9A00-53DBC6E88949}"/>
                </a:ext>
              </a:extLst>
            </p:cNvPr>
            <p:cNvCxnSpPr>
              <a:cxnSpLocks/>
            </p:cNvCxnSpPr>
            <p:nvPr/>
          </p:nvCxnSpPr>
          <p:spPr>
            <a:xfrm>
              <a:off x="658586" y="2960916"/>
              <a:ext cx="1083741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74633E8-EDC2-1504-2368-0F6B7756A6F9}"/>
                    </a:ext>
                  </a:extLst>
                </p:cNvPr>
                <p:cNvSpPr txBox="1"/>
                <p:nvPr/>
              </p:nvSpPr>
              <p:spPr>
                <a:xfrm>
                  <a:off x="11118956" y="2575987"/>
                  <a:ext cx="4696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74633E8-EDC2-1504-2368-0F6B7756A6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8956" y="2575987"/>
                  <a:ext cx="46968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80A5DF1-743A-EA5C-EE6B-AFF0957A6FC6}"/>
                </a:ext>
              </a:extLst>
            </p:cNvPr>
            <p:cNvSpPr txBox="1"/>
            <p:nvPr/>
          </p:nvSpPr>
          <p:spPr>
            <a:xfrm>
              <a:off x="701337" y="2575987"/>
              <a:ext cx="4197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/>
              <a:r>
                <a:rPr lang="en-US" b="1" dirty="0"/>
                <a:t>Beam direction</a:t>
              </a:r>
              <a:endParaRPr lang="it-IT" b="1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1F85D0FE-C569-AA98-BFD2-570144BC2493}"/>
                  </a:ext>
                </a:extLst>
              </p:cNvPr>
              <p:cNvSpPr/>
              <p:nvPr/>
            </p:nvSpPr>
            <p:spPr>
              <a:xfrm>
                <a:off x="658586" y="3299495"/>
                <a:ext cx="4540209" cy="777836"/>
              </a:xfrm>
              <a:prstGeom prst="roundRect">
                <a:avLst/>
              </a:prstGeom>
              <a:noFill/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Incoming arm vacuum pipe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(minus station gaps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12 m)</a:t>
                </a:r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1F85D0FE-C569-AA98-BFD2-570144BC2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6" y="3299495"/>
                <a:ext cx="4540209" cy="777836"/>
              </a:xfrm>
              <a:prstGeom prst="roundRect">
                <a:avLst/>
              </a:prstGeom>
              <a:blipFill>
                <a:blip r:embed="rId3"/>
                <a:stretch>
                  <a:fillRect b="-2239"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11F48CD1-0863-4C8F-C0AC-DCB07C53C10B}"/>
                  </a:ext>
                </a:extLst>
              </p:cNvPr>
              <p:cNvSpPr/>
              <p:nvPr/>
            </p:nvSpPr>
            <p:spPr>
              <a:xfrm>
                <a:off x="7454426" y="3299494"/>
                <a:ext cx="4035281" cy="777836"/>
              </a:xfrm>
              <a:prstGeom prst="roundRect">
                <a:avLst/>
              </a:prstGeom>
              <a:noFill/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Downstream arm vacuum pipe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(between 3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rd</a:t>
                </a:r>
                <a:r>
                  <a:rPr lang="en-US" dirty="0">
                    <a:solidFill>
                      <a:schemeClr val="tx1"/>
                    </a:solidFill>
                  </a:rPr>
                  <a:t> and 4</a:t>
                </a:r>
                <a:r>
                  <a:rPr lang="en-US" baseline="30000" dirty="0">
                    <a:solidFill>
                      <a:schemeClr val="tx1"/>
                    </a:solidFill>
                  </a:rPr>
                  <a:t>th</a:t>
                </a:r>
                <a:r>
                  <a:rPr lang="en-US" dirty="0">
                    <a:solidFill>
                      <a:schemeClr val="tx1"/>
                    </a:solidFill>
                  </a:rPr>
                  <a:t> stations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4 m)</a:t>
                </a:r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11F48CD1-0863-4C8F-C0AC-DCB07C53C1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426" y="3299494"/>
                <a:ext cx="4035281" cy="777836"/>
              </a:xfrm>
              <a:prstGeom prst="roundRect">
                <a:avLst/>
              </a:prstGeom>
              <a:blipFill>
                <a:blip r:embed="rId4"/>
                <a:stretch>
                  <a:fillRect b="-2239"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EA5FB82-6DAA-1494-AFCE-FE08709CE667}"/>
                  </a:ext>
                </a:extLst>
              </p:cNvPr>
              <p:cNvSpPr txBox="1"/>
              <p:nvPr/>
            </p:nvSpPr>
            <p:spPr>
              <a:xfrm>
                <a:off x="696000" y="4250267"/>
                <a:ext cx="1079370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Each station:</a:t>
                </a:r>
              </a:p>
              <a:p>
                <a:r>
                  <a:rPr lang="en-US" dirty="0"/>
                  <a:t>Two orthogonal strip sensors, 38x38 mm</a:t>
                </a:r>
                <a:r>
                  <a:rPr lang="en-US" baseline="30000" dirty="0"/>
                  <a:t>2</a:t>
                </a:r>
                <a:r>
                  <a:rPr lang="en-US" dirty="0"/>
                  <a:t> aperture,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/>
                  <a:t>7 um spatial resolution </a:t>
                </a:r>
              </a:p>
              <a:p>
                <a:endParaRPr lang="it-IT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EA5FB82-6DAA-1494-AFCE-FE08709CE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4250267"/>
                <a:ext cx="10793707" cy="923330"/>
              </a:xfrm>
              <a:prstGeom prst="rect">
                <a:avLst/>
              </a:prstGeom>
              <a:blipFill>
                <a:blip r:embed="rId5"/>
                <a:stretch>
                  <a:fillRect l="-452" t="-263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0739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9247" y="1546325"/>
            <a:ext cx="8757821" cy="416543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61CFF4-1AA7-7DBA-C7AD-C4C417735B36}"/>
              </a:ext>
            </a:extLst>
          </p:cNvPr>
          <p:cNvSpPr txBox="1"/>
          <p:nvPr/>
        </p:nvSpPr>
        <p:spPr>
          <a:xfrm>
            <a:off x="28194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T1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3769F19-49FA-6A86-4E43-EE9B9FCF5335}"/>
              </a:ext>
            </a:extLst>
          </p:cNvPr>
          <p:cNvSpPr txBox="1"/>
          <p:nvPr/>
        </p:nvSpPr>
        <p:spPr>
          <a:xfrm>
            <a:off x="349885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6613190-54C0-7766-BE53-A88A0928D029}"/>
              </a:ext>
            </a:extLst>
          </p:cNvPr>
          <p:cNvSpPr txBox="1"/>
          <p:nvPr/>
        </p:nvSpPr>
        <p:spPr>
          <a:xfrm>
            <a:off x="61468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T3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1ABB6A2-0253-F61C-3A3B-B5D48ED67530}"/>
              </a:ext>
            </a:extLst>
          </p:cNvPr>
          <p:cNvSpPr txBox="1"/>
          <p:nvPr/>
        </p:nvSpPr>
        <p:spPr>
          <a:xfrm>
            <a:off x="8455025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C4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EF31BC2-B06C-C19F-8B82-234E7051B99F}"/>
              </a:ext>
            </a:extLst>
          </p:cNvPr>
          <p:cNvSpPr txBox="1"/>
          <p:nvPr/>
        </p:nvSpPr>
        <p:spPr>
          <a:xfrm>
            <a:off x="4914900" y="4911565"/>
            <a:ext cx="10477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 err="1">
                <a:solidFill>
                  <a:srgbClr val="FFC000"/>
                </a:solidFill>
              </a:rPr>
              <a:t>crystal</a:t>
            </a:r>
            <a:endParaRPr lang="it-IT" sz="2000" b="1" dirty="0">
              <a:solidFill>
                <a:srgbClr val="FFC000"/>
              </a:solidFill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516CBA-691F-320E-81BE-67B07E92F0CB}"/>
              </a:ext>
            </a:extLst>
          </p:cNvPr>
          <p:cNvSpPr txBox="1"/>
          <p:nvPr/>
        </p:nvSpPr>
        <p:spPr>
          <a:xfrm>
            <a:off x="10402009" y="4315824"/>
            <a:ext cx="67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[m]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151" y="151052"/>
            <a:ext cx="3098753" cy="1585607"/>
          </a:xfrm>
          <a:prstGeom prst="roundRect">
            <a:avLst>
              <a:gd name="adj" fmla="val 16667"/>
            </a:avLst>
          </a:prstGeom>
          <a:ln w="38100">
            <a:solidFill>
              <a:srgbClr val="FFC000"/>
            </a:solidFill>
          </a:ln>
          <a:effectLst/>
        </p:spPr>
      </p:pic>
      <p:sp>
        <p:nvSpPr>
          <p:cNvPr id="11" name="Arco 10">
            <a:extLst>
              <a:ext uri="{FF2B5EF4-FFF2-40B4-BE49-F238E27FC236}">
                <a16:creationId xmlns:a16="http://schemas.microsoft.com/office/drawing/2014/main" id="{10E620A4-10A1-BF2A-CF11-1DF7063FF5AD}"/>
              </a:ext>
            </a:extLst>
          </p:cNvPr>
          <p:cNvSpPr/>
          <p:nvPr/>
        </p:nvSpPr>
        <p:spPr>
          <a:xfrm rot="5881670">
            <a:off x="1003504" y="-5711251"/>
            <a:ext cx="6975242" cy="13219817"/>
          </a:xfrm>
          <a:prstGeom prst="arc">
            <a:avLst>
              <a:gd name="adj1" fmla="val 16162446"/>
              <a:gd name="adj2" fmla="val 19464192"/>
            </a:avLst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VACUUM PIPES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6625823-FC64-FF8E-0245-89EB36B66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Vacuum pipes segments fill the arm specifically to suppress MCS in air between stations, the tracker stations themselves sit in the short breaks where a pipe segment has been removed to house the plane</a:t>
            </a:r>
          </a:p>
          <a:p>
            <a:r>
              <a:rPr lang="en-US" dirty="0"/>
              <a:t>In a standard UA9 5-plane layout, the longest pipe sections are between plane 1-2 and 4-5</a:t>
            </a:r>
          </a:p>
          <a:p>
            <a:r>
              <a:rPr lang="en-US" dirty="0"/>
              <a:t>For large bending long crystals, only 4 planes are used, and the downstream is deliberately short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6971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DDD8A-C6D1-4C4B-21AC-68BD64C2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CB7661-F66C-92F0-024D-6065433ED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BEAM FEATURES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38580B-6807-E05A-8D3F-DC1B60A6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18EB59-C72F-1995-49B7-68CE68FD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C4D990-6233-7F81-A0A0-A4C5601DE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776552E-3363-423C-88D3-0C873F65EE5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A3F47DD-30B7-8E4E-053E-7AE98BA8BD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69BC3FE-C49F-F470-34B1-14086521AA4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7B21722-1D56-95CA-DA80-B69AA88CEE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H8 secondary beamline off the SPS, driven by 400 GeV protons.</a:t>
                </a:r>
              </a:p>
              <a:p>
                <a:r>
                  <a:rPr lang="en-US" dirty="0"/>
                  <a:t>Beamline operates with a beryllium target, and a spectrometer selection 180 GeV hadrons (mixed 30%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/>
                  <a:t> and 70%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Beam divergence: order tens of urad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7B21722-1D56-95CA-DA80-B69AA88CEE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934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50383-DD46-715A-2128-48FF1869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51A739-277C-08A6-191D-5D1983872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TRACKERS FEATURES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D3479C-2585-B8E0-A5BB-0AB040277F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107868B-9838-D7BC-9B10-A13AF81F0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7488A1-9867-77D0-87CB-9378E0964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BFB6FC-ACD1-9489-CBAE-09ACC623787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F6F77B2-69FB-FD69-8D20-DBCF972EE85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48D2702-5EA9-8A48-0401-110C43A9582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780F412-520D-F03F-EFCC-12EC73667D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4 silicon detectors, 2 upstream and 2 downstream used to track</a:t>
                </a:r>
              </a:p>
              <a:p>
                <a:r>
                  <a:rPr lang="en-US" dirty="0"/>
                  <a:t>Each station: two silicon microstrip sensors (each measures position in one dimension)</a:t>
                </a:r>
              </a:p>
              <a:p>
                <a:r>
                  <a:rPr lang="en-US" dirty="0"/>
                  <a:t>Each sensor: </a:t>
                </a:r>
              </a:p>
              <a:p>
                <a:pPr lvl="1"/>
                <a:r>
                  <a:rPr lang="en-US" dirty="0"/>
                  <a:t>Active length 98 mm</a:t>
                </a:r>
              </a:p>
              <a:p>
                <a:pPr lvl="1"/>
                <a:r>
                  <a:rPr lang="en-US" dirty="0"/>
                  <a:t>639 strips on a 60 um pitch</a:t>
                </a:r>
              </a:p>
              <a:p>
                <a:pPr lvl="1"/>
                <a:r>
                  <a:rPr lang="en-US" dirty="0"/>
                  <a:t>38 x 38 mm</a:t>
                </a:r>
                <a:r>
                  <a:rPr lang="en-US" baseline="30000" dirty="0"/>
                  <a:t>2</a:t>
                </a:r>
                <a:r>
                  <a:rPr lang="en-US" dirty="0"/>
                  <a:t> aperture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dirty="0"/>
                  <a:t> 7 um resolution</a:t>
                </a:r>
              </a:p>
              <a:p>
                <a:pPr lvl="1"/>
                <a:r>
                  <a:rPr lang="en-US" dirty="0"/>
                  <a:t>Nominal thickness 320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/>
                  <a:t> 20 um</a:t>
                </a:r>
              </a:p>
              <a:p>
                <a:pPr lvl="1"/>
                <a:r>
                  <a:rPr lang="en-US" dirty="0"/>
                  <a:t>Measured thickness 328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dirty="0"/>
                  <a:t> 2 um</a:t>
                </a:r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780F412-520D-F03F-EFCC-12EC73667D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b="-7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7754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353</Words>
  <Application>Microsoft Office PowerPoint</Application>
  <PresentationFormat>Widescreen</PresentationFormat>
  <Paragraphs>68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 SCHEMATIC LAYOUT</vt:lpstr>
      <vt:lpstr> SCHEMATIC LAYOUT</vt:lpstr>
      <vt:lpstr> SCHEMATIC LAYOUT</vt:lpstr>
      <vt:lpstr> VACUUM PIPES</vt:lpstr>
      <vt:lpstr> BEAM FEATURES</vt:lpstr>
      <vt:lpstr> TRACKERS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4</cp:revision>
  <dcterms:created xsi:type="dcterms:W3CDTF">2026-08-12T14:51:16Z</dcterms:created>
  <dcterms:modified xsi:type="dcterms:W3CDTF">2026-08-13T10:16:19Z</dcterms:modified>
</cp:coreProperties>
</file>