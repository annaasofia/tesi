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333" r:id="rId3"/>
    <p:sldId id="337" r:id="rId4"/>
    <p:sldId id="341" r:id="rId5"/>
    <p:sldId id="340" r:id="rId6"/>
    <p:sldId id="334" r:id="rId7"/>
    <p:sldId id="335" r:id="rId8"/>
    <p:sldId id="336" r:id="rId9"/>
    <p:sldId id="349" r:id="rId10"/>
    <p:sldId id="342" r:id="rId11"/>
    <p:sldId id="344" r:id="rId12"/>
    <p:sldId id="350" r:id="rId13"/>
    <p:sldId id="347" r:id="rId14"/>
    <p:sldId id="348" r:id="rId15"/>
    <p:sldId id="346" r:id="rId16"/>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essuno stile, nessuna grigli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essuno stile, griglia tabel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309" autoAdjust="0"/>
    <p:restoredTop sz="93447" autoAdjust="0"/>
  </p:normalViewPr>
  <p:slideViewPr>
    <p:cSldViewPr snapToGrid="0">
      <p:cViewPr varScale="1">
        <p:scale>
          <a:sx n="63" d="100"/>
          <a:sy n="63" d="100"/>
        </p:scale>
        <p:origin x="52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A422DF-4847-4D6E-BB97-9B75D56F5D74}" type="datetimeFigureOut">
              <a:rPr lang="it-IT" smtClean="0"/>
              <a:t>17/09/2026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05392F-55BF-4B8E-AF01-45F81C88C286}" type="slidenum">
              <a:rPr lang="it-IT" smtClean="0"/>
              <a:t>‹#›</a:t>
            </a:fld>
            <a:endParaRPr lang="it-IT"/>
          </a:p>
        </p:txBody>
      </p:sp>
    </p:spTree>
    <p:extLst>
      <p:ext uri="{BB962C8B-B14F-4D97-AF65-F5344CB8AC3E}">
        <p14:creationId xmlns:p14="http://schemas.microsoft.com/office/powerpoint/2010/main" val="19707561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0E52A-AE9E-EF31-4847-15EA692A5E83}"/>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93D7F543-3BA6-5432-8F7F-63BFB76AD3D8}"/>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E7432BF7-36A7-ED07-6245-B860036BA951}"/>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23DD010B-06B2-5CB6-74AD-2035CBDEACD3}"/>
              </a:ext>
            </a:extLst>
          </p:cNvPr>
          <p:cNvSpPr>
            <a:spLocks noGrp="1"/>
          </p:cNvSpPr>
          <p:nvPr>
            <p:ph type="sldNum" sz="quarter" idx="5"/>
          </p:nvPr>
        </p:nvSpPr>
        <p:spPr/>
        <p:txBody>
          <a:bodyPr/>
          <a:lstStyle/>
          <a:p>
            <a:fld id="{C205392F-55BF-4B8E-AF01-45F81C88C286}" type="slidenum">
              <a:rPr lang="it-IT" smtClean="0"/>
              <a:t>2</a:t>
            </a:fld>
            <a:endParaRPr lang="it-IT"/>
          </a:p>
        </p:txBody>
      </p:sp>
    </p:spTree>
    <p:extLst>
      <p:ext uri="{BB962C8B-B14F-4D97-AF65-F5344CB8AC3E}">
        <p14:creationId xmlns:p14="http://schemas.microsoft.com/office/powerpoint/2010/main" val="27829227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DE7AE-B6AD-E6DA-3B86-DA352441C0EC}"/>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745DF293-4809-F6E8-AAAC-76686CAA4097}"/>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4EA85CAC-CBC7-DE27-ECFE-2A6F9CD0D4BA}"/>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8CC640DE-9756-0B01-8B9D-1D6DCF178071}"/>
              </a:ext>
            </a:extLst>
          </p:cNvPr>
          <p:cNvSpPr>
            <a:spLocks noGrp="1"/>
          </p:cNvSpPr>
          <p:nvPr>
            <p:ph type="sldNum" sz="quarter" idx="5"/>
          </p:nvPr>
        </p:nvSpPr>
        <p:spPr/>
        <p:txBody>
          <a:bodyPr/>
          <a:lstStyle/>
          <a:p>
            <a:fld id="{C205392F-55BF-4B8E-AF01-45F81C88C286}" type="slidenum">
              <a:rPr lang="it-IT" smtClean="0"/>
              <a:t>3</a:t>
            </a:fld>
            <a:endParaRPr lang="it-IT"/>
          </a:p>
        </p:txBody>
      </p:sp>
    </p:spTree>
    <p:extLst>
      <p:ext uri="{BB962C8B-B14F-4D97-AF65-F5344CB8AC3E}">
        <p14:creationId xmlns:p14="http://schemas.microsoft.com/office/powerpoint/2010/main" val="15847280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63B6B-68C2-8513-BA09-DCAE79FBD1BA}"/>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C409A026-E349-7BB1-10E9-06C7B108CA59}"/>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EA616CFA-B9A8-3EE1-2195-65DA07DFA193}"/>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EB505FAC-AD39-7E3C-AA81-6B73BA118D04}"/>
              </a:ext>
            </a:extLst>
          </p:cNvPr>
          <p:cNvSpPr>
            <a:spLocks noGrp="1"/>
          </p:cNvSpPr>
          <p:nvPr>
            <p:ph type="sldNum" sz="quarter" idx="5"/>
          </p:nvPr>
        </p:nvSpPr>
        <p:spPr/>
        <p:txBody>
          <a:bodyPr/>
          <a:lstStyle/>
          <a:p>
            <a:fld id="{C205392F-55BF-4B8E-AF01-45F81C88C286}" type="slidenum">
              <a:rPr lang="it-IT" smtClean="0"/>
              <a:t>4</a:t>
            </a:fld>
            <a:endParaRPr lang="it-IT"/>
          </a:p>
        </p:txBody>
      </p:sp>
    </p:spTree>
    <p:extLst>
      <p:ext uri="{BB962C8B-B14F-4D97-AF65-F5344CB8AC3E}">
        <p14:creationId xmlns:p14="http://schemas.microsoft.com/office/powerpoint/2010/main" val="20825154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3A0B5-38F2-544D-07D4-E364F9DF01EE}"/>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18C20FE7-35F9-34A5-90BA-CF37C5D05596}"/>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B29326BA-6A48-A0F3-91FF-80AA4A1989F3}"/>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64E512B4-BE2F-6EE3-8AE2-76125D1C27E9}"/>
              </a:ext>
            </a:extLst>
          </p:cNvPr>
          <p:cNvSpPr>
            <a:spLocks noGrp="1"/>
          </p:cNvSpPr>
          <p:nvPr>
            <p:ph type="sldNum" sz="quarter" idx="5"/>
          </p:nvPr>
        </p:nvSpPr>
        <p:spPr/>
        <p:txBody>
          <a:bodyPr/>
          <a:lstStyle/>
          <a:p>
            <a:fld id="{C205392F-55BF-4B8E-AF01-45F81C88C286}" type="slidenum">
              <a:rPr lang="it-IT" smtClean="0"/>
              <a:t>5</a:t>
            </a:fld>
            <a:endParaRPr lang="it-IT"/>
          </a:p>
        </p:txBody>
      </p:sp>
    </p:spTree>
    <p:extLst>
      <p:ext uri="{BB962C8B-B14F-4D97-AF65-F5344CB8AC3E}">
        <p14:creationId xmlns:p14="http://schemas.microsoft.com/office/powerpoint/2010/main" val="18112873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A7664-76DA-527F-81D4-3A5832891AE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C217D64F-85FA-9242-C1AF-0381CAAF9284}"/>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3582EF77-62AA-DF3D-ADFA-F2F6A46624DC}"/>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0D6F1AA2-50E2-9593-05D2-77611599C5C6}"/>
              </a:ext>
            </a:extLst>
          </p:cNvPr>
          <p:cNvSpPr>
            <a:spLocks noGrp="1"/>
          </p:cNvSpPr>
          <p:nvPr>
            <p:ph type="sldNum" sz="quarter" idx="5"/>
          </p:nvPr>
        </p:nvSpPr>
        <p:spPr/>
        <p:txBody>
          <a:bodyPr/>
          <a:lstStyle/>
          <a:p>
            <a:fld id="{C205392F-55BF-4B8E-AF01-45F81C88C286}" type="slidenum">
              <a:rPr lang="it-IT" smtClean="0"/>
              <a:t>6</a:t>
            </a:fld>
            <a:endParaRPr lang="it-IT"/>
          </a:p>
        </p:txBody>
      </p:sp>
    </p:spTree>
    <p:extLst>
      <p:ext uri="{BB962C8B-B14F-4D97-AF65-F5344CB8AC3E}">
        <p14:creationId xmlns:p14="http://schemas.microsoft.com/office/powerpoint/2010/main" val="6236422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993D9-A4A3-C2EF-F57C-4F8B5FB13468}"/>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707E042F-0C69-1FE2-492F-508C57FD3DE5}"/>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7E89C93D-EE29-78BB-A33C-C776F30438A3}"/>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87B2BFB1-BBCE-44F4-0693-18A63EB851CC}"/>
              </a:ext>
            </a:extLst>
          </p:cNvPr>
          <p:cNvSpPr>
            <a:spLocks noGrp="1"/>
          </p:cNvSpPr>
          <p:nvPr>
            <p:ph type="sldNum" sz="quarter" idx="5"/>
          </p:nvPr>
        </p:nvSpPr>
        <p:spPr/>
        <p:txBody>
          <a:bodyPr/>
          <a:lstStyle/>
          <a:p>
            <a:fld id="{C205392F-55BF-4B8E-AF01-45F81C88C286}" type="slidenum">
              <a:rPr lang="it-IT" smtClean="0"/>
              <a:t>7</a:t>
            </a:fld>
            <a:endParaRPr lang="it-IT"/>
          </a:p>
        </p:txBody>
      </p:sp>
    </p:spTree>
    <p:extLst>
      <p:ext uri="{BB962C8B-B14F-4D97-AF65-F5344CB8AC3E}">
        <p14:creationId xmlns:p14="http://schemas.microsoft.com/office/powerpoint/2010/main" val="15217648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13A2B-5A11-D823-0904-63EE33C8C4B1}"/>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9ACEF337-0A99-611D-D9A0-DB251789BB72}"/>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D8A43E95-3040-4EDD-E46B-5EB9C70D7D9B}"/>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9A13B3DD-2D7B-907C-D8AB-82A4D644950C}"/>
              </a:ext>
            </a:extLst>
          </p:cNvPr>
          <p:cNvSpPr>
            <a:spLocks noGrp="1"/>
          </p:cNvSpPr>
          <p:nvPr>
            <p:ph type="sldNum" sz="quarter" idx="5"/>
          </p:nvPr>
        </p:nvSpPr>
        <p:spPr/>
        <p:txBody>
          <a:bodyPr/>
          <a:lstStyle/>
          <a:p>
            <a:fld id="{C205392F-55BF-4B8E-AF01-45F81C88C286}" type="slidenum">
              <a:rPr lang="it-IT" smtClean="0"/>
              <a:t>8</a:t>
            </a:fld>
            <a:endParaRPr lang="it-IT"/>
          </a:p>
        </p:txBody>
      </p:sp>
    </p:spTree>
    <p:extLst>
      <p:ext uri="{BB962C8B-B14F-4D97-AF65-F5344CB8AC3E}">
        <p14:creationId xmlns:p14="http://schemas.microsoft.com/office/powerpoint/2010/main" val="3309040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281DA-8F11-DB82-0F37-478613A45983}"/>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91F3C766-3D98-EC90-EC3B-B62517B1B0D7}"/>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4C0502C4-E60C-6BF5-F3D9-2A623506B2BD}"/>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3E57D5F4-3165-D279-4E3C-025D58FDB27F}"/>
              </a:ext>
            </a:extLst>
          </p:cNvPr>
          <p:cNvSpPr>
            <a:spLocks noGrp="1"/>
          </p:cNvSpPr>
          <p:nvPr>
            <p:ph type="sldNum" sz="quarter" idx="5"/>
          </p:nvPr>
        </p:nvSpPr>
        <p:spPr/>
        <p:txBody>
          <a:bodyPr/>
          <a:lstStyle/>
          <a:p>
            <a:fld id="{C205392F-55BF-4B8E-AF01-45F81C88C286}" type="slidenum">
              <a:rPr lang="it-IT" smtClean="0"/>
              <a:t>9</a:t>
            </a:fld>
            <a:endParaRPr lang="it-IT"/>
          </a:p>
        </p:txBody>
      </p:sp>
    </p:spTree>
    <p:extLst>
      <p:ext uri="{BB962C8B-B14F-4D97-AF65-F5344CB8AC3E}">
        <p14:creationId xmlns:p14="http://schemas.microsoft.com/office/powerpoint/2010/main" val="36067548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1B343-F8B5-3B22-59ED-0435E11869F8}"/>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75237B16-1294-3EA4-7C59-C6A232F12B83}"/>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Segnaposto note 2">
                <a:extLst>
                  <a:ext uri="{FF2B5EF4-FFF2-40B4-BE49-F238E27FC236}">
                    <a16:creationId xmlns:a16="http://schemas.microsoft.com/office/drawing/2014/main" id="{7DF6C387-3DF3-3BD6-E0D3-952D2A41C9F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200" dirty="0">
                    <a:solidFill>
                      <a:schemeClr val="tx1"/>
                    </a:solidFill>
                  </a:rPr>
                  <a:t>assuming </a:t>
                </a:r>
                <a14:m>
                  <m:oMath xmlns:m="http://schemas.openxmlformats.org/officeDocument/2006/math">
                    <m:r>
                      <a:rPr lang="it-IT" sz="1200" i="1" dirty="0" smtClean="0">
                        <a:solidFill>
                          <a:schemeClr val="tx1"/>
                        </a:solidFill>
                        <a:latin typeface="Cambria Math" panose="02040503050406030204" pitchFamily="18" charset="0"/>
                      </a:rPr>
                      <m:t>𝑥</m:t>
                    </m:r>
                  </m:oMath>
                </a14:m>
                <a:r>
                  <a:rPr lang="it-IT" sz="1200" dirty="0">
                    <a:solidFill>
                      <a:schemeClr val="tx1"/>
                    </a:solidFill>
                  </a:rPr>
                  <a:t> same as crystal:</a:t>
                </a:r>
              </a:p>
              <a:p>
                <a:endParaRPr lang="it-IT" dirty="0"/>
              </a:p>
            </p:txBody>
          </p:sp>
        </mc:Choice>
        <mc:Fallback xmlns="">
          <p:sp>
            <p:nvSpPr>
              <p:cNvPr id="3" name="Segnaposto note 2">
                <a:extLst>
                  <a:ext uri="{FF2B5EF4-FFF2-40B4-BE49-F238E27FC236}">
                    <a16:creationId xmlns:a16="http://schemas.microsoft.com/office/drawing/2014/main" id="{7DF6C387-3DF3-3BD6-E0D3-952D2A41C9F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200" dirty="0">
                    <a:solidFill>
                      <a:schemeClr val="tx1"/>
                    </a:solidFill>
                  </a:rPr>
                  <a:t>assuming </a:t>
                </a:r>
                <a:r>
                  <a:rPr lang="it-IT" sz="1200" i="0" dirty="0">
                    <a:solidFill>
                      <a:schemeClr val="tx1"/>
                    </a:solidFill>
                    <a:latin typeface="Cambria Math" panose="02040503050406030204" pitchFamily="18" charset="0"/>
                  </a:rPr>
                  <a:t>𝑥</a:t>
                </a:r>
                <a:r>
                  <a:rPr lang="it-IT" sz="1200" dirty="0">
                    <a:solidFill>
                      <a:schemeClr val="tx1"/>
                    </a:solidFill>
                  </a:rPr>
                  <a:t> same as crystal:</a:t>
                </a:r>
              </a:p>
              <a:p>
                <a:endParaRPr lang="it-IT" dirty="0"/>
              </a:p>
            </p:txBody>
          </p:sp>
        </mc:Fallback>
      </mc:AlternateContent>
      <p:sp>
        <p:nvSpPr>
          <p:cNvPr id="4" name="Segnaposto numero diapositiva 3">
            <a:extLst>
              <a:ext uri="{FF2B5EF4-FFF2-40B4-BE49-F238E27FC236}">
                <a16:creationId xmlns:a16="http://schemas.microsoft.com/office/drawing/2014/main" id="{EE76D56F-A6ED-D36A-6BAE-9FAFC2EF4A64}"/>
              </a:ext>
            </a:extLst>
          </p:cNvPr>
          <p:cNvSpPr>
            <a:spLocks noGrp="1"/>
          </p:cNvSpPr>
          <p:nvPr>
            <p:ph type="sldNum" sz="quarter" idx="5"/>
          </p:nvPr>
        </p:nvSpPr>
        <p:spPr/>
        <p:txBody>
          <a:bodyPr/>
          <a:lstStyle/>
          <a:p>
            <a:fld id="{C205392F-55BF-4B8E-AF01-45F81C88C286}" type="slidenum">
              <a:rPr lang="it-IT" smtClean="0"/>
              <a:t>10</a:t>
            </a:fld>
            <a:endParaRPr lang="it-IT"/>
          </a:p>
        </p:txBody>
      </p:sp>
    </p:spTree>
    <p:extLst>
      <p:ext uri="{BB962C8B-B14F-4D97-AF65-F5344CB8AC3E}">
        <p14:creationId xmlns:p14="http://schemas.microsoft.com/office/powerpoint/2010/main" val="17394191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07821-2CC9-3AF0-60AC-1A30C521EDC1}"/>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50A25853-A62B-03B3-0786-3A1CCB652796}"/>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6B554926-B3BA-1AA6-B9A3-40ACCC103736}"/>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37070939-F8E3-AA8A-35CA-A4C81BA8F34B}"/>
              </a:ext>
            </a:extLst>
          </p:cNvPr>
          <p:cNvSpPr>
            <a:spLocks noGrp="1"/>
          </p:cNvSpPr>
          <p:nvPr>
            <p:ph type="sldNum" sz="quarter" idx="5"/>
          </p:nvPr>
        </p:nvSpPr>
        <p:spPr/>
        <p:txBody>
          <a:bodyPr/>
          <a:lstStyle/>
          <a:p>
            <a:fld id="{C205392F-55BF-4B8E-AF01-45F81C88C286}" type="slidenum">
              <a:rPr lang="it-IT" smtClean="0"/>
              <a:t>11</a:t>
            </a:fld>
            <a:endParaRPr lang="it-IT"/>
          </a:p>
        </p:txBody>
      </p:sp>
    </p:spTree>
    <p:extLst>
      <p:ext uri="{BB962C8B-B14F-4D97-AF65-F5344CB8AC3E}">
        <p14:creationId xmlns:p14="http://schemas.microsoft.com/office/powerpoint/2010/main" val="24586216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74D6C-DE92-FFAF-9C08-0D25C7B9F7D1}"/>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8CD9ABE6-56AA-36FD-FB96-4405DA7B6CCA}"/>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B39E30F4-0A3D-3E3D-A5D9-2B08DD3066E9}"/>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A37C7E91-58DB-60DB-C006-3D7F33AECF83}"/>
              </a:ext>
            </a:extLst>
          </p:cNvPr>
          <p:cNvSpPr>
            <a:spLocks noGrp="1"/>
          </p:cNvSpPr>
          <p:nvPr>
            <p:ph type="sldNum" sz="quarter" idx="5"/>
          </p:nvPr>
        </p:nvSpPr>
        <p:spPr/>
        <p:txBody>
          <a:bodyPr/>
          <a:lstStyle/>
          <a:p>
            <a:fld id="{C205392F-55BF-4B8E-AF01-45F81C88C286}" type="slidenum">
              <a:rPr lang="it-IT" smtClean="0"/>
              <a:t>12</a:t>
            </a:fld>
            <a:endParaRPr lang="it-IT"/>
          </a:p>
        </p:txBody>
      </p:sp>
    </p:spTree>
    <p:extLst>
      <p:ext uri="{BB962C8B-B14F-4D97-AF65-F5344CB8AC3E}">
        <p14:creationId xmlns:p14="http://schemas.microsoft.com/office/powerpoint/2010/main" val="23203342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189C79-D88E-DA21-C5DE-162DACADDD5B}"/>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24AB341C-CD18-933F-BC00-57A5EAEB3FC0}"/>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67508156-441A-A26E-39CB-05D12CFB02ED}"/>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08EA0B1B-2D72-8A4C-B981-FAC2454FB64B}"/>
              </a:ext>
            </a:extLst>
          </p:cNvPr>
          <p:cNvSpPr>
            <a:spLocks noGrp="1"/>
          </p:cNvSpPr>
          <p:nvPr>
            <p:ph type="sldNum" sz="quarter" idx="5"/>
          </p:nvPr>
        </p:nvSpPr>
        <p:spPr/>
        <p:txBody>
          <a:bodyPr/>
          <a:lstStyle/>
          <a:p>
            <a:fld id="{C205392F-55BF-4B8E-AF01-45F81C88C286}" type="slidenum">
              <a:rPr lang="it-IT" smtClean="0"/>
              <a:t>13</a:t>
            </a:fld>
            <a:endParaRPr lang="it-IT"/>
          </a:p>
        </p:txBody>
      </p:sp>
    </p:spTree>
    <p:extLst>
      <p:ext uri="{BB962C8B-B14F-4D97-AF65-F5344CB8AC3E}">
        <p14:creationId xmlns:p14="http://schemas.microsoft.com/office/powerpoint/2010/main" val="6461490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9C3CE-58BB-02AD-0FDE-FB7A0D194174}"/>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43EFC608-2DFF-3193-FCF8-8B1297EFB620}"/>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7FE63914-562C-2360-96AB-52FC06288C62}"/>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B363891C-AEFE-DE5C-83F7-6391BF4F2D34}"/>
              </a:ext>
            </a:extLst>
          </p:cNvPr>
          <p:cNvSpPr>
            <a:spLocks noGrp="1"/>
          </p:cNvSpPr>
          <p:nvPr>
            <p:ph type="sldNum" sz="quarter" idx="5"/>
          </p:nvPr>
        </p:nvSpPr>
        <p:spPr/>
        <p:txBody>
          <a:bodyPr/>
          <a:lstStyle/>
          <a:p>
            <a:fld id="{C205392F-55BF-4B8E-AF01-45F81C88C286}" type="slidenum">
              <a:rPr lang="it-IT" smtClean="0"/>
              <a:t>14</a:t>
            </a:fld>
            <a:endParaRPr lang="it-IT"/>
          </a:p>
        </p:txBody>
      </p:sp>
    </p:spTree>
    <p:extLst>
      <p:ext uri="{BB962C8B-B14F-4D97-AF65-F5344CB8AC3E}">
        <p14:creationId xmlns:p14="http://schemas.microsoft.com/office/powerpoint/2010/main" val="9870380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1B5CB-6497-48BB-5974-1303A1E081EA}"/>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950F6B75-27C5-11F1-70F6-665D7BD8B3C7}"/>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3E1287EE-0F5A-1786-0A12-16A96DC8208F}"/>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E6974C6A-5E36-9EBD-5819-EADFB7D06002}"/>
              </a:ext>
            </a:extLst>
          </p:cNvPr>
          <p:cNvSpPr>
            <a:spLocks noGrp="1"/>
          </p:cNvSpPr>
          <p:nvPr>
            <p:ph type="sldNum" sz="quarter" idx="5"/>
          </p:nvPr>
        </p:nvSpPr>
        <p:spPr/>
        <p:txBody>
          <a:bodyPr/>
          <a:lstStyle/>
          <a:p>
            <a:fld id="{C205392F-55BF-4B8E-AF01-45F81C88C286}" type="slidenum">
              <a:rPr lang="it-IT" smtClean="0"/>
              <a:t>15</a:t>
            </a:fld>
            <a:endParaRPr lang="it-IT"/>
          </a:p>
        </p:txBody>
      </p:sp>
    </p:spTree>
    <p:extLst>
      <p:ext uri="{BB962C8B-B14F-4D97-AF65-F5344CB8AC3E}">
        <p14:creationId xmlns:p14="http://schemas.microsoft.com/office/powerpoint/2010/main" val="32968445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7821984-7078-FB6F-53DE-65CB4959228B}"/>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89B0F579-13AD-1739-E1E4-4A793161EE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FC366BD3-025C-431C-F893-5E744EEA45D0}"/>
              </a:ext>
            </a:extLst>
          </p:cNvPr>
          <p:cNvSpPr>
            <a:spLocks noGrp="1"/>
          </p:cNvSpPr>
          <p:nvPr>
            <p:ph type="dt" sz="half" idx="10"/>
          </p:nvPr>
        </p:nvSpPr>
        <p:spPr/>
        <p:txBody>
          <a:bodyPr/>
          <a:lstStyle/>
          <a:p>
            <a:fld id="{4B734174-4AE7-4BE8-A29D-97641C0FB41A}" type="datetimeFigureOut">
              <a:rPr lang="it-IT" smtClean="0"/>
              <a:t>17/09/2026</a:t>
            </a:fld>
            <a:endParaRPr lang="it-IT"/>
          </a:p>
        </p:txBody>
      </p:sp>
      <p:sp>
        <p:nvSpPr>
          <p:cNvPr id="5" name="Segnaposto piè di pagina 4">
            <a:extLst>
              <a:ext uri="{FF2B5EF4-FFF2-40B4-BE49-F238E27FC236}">
                <a16:creationId xmlns:a16="http://schemas.microsoft.com/office/drawing/2014/main" id="{B16B1278-2C38-DAAA-2180-B3C7CF9E2063}"/>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CA97CBF5-3F4D-EE8F-2948-DA6B6F7273A1}"/>
              </a:ext>
            </a:extLst>
          </p:cNvPr>
          <p:cNvSpPr>
            <a:spLocks noGrp="1"/>
          </p:cNvSpPr>
          <p:nvPr>
            <p:ph type="sldNum" sz="quarter" idx="12"/>
          </p:nvPr>
        </p:nvSpPr>
        <p:spPr/>
        <p:txBody>
          <a:bodyPr/>
          <a:lstStyle/>
          <a:p>
            <a:fld id="{E468CEA8-3AB4-4B0B-9144-20E181ED9507}" type="slidenum">
              <a:rPr lang="it-IT" smtClean="0"/>
              <a:t>‹#›</a:t>
            </a:fld>
            <a:endParaRPr lang="it-IT"/>
          </a:p>
        </p:txBody>
      </p:sp>
    </p:spTree>
    <p:extLst>
      <p:ext uri="{BB962C8B-B14F-4D97-AF65-F5344CB8AC3E}">
        <p14:creationId xmlns:p14="http://schemas.microsoft.com/office/powerpoint/2010/main" val="33838758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35BF9F7-DF67-1E3C-547B-A5DD6323C036}"/>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37897D17-B33A-6EF1-CEF4-981888F7F747}"/>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E788FE08-6E28-2435-B1EC-792C36B67307}"/>
              </a:ext>
            </a:extLst>
          </p:cNvPr>
          <p:cNvSpPr>
            <a:spLocks noGrp="1"/>
          </p:cNvSpPr>
          <p:nvPr>
            <p:ph type="dt" sz="half" idx="10"/>
          </p:nvPr>
        </p:nvSpPr>
        <p:spPr/>
        <p:txBody>
          <a:bodyPr/>
          <a:lstStyle/>
          <a:p>
            <a:fld id="{4B734174-4AE7-4BE8-A29D-97641C0FB41A}" type="datetimeFigureOut">
              <a:rPr lang="it-IT" smtClean="0"/>
              <a:t>17/09/2026</a:t>
            </a:fld>
            <a:endParaRPr lang="it-IT"/>
          </a:p>
        </p:txBody>
      </p:sp>
      <p:sp>
        <p:nvSpPr>
          <p:cNvPr id="5" name="Segnaposto piè di pagina 4">
            <a:extLst>
              <a:ext uri="{FF2B5EF4-FFF2-40B4-BE49-F238E27FC236}">
                <a16:creationId xmlns:a16="http://schemas.microsoft.com/office/drawing/2014/main" id="{B96292FF-01B5-7AC1-867C-EEFA64FD6488}"/>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48C4693C-59F1-46F6-6F7F-2B8960722237}"/>
              </a:ext>
            </a:extLst>
          </p:cNvPr>
          <p:cNvSpPr>
            <a:spLocks noGrp="1"/>
          </p:cNvSpPr>
          <p:nvPr>
            <p:ph type="sldNum" sz="quarter" idx="12"/>
          </p:nvPr>
        </p:nvSpPr>
        <p:spPr/>
        <p:txBody>
          <a:bodyPr/>
          <a:lstStyle/>
          <a:p>
            <a:fld id="{E468CEA8-3AB4-4B0B-9144-20E181ED9507}" type="slidenum">
              <a:rPr lang="it-IT" smtClean="0"/>
              <a:t>‹#›</a:t>
            </a:fld>
            <a:endParaRPr lang="it-IT"/>
          </a:p>
        </p:txBody>
      </p:sp>
    </p:spTree>
    <p:extLst>
      <p:ext uri="{BB962C8B-B14F-4D97-AF65-F5344CB8AC3E}">
        <p14:creationId xmlns:p14="http://schemas.microsoft.com/office/powerpoint/2010/main" val="23515321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28FA5AA-FBCD-6954-D2E4-9E6A30EC9228}"/>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BD157C25-DA71-A412-A8F8-C57915EA4D7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35B257C5-C8D1-BC78-EB2A-67B902CA7A22}"/>
              </a:ext>
            </a:extLst>
          </p:cNvPr>
          <p:cNvSpPr>
            <a:spLocks noGrp="1"/>
          </p:cNvSpPr>
          <p:nvPr>
            <p:ph type="dt" sz="half" idx="10"/>
          </p:nvPr>
        </p:nvSpPr>
        <p:spPr/>
        <p:txBody>
          <a:bodyPr/>
          <a:lstStyle/>
          <a:p>
            <a:fld id="{4B734174-4AE7-4BE8-A29D-97641C0FB41A}" type="datetimeFigureOut">
              <a:rPr lang="it-IT" smtClean="0"/>
              <a:t>17/09/2026</a:t>
            </a:fld>
            <a:endParaRPr lang="it-IT"/>
          </a:p>
        </p:txBody>
      </p:sp>
      <p:sp>
        <p:nvSpPr>
          <p:cNvPr id="5" name="Segnaposto piè di pagina 4">
            <a:extLst>
              <a:ext uri="{FF2B5EF4-FFF2-40B4-BE49-F238E27FC236}">
                <a16:creationId xmlns:a16="http://schemas.microsoft.com/office/drawing/2014/main" id="{8C0A21B9-77D6-757F-FA97-6E2E8511A6A3}"/>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AF6EEBBD-AFF0-E5A1-86E3-6BF12AA631B0}"/>
              </a:ext>
            </a:extLst>
          </p:cNvPr>
          <p:cNvSpPr>
            <a:spLocks noGrp="1"/>
          </p:cNvSpPr>
          <p:nvPr>
            <p:ph type="sldNum" sz="quarter" idx="12"/>
          </p:nvPr>
        </p:nvSpPr>
        <p:spPr/>
        <p:txBody>
          <a:bodyPr/>
          <a:lstStyle/>
          <a:p>
            <a:fld id="{E468CEA8-3AB4-4B0B-9144-20E181ED9507}" type="slidenum">
              <a:rPr lang="it-IT" smtClean="0"/>
              <a:t>‹#›</a:t>
            </a:fld>
            <a:endParaRPr lang="it-IT"/>
          </a:p>
        </p:txBody>
      </p:sp>
    </p:spTree>
    <p:extLst>
      <p:ext uri="{BB962C8B-B14F-4D97-AF65-F5344CB8AC3E}">
        <p14:creationId xmlns:p14="http://schemas.microsoft.com/office/powerpoint/2010/main" val="18770154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64FECF5-18C9-81B6-0E7F-7D0C714EB97D}"/>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D6F01EA4-A558-FA53-457E-90179EFC94A6}"/>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3796ED2A-F813-DC16-E2A0-22104D937251}"/>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C583BCB6-BE83-B09D-6860-23AA5F3B83CF}"/>
              </a:ext>
            </a:extLst>
          </p:cNvPr>
          <p:cNvSpPr>
            <a:spLocks noGrp="1"/>
          </p:cNvSpPr>
          <p:nvPr>
            <p:ph type="dt" sz="half" idx="10"/>
          </p:nvPr>
        </p:nvSpPr>
        <p:spPr/>
        <p:txBody>
          <a:bodyPr/>
          <a:lstStyle/>
          <a:p>
            <a:fld id="{4B734174-4AE7-4BE8-A29D-97641C0FB41A}" type="datetimeFigureOut">
              <a:rPr lang="it-IT" smtClean="0"/>
              <a:t>17/09/2026</a:t>
            </a:fld>
            <a:endParaRPr lang="it-IT"/>
          </a:p>
        </p:txBody>
      </p:sp>
      <p:sp>
        <p:nvSpPr>
          <p:cNvPr id="6" name="Segnaposto piè di pagina 5">
            <a:extLst>
              <a:ext uri="{FF2B5EF4-FFF2-40B4-BE49-F238E27FC236}">
                <a16:creationId xmlns:a16="http://schemas.microsoft.com/office/drawing/2014/main" id="{BE807251-F5D2-194C-A28B-1FF256E4FD98}"/>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91282E7D-96B1-1FEB-7101-C83209A2AEE6}"/>
              </a:ext>
            </a:extLst>
          </p:cNvPr>
          <p:cNvSpPr>
            <a:spLocks noGrp="1"/>
          </p:cNvSpPr>
          <p:nvPr>
            <p:ph type="sldNum" sz="quarter" idx="12"/>
          </p:nvPr>
        </p:nvSpPr>
        <p:spPr/>
        <p:txBody>
          <a:bodyPr/>
          <a:lstStyle/>
          <a:p>
            <a:fld id="{E468CEA8-3AB4-4B0B-9144-20E181ED9507}" type="slidenum">
              <a:rPr lang="it-IT" smtClean="0"/>
              <a:t>‹#›</a:t>
            </a:fld>
            <a:endParaRPr lang="it-IT"/>
          </a:p>
        </p:txBody>
      </p:sp>
    </p:spTree>
    <p:extLst>
      <p:ext uri="{BB962C8B-B14F-4D97-AF65-F5344CB8AC3E}">
        <p14:creationId xmlns:p14="http://schemas.microsoft.com/office/powerpoint/2010/main" val="3294326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1510D65-D9F5-6682-A088-CCB2E189FCEE}"/>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9C1461FA-1BD4-41E7-5612-B9A63DC68B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E8E14A22-90A5-A90F-BD0E-F256D29DF7F3}"/>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0C80727B-7142-286E-DE3B-7B8E833DC0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E5203D91-1775-8A1D-169A-D6CE16954D85}"/>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426E9141-3575-E6BC-31BD-40D6F8C18F44}"/>
              </a:ext>
            </a:extLst>
          </p:cNvPr>
          <p:cNvSpPr>
            <a:spLocks noGrp="1"/>
          </p:cNvSpPr>
          <p:nvPr>
            <p:ph type="dt" sz="half" idx="10"/>
          </p:nvPr>
        </p:nvSpPr>
        <p:spPr/>
        <p:txBody>
          <a:bodyPr/>
          <a:lstStyle/>
          <a:p>
            <a:fld id="{4B734174-4AE7-4BE8-A29D-97641C0FB41A}" type="datetimeFigureOut">
              <a:rPr lang="it-IT" smtClean="0"/>
              <a:t>17/09/2026</a:t>
            </a:fld>
            <a:endParaRPr lang="it-IT"/>
          </a:p>
        </p:txBody>
      </p:sp>
      <p:sp>
        <p:nvSpPr>
          <p:cNvPr id="8" name="Segnaposto piè di pagina 7">
            <a:extLst>
              <a:ext uri="{FF2B5EF4-FFF2-40B4-BE49-F238E27FC236}">
                <a16:creationId xmlns:a16="http://schemas.microsoft.com/office/drawing/2014/main" id="{53ED44CC-825C-252C-F9E7-9AFB2DDFE0F8}"/>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B4EAFB81-9B92-09AB-31C7-9964D6A0F22A}"/>
              </a:ext>
            </a:extLst>
          </p:cNvPr>
          <p:cNvSpPr>
            <a:spLocks noGrp="1"/>
          </p:cNvSpPr>
          <p:nvPr>
            <p:ph type="sldNum" sz="quarter" idx="12"/>
          </p:nvPr>
        </p:nvSpPr>
        <p:spPr/>
        <p:txBody>
          <a:bodyPr/>
          <a:lstStyle/>
          <a:p>
            <a:fld id="{E468CEA8-3AB4-4B0B-9144-20E181ED9507}" type="slidenum">
              <a:rPr lang="it-IT" smtClean="0"/>
              <a:t>‹#›</a:t>
            </a:fld>
            <a:endParaRPr lang="it-IT"/>
          </a:p>
        </p:txBody>
      </p:sp>
    </p:spTree>
    <p:extLst>
      <p:ext uri="{BB962C8B-B14F-4D97-AF65-F5344CB8AC3E}">
        <p14:creationId xmlns:p14="http://schemas.microsoft.com/office/powerpoint/2010/main" val="27555138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A17CDB2-4B02-4B07-9307-AA112DA8B1FE}"/>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445ED6FB-CF38-9B06-4770-9487CFF1F9E0}"/>
              </a:ext>
            </a:extLst>
          </p:cNvPr>
          <p:cNvSpPr>
            <a:spLocks noGrp="1"/>
          </p:cNvSpPr>
          <p:nvPr>
            <p:ph type="dt" sz="half" idx="10"/>
          </p:nvPr>
        </p:nvSpPr>
        <p:spPr/>
        <p:txBody>
          <a:bodyPr/>
          <a:lstStyle/>
          <a:p>
            <a:fld id="{4B734174-4AE7-4BE8-A29D-97641C0FB41A}" type="datetimeFigureOut">
              <a:rPr lang="it-IT" smtClean="0"/>
              <a:t>17/09/2026</a:t>
            </a:fld>
            <a:endParaRPr lang="it-IT"/>
          </a:p>
        </p:txBody>
      </p:sp>
      <p:sp>
        <p:nvSpPr>
          <p:cNvPr id="4" name="Segnaposto piè di pagina 3">
            <a:extLst>
              <a:ext uri="{FF2B5EF4-FFF2-40B4-BE49-F238E27FC236}">
                <a16:creationId xmlns:a16="http://schemas.microsoft.com/office/drawing/2014/main" id="{3524D896-7BDD-3114-11AB-2CAEBBB030FD}"/>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013DBC53-D20A-CA44-6D1D-3E3F05E177EC}"/>
              </a:ext>
            </a:extLst>
          </p:cNvPr>
          <p:cNvSpPr>
            <a:spLocks noGrp="1"/>
          </p:cNvSpPr>
          <p:nvPr>
            <p:ph type="sldNum" sz="quarter" idx="12"/>
          </p:nvPr>
        </p:nvSpPr>
        <p:spPr/>
        <p:txBody>
          <a:bodyPr/>
          <a:lstStyle/>
          <a:p>
            <a:fld id="{E468CEA8-3AB4-4B0B-9144-20E181ED9507}" type="slidenum">
              <a:rPr lang="it-IT" smtClean="0"/>
              <a:t>‹#›</a:t>
            </a:fld>
            <a:endParaRPr lang="it-IT"/>
          </a:p>
        </p:txBody>
      </p:sp>
    </p:spTree>
    <p:extLst>
      <p:ext uri="{BB962C8B-B14F-4D97-AF65-F5344CB8AC3E}">
        <p14:creationId xmlns:p14="http://schemas.microsoft.com/office/powerpoint/2010/main" val="7100417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7C8297C2-0D3B-ED56-8B61-FCB9774E01BB}"/>
              </a:ext>
            </a:extLst>
          </p:cNvPr>
          <p:cNvSpPr>
            <a:spLocks noGrp="1"/>
          </p:cNvSpPr>
          <p:nvPr>
            <p:ph type="dt" sz="half" idx="10"/>
          </p:nvPr>
        </p:nvSpPr>
        <p:spPr/>
        <p:txBody>
          <a:bodyPr/>
          <a:lstStyle/>
          <a:p>
            <a:fld id="{4B734174-4AE7-4BE8-A29D-97641C0FB41A}" type="datetimeFigureOut">
              <a:rPr lang="it-IT" smtClean="0"/>
              <a:t>17/09/2026</a:t>
            </a:fld>
            <a:endParaRPr lang="it-IT"/>
          </a:p>
        </p:txBody>
      </p:sp>
      <p:sp>
        <p:nvSpPr>
          <p:cNvPr id="3" name="Segnaposto piè di pagina 2">
            <a:extLst>
              <a:ext uri="{FF2B5EF4-FFF2-40B4-BE49-F238E27FC236}">
                <a16:creationId xmlns:a16="http://schemas.microsoft.com/office/drawing/2014/main" id="{4748E9F0-0B23-D251-AC8F-D94B00C1692C}"/>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23ECAA01-23A7-6F7F-6E50-FED32F981D57}"/>
              </a:ext>
            </a:extLst>
          </p:cNvPr>
          <p:cNvSpPr>
            <a:spLocks noGrp="1"/>
          </p:cNvSpPr>
          <p:nvPr>
            <p:ph type="sldNum" sz="quarter" idx="12"/>
          </p:nvPr>
        </p:nvSpPr>
        <p:spPr/>
        <p:txBody>
          <a:bodyPr/>
          <a:lstStyle/>
          <a:p>
            <a:fld id="{E468CEA8-3AB4-4B0B-9144-20E181ED9507}" type="slidenum">
              <a:rPr lang="it-IT" smtClean="0"/>
              <a:t>‹#›</a:t>
            </a:fld>
            <a:endParaRPr lang="it-IT"/>
          </a:p>
        </p:txBody>
      </p:sp>
    </p:spTree>
    <p:extLst>
      <p:ext uri="{BB962C8B-B14F-4D97-AF65-F5344CB8AC3E}">
        <p14:creationId xmlns:p14="http://schemas.microsoft.com/office/powerpoint/2010/main" val="37801610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94600CA-7798-78EF-A297-14320CA838C3}"/>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901CFEC1-C59B-4282-7ECD-EED1E5185A6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26FA0D9B-562D-BA61-6460-5B681C24F5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266EF93F-C388-68A8-6F71-1DF2A7CA66BC}"/>
              </a:ext>
            </a:extLst>
          </p:cNvPr>
          <p:cNvSpPr>
            <a:spLocks noGrp="1"/>
          </p:cNvSpPr>
          <p:nvPr>
            <p:ph type="dt" sz="half" idx="10"/>
          </p:nvPr>
        </p:nvSpPr>
        <p:spPr/>
        <p:txBody>
          <a:bodyPr/>
          <a:lstStyle/>
          <a:p>
            <a:fld id="{4B734174-4AE7-4BE8-A29D-97641C0FB41A}" type="datetimeFigureOut">
              <a:rPr lang="it-IT" smtClean="0"/>
              <a:t>17/09/2026</a:t>
            </a:fld>
            <a:endParaRPr lang="it-IT"/>
          </a:p>
        </p:txBody>
      </p:sp>
      <p:sp>
        <p:nvSpPr>
          <p:cNvPr id="6" name="Segnaposto piè di pagina 5">
            <a:extLst>
              <a:ext uri="{FF2B5EF4-FFF2-40B4-BE49-F238E27FC236}">
                <a16:creationId xmlns:a16="http://schemas.microsoft.com/office/drawing/2014/main" id="{FC792410-D57D-8112-5C15-B3FE6B7166F9}"/>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03A02F4E-4C83-F922-9862-ADBD0F70DDF6}"/>
              </a:ext>
            </a:extLst>
          </p:cNvPr>
          <p:cNvSpPr>
            <a:spLocks noGrp="1"/>
          </p:cNvSpPr>
          <p:nvPr>
            <p:ph type="sldNum" sz="quarter" idx="12"/>
          </p:nvPr>
        </p:nvSpPr>
        <p:spPr/>
        <p:txBody>
          <a:bodyPr/>
          <a:lstStyle/>
          <a:p>
            <a:fld id="{E468CEA8-3AB4-4B0B-9144-20E181ED9507}" type="slidenum">
              <a:rPr lang="it-IT" smtClean="0"/>
              <a:t>‹#›</a:t>
            </a:fld>
            <a:endParaRPr lang="it-IT"/>
          </a:p>
        </p:txBody>
      </p:sp>
    </p:spTree>
    <p:extLst>
      <p:ext uri="{BB962C8B-B14F-4D97-AF65-F5344CB8AC3E}">
        <p14:creationId xmlns:p14="http://schemas.microsoft.com/office/powerpoint/2010/main" val="2015898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C02439D-E4F5-5CFC-2A7E-3B7111003856}"/>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B76CAC3F-4306-8C93-FAFD-71172627CC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677C4C85-4610-E23F-E411-CAB1446C07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BF0750AC-EC3B-956F-684D-3C0FEE6CBDA7}"/>
              </a:ext>
            </a:extLst>
          </p:cNvPr>
          <p:cNvSpPr>
            <a:spLocks noGrp="1"/>
          </p:cNvSpPr>
          <p:nvPr>
            <p:ph type="dt" sz="half" idx="10"/>
          </p:nvPr>
        </p:nvSpPr>
        <p:spPr/>
        <p:txBody>
          <a:bodyPr/>
          <a:lstStyle/>
          <a:p>
            <a:fld id="{4B734174-4AE7-4BE8-A29D-97641C0FB41A}" type="datetimeFigureOut">
              <a:rPr lang="it-IT" smtClean="0"/>
              <a:t>17/09/2026</a:t>
            </a:fld>
            <a:endParaRPr lang="it-IT"/>
          </a:p>
        </p:txBody>
      </p:sp>
      <p:sp>
        <p:nvSpPr>
          <p:cNvPr id="6" name="Segnaposto piè di pagina 5">
            <a:extLst>
              <a:ext uri="{FF2B5EF4-FFF2-40B4-BE49-F238E27FC236}">
                <a16:creationId xmlns:a16="http://schemas.microsoft.com/office/drawing/2014/main" id="{93A1C4B6-8AD9-702F-FC48-361C84EE61D4}"/>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64A69AD3-3C4C-17D2-A40D-87D5ECD270BC}"/>
              </a:ext>
            </a:extLst>
          </p:cNvPr>
          <p:cNvSpPr>
            <a:spLocks noGrp="1"/>
          </p:cNvSpPr>
          <p:nvPr>
            <p:ph type="sldNum" sz="quarter" idx="12"/>
          </p:nvPr>
        </p:nvSpPr>
        <p:spPr/>
        <p:txBody>
          <a:bodyPr/>
          <a:lstStyle/>
          <a:p>
            <a:fld id="{E468CEA8-3AB4-4B0B-9144-20E181ED9507}" type="slidenum">
              <a:rPr lang="it-IT" smtClean="0"/>
              <a:t>‹#›</a:t>
            </a:fld>
            <a:endParaRPr lang="it-IT"/>
          </a:p>
        </p:txBody>
      </p:sp>
    </p:spTree>
    <p:extLst>
      <p:ext uri="{BB962C8B-B14F-4D97-AF65-F5344CB8AC3E}">
        <p14:creationId xmlns:p14="http://schemas.microsoft.com/office/powerpoint/2010/main" val="16894633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15266DE-32C7-73E6-6685-47860E28AA70}"/>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50B3BC10-8E18-A721-00DD-56CA590D68DC}"/>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BB7F265D-9538-2214-0D6D-0C6078CC5C33}"/>
              </a:ext>
            </a:extLst>
          </p:cNvPr>
          <p:cNvSpPr>
            <a:spLocks noGrp="1"/>
          </p:cNvSpPr>
          <p:nvPr>
            <p:ph type="dt" sz="half" idx="10"/>
          </p:nvPr>
        </p:nvSpPr>
        <p:spPr/>
        <p:txBody>
          <a:bodyPr/>
          <a:lstStyle/>
          <a:p>
            <a:fld id="{4B734174-4AE7-4BE8-A29D-97641C0FB41A}" type="datetimeFigureOut">
              <a:rPr lang="it-IT" smtClean="0"/>
              <a:t>17/09/2026</a:t>
            </a:fld>
            <a:endParaRPr lang="it-IT"/>
          </a:p>
        </p:txBody>
      </p:sp>
      <p:sp>
        <p:nvSpPr>
          <p:cNvPr id="5" name="Segnaposto piè di pagina 4">
            <a:extLst>
              <a:ext uri="{FF2B5EF4-FFF2-40B4-BE49-F238E27FC236}">
                <a16:creationId xmlns:a16="http://schemas.microsoft.com/office/drawing/2014/main" id="{A01A8A0C-1534-981E-3D4B-30FF7C642865}"/>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74CFED61-CB81-D9BC-C52D-CE21C2E80347}"/>
              </a:ext>
            </a:extLst>
          </p:cNvPr>
          <p:cNvSpPr>
            <a:spLocks noGrp="1"/>
          </p:cNvSpPr>
          <p:nvPr>
            <p:ph type="sldNum" sz="quarter" idx="12"/>
          </p:nvPr>
        </p:nvSpPr>
        <p:spPr/>
        <p:txBody>
          <a:bodyPr/>
          <a:lstStyle/>
          <a:p>
            <a:fld id="{E468CEA8-3AB4-4B0B-9144-20E181ED9507}" type="slidenum">
              <a:rPr lang="it-IT" smtClean="0"/>
              <a:t>‹#›</a:t>
            </a:fld>
            <a:endParaRPr lang="it-IT"/>
          </a:p>
        </p:txBody>
      </p:sp>
    </p:spTree>
    <p:extLst>
      <p:ext uri="{BB962C8B-B14F-4D97-AF65-F5344CB8AC3E}">
        <p14:creationId xmlns:p14="http://schemas.microsoft.com/office/powerpoint/2010/main" val="27691853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7ECC69D5-05DB-95B6-C17D-00B311146AB9}"/>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0E743714-00DC-E371-9597-EB25A8FBA0C2}"/>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C270DE6F-350B-6C8A-3068-BFEE6901A6D6}"/>
              </a:ext>
            </a:extLst>
          </p:cNvPr>
          <p:cNvSpPr>
            <a:spLocks noGrp="1"/>
          </p:cNvSpPr>
          <p:nvPr>
            <p:ph type="dt" sz="half" idx="10"/>
          </p:nvPr>
        </p:nvSpPr>
        <p:spPr/>
        <p:txBody>
          <a:bodyPr/>
          <a:lstStyle/>
          <a:p>
            <a:fld id="{4B734174-4AE7-4BE8-A29D-97641C0FB41A}" type="datetimeFigureOut">
              <a:rPr lang="it-IT" smtClean="0"/>
              <a:t>17/09/2026</a:t>
            </a:fld>
            <a:endParaRPr lang="it-IT"/>
          </a:p>
        </p:txBody>
      </p:sp>
      <p:sp>
        <p:nvSpPr>
          <p:cNvPr id="5" name="Segnaposto piè di pagina 4">
            <a:extLst>
              <a:ext uri="{FF2B5EF4-FFF2-40B4-BE49-F238E27FC236}">
                <a16:creationId xmlns:a16="http://schemas.microsoft.com/office/drawing/2014/main" id="{C5165C43-787E-C48A-1E67-0D099BC1CE4A}"/>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BD0D0913-985D-6312-E38E-9477ADF1A8CB}"/>
              </a:ext>
            </a:extLst>
          </p:cNvPr>
          <p:cNvSpPr>
            <a:spLocks noGrp="1"/>
          </p:cNvSpPr>
          <p:nvPr>
            <p:ph type="sldNum" sz="quarter" idx="12"/>
          </p:nvPr>
        </p:nvSpPr>
        <p:spPr/>
        <p:txBody>
          <a:bodyPr/>
          <a:lstStyle/>
          <a:p>
            <a:fld id="{E468CEA8-3AB4-4B0B-9144-20E181ED9507}" type="slidenum">
              <a:rPr lang="it-IT" smtClean="0"/>
              <a:t>‹#›</a:t>
            </a:fld>
            <a:endParaRPr lang="it-IT"/>
          </a:p>
        </p:txBody>
      </p:sp>
    </p:spTree>
    <p:extLst>
      <p:ext uri="{BB962C8B-B14F-4D97-AF65-F5344CB8AC3E}">
        <p14:creationId xmlns:p14="http://schemas.microsoft.com/office/powerpoint/2010/main" val="9018656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57D8B87C-FD1A-B59F-78B3-6892EFB87A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2C67C8B9-89B9-D7BA-FB20-C7EB581367F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51A205FC-B67D-F4FD-003E-9D2FD2A1C33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B734174-4AE7-4BE8-A29D-97641C0FB41A}" type="datetimeFigureOut">
              <a:rPr lang="it-IT" smtClean="0"/>
              <a:t>17/09/2026</a:t>
            </a:fld>
            <a:endParaRPr lang="it-IT"/>
          </a:p>
        </p:txBody>
      </p:sp>
      <p:sp>
        <p:nvSpPr>
          <p:cNvPr id="5" name="Segnaposto piè di pagina 4">
            <a:extLst>
              <a:ext uri="{FF2B5EF4-FFF2-40B4-BE49-F238E27FC236}">
                <a16:creationId xmlns:a16="http://schemas.microsoft.com/office/drawing/2014/main" id="{F66218BC-0ED4-07D9-A0D8-A1B2B24A2C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it-IT"/>
          </a:p>
        </p:txBody>
      </p:sp>
      <p:sp>
        <p:nvSpPr>
          <p:cNvPr id="6" name="Segnaposto numero diapositiva 5">
            <a:extLst>
              <a:ext uri="{FF2B5EF4-FFF2-40B4-BE49-F238E27FC236}">
                <a16:creationId xmlns:a16="http://schemas.microsoft.com/office/drawing/2014/main" id="{61910B92-3F1F-78FA-6C70-FEC529A95B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468CEA8-3AB4-4B0B-9144-20E181ED9507}" type="slidenum">
              <a:rPr lang="it-IT" smtClean="0"/>
              <a:t>‹#›</a:t>
            </a:fld>
            <a:endParaRPr lang="it-IT"/>
          </a:p>
        </p:txBody>
      </p:sp>
    </p:spTree>
    <p:extLst>
      <p:ext uri="{BB962C8B-B14F-4D97-AF65-F5344CB8AC3E}">
        <p14:creationId xmlns:p14="http://schemas.microsoft.com/office/powerpoint/2010/main" val="35854839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7.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1">
            <a:extLst>
              <a:ext uri="{FF2B5EF4-FFF2-40B4-BE49-F238E27FC236}">
                <a16:creationId xmlns:a16="http://schemas.microsoft.com/office/drawing/2014/main" id="{04856A9A-3EED-F0B3-DD7D-25DC283AB952}"/>
              </a:ext>
            </a:extLst>
          </p:cNvPr>
          <p:cNvSpPr txBox="1">
            <a:spLocks/>
          </p:cNvSpPr>
          <p:nvPr/>
        </p:nvSpPr>
        <p:spPr>
          <a:xfrm>
            <a:off x="0" y="2103135"/>
            <a:ext cx="12192000" cy="2651728"/>
          </a:xfrm>
          <a:prstGeom prst="roundRect">
            <a:avLst>
              <a:gd name="adj" fmla="val 36459"/>
            </a:avLst>
          </a:prstGeom>
          <a:solidFill>
            <a:srgbClr val="002060"/>
          </a:solidFill>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it-IT" sz="3000" b="1" dirty="0">
              <a:solidFill>
                <a:schemeClr val="bg1"/>
              </a:solidFill>
            </a:endParaRPr>
          </a:p>
        </p:txBody>
      </p:sp>
      <p:sp>
        <p:nvSpPr>
          <p:cNvPr id="5" name="CasellaDiTesto 4">
            <a:extLst>
              <a:ext uri="{FF2B5EF4-FFF2-40B4-BE49-F238E27FC236}">
                <a16:creationId xmlns:a16="http://schemas.microsoft.com/office/drawing/2014/main" id="{5BC78894-2BE6-7008-73A1-DD7B80075B0A}"/>
              </a:ext>
            </a:extLst>
          </p:cNvPr>
          <p:cNvSpPr txBox="1"/>
          <p:nvPr/>
        </p:nvSpPr>
        <p:spPr>
          <a:xfrm>
            <a:off x="0" y="2921168"/>
            <a:ext cx="12192000" cy="1015663"/>
          </a:xfrm>
          <a:prstGeom prst="rect">
            <a:avLst/>
          </a:prstGeom>
          <a:noFill/>
        </p:spPr>
        <p:txBody>
          <a:bodyPr wrap="square" rtlCol="0" anchor="ctr">
            <a:spAutoFit/>
          </a:bodyPr>
          <a:lstStyle/>
          <a:p>
            <a:pPr algn="ctr"/>
            <a:r>
              <a:rPr lang="it-IT" sz="3000" b="1" dirty="0">
                <a:solidFill>
                  <a:schemeClr val="bg1"/>
                </a:solidFill>
              </a:rPr>
              <a:t>SEPTEMBER 2026 UPDATE</a:t>
            </a:r>
          </a:p>
          <a:p>
            <a:pPr algn="ctr"/>
            <a:r>
              <a:rPr lang="it-IT" sz="3000" b="1" dirty="0">
                <a:solidFill>
                  <a:schemeClr val="bg1"/>
                </a:solidFill>
              </a:rPr>
              <a:t>ANNA SOFIA MORO</a:t>
            </a:r>
          </a:p>
        </p:txBody>
      </p:sp>
    </p:spTree>
    <p:extLst>
      <p:ext uri="{BB962C8B-B14F-4D97-AF65-F5344CB8AC3E}">
        <p14:creationId xmlns:p14="http://schemas.microsoft.com/office/powerpoint/2010/main" val="38952834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D405C-6D45-8954-1444-BCD11467AB8E}"/>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B4FCCAC-F871-19BB-1DB9-A799D5A5DC44}"/>
              </a:ext>
            </a:extLst>
          </p:cNvPr>
          <p:cNvSpPr>
            <a:spLocks noGrp="1"/>
          </p:cNvSpPr>
          <p:nvPr>
            <p:ph type="title"/>
          </p:nvPr>
        </p:nvSpPr>
        <p:spPr>
          <a:xfrm>
            <a:off x="38100" y="69651"/>
            <a:ext cx="12114000" cy="1153094"/>
          </a:xfrm>
          <a:prstGeom prst="roundRect">
            <a:avLst>
              <a:gd name="adj" fmla="val 36459"/>
            </a:avLst>
          </a:prstGeom>
          <a:noFill/>
        </p:spPr>
        <p:txBody>
          <a:bodyPr>
            <a:noAutofit/>
          </a:bodyPr>
          <a:lstStyle/>
          <a:p>
            <a:r>
              <a:rPr lang="it-IT" sz="3400" b="1" dirty="0">
                <a:solidFill>
                  <a:srgbClr val="002060"/>
                </a:solidFill>
              </a:rPr>
              <a:t>	WHAT’S NEW?</a:t>
            </a:r>
          </a:p>
        </p:txBody>
      </p:sp>
      <p:sp>
        <p:nvSpPr>
          <p:cNvPr id="4" name="Segnaposto data 3">
            <a:extLst>
              <a:ext uri="{FF2B5EF4-FFF2-40B4-BE49-F238E27FC236}">
                <a16:creationId xmlns:a16="http://schemas.microsoft.com/office/drawing/2014/main" id="{91CEAF9E-BE3E-5C6D-7367-619BAD4C658A}"/>
              </a:ext>
            </a:extLst>
          </p:cNvPr>
          <p:cNvSpPr>
            <a:spLocks noGrp="1"/>
          </p:cNvSpPr>
          <p:nvPr>
            <p:ph type="dt" sz="half" idx="10"/>
          </p:nvPr>
        </p:nvSpPr>
        <p:spPr>
          <a:xfrm>
            <a:off x="838200" y="6356349"/>
            <a:ext cx="2743200" cy="432000"/>
          </a:xfrm>
        </p:spPr>
        <p:txBody>
          <a:bodyPr/>
          <a:lstStyle/>
          <a:p>
            <a:r>
              <a:rPr lang="it-IT" sz="1500" b="1" dirty="0">
                <a:solidFill>
                  <a:srgbClr val="002060"/>
                </a:solidFill>
              </a:rPr>
              <a:t>September 2026</a:t>
            </a:r>
          </a:p>
        </p:txBody>
      </p:sp>
      <p:sp>
        <p:nvSpPr>
          <p:cNvPr id="5" name="Segnaposto piè di pagina 4">
            <a:extLst>
              <a:ext uri="{FF2B5EF4-FFF2-40B4-BE49-F238E27FC236}">
                <a16:creationId xmlns:a16="http://schemas.microsoft.com/office/drawing/2014/main" id="{AC82166C-D392-7820-4D24-6F7B5D294F92}"/>
              </a:ext>
            </a:extLst>
          </p:cNvPr>
          <p:cNvSpPr>
            <a:spLocks noGrp="1"/>
          </p:cNvSpPr>
          <p:nvPr>
            <p:ph type="ftr" sz="quarter" idx="11"/>
          </p:nvPr>
        </p:nvSpPr>
        <p:spPr>
          <a:xfrm>
            <a:off x="0" y="6356349"/>
            <a:ext cx="12192000" cy="432000"/>
          </a:xfrm>
        </p:spPr>
        <p:txBody>
          <a:bodyPr/>
          <a:lstStyle/>
          <a:p>
            <a:r>
              <a:rPr lang="it-IT" sz="1500" b="1" dirty="0">
                <a:solidFill>
                  <a:srgbClr val="002060"/>
                </a:solidFill>
              </a:rPr>
              <a:t>Anna Sofia Moro</a:t>
            </a:r>
          </a:p>
        </p:txBody>
      </p:sp>
      <p:sp>
        <p:nvSpPr>
          <p:cNvPr id="6" name="Segnaposto numero diapositiva 5">
            <a:extLst>
              <a:ext uri="{FF2B5EF4-FFF2-40B4-BE49-F238E27FC236}">
                <a16:creationId xmlns:a16="http://schemas.microsoft.com/office/drawing/2014/main" id="{DC7A8A5C-343C-FAD2-1497-574FADFE10F9}"/>
              </a:ext>
            </a:extLst>
          </p:cNvPr>
          <p:cNvSpPr>
            <a:spLocks noGrp="1"/>
          </p:cNvSpPr>
          <p:nvPr>
            <p:ph type="sldNum" sz="quarter" idx="12"/>
          </p:nvPr>
        </p:nvSpPr>
        <p:spPr>
          <a:xfrm>
            <a:off x="8610600" y="6356349"/>
            <a:ext cx="2743200" cy="432000"/>
          </a:xfrm>
        </p:spPr>
        <p:txBody>
          <a:bodyPr/>
          <a:lstStyle/>
          <a:p>
            <a:fld id="{0A318BD9-CA14-4A83-ACF0-03D5918EB402}" type="slidenum">
              <a:rPr lang="it-IT" sz="1500" b="1" smtClean="0">
                <a:solidFill>
                  <a:srgbClr val="002060"/>
                </a:solidFill>
              </a:rPr>
              <a:t>2</a:t>
            </a:fld>
            <a:endParaRPr lang="it-IT" sz="1500" b="1" dirty="0">
              <a:solidFill>
                <a:srgbClr val="002060"/>
              </a:solidFill>
            </a:endParaRPr>
          </a:p>
        </p:txBody>
      </p:sp>
      <p:cxnSp>
        <p:nvCxnSpPr>
          <p:cNvPr id="10" name="Connettore diritto 9">
            <a:extLst>
              <a:ext uri="{FF2B5EF4-FFF2-40B4-BE49-F238E27FC236}">
                <a16:creationId xmlns:a16="http://schemas.microsoft.com/office/drawing/2014/main" id="{E18365AA-B1D1-C447-2B5F-C638FA62D1A2}"/>
              </a:ext>
            </a:extLst>
          </p:cNvPr>
          <p:cNvCxnSpPr>
            <a:cxnSpLocks/>
          </p:cNvCxnSpPr>
          <p:nvPr/>
        </p:nvCxnSpPr>
        <p:spPr>
          <a:xfrm>
            <a:off x="696000" y="1155368"/>
            <a:ext cx="10800000" cy="0"/>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sp>
        <p:nvSpPr>
          <p:cNvPr id="13" name="CasellaDiTesto 12">
            <a:extLst>
              <a:ext uri="{FF2B5EF4-FFF2-40B4-BE49-F238E27FC236}">
                <a16:creationId xmlns:a16="http://schemas.microsoft.com/office/drawing/2014/main" id="{C2B0EE0E-5840-CBFD-FF67-2A244F06E9C2}"/>
              </a:ext>
            </a:extLst>
          </p:cNvPr>
          <p:cNvSpPr txBox="1"/>
          <p:nvPr/>
        </p:nvSpPr>
        <p:spPr>
          <a:xfrm>
            <a:off x="3048886" y="3244334"/>
            <a:ext cx="6097772" cy="369332"/>
          </a:xfrm>
          <a:prstGeom prst="rect">
            <a:avLst/>
          </a:prstGeom>
          <a:noFill/>
        </p:spPr>
        <p:txBody>
          <a:bodyPr wrap="square">
            <a:spAutoFit/>
          </a:bodyPr>
          <a:lstStyle/>
          <a:p>
            <a:endParaRPr lang="it-IT" dirty="0"/>
          </a:p>
        </p:txBody>
      </p:sp>
      <p:sp>
        <p:nvSpPr>
          <p:cNvPr id="15" name="CasellaDiTesto 14">
            <a:extLst>
              <a:ext uri="{FF2B5EF4-FFF2-40B4-BE49-F238E27FC236}">
                <a16:creationId xmlns:a16="http://schemas.microsoft.com/office/drawing/2014/main" id="{23DD62F0-621C-EEC0-7E76-C612357FE56A}"/>
              </a:ext>
            </a:extLst>
          </p:cNvPr>
          <p:cNvSpPr txBox="1"/>
          <p:nvPr/>
        </p:nvSpPr>
        <p:spPr>
          <a:xfrm>
            <a:off x="3048886" y="3244334"/>
            <a:ext cx="6097772" cy="369332"/>
          </a:xfrm>
          <a:prstGeom prst="rect">
            <a:avLst/>
          </a:prstGeom>
          <a:noFill/>
        </p:spPr>
        <p:txBody>
          <a:bodyPr wrap="square">
            <a:spAutoFit/>
          </a:bodyPr>
          <a:lstStyle/>
          <a:p>
            <a:endParaRPr lang="it-IT" dirty="0"/>
          </a:p>
        </p:txBody>
      </p:sp>
      <p:sp>
        <p:nvSpPr>
          <p:cNvPr id="8" name="Content Placeholder 7">
            <a:extLst>
              <a:ext uri="{FF2B5EF4-FFF2-40B4-BE49-F238E27FC236}">
                <a16:creationId xmlns:a16="http://schemas.microsoft.com/office/drawing/2014/main" id="{6086EA36-9CCD-FD6F-2F86-F0947A12806B}"/>
              </a:ext>
            </a:extLst>
          </p:cNvPr>
          <p:cNvSpPr>
            <a:spLocks noGrp="1"/>
          </p:cNvSpPr>
          <p:nvPr>
            <p:ph idx="1"/>
          </p:nvPr>
        </p:nvSpPr>
        <p:spPr>
          <a:xfrm>
            <a:off x="838200" y="1312438"/>
            <a:ext cx="10515600" cy="4864525"/>
          </a:xfrm>
        </p:spPr>
        <p:txBody>
          <a:bodyPr>
            <a:normAutofit/>
          </a:bodyPr>
          <a:lstStyle/>
          <a:p>
            <a:pPr marL="457200" indent="-457200">
              <a:buFont typeface="+mj-lt"/>
              <a:buAutoNum type="arabicPeriod"/>
            </a:pPr>
            <a:r>
              <a:rPr lang="it-IT" sz="2400" dirty="0"/>
              <a:t>Multiple Coulomb Scattering</a:t>
            </a:r>
          </a:p>
          <a:p>
            <a:pPr lvl="1"/>
            <a:r>
              <a:rPr lang="it-IT" dirty="0"/>
              <a:t>Analysis made for both x and y</a:t>
            </a:r>
          </a:p>
          <a:p>
            <a:pPr lvl="1"/>
            <a:r>
              <a:rPr lang="it-IT" dirty="0"/>
              <a:t>Clamp material evaluation</a:t>
            </a:r>
          </a:p>
          <a:p>
            <a:pPr marL="457200" indent="-457200">
              <a:buFont typeface="+mj-lt"/>
              <a:buAutoNum type="arabicPeriod"/>
            </a:pPr>
            <a:r>
              <a:rPr lang="it-IT" sz="2400" dirty="0"/>
              <a:t>Analysis of the beam distribution of real data</a:t>
            </a:r>
          </a:p>
          <a:p>
            <a:pPr lvl="1"/>
            <a:r>
              <a:rPr lang="it-IT" dirty="0"/>
              <a:t>Check the distributions</a:t>
            </a:r>
          </a:p>
          <a:p>
            <a:pPr lvl="1"/>
            <a:r>
              <a:rPr lang="it-IT" dirty="0"/>
              <a:t>Check the correlation/covariance</a:t>
            </a:r>
          </a:p>
          <a:p>
            <a:pPr marL="457200" indent="-457200">
              <a:buFont typeface="+mj-lt"/>
              <a:buAutoNum type="arabicPeriod"/>
            </a:pPr>
            <a:r>
              <a:rPr lang="it-IT" sz="2400" dirty="0"/>
              <a:t>Simulation</a:t>
            </a:r>
          </a:p>
          <a:p>
            <a:pPr lvl="1"/>
            <a:r>
              <a:rPr lang="it-IT" dirty="0"/>
              <a:t>Reproduce the real data beam features</a:t>
            </a:r>
          </a:p>
          <a:p>
            <a:pPr lvl="1"/>
            <a:r>
              <a:rPr lang="it-IT" dirty="0"/>
              <a:t>Channeling efficiency analysis</a:t>
            </a:r>
          </a:p>
          <a:p>
            <a:pPr marL="457200" indent="-457200">
              <a:buFont typeface="+mj-lt"/>
              <a:buAutoNum type="arabicPeriod"/>
            </a:pPr>
            <a:r>
              <a:rPr lang="it-IT" sz="2400" dirty="0"/>
              <a:t>Thesis</a:t>
            </a:r>
          </a:p>
          <a:p>
            <a:pPr lvl="1"/>
            <a:r>
              <a:rPr lang="it-IT" dirty="0"/>
              <a:t>Possible order of topics in the table of contents</a:t>
            </a:r>
          </a:p>
        </p:txBody>
      </p:sp>
    </p:spTree>
    <p:extLst>
      <p:ext uri="{BB962C8B-B14F-4D97-AF65-F5344CB8AC3E}">
        <p14:creationId xmlns:p14="http://schemas.microsoft.com/office/powerpoint/2010/main" val="15714210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DD8B3-9F40-C55D-39DA-DF91181D296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6D736E0-F643-82EF-1992-C60507B46245}"/>
              </a:ext>
            </a:extLst>
          </p:cNvPr>
          <p:cNvSpPr>
            <a:spLocks noGrp="1"/>
          </p:cNvSpPr>
          <p:nvPr>
            <p:ph type="title"/>
          </p:nvPr>
        </p:nvSpPr>
        <p:spPr>
          <a:xfrm>
            <a:off x="38100" y="69651"/>
            <a:ext cx="12114000" cy="1153094"/>
          </a:xfrm>
          <a:prstGeom prst="roundRect">
            <a:avLst>
              <a:gd name="adj" fmla="val 36459"/>
            </a:avLst>
          </a:prstGeom>
          <a:noFill/>
        </p:spPr>
        <p:txBody>
          <a:bodyPr>
            <a:noAutofit/>
          </a:bodyPr>
          <a:lstStyle/>
          <a:p>
            <a:r>
              <a:rPr lang="en-US" sz="3400" b="1" dirty="0">
                <a:solidFill>
                  <a:srgbClr val="002060"/>
                </a:solidFill>
              </a:rPr>
              <a:t>	FIND THE CRYSTAL FOOTPRINT THROUGH SCATTERING</a:t>
            </a:r>
            <a:endParaRPr lang="it-IT" sz="3400" b="1" dirty="0">
              <a:solidFill>
                <a:srgbClr val="002060"/>
              </a:solidFill>
            </a:endParaRPr>
          </a:p>
        </p:txBody>
      </p:sp>
      <p:sp>
        <p:nvSpPr>
          <p:cNvPr id="4" name="Segnaposto data 3">
            <a:extLst>
              <a:ext uri="{FF2B5EF4-FFF2-40B4-BE49-F238E27FC236}">
                <a16:creationId xmlns:a16="http://schemas.microsoft.com/office/drawing/2014/main" id="{906CD9E4-BF4B-D4CC-51AF-596B2BA18EDF}"/>
              </a:ext>
            </a:extLst>
          </p:cNvPr>
          <p:cNvSpPr>
            <a:spLocks noGrp="1"/>
          </p:cNvSpPr>
          <p:nvPr>
            <p:ph type="dt" sz="half" idx="10"/>
          </p:nvPr>
        </p:nvSpPr>
        <p:spPr>
          <a:xfrm>
            <a:off x="838200" y="6356349"/>
            <a:ext cx="2743200" cy="432000"/>
          </a:xfrm>
        </p:spPr>
        <p:txBody>
          <a:bodyPr/>
          <a:lstStyle/>
          <a:p>
            <a:r>
              <a:rPr lang="it-IT" sz="1500" b="1" dirty="0">
                <a:solidFill>
                  <a:srgbClr val="002060"/>
                </a:solidFill>
              </a:rPr>
              <a:t>September 2026</a:t>
            </a:r>
          </a:p>
        </p:txBody>
      </p:sp>
      <p:sp>
        <p:nvSpPr>
          <p:cNvPr id="5" name="Segnaposto piè di pagina 4">
            <a:extLst>
              <a:ext uri="{FF2B5EF4-FFF2-40B4-BE49-F238E27FC236}">
                <a16:creationId xmlns:a16="http://schemas.microsoft.com/office/drawing/2014/main" id="{CCF7B707-C2E4-D2A7-CFFE-05CA2FEE9158}"/>
              </a:ext>
            </a:extLst>
          </p:cNvPr>
          <p:cNvSpPr>
            <a:spLocks noGrp="1"/>
          </p:cNvSpPr>
          <p:nvPr>
            <p:ph type="ftr" sz="quarter" idx="11"/>
          </p:nvPr>
        </p:nvSpPr>
        <p:spPr>
          <a:xfrm>
            <a:off x="0" y="6356349"/>
            <a:ext cx="12192000" cy="432000"/>
          </a:xfrm>
        </p:spPr>
        <p:txBody>
          <a:bodyPr/>
          <a:lstStyle/>
          <a:p>
            <a:r>
              <a:rPr lang="it-IT" sz="1500" b="1" dirty="0">
                <a:solidFill>
                  <a:srgbClr val="002060"/>
                </a:solidFill>
              </a:rPr>
              <a:t>Anna Sofia Moro</a:t>
            </a:r>
          </a:p>
        </p:txBody>
      </p:sp>
      <p:sp>
        <p:nvSpPr>
          <p:cNvPr id="6" name="Segnaposto numero diapositiva 5">
            <a:extLst>
              <a:ext uri="{FF2B5EF4-FFF2-40B4-BE49-F238E27FC236}">
                <a16:creationId xmlns:a16="http://schemas.microsoft.com/office/drawing/2014/main" id="{FBF91714-2C6F-67CD-D36C-382CFFB55A95}"/>
              </a:ext>
            </a:extLst>
          </p:cNvPr>
          <p:cNvSpPr>
            <a:spLocks noGrp="1"/>
          </p:cNvSpPr>
          <p:nvPr>
            <p:ph type="sldNum" sz="quarter" idx="12"/>
          </p:nvPr>
        </p:nvSpPr>
        <p:spPr>
          <a:xfrm>
            <a:off x="8610600" y="6356349"/>
            <a:ext cx="2743200" cy="432000"/>
          </a:xfrm>
        </p:spPr>
        <p:txBody>
          <a:bodyPr/>
          <a:lstStyle/>
          <a:p>
            <a:fld id="{0A318BD9-CA14-4A83-ACF0-03D5918EB402}" type="slidenum">
              <a:rPr lang="it-IT" sz="1500" b="1" smtClean="0">
                <a:solidFill>
                  <a:srgbClr val="002060"/>
                </a:solidFill>
              </a:rPr>
              <a:t>3</a:t>
            </a:fld>
            <a:endParaRPr lang="it-IT" sz="1500" b="1" dirty="0">
              <a:solidFill>
                <a:srgbClr val="002060"/>
              </a:solidFill>
            </a:endParaRPr>
          </a:p>
        </p:txBody>
      </p:sp>
      <p:cxnSp>
        <p:nvCxnSpPr>
          <p:cNvPr id="10" name="Connettore diritto 9">
            <a:extLst>
              <a:ext uri="{FF2B5EF4-FFF2-40B4-BE49-F238E27FC236}">
                <a16:creationId xmlns:a16="http://schemas.microsoft.com/office/drawing/2014/main" id="{F8341470-8762-5796-3725-337EF6108118}"/>
              </a:ext>
            </a:extLst>
          </p:cNvPr>
          <p:cNvCxnSpPr>
            <a:cxnSpLocks/>
          </p:cNvCxnSpPr>
          <p:nvPr/>
        </p:nvCxnSpPr>
        <p:spPr>
          <a:xfrm>
            <a:off x="696000" y="1155368"/>
            <a:ext cx="10800000" cy="0"/>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sp>
        <p:nvSpPr>
          <p:cNvPr id="13" name="CasellaDiTesto 12">
            <a:extLst>
              <a:ext uri="{FF2B5EF4-FFF2-40B4-BE49-F238E27FC236}">
                <a16:creationId xmlns:a16="http://schemas.microsoft.com/office/drawing/2014/main" id="{F8C01C16-11BC-D7FD-E1A4-F33E6C753AD5}"/>
              </a:ext>
            </a:extLst>
          </p:cNvPr>
          <p:cNvSpPr txBox="1"/>
          <p:nvPr/>
        </p:nvSpPr>
        <p:spPr>
          <a:xfrm>
            <a:off x="3048886" y="3244334"/>
            <a:ext cx="6097772" cy="369332"/>
          </a:xfrm>
          <a:prstGeom prst="rect">
            <a:avLst/>
          </a:prstGeom>
          <a:noFill/>
        </p:spPr>
        <p:txBody>
          <a:bodyPr wrap="square">
            <a:spAutoFit/>
          </a:bodyPr>
          <a:lstStyle/>
          <a:p>
            <a:endParaRPr lang="it-IT" dirty="0"/>
          </a:p>
        </p:txBody>
      </p:sp>
      <p:sp>
        <p:nvSpPr>
          <p:cNvPr id="15" name="CasellaDiTesto 14">
            <a:extLst>
              <a:ext uri="{FF2B5EF4-FFF2-40B4-BE49-F238E27FC236}">
                <a16:creationId xmlns:a16="http://schemas.microsoft.com/office/drawing/2014/main" id="{5ECD685B-257F-7909-F0F8-9291C5CC7E2D}"/>
              </a:ext>
            </a:extLst>
          </p:cNvPr>
          <p:cNvSpPr txBox="1"/>
          <p:nvPr/>
        </p:nvSpPr>
        <p:spPr>
          <a:xfrm>
            <a:off x="3048886" y="3244334"/>
            <a:ext cx="6097772" cy="369332"/>
          </a:xfrm>
          <a:prstGeom prst="rect">
            <a:avLst/>
          </a:prstGeom>
          <a:noFill/>
        </p:spPr>
        <p:txBody>
          <a:bodyPr wrap="square">
            <a:spAutoFit/>
          </a:bodyPr>
          <a:lstStyle/>
          <a:p>
            <a:endParaRPr lang="it-IT" dirty="0"/>
          </a:p>
        </p:txBody>
      </p:sp>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985D0EB1-5481-2D70-CB27-EFD4CA340BAC}"/>
                  </a:ext>
                </a:extLst>
              </p:cNvPr>
              <p:cNvSpPr>
                <a:spLocks noGrp="1"/>
              </p:cNvSpPr>
              <p:nvPr>
                <p:ph idx="1"/>
              </p:nvPr>
            </p:nvSpPr>
            <p:spPr>
              <a:xfrm>
                <a:off x="838200" y="1312438"/>
                <a:ext cx="10515600" cy="4864525"/>
              </a:xfrm>
            </p:spPr>
            <p:txBody>
              <a:bodyPr>
                <a:normAutofit/>
              </a:bodyPr>
              <a:lstStyle/>
              <a:p>
                <a:r>
                  <a:rPr lang="en-US" sz="2400" dirty="0"/>
                  <a:t>Divided the crystal into slices along </a:t>
                </a:r>
                <a14:m>
                  <m:oMath xmlns:m="http://schemas.openxmlformats.org/officeDocument/2006/math">
                    <m:r>
                      <a:rPr lang="en-US" sz="2400" i="1" dirty="0" smtClean="0">
                        <a:latin typeface="Cambria Math" panose="02040503050406030204" pitchFamily="18" charset="0"/>
                      </a:rPr>
                      <m:t>𝑥</m:t>
                    </m:r>
                  </m:oMath>
                </a14:m>
                <a:r>
                  <a:rPr lang="en-US" sz="2400" dirty="0"/>
                  <a:t> or </a:t>
                </a:r>
                <a14:m>
                  <m:oMath xmlns:m="http://schemas.openxmlformats.org/officeDocument/2006/math">
                    <m:r>
                      <a:rPr lang="en-US" sz="2400" i="1" dirty="0" smtClean="0">
                        <a:latin typeface="Cambria Math" panose="02040503050406030204" pitchFamily="18" charset="0"/>
                      </a:rPr>
                      <m:t>𝑦</m:t>
                    </m:r>
                  </m:oMath>
                </a14:m>
                <a:endParaRPr lang="en-US" sz="2400" dirty="0"/>
              </a:p>
              <a:p>
                <a:r>
                  <a:rPr lang="en-US" sz="2400" dirty="0"/>
                  <a:t>Width of the angular distribution </a:t>
                </a:r>
                <a14:m>
                  <m:oMath xmlns:m="http://schemas.openxmlformats.org/officeDocument/2006/math">
                    <m:r>
                      <a:rPr lang="it-IT" sz="2400" b="0" i="1" smtClean="0">
                        <a:latin typeface="Cambria Math" panose="02040503050406030204" pitchFamily="18" charset="0"/>
                      </a:rPr>
                      <m:t>𝜎</m:t>
                    </m:r>
                  </m:oMath>
                </a14:m>
                <a:r>
                  <a:rPr lang="en-US" sz="2400" dirty="0"/>
                  <a:t> for each slice</a:t>
                </a:r>
              </a:p>
            </p:txBody>
          </p:sp>
        </mc:Choice>
        <mc:Fallback xmlns="">
          <p:sp>
            <p:nvSpPr>
              <p:cNvPr id="8" name="Content Placeholder 7">
                <a:extLst>
                  <a:ext uri="{FF2B5EF4-FFF2-40B4-BE49-F238E27FC236}">
                    <a16:creationId xmlns:a16="http://schemas.microsoft.com/office/drawing/2014/main" id="{985D0EB1-5481-2D70-CB27-EFD4CA340BAC}"/>
                  </a:ext>
                </a:extLst>
              </p:cNvPr>
              <p:cNvSpPr>
                <a:spLocks noGrp="1" noRot="1" noChangeAspect="1" noMove="1" noResize="1" noEditPoints="1" noAdjustHandles="1" noChangeArrowheads="1" noChangeShapeType="1" noTextEdit="1"/>
              </p:cNvSpPr>
              <p:nvPr>
                <p:ph idx="1"/>
              </p:nvPr>
            </p:nvSpPr>
            <p:spPr>
              <a:xfrm>
                <a:off x="838200" y="1312438"/>
                <a:ext cx="10515600" cy="4864525"/>
              </a:xfrm>
              <a:blipFill>
                <a:blip r:embed="rId3"/>
                <a:stretch>
                  <a:fillRect l="-812" t="-1629"/>
                </a:stretch>
              </a:blipFill>
            </p:spPr>
            <p:txBody>
              <a:bodyPr/>
              <a:lstStyle/>
              <a:p>
                <a:r>
                  <a:rPr lang="it-IT">
                    <a:noFill/>
                  </a:rPr>
                  <a:t> </a:t>
                </a:r>
              </a:p>
            </p:txBody>
          </p:sp>
        </mc:Fallback>
      </mc:AlternateContent>
      <p:pic>
        <p:nvPicPr>
          <p:cNvPr id="9" name="Picture 8">
            <a:extLst>
              <a:ext uri="{FF2B5EF4-FFF2-40B4-BE49-F238E27FC236}">
                <a16:creationId xmlns:a16="http://schemas.microsoft.com/office/drawing/2014/main" id="{49FD0DB2-AD83-FE6A-E51E-AA15B9C0183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8142" y="2880246"/>
            <a:ext cx="4800000" cy="3600000"/>
          </a:xfrm>
          <a:prstGeom prst="rect">
            <a:avLst/>
          </a:prstGeom>
        </p:spPr>
      </p:pic>
      <p:sp>
        <p:nvSpPr>
          <p:cNvPr id="12" name="Rectangle: Rounded Corners 11">
            <a:extLst>
              <a:ext uri="{FF2B5EF4-FFF2-40B4-BE49-F238E27FC236}">
                <a16:creationId xmlns:a16="http://schemas.microsoft.com/office/drawing/2014/main" id="{AA98D75B-EEC2-B8A9-496F-2DA26E4AB852}"/>
              </a:ext>
            </a:extLst>
          </p:cNvPr>
          <p:cNvSpPr/>
          <p:nvPr/>
        </p:nvSpPr>
        <p:spPr>
          <a:xfrm>
            <a:off x="4305708" y="3577284"/>
            <a:ext cx="1504987" cy="593124"/>
          </a:xfrm>
          <a:prstGeom prst="roundRect">
            <a:avLst/>
          </a:prstGeom>
          <a:solidFill>
            <a:schemeClr val="bg1"/>
          </a:solid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OUTSIDE</a:t>
            </a:r>
            <a:endParaRPr lang="it-IT" sz="2000" dirty="0">
              <a:solidFill>
                <a:schemeClr val="tx1"/>
              </a:solidFill>
            </a:endParaRPr>
          </a:p>
        </p:txBody>
      </p:sp>
      <p:pic>
        <p:nvPicPr>
          <p:cNvPr id="17" name="Picture 16">
            <a:extLst>
              <a:ext uri="{FF2B5EF4-FFF2-40B4-BE49-F238E27FC236}">
                <a16:creationId xmlns:a16="http://schemas.microsoft.com/office/drawing/2014/main" id="{A84FFD37-E6E5-CF7D-A4E8-14499969918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70600" y="2902940"/>
            <a:ext cx="4800000" cy="3600000"/>
          </a:xfrm>
          <a:prstGeom prst="rect">
            <a:avLst/>
          </a:prstGeom>
        </p:spPr>
      </p:pic>
      <p:sp>
        <p:nvSpPr>
          <p:cNvPr id="16" name="Rectangle: Rounded Corners 15">
            <a:extLst>
              <a:ext uri="{FF2B5EF4-FFF2-40B4-BE49-F238E27FC236}">
                <a16:creationId xmlns:a16="http://schemas.microsoft.com/office/drawing/2014/main" id="{3CD33BC0-FF39-AC32-4D0C-080E8027C4FB}"/>
              </a:ext>
            </a:extLst>
          </p:cNvPr>
          <p:cNvSpPr/>
          <p:nvPr/>
        </p:nvSpPr>
        <p:spPr>
          <a:xfrm>
            <a:off x="10171347" y="3596422"/>
            <a:ext cx="1504987" cy="593124"/>
          </a:xfrm>
          <a:prstGeom prst="roundRect">
            <a:avLst/>
          </a:prstGeom>
          <a:solidFill>
            <a:schemeClr val="bg1"/>
          </a:solid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INSIDE</a:t>
            </a:r>
            <a:endParaRPr lang="it-IT" sz="2000" dirty="0">
              <a:solidFill>
                <a:schemeClr val="tx1"/>
              </a:solidFill>
            </a:endParaRPr>
          </a:p>
        </p:txBody>
      </p:sp>
      <p:sp>
        <p:nvSpPr>
          <p:cNvPr id="18" name="Rectangle 17">
            <a:extLst>
              <a:ext uri="{FF2B5EF4-FFF2-40B4-BE49-F238E27FC236}">
                <a16:creationId xmlns:a16="http://schemas.microsoft.com/office/drawing/2014/main" id="{89E737D7-8C05-8C19-44D8-A49B3022470B}"/>
              </a:ext>
            </a:extLst>
          </p:cNvPr>
          <p:cNvSpPr/>
          <p:nvPr/>
        </p:nvSpPr>
        <p:spPr>
          <a:xfrm>
            <a:off x="8508733" y="1430291"/>
            <a:ext cx="731520" cy="1135902"/>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grpSp>
        <p:nvGrpSpPr>
          <p:cNvPr id="52" name="Group 51">
            <a:extLst>
              <a:ext uri="{FF2B5EF4-FFF2-40B4-BE49-F238E27FC236}">
                <a16:creationId xmlns:a16="http://schemas.microsoft.com/office/drawing/2014/main" id="{0FBE3A0D-24C9-2E7A-CF13-EC5D62D55405}"/>
              </a:ext>
            </a:extLst>
          </p:cNvPr>
          <p:cNvGrpSpPr/>
          <p:nvPr/>
        </p:nvGrpSpPr>
        <p:grpSpPr>
          <a:xfrm>
            <a:off x="7426133" y="1273681"/>
            <a:ext cx="2845980" cy="1754206"/>
            <a:chOff x="7426133" y="943481"/>
            <a:chExt cx="2845980" cy="1754206"/>
          </a:xfrm>
        </p:grpSpPr>
        <p:cxnSp>
          <p:nvCxnSpPr>
            <p:cNvPr id="20" name="Straight Connector 19">
              <a:extLst>
                <a:ext uri="{FF2B5EF4-FFF2-40B4-BE49-F238E27FC236}">
                  <a16:creationId xmlns:a16="http://schemas.microsoft.com/office/drawing/2014/main" id="{C02650E6-F3F8-ECEF-3794-69E541479B65}"/>
                </a:ext>
              </a:extLst>
            </p:cNvPr>
            <p:cNvCxnSpPr>
              <a:cxnSpLocks/>
            </p:cNvCxnSpPr>
            <p:nvPr/>
          </p:nvCxnSpPr>
          <p:spPr>
            <a:xfrm flipV="1">
              <a:off x="7778282" y="2499246"/>
              <a:ext cx="2203918" cy="8288"/>
            </a:xfrm>
            <a:prstGeom prst="line">
              <a:avLst/>
            </a:prstGeom>
            <a:ln>
              <a:headEnd type="none" w="med" len="med"/>
              <a:tailEnd type="arrow" w="med" len="med"/>
            </a:ln>
          </p:spPr>
          <p:style>
            <a:lnRef idx="2">
              <a:schemeClr val="dk1"/>
            </a:lnRef>
            <a:fillRef idx="0">
              <a:schemeClr val="dk1"/>
            </a:fillRef>
            <a:effectRef idx="1">
              <a:schemeClr val="dk1"/>
            </a:effectRef>
            <a:fontRef idx="minor">
              <a:schemeClr val="tx1"/>
            </a:fontRef>
          </p:style>
        </p:cxnSp>
        <p:cxnSp>
          <p:nvCxnSpPr>
            <p:cNvPr id="21" name="Straight Connector 20">
              <a:extLst>
                <a:ext uri="{FF2B5EF4-FFF2-40B4-BE49-F238E27FC236}">
                  <a16:creationId xmlns:a16="http://schemas.microsoft.com/office/drawing/2014/main" id="{11CB5595-391F-7A63-2ABA-7F95A854DA39}"/>
                </a:ext>
              </a:extLst>
            </p:cNvPr>
            <p:cNvCxnSpPr>
              <a:cxnSpLocks/>
            </p:cNvCxnSpPr>
            <p:nvPr/>
          </p:nvCxnSpPr>
          <p:spPr>
            <a:xfrm flipV="1">
              <a:off x="7778282" y="943481"/>
              <a:ext cx="0" cy="1564053"/>
            </a:xfrm>
            <a:prstGeom prst="line">
              <a:avLst/>
            </a:prstGeom>
            <a:ln>
              <a:headEnd type="none" w="med" len="med"/>
              <a:tailEnd type="arrow" w="med" len="med"/>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72454BE6-76C2-4B17-E7E7-FF7BB0C6AAAA}"/>
                    </a:ext>
                  </a:extLst>
                </p:cNvPr>
                <p:cNvSpPr txBox="1"/>
                <p:nvPr/>
              </p:nvSpPr>
              <p:spPr>
                <a:xfrm>
                  <a:off x="9910539" y="2328355"/>
                  <a:ext cx="361574" cy="369332"/>
                </a:xfrm>
                <a:prstGeom prst="rect">
                  <a:avLst/>
                </a:prstGeom>
                <a:noFill/>
              </p:spPr>
              <p:txBody>
                <a:bodyPr wrap="none" rtlCol="0">
                  <a:spAutoFit/>
                </a:bodyPr>
                <a:lstStyle/>
                <a:p>
                  <a:pPr/>
                  <a14:m>
                    <m:oMathPara xmlns:m="http://schemas.openxmlformats.org/officeDocument/2006/math">
                      <m:oMath>
                        <m:r>
                          <a:rPr lang="it-IT" b="1" i="1" dirty="0" smtClean="0">
                            <a:latin typeface="Cambria Math" panose="02040503050406030204" pitchFamily="18" charset="0"/>
                          </a:rPr>
                          <m:t>𝒙</m:t>
                        </m:r>
                      </m:oMath>
                    </m:oMathPara>
                  </a14:m>
                  <a:endParaRPr lang="it-IT" b="1" dirty="0"/>
                </a:p>
              </p:txBody>
            </p:sp>
          </mc:Choice>
          <mc:Fallback xmlns="">
            <p:sp>
              <p:nvSpPr>
                <p:cNvPr id="26" name="TextBox 25">
                  <a:extLst>
                    <a:ext uri="{FF2B5EF4-FFF2-40B4-BE49-F238E27FC236}">
                      <a16:creationId xmlns:a16="http://schemas.microsoft.com/office/drawing/2014/main" id="{72454BE6-76C2-4B17-E7E7-FF7BB0C6AAAA}"/>
                    </a:ext>
                  </a:extLst>
                </p:cNvPr>
                <p:cNvSpPr txBox="1">
                  <a:spLocks noRot="1" noChangeAspect="1" noMove="1" noResize="1" noEditPoints="1" noAdjustHandles="1" noChangeArrowheads="1" noChangeShapeType="1" noTextEdit="1"/>
                </p:cNvSpPr>
                <p:nvPr/>
              </p:nvSpPr>
              <p:spPr>
                <a:xfrm>
                  <a:off x="9910539" y="2328355"/>
                  <a:ext cx="361574" cy="369332"/>
                </a:xfrm>
                <a:prstGeom prst="rect">
                  <a:avLst/>
                </a:prstGeom>
                <a:blipFill>
                  <a:blip r:embed="rId6"/>
                  <a:stretch>
                    <a:fillRect/>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81831B37-43A1-EAAF-15C0-56F172DEACFE}"/>
                    </a:ext>
                  </a:extLst>
                </p:cNvPr>
                <p:cNvSpPr txBox="1"/>
                <p:nvPr/>
              </p:nvSpPr>
              <p:spPr>
                <a:xfrm>
                  <a:off x="7426133" y="1106696"/>
                  <a:ext cx="369012" cy="369332"/>
                </a:xfrm>
                <a:prstGeom prst="rect">
                  <a:avLst/>
                </a:prstGeom>
                <a:noFill/>
              </p:spPr>
              <p:txBody>
                <a:bodyPr wrap="none" rtlCol="0">
                  <a:spAutoFit/>
                </a:bodyPr>
                <a:lstStyle/>
                <a:p>
                  <a:pPr/>
                  <a14:m>
                    <m:oMathPara xmlns:m="http://schemas.openxmlformats.org/officeDocument/2006/math">
                      <m:oMath>
                        <m:r>
                          <a:rPr lang="it-IT" b="1" i="1" dirty="0" smtClean="0">
                            <a:latin typeface="Cambria Math" panose="02040503050406030204" pitchFamily="18" charset="0"/>
                          </a:rPr>
                          <m:t>𝒚</m:t>
                        </m:r>
                      </m:oMath>
                    </m:oMathPara>
                  </a14:m>
                  <a:endParaRPr lang="it-IT" b="1" dirty="0"/>
                </a:p>
              </p:txBody>
            </p:sp>
          </mc:Choice>
          <mc:Fallback xmlns="">
            <p:sp>
              <p:nvSpPr>
                <p:cNvPr id="28" name="TextBox 27">
                  <a:extLst>
                    <a:ext uri="{FF2B5EF4-FFF2-40B4-BE49-F238E27FC236}">
                      <a16:creationId xmlns:a16="http://schemas.microsoft.com/office/drawing/2014/main" id="{81831B37-43A1-EAAF-15C0-56F172DEACFE}"/>
                    </a:ext>
                  </a:extLst>
                </p:cNvPr>
                <p:cNvSpPr txBox="1">
                  <a:spLocks noRot="1" noChangeAspect="1" noMove="1" noResize="1" noEditPoints="1" noAdjustHandles="1" noChangeArrowheads="1" noChangeShapeType="1" noTextEdit="1"/>
                </p:cNvSpPr>
                <p:nvPr/>
              </p:nvSpPr>
              <p:spPr>
                <a:xfrm>
                  <a:off x="7426133" y="1106696"/>
                  <a:ext cx="369012" cy="369332"/>
                </a:xfrm>
                <a:prstGeom prst="rect">
                  <a:avLst/>
                </a:prstGeom>
                <a:blipFill>
                  <a:blip r:embed="rId7"/>
                  <a:stretch>
                    <a:fillRect b="-6667"/>
                  </a:stretch>
                </a:blipFill>
              </p:spPr>
              <p:txBody>
                <a:bodyPr/>
                <a:lstStyle/>
                <a:p>
                  <a:r>
                    <a:rPr lang="it-IT">
                      <a:noFill/>
                    </a:rPr>
                    <a:t> </a:t>
                  </a:r>
                </a:p>
              </p:txBody>
            </p:sp>
          </mc:Fallback>
        </mc:AlternateContent>
      </p:grpSp>
      <p:cxnSp>
        <p:nvCxnSpPr>
          <p:cNvPr id="30" name="Straight Connector 29">
            <a:extLst>
              <a:ext uri="{FF2B5EF4-FFF2-40B4-BE49-F238E27FC236}">
                <a16:creationId xmlns:a16="http://schemas.microsoft.com/office/drawing/2014/main" id="{98121728-747C-B772-E5A7-0B8DB5A49A1D}"/>
              </a:ext>
            </a:extLst>
          </p:cNvPr>
          <p:cNvCxnSpPr>
            <a:cxnSpLocks/>
          </p:cNvCxnSpPr>
          <p:nvPr/>
        </p:nvCxnSpPr>
        <p:spPr>
          <a:xfrm>
            <a:off x="8003117" y="1222745"/>
            <a:ext cx="0" cy="1515375"/>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D6DD75BC-E3E3-E2CD-9EFA-3F79F1C9DBE4}"/>
              </a:ext>
            </a:extLst>
          </p:cNvPr>
          <p:cNvCxnSpPr>
            <a:cxnSpLocks/>
          </p:cNvCxnSpPr>
          <p:nvPr/>
        </p:nvCxnSpPr>
        <p:spPr>
          <a:xfrm>
            <a:off x="8155517" y="1222745"/>
            <a:ext cx="0" cy="1530615"/>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4C3E3327-F0E1-F3AC-8C91-B5A8DD3D8B6E}"/>
              </a:ext>
            </a:extLst>
          </p:cNvPr>
          <p:cNvCxnSpPr>
            <a:cxnSpLocks/>
          </p:cNvCxnSpPr>
          <p:nvPr/>
        </p:nvCxnSpPr>
        <p:spPr>
          <a:xfrm>
            <a:off x="8312150" y="1222745"/>
            <a:ext cx="0" cy="1525535"/>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FBFC8331-76A9-CC28-577C-2DA1679579C0}"/>
              </a:ext>
            </a:extLst>
          </p:cNvPr>
          <p:cNvCxnSpPr>
            <a:cxnSpLocks/>
          </p:cNvCxnSpPr>
          <p:nvPr/>
        </p:nvCxnSpPr>
        <p:spPr>
          <a:xfrm>
            <a:off x="8460317" y="1222745"/>
            <a:ext cx="0" cy="1515375"/>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3AC768A8-C925-53BA-4A22-4F0BA9AEE281}"/>
              </a:ext>
            </a:extLst>
          </p:cNvPr>
          <p:cNvCxnSpPr>
            <a:cxnSpLocks/>
          </p:cNvCxnSpPr>
          <p:nvPr/>
        </p:nvCxnSpPr>
        <p:spPr>
          <a:xfrm>
            <a:off x="8612717" y="1222745"/>
            <a:ext cx="0" cy="1515375"/>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A468CD69-0FB1-4BEE-1251-2AFA77349F30}"/>
              </a:ext>
            </a:extLst>
          </p:cNvPr>
          <p:cNvCxnSpPr>
            <a:cxnSpLocks/>
          </p:cNvCxnSpPr>
          <p:nvPr/>
        </p:nvCxnSpPr>
        <p:spPr>
          <a:xfrm>
            <a:off x="8769350" y="1222745"/>
            <a:ext cx="0" cy="1525535"/>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975CC6F9-FCFB-8B22-0E80-390F045FED08}"/>
              </a:ext>
            </a:extLst>
          </p:cNvPr>
          <p:cNvCxnSpPr>
            <a:cxnSpLocks/>
          </p:cNvCxnSpPr>
          <p:nvPr/>
        </p:nvCxnSpPr>
        <p:spPr>
          <a:xfrm>
            <a:off x="8931220" y="1222745"/>
            <a:ext cx="0" cy="1520455"/>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A80AA079-041D-DD8D-3A5A-40AA02E90AF3}"/>
              </a:ext>
            </a:extLst>
          </p:cNvPr>
          <p:cNvCxnSpPr>
            <a:cxnSpLocks/>
          </p:cNvCxnSpPr>
          <p:nvPr/>
        </p:nvCxnSpPr>
        <p:spPr>
          <a:xfrm>
            <a:off x="9083620" y="1222745"/>
            <a:ext cx="0" cy="1525535"/>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DB6A6C9B-A301-080D-2E2C-90B04E384E4A}"/>
              </a:ext>
            </a:extLst>
          </p:cNvPr>
          <p:cNvCxnSpPr>
            <a:cxnSpLocks/>
          </p:cNvCxnSpPr>
          <p:nvPr/>
        </p:nvCxnSpPr>
        <p:spPr>
          <a:xfrm>
            <a:off x="9240253" y="1222745"/>
            <a:ext cx="0" cy="1515375"/>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1633187C-0FFE-A233-E3AC-DD9497BF3848}"/>
              </a:ext>
            </a:extLst>
          </p:cNvPr>
          <p:cNvCxnSpPr>
            <a:cxnSpLocks/>
          </p:cNvCxnSpPr>
          <p:nvPr/>
        </p:nvCxnSpPr>
        <p:spPr>
          <a:xfrm>
            <a:off x="9387417" y="1222745"/>
            <a:ext cx="0" cy="1515375"/>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35A7835B-F505-0A39-2179-8D8DC3079E8F}"/>
              </a:ext>
            </a:extLst>
          </p:cNvPr>
          <p:cNvCxnSpPr>
            <a:cxnSpLocks/>
          </p:cNvCxnSpPr>
          <p:nvPr/>
        </p:nvCxnSpPr>
        <p:spPr>
          <a:xfrm>
            <a:off x="9539817" y="1222745"/>
            <a:ext cx="0" cy="1515375"/>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192F12DF-E80B-15F8-7B85-207AAD478AE0}"/>
              </a:ext>
            </a:extLst>
          </p:cNvPr>
          <p:cNvCxnSpPr>
            <a:cxnSpLocks/>
          </p:cNvCxnSpPr>
          <p:nvPr/>
        </p:nvCxnSpPr>
        <p:spPr>
          <a:xfrm>
            <a:off x="9696450" y="1222745"/>
            <a:ext cx="0" cy="1520455"/>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74" name="Straight Connector 73">
            <a:extLst>
              <a:ext uri="{FF2B5EF4-FFF2-40B4-BE49-F238E27FC236}">
                <a16:creationId xmlns:a16="http://schemas.microsoft.com/office/drawing/2014/main" id="{328ACF14-07DB-DFE6-A8FD-791B4BA01B91}"/>
              </a:ext>
            </a:extLst>
          </p:cNvPr>
          <p:cNvCxnSpPr>
            <a:cxnSpLocks/>
          </p:cNvCxnSpPr>
          <p:nvPr/>
        </p:nvCxnSpPr>
        <p:spPr>
          <a:xfrm flipH="1">
            <a:off x="7836145" y="1430291"/>
            <a:ext cx="2117480" cy="0"/>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2EB20602-B66F-6AAF-D9E7-B141E8162066}"/>
              </a:ext>
            </a:extLst>
          </p:cNvPr>
          <p:cNvCxnSpPr>
            <a:cxnSpLocks/>
          </p:cNvCxnSpPr>
          <p:nvPr/>
        </p:nvCxnSpPr>
        <p:spPr>
          <a:xfrm flipH="1">
            <a:off x="7934915" y="1248166"/>
            <a:ext cx="195517" cy="185554"/>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a16="http://schemas.microsoft.com/office/drawing/2014/main" id="{06F00222-EDA7-CBBA-5C9A-F502FD1753F9}"/>
              </a:ext>
            </a:extLst>
          </p:cNvPr>
          <p:cNvCxnSpPr>
            <a:cxnSpLocks/>
          </p:cNvCxnSpPr>
          <p:nvPr/>
        </p:nvCxnSpPr>
        <p:spPr>
          <a:xfrm flipH="1">
            <a:off x="8130193" y="1248166"/>
            <a:ext cx="195517" cy="185554"/>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id="{561407CA-0CBD-1535-8898-8B55BB56868C}"/>
              </a:ext>
            </a:extLst>
          </p:cNvPr>
          <p:cNvCxnSpPr>
            <a:cxnSpLocks/>
          </p:cNvCxnSpPr>
          <p:nvPr/>
        </p:nvCxnSpPr>
        <p:spPr>
          <a:xfrm flipH="1">
            <a:off x="8324055" y="1248166"/>
            <a:ext cx="195517" cy="185554"/>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a16="http://schemas.microsoft.com/office/drawing/2014/main" id="{65FDDD9A-743C-F0B8-3D5D-5598FDED63B5}"/>
              </a:ext>
            </a:extLst>
          </p:cNvPr>
          <p:cNvCxnSpPr>
            <a:cxnSpLocks/>
          </p:cNvCxnSpPr>
          <p:nvPr/>
        </p:nvCxnSpPr>
        <p:spPr>
          <a:xfrm flipH="1">
            <a:off x="8498962" y="1241978"/>
            <a:ext cx="195517" cy="185554"/>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84" name="Straight Connector 83">
            <a:extLst>
              <a:ext uri="{FF2B5EF4-FFF2-40B4-BE49-F238E27FC236}">
                <a16:creationId xmlns:a16="http://schemas.microsoft.com/office/drawing/2014/main" id="{B222C6F6-DDFB-B0C5-BC61-579D37F20A61}"/>
              </a:ext>
            </a:extLst>
          </p:cNvPr>
          <p:cNvCxnSpPr>
            <a:cxnSpLocks/>
          </p:cNvCxnSpPr>
          <p:nvPr/>
        </p:nvCxnSpPr>
        <p:spPr>
          <a:xfrm flipH="1">
            <a:off x="8694240" y="1241978"/>
            <a:ext cx="195517" cy="185554"/>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85" name="Straight Connector 84">
            <a:extLst>
              <a:ext uri="{FF2B5EF4-FFF2-40B4-BE49-F238E27FC236}">
                <a16:creationId xmlns:a16="http://schemas.microsoft.com/office/drawing/2014/main" id="{A80DAC7D-B918-4B2A-3A73-57075D8675A0}"/>
              </a:ext>
            </a:extLst>
          </p:cNvPr>
          <p:cNvCxnSpPr>
            <a:cxnSpLocks/>
          </p:cNvCxnSpPr>
          <p:nvPr/>
        </p:nvCxnSpPr>
        <p:spPr>
          <a:xfrm flipH="1">
            <a:off x="8888102" y="1241978"/>
            <a:ext cx="195517" cy="185554"/>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86" name="Straight Connector 85">
            <a:extLst>
              <a:ext uri="{FF2B5EF4-FFF2-40B4-BE49-F238E27FC236}">
                <a16:creationId xmlns:a16="http://schemas.microsoft.com/office/drawing/2014/main" id="{CE3056C2-7090-711C-5C8E-C423C4880880}"/>
              </a:ext>
            </a:extLst>
          </p:cNvPr>
          <p:cNvCxnSpPr>
            <a:cxnSpLocks/>
          </p:cNvCxnSpPr>
          <p:nvPr/>
        </p:nvCxnSpPr>
        <p:spPr>
          <a:xfrm flipH="1">
            <a:off x="9091014" y="1241978"/>
            <a:ext cx="195517" cy="185554"/>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87" name="Straight Connector 86">
            <a:extLst>
              <a:ext uri="{FF2B5EF4-FFF2-40B4-BE49-F238E27FC236}">
                <a16:creationId xmlns:a16="http://schemas.microsoft.com/office/drawing/2014/main" id="{3110CEC6-7711-3297-0ACD-C6B7F7152287}"/>
              </a:ext>
            </a:extLst>
          </p:cNvPr>
          <p:cNvCxnSpPr>
            <a:cxnSpLocks/>
          </p:cNvCxnSpPr>
          <p:nvPr/>
        </p:nvCxnSpPr>
        <p:spPr>
          <a:xfrm flipH="1">
            <a:off x="9286292" y="1241978"/>
            <a:ext cx="195517" cy="185554"/>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88" name="Straight Connector 87">
            <a:extLst>
              <a:ext uri="{FF2B5EF4-FFF2-40B4-BE49-F238E27FC236}">
                <a16:creationId xmlns:a16="http://schemas.microsoft.com/office/drawing/2014/main" id="{85A3A723-CBCE-784F-76A4-C2BC00C44F6A}"/>
              </a:ext>
            </a:extLst>
          </p:cNvPr>
          <p:cNvCxnSpPr>
            <a:cxnSpLocks/>
          </p:cNvCxnSpPr>
          <p:nvPr/>
        </p:nvCxnSpPr>
        <p:spPr>
          <a:xfrm flipH="1">
            <a:off x="9480154" y="1241978"/>
            <a:ext cx="195517" cy="185554"/>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89" name="Straight Connector 88">
            <a:extLst>
              <a:ext uri="{FF2B5EF4-FFF2-40B4-BE49-F238E27FC236}">
                <a16:creationId xmlns:a16="http://schemas.microsoft.com/office/drawing/2014/main" id="{4206B8F8-3017-7659-5118-183191CB4D5E}"/>
              </a:ext>
            </a:extLst>
          </p:cNvPr>
          <p:cNvCxnSpPr>
            <a:cxnSpLocks/>
          </p:cNvCxnSpPr>
          <p:nvPr/>
        </p:nvCxnSpPr>
        <p:spPr>
          <a:xfrm flipH="1">
            <a:off x="9661297" y="1244737"/>
            <a:ext cx="195517" cy="185554"/>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90" name="Straight Connector 89">
            <a:extLst>
              <a:ext uri="{FF2B5EF4-FFF2-40B4-BE49-F238E27FC236}">
                <a16:creationId xmlns:a16="http://schemas.microsoft.com/office/drawing/2014/main" id="{9A9378EA-0EB5-DD37-A707-1A876C4DB58E}"/>
              </a:ext>
            </a:extLst>
          </p:cNvPr>
          <p:cNvCxnSpPr>
            <a:cxnSpLocks/>
          </p:cNvCxnSpPr>
          <p:nvPr/>
        </p:nvCxnSpPr>
        <p:spPr>
          <a:xfrm flipH="1">
            <a:off x="9856575" y="1244737"/>
            <a:ext cx="195517" cy="185554"/>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95" name="Straight Connector 94">
            <a:extLst>
              <a:ext uri="{FF2B5EF4-FFF2-40B4-BE49-F238E27FC236}">
                <a16:creationId xmlns:a16="http://schemas.microsoft.com/office/drawing/2014/main" id="{4425B94A-A7D0-970A-A7AF-9BD2A6533B70}"/>
              </a:ext>
            </a:extLst>
          </p:cNvPr>
          <p:cNvCxnSpPr>
            <a:cxnSpLocks/>
          </p:cNvCxnSpPr>
          <p:nvPr/>
        </p:nvCxnSpPr>
        <p:spPr>
          <a:xfrm flipH="1">
            <a:off x="8033042" y="1247803"/>
            <a:ext cx="195517" cy="185554"/>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96" name="Straight Connector 95">
            <a:extLst>
              <a:ext uri="{FF2B5EF4-FFF2-40B4-BE49-F238E27FC236}">
                <a16:creationId xmlns:a16="http://schemas.microsoft.com/office/drawing/2014/main" id="{08CD1F60-BDBD-0FA6-7DAC-AAAEE159B7C3}"/>
              </a:ext>
            </a:extLst>
          </p:cNvPr>
          <p:cNvCxnSpPr>
            <a:cxnSpLocks/>
          </p:cNvCxnSpPr>
          <p:nvPr/>
        </p:nvCxnSpPr>
        <p:spPr>
          <a:xfrm flipH="1">
            <a:off x="8228320" y="1247803"/>
            <a:ext cx="195517" cy="185554"/>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97" name="Straight Connector 96">
            <a:extLst>
              <a:ext uri="{FF2B5EF4-FFF2-40B4-BE49-F238E27FC236}">
                <a16:creationId xmlns:a16="http://schemas.microsoft.com/office/drawing/2014/main" id="{B725C2EA-F641-D401-0393-C75230B7609A}"/>
              </a:ext>
            </a:extLst>
          </p:cNvPr>
          <p:cNvCxnSpPr>
            <a:cxnSpLocks/>
          </p:cNvCxnSpPr>
          <p:nvPr/>
        </p:nvCxnSpPr>
        <p:spPr>
          <a:xfrm flipH="1">
            <a:off x="8422182" y="1247803"/>
            <a:ext cx="195517" cy="185554"/>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98" name="Straight Connector 97">
            <a:extLst>
              <a:ext uri="{FF2B5EF4-FFF2-40B4-BE49-F238E27FC236}">
                <a16:creationId xmlns:a16="http://schemas.microsoft.com/office/drawing/2014/main" id="{CBE2D2B4-B8B0-9AF4-AC30-DDB28F14D1A0}"/>
              </a:ext>
            </a:extLst>
          </p:cNvPr>
          <p:cNvCxnSpPr>
            <a:cxnSpLocks/>
          </p:cNvCxnSpPr>
          <p:nvPr/>
        </p:nvCxnSpPr>
        <p:spPr>
          <a:xfrm flipH="1">
            <a:off x="8597089" y="1241615"/>
            <a:ext cx="195517" cy="185554"/>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99" name="Straight Connector 98">
            <a:extLst>
              <a:ext uri="{FF2B5EF4-FFF2-40B4-BE49-F238E27FC236}">
                <a16:creationId xmlns:a16="http://schemas.microsoft.com/office/drawing/2014/main" id="{D4427E9C-0DA9-7C29-9F24-1651ABB2279C}"/>
              </a:ext>
            </a:extLst>
          </p:cNvPr>
          <p:cNvCxnSpPr>
            <a:cxnSpLocks/>
          </p:cNvCxnSpPr>
          <p:nvPr/>
        </p:nvCxnSpPr>
        <p:spPr>
          <a:xfrm flipH="1">
            <a:off x="8792367" y="1241615"/>
            <a:ext cx="195517" cy="185554"/>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00" name="Straight Connector 99">
            <a:extLst>
              <a:ext uri="{FF2B5EF4-FFF2-40B4-BE49-F238E27FC236}">
                <a16:creationId xmlns:a16="http://schemas.microsoft.com/office/drawing/2014/main" id="{7157EC3D-019A-9FEC-4369-325EDE67FE52}"/>
              </a:ext>
            </a:extLst>
          </p:cNvPr>
          <p:cNvCxnSpPr>
            <a:cxnSpLocks/>
          </p:cNvCxnSpPr>
          <p:nvPr/>
        </p:nvCxnSpPr>
        <p:spPr>
          <a:xfrm flipH="1">
            <a:off x="8994467" y="1247803"/>
            <a:ext cx="195517" cy="185554"/>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01" name="Straight Connector 100">
            <a:extLst>
              <a:ext uri="{FF2B5EF4-FFF2-40B4-BE49-F238E27FC236}">
                <a16:creationId xmlns:a16="http://schemas.microsoft.com/office/drawing/2014/main" id="{DFD9604B-E30D-E56B-09B7-10E06DE42F78}"/>
              </a:ext>
            </a:extLst>
          </p:cNvPr>
          <p:cNvCxnSpPr>
            <a:cxnSpLocks/>
          </p:cNvCxnSpPr>
          <p:nvPr/>
        </p:nvCxnSpPr>
        <p:spPr>
          <a:xfrm flipH="1">
            <a:off x="9189745" y="1247803"/>
            <a:ext cx="195517" cy="185554"/>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02" name="Straight Connector 101">
            <a:extLst>
              <a:ext uri="{FF2B5EF4-FFF2-40B4-BE49-F238E27FC236}">
                <a16:creationId xmlns:a16="http://schemas.microsoft.com/office/drawing/2014/main" id="{A4482B81-635B-08ED-1910-936E2AC1F720}"/>
              </a:ext>
            </a:extLst>
          </p:cNvPr>
          <p:cNvCxnSpPr>
            <a:cxnSpLocks/>
          </p:cNvCxnSpPr>
          <p:nvPr/>
        </p:nvCxnSpPr>
        <p:spPr>
          <a:xfrm flipH="1">
            <a:off x="9383607" y="1247803"/>
            <a:ext cx="195517" cy="185554"/>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03" name="Straight Connector 102">
            <a:extLst>
              <a:ext uri="{FF2B5EF4-FFF2-40B4-BE49-F238E27FC236}">
                <a16:creationId xmlns:a16="http://schemas.microsoft.com/office/drawing/2014/main" id="{A0757B0E-E7CC-68A1-178C-44476058B488}"/>
              </a:ext>
            </a:extLst>
          </p:cNvPr>
          <p:cNvCxnSpPr>
            <a:cxnSpLocks/>
          </p:cNvCxnSpPr>
          <p:nvPr/>
        </p:nvCxnSpPr>
        <p:spPr>
          <a:xfrm flipH="1">
            <a:off x="9558514" y="1241615"/>
            <a:ext cx="195517" cy="185554"/>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04" name="Straight Connector 103">
            <a:extLst>
              <a:ext uri="{FF2B5EF4-FFF2-40B4-BE49-F238E27FC236}">
                <a16:creationId xmlns:a16="http://schemas.microsoft.com/office/drawing/2014/main" id="{19EB73F0-17E8-848E-85EC-202BB239BD5D}"/>
              </a:ext>
            </a:extLst>
          </p:cNvPr>
          <p:cNvCxnSpPr>
            <a:cxnSpLocks/>
          </p:cNvCxnSpPr>
          <p:nvPr/>
        </p:nvCxnSpPr>
        <p:spPr>
          <a:xfrm flipH="1">
            <a:off x="9753792" y="1241615"/>
            <a:ext cx="195517" cy="185554"/>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05" name="Straight Connector 104">
            <a:extLst>
              <a:ext uri="{FF2B5EF4-FFF2-40B4-BE49-F238E27FC236}">
                <a16:creationId xmlns:a16="http://schemas.microsoft.com/office/drawing/2014/main" id="{DF91A938-A73B-01FD-2DF6-752712B4CBE3}"/>
              </a:ext>
            </a:extLst>
          </p:cNvPr>
          <p:cNvCxnSpPr>
            <a:cxnSpLocks/>
          </p:cNvCxnSpPr>
          <p:nvPr/>
        </p:nvCxnSpPr>
        <p:spPr>
          <a:xfrm flipH="1">
            <a:off x="7946749" y="2568696"/>
            <a:ext cx="2117480" cy="0"/>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06" name="Straight Connector 105">
            <a:extLst>
              <a:ext uri="{FF2B5EF4-FFF2-40B4-BE49-F238E27FC236}">
                <a16:creationId xmlns:a16="http://schemas.microsoft.com/office/drawing/2014/main" id="{F6C36AF4-37DA-B827-8131-D4AAFCD909B1}"/>
              </a:ext>
            </a:extLst>
          </p:cNvPr>
          <p:cNvCxnSpPr>
            <a:cxnSpLocks/>
          </p:cNvCxnSpPr>
          <p:nvPr/>
        </p:nvCxnSpPr>
        <p:spPr>
          <a:xfrm flipH="1">
            <a:off x="7915865" y="2572071"/>
            <a:ext cx="195517" cy="185554"/>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07" name="Straight Connector 106">
            <a:extLst>
              <a:ext uri="{FF2B5EF4-FFF2-40B4-BE49-F238E27FC236}">
                <a16:creationId xmlns:a16="http://schemas.microsoft.com/office/drawing/2014/main" id="{CD0336EA-5EA0-3176-2CD7-9613EA1A0C1D}"/>
              </a:ext>
            </a:extLst>
          </p:cNvPr>
          <p:cNvCxnSpPr>
            <a:cxnSpLocks/>
          </p:cNvCxnSpPr>
          <p:nvPr/>
        </p:nvCxnSpPr>
        <p:spPr>
          <a:xfrm flipH="1">
            <a:off x="8111143" y="2572071"/>
            <a:ext cx="195517" cy="185554"/>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08" name="Straight Connector 107">
            <a:extLst>
              <a:ext uri="{FF2B5EF4-FFF2-40B4-BE49-F238E27FC236}">
                <a16:creationId xmlns:a16="http://schemas.microsoft.com/office/drawing/2014/main" id="{D0A4F182-22AD-2866-BEBE-C8D22F4B7196}"/>
              </a:ext>
            </a:extLst>
          </p:cNvPr>
          <p:cNvCxnSpPr>
            <a:cxnSpLocks/>
          </p:cNvCxnSpPr>
          <p:nvPr/>
        </p:nvCxnSpPr>
        <p:spPr>
          <a:xfrm flipH="1">
            <a:off x="8305005" y="2572071"/>
            <a:ext cx="195517" cy="185554"/>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09" name="Straight Connector 108">
            <a:extLst>
              <a:ext uri="{FF2B5EF4-FFF2-40B4-BE49-F238E27FC236}">
                <a16:creationId xmlns:a16="http://schemas.microsoft.com/office/drawing/2014/main" id="{9B5D865A-9761-8FF2-795C-3FCDD575C87A}"/>
              </a:ext>
            </a:extLst>
          </p:cNvPr>
          <p:cNvCxnSpPr>
            <a:cxnSpLocks/>
          </p:cNvCxnSpPr>
          <p:nvPr/>
        </p:nvCxnSpPr>
        <p:spPr>
          <a:xfrm flipH="1">
            <a:off x="8479912" y="2565883"/>
            <a:ext cx="195517" cy="185554"/>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10" name="Straight Connector 109">
            <a:extLst>
              <a:ext uri="{FF2B5EF4-FFF2-40B4-BE49-F238E27FC236}">
                <a16:creationId xmlns:a16="http://schemas.microsoft.com/office/drawing/2014/main" id="{4F1A7A1C-9BA2-B212-F384-C5D25B30F09A}"/>
              </a:ext>
            </a:extLst>
          </p:cNvPr>
          <p:cNvCxnSpPr>
            <a:cxnSpLocks/>
          </p:cNvCxnSpPr>
          <p:nvPr/>
        </p:nvCxnSpPr>
        <p:spPr>
          <a:xfrm flipH="1">
            <a:off x="8675190" y="2565883"/>
            <a:ext cx="195517" cy="185554"/>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11" name="Straight Connector 110">
            <a:extLst>
              <a:ext uri="{FF2B5EF4-FFF2-40B4-BE49-F238E27FC236}">
                <a16:creationId xmlns:a16="http://schemas.microsoft.com/office/drawing/2014/main" id="{51C6A0DD-7AF6-B1B5-0E81-0A8C1FCE1AB0}"/>
              </a:ext>
            </a:extLst>
          </p:cNvPr>
          <p:cNvCxnSpPr>
            <a:cxnSpLocks/>
          </p:cNvCxnSpPr>
          <p:nvPr/>
        </p:nvCxnSpPr>
        <p:spPr>
          <a:xfrm flipH="1">
            <a:off x="8869052" y="2565883"/>
            <a:ext cx="195517" cy="185554"/>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12" name="Straight Connector 111">
            <a:extLst>
              <a:ext uri="{FF2B5EF4-FFF2-40B4-BE49-F238E27FC236}">
                <a16:creationId xmlns:a16="http://schemas.microsoft.com/office/drawing/2014/main" id="{66A86026-BE2E-2AF4-BA19-7A52D0B37347}"/>
              </a:ext>
            </a:extLst>
          </p:cNvPr>
          <p:cNvCxnSpPr>
            <a:cxnSpLocks/>
          </p:cNvCxnSpPr>
          <p:nvPr/>
        </p:nvCxnSpPr>
        <p:spPr>
          <a:xfrm flipH="1">
            <a:off x="9071964" y="2565883"/>
            <a:ext cx="195517" cy="185554"/>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13" name="Straight Connector 112">
            <a:extLst>
              <a:ext uri="{FF2B5EF4-FFF2-40B4-BE49-F238E27FC236}">
                <a16:creationId xmlns:a16="http://schemas.microsoft.com/office/drawing/2014/main" id="{D6A0E733-EFB7-14C2-A5D0-200480C86DE7}"/>
              </a:ext>
            </a:extLst>
          </p:cNvPr>
          <p:cNvCxnSpPr>
            <a:cxnSpLocks/>
          </p:cNvCxnSpPr>
          <p:nvPr/>
        </p:nvCxnSpPr>
        <p:spPr>
          <a:xfrm flipH="1">
            <a:off x="9267242" y="2565883"/>
            <a:ext cx="195517" cy="185554"/>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14" name="Straight Connector 113">
            <a:extLst>
              <a:ext uri="{FF2B5EF4-FFF2-40B4-BE49-F238E27FC236}">
                <a16:creationId xmlns:a16="http://schemas.microsoft.com/office/drawing/2014/main" id="{4C7492FB-8575-1255-322A-1753E9D5F2F7}"/>
              </a:ext>
            </a:extLst>
          </p:cNvPr>
          <p:cNvCxnSpPr>
            <a:cxnSpLocks/>
          </p:cNvCxnSpPr>
          <p:nvPr/>
        </p:nvCxnSpPr>
        <p:spPr>
          <a:xfrm flipH="1">
            <a:off x="9461104" y="2565883"/>
            <a:ext cx="195517" cy="185554"/>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15" name="Straight Connector 114">
            <a:extLst>
              <a:ext uri="{FF2B5EF4-FFF2-40B4-BE49-F238E27FC236}">
                <a16:creationId xmlns:a16="http://schemas.microsoft.com/office/drawing/2014/main" id="{C4A6C649-9985-F4C3-B1E9-2C6F2F72A8AB}"/>
              </a:ext>
            </a:extLst>
          </p:cNvPr>
          <p:cNvCxnSpPr>
            <a:cxnSpLocks/>
          </p:cNvCxnSpPr>
          <p:nvPr/>
        </p:nvCxnSpPr>
        <p:spPr>
          <a:xfrm flipH="1">
            <a:off x="9642247" y="2568642"/>
            <a:ext cx="195517" cy="185554"/>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16" name="Straight Connector 115">
            <a:extLst>
              <a:ext uri="{FF2B5EF4-FFF2-40B4-BE49-F238E27FC236}">
                <a16:creationId xmlns:a16="http://schemas.microsoft.com/office/drawing/2014/main" id="{FA31086A-A70A-DA1A-8802-522891884A60}"/>
              </a:ext>
            </a:extLst>
          </p:cNvPr>
          <p:cNvCxnSpPr>
            <a:cxnSpLocks/>
          </p:cNvCxnSpPr>
          <p:nvPr/>
        </p:nvCxnSpPr>
        <p:spPr>
          <a:xfrm flipH="1">
            <a:off x="9837525" y="2568642"/>
            <a:ext cx="195517" cy="185554"/>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17" name="Straight Connector 116">
            <a:extLst>
              <a:ext uri="{FF2B5EF4-FFF2-40B4-BE49-F238E27FC236}">
                <a16:creationId xmlns:a16="http://schemas.microsoft.com/office/drawing/2014/main" id="{ABDF7DB8-2CFE-95C1-AF46-77A5602F0030}"/>
              </a:ext>
            </a:extLst>
          </p:cNvPr>
          <p:cNvCxnSpPr>
            <a:cxnSpLocks/>
          </p:cNvCxnSpPr>
          <p:nvPr/>
        </p:nvCxnSpPr>
        <p:spPr>
          <a:xfrm flipH="1">
            <a:off x="8013992" y="2571708"/>
            <a:ext cx="195517" cy="185554"/>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18" name="Straight Connector 117">
            <a:extLst>
              <a:ext uri="{FF2B5EF4-FFF2-40B4-BE49-F238E27FC236}">
                <a16:creationId xmlns:a16="http://schemas.microsoft.com/office/drawing/2014/main" id="{2E70D268-A8C0-5B5F-512C-5238E17A3545}"/>
              </a:ext>
            </a:extLst>
          </p:cNvPr>
          <p:cNvCxnSpPr>
            <a:cxnSpLocks/>
          </p:cNvCxnSpPr>
          <p:nvPr/>
        </p:nvCxnSpPr>
        <p:spPr>
          <a:xfrm flipH="1">
            <a:off x="8209270" y="2571708"/>
            <a:ext cx="195517" cy="185554"/>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19" name="Straight Connector 118">
            <a:extLst>
              <a:ext uri="{FF2B5EF4-FFF2-40B4-BE49-F238E27FC236}">
                <a16:creationId xmlns:a16="http://schemas.microsoft.com/office/drawing/2014/main" id="{0E35FB3B-6B85-EC8C-7692-0E3A904A2F88}"/>
              </a:ext>
            </a:extLst>
          </p:cNvPr>
          <p:cNvCxnSpPr>
            <a:cxnSpLocks/>
          </p:cNvCxnSpPr>
          <p:nvPr/>
        </p:nvCxnSpPr>
        <p:spPr>
          <a:xfrm flipH="1">
            <a:off x="8403132" y="2571708"/>
            <a:ext cx="195517" cy="185554"/>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20" name="Straight Connector 119">
            <a:extLst>
              <a:ext uri="{FF2B5EF4-FFF2-40B4-BE49-F238E27FC236}">
                <a16:creationId xmlns:a16="http://schemas.microsoft.com/office/drawing/2014/main" id="{B5BC5ED6-2BA8-CFF9-61AA-CF36216772E4}"/>
              </a:ext>
            </a:extLst>
          </p:cNvPr>
          <p:cNvCxnSpPr>
            <a:cxnSpLocks/>
          </p:cNvCxnSpPr>
          <p:nvPr/>
        </p:nvCxnSpPr>
        <p:spPr>
          <a:xfrm flipH="1">
            <a:off x="8578039" y="2565520"/>
            <a:ext cx="195517" cy="185554"/>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21" name="Straight Connector 120">
            <a:extLst>
              <a:ext uri="{FF2B5EF4-FFF2-40B4-BE49-F238E27FC236}">
                <a16:creationId xmlns:a16="http://schemas.microsoft.com/office/drawing/2014/main" id="{5318DBF4-A2F6-2BF0-4B8F-9360E4DC6A2F}"/>
              </a:ext>
            </a:extLst>
          </p:cNvPr>
          <p:cNvCxnSpPr>
            <a:cxnSpLocks/>
          </p:cNvCxnSpPr>
          <p:nvPr/>
        </p:nvCxnSpPr>
        <p:spPr>
          <a:xfrm flipH="1">
            <a:off x="8773317" y="2565520"/>
            <a:ext cx="195517" cy="185554"/>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22" name="Straight Connector 121">
            <a:extLst>
              <a:ext uri="{FF2B5EF4-FFF2-40B4-BE49-F238E27FC236}">
                <a16:creationId xmlns:a16="http://schemas.microsoft.com/office/drawing/2014/main" id="{AE022886-1A48-9507-9057-2B73DB266C28}"/>
              </a:ext>
            </a:extLst>
          </p:cNvPr>
          <p:cNvCxnSpPr>
            <a:cxnSpLocks/>
          </p:cNvCxnSpPr>
          <p:nvPr/>
        </p:nvCxnSpPr>
        <p:spPr>
          <a:xfrm flipH="1">
            <a:off x="8975417" y="2571708"/>
            <a:ext cx="195517" cy="185554"/>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23" name="Straight Connector 122">
            <a:extLst>
              <a:ext uri="{FF2B5EF4-FFF2-40B4-BE49-F238E27FC236}">
                <a16:creationId xmlns:a16="http://schemas.microsoft.com/office/drawing/2014/main" id="{224FB0CD-C2A7-B424-2119-0F5A41589E64}"/>
              </a:ext>
            </a:extLst>
          </p:cNvPr>
          <p:cNvCxnSpPr>
            <a:cxnSpLocks/>
          </p:cNvCxnSpPr>
          <p:nvPr/>
        </p:nvCxnSpPr>
        <p:spPr>
          <a:xfrm flipH="1">
            <a:off x="9170695" y="2571708"/>
            <a:ext cx="195517" cy="185554"/>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24" name="Straight Connector 123">
            <a:extLst>
              <a:ext uri="{FF2B5EF4-FFF2-40B4-BE49-F238E27FC236}">
                <a16:creationId xmlns:a16="http://schemas.microsoft.com/office/drawing/2014/main" id="{60356F82-6434-2C1C-5696-5BDFBB0970E5}"/>
              </a:ext>
            </a:extLst>
          </p:cNvPr>
          <p:cNvCxnSpPr>
            <a:cxnSpLocks/>
          </p:cNvCxnSpPr>
          <p:nvPr/>
        </p:nvCxnSpPr>
        <p:spPr>
          <a:xfrm flipH="1">
            <a:off x="9364557" y="2571708"/>
            <a:ext cx="195517" cy="185554"/>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25" name="Straight Connector 124">
            <a:extLst>
              <a:ext uri="{FF2B5EF4-FFF2-40B4-BE49-F238E27FC236}">
                <a16:creationId xmlns:a16="http://schemas.microsoft.com/office/drawing/2014/main" id="{A2E388A1-94BB-43C0-A612-16175C3CC580}"/>
              </a:ext>
            </a:extLst>
          </p:cNvPr>
          <p:cNvCxnSpPr>
            <a:cxnSpLocks/>
          </p:cNvCxnSpPr>
          <p:nvPr/>
        </p:nvCxnSpPr>
        <p:spPr>
          <a:xfrm flipH="1">
            <a:off x="9539464" y="2565520"/>
            <a:ext cx="195517" cy="185554"/>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26" name="Straight Connector 125">
            <a:extLst>
              <a:ext uri="{FF2B5EF4-FFF2-40B4-BE49-F238E27FC236}">
                <a16:creationId xmlns:a16="http://schemas.microsoft.com/office/drawing/2014/main" id="{B0DCDF0E-A15E-76F3-15B0-55DEB6ECE672}"/>
              </a:ext>
            </a:extLst>
          </p:cNvPr>
          <p:cNvCxnSpPr>
            <a:cxnSpLocks/>
          </p:cNvCxnSpPr>
          <p:nvPr/>
        </p:nvCxnSpPr>
        <p:spPr>
          <a:xfrm flipH="1">
            <a:off x="9734742" y="2565520"/>
            <a:ext cx="195517" cy="185554"/>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27" name="Straight Connector 126">
            <a:extLst>
              <a:ext uri="{FF2B5EF4-FFF2-40B4-BE49-F238E27FC236}">
                <a16:creationId xmlns:a16="http://schemas.microsoft.com/office/drawing/2014/main" id="{B39877D2-C0BD-5AC8-75D2-8226B3B51EFF}"/>
              </a:ext>
            </a:extLst>
          </p:cNvPr>
          <p:cNvCxnSpPr>
            <a:cxnSpLocks/>
          </p:cNvCxnSpPr>
          <p:nvPr/>
        </p:nvCxnSpPr>
        <p:spPr>
          <a:xfrm flipH="1">
            <a:off x="7847734" y="2562319"/>
            <a:ext cx="195517" cy="185554"/>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888799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7700A-4BA9-59D6-7095-32790D1B639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7364600-12D1-A8B4-CEB3-7EE36CE249CE}"/>
              </a:ext>
            </a:extLst>
          </p:cNvPr>
          <p:cNvSpPr>
            <a:spLocks noGrp="1"/>
          </p:cNvSpPr>
          <p:nvPr>
            <p:ph type="title"/>
          </p:nvPr>
        </p:nvSpPr>
        <p:spPr>
          <a:xfrm>
            <a:off x="38100" y="69651"/>
            <a:ext cx="12114000" cy="1153094"/>
          </a:xfrm>
          <a:prstGeom prst="roundRect">
            <a:avLst>
              <a:gd name="adj" fmla="val 36459"/>
            </a:avLst>
          </a:prstGeom>
          <a:noFill/>
        </p:spPr>
        <p:txBody>
          <a:bodyPr>
            <a:noAutofit/>
          </a:bodyPr>
          <a:lstStyle/>
          <a:p>
            <a:r>
              <a:rPr lang="en-US" sz="3400" b="1" dirty="0">
                <a:solidFill>
                  <a:srgbClr val="002060"/>
                </a:solidFill>
              </a:rPr>
              <a:t>	FIND THE CRYSTAL FOOTPRINT THROUGH SCATTERING</a:t>
            </a:r>
            <a:endParaRPr lang="it-IT" sz="3400" b="1" dirty="0">
              <a:solidFill>
                <a:srgbClr val="002060"/>
              </a:solidFill>
            </a:endParaRPr>
          </a:p>
        </p:txBody>
      </p:sp>
      <p:sp>
        <p:nvSpPr>
          <p:cNvPr id="4" name="Segnaposto data 3">
            <a:extLst>
              <a:ext uri="{FF2B5EF4-FFF2-40B4-BE49-F238E27FC236}">
                <a16:creationId xmlns:a16="http://schemas.microsoft.com/office/drawing/2014/main" id="{9E515DA8-2D65-568F-EBDA-3A7F71726D5F}"/>
              </a:ext>
            </a:extLst>
          </p:cNvPr>
          <p:cNvSpPr>
            <a:spLocks noGrp="1"/>
          </p:cNvSpPr>
          <p:nvPr>
            <p:ph type="dt" sz="half" idx="10"/>
          </p:nvPr>
        </p:nvSpPr>
        <p:spPr>
          <a:xfrm>
            <a:off x="838200" y="6356349"/>
            <a:ext cx="2743200" cy="432000"/>
          </a:xfrm>
        </p:spPr>
        <p:txBody>
          <a:bodyPr/>
          <a:lstStyle/>
          <a:p>
            <a:r>
              <a:rPr lang="it-IT" sz="1500" b="1" dirty="0">
                <a:solidFill>
                  <a:srgbClr val="002060"/>
                </a:solidFill>
              </a:rPr>
              <a:t>September 2026</a:t>
            </a:r>
          </a:p>
        </p:txBody>
      </p:sp>
      <p:sp>
        <p:nvSpPr>
          <p:cNvPr id="5" name="Segnaposto piè di pagina 4">
            <a:extLst>
              <a:ext uri="{FF2B5EF4-FFF2-40B4-BE49-F238E27FC236}">
                <a16:creationId xmlns:a16="http://schemas.microsoft.com/office/drawing/2014/main" id="{7315B1E2-8421-8A93-9C68-0B420B70390F}"/>
              </a:ext>
            </a:extLst>
          </p:cNvPr>
          <p:cNvSpPr>
            <a:spLocks noGrp="1"/>
          </p:cNvSpPr>
          <p:nvPr>
            <p:ph type="ftr" sz="quarter" idx="11"/>
          </p:nvPr>
        </p:nvSpPr>
        <p:spPr>
          <a:xfrm>
            <a:off x="0" y="6356349"/>
            <a:ext cx="12192000" cy="432000"/>
          </a:xfrm>
        </p:spPr>
        <p:txBody>
          <a:bodyPr/>
          <a:lstStyle/>
          <a:p>
            <a:r>
              <a:rPr lang="it-IT" sz="1500" b="1" dirty="0">
                <a:solidFill>
                  <a:srgbClr val="002060"/>
                </a:solidFill>
              </a:rPr>
              <a:t>Anna Sofia Moro</a:t>
            </a:r>
          </a:p>
        </p:txBody>
      </p:sp>
      <p:sp>
        <p:nvSpPr>
          <p:cNvPr id="6" name="Segnaposto numero diapositiva 5">
            <a:extLst>
              <a:ext uri="{FF2B5EF4-FFF2-40B4-BE49-F238E27FC236}">
                <a16:creationId xmlns:a16="http://schemas.microsoft.com/office/drawing/2014/main" id="{4A8F9AB5-280E-E104-12EC-01AB91BFAA3B}"/>
              </a:ext>
            </a:extLst>
          </p:cNvPr>
          <p:cNvSpPr>
            <a:spLocks noGrp="1"/>
          </p:cNvSpPr>
          <p:nvPr>
            <p:ph type="sldNum" sz="quarter" idx="12"/>
          </p:nvPr>
        </p:nvSpPr>
        <p:spPr>
          <a:xfrm>
            <a:off x="8610600" y="6356349"/>
            <a:ext cx="2743200" cy="432000"/>
          </a:xfrm>
        </p:spPr>
        <p:txBody>
          <a:bodyPr/>
          <a:lstStyle/>
          <a:p>
            <a:fld id="{0A318BD9-CA14-4A83-ACF0-03D5918EB402}" type="slidenum">
              <a:rPr lang="it-IT" sz="1500" b="1" smtClean="0">
                <a:solidFill>
                  <a:srgbClr val="002060"/>
                </a:solidFill>
              </a:rPr>
              <a:t>4</a:t>
            </a:fld>
            <a:endParaRPr lang="it-IT" sz="1500" b="1" dirty="0">
              <a:solidFill>
                <a:srgbClr val="002060"/>
              </a:solidFill>
            </a:endParaRPr>
          </a:p>
        </p:txBody>
      </p:sp>
      <p:cxnSp>
        <p:nvCxnSpPr>
          <p:cNvPr id="10" name="Connettore diritto 9">
            <a:extLst>
              <a:ext uri="{FF2B5EF4-FFF2-40B4-BE49-F238E27FC236}">
                <a16:creationId xmlns:a16="http://schemas.microsoft.com/office/drawing/2014/main" id="{19D0D830-0ECF-DF66-C3EE-573AF9015A4B}"/>
              </a:ext>
            </a:extLst>
          </p:cNvPr>
          <p:cNvCxnSpPr>
            <a:cxnSpLocks/>
          </p:cNvCxnSpPr>
          <p:nvPr/>
        </p:nvCxnSpPr>
        <p:spPr>
          <a:xfrm>
            <a:off x="696000" y="1155368"/>
            <a:ext cx="10800000" cy="0"/>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sp>
        <p:nvSpPr>
          <p:cNvPr id="13" name="CasellaDiTesto 12">
            <a:extLst>
              <a:ext uri="{FF2B5EF4-FFF2-40B4-BE49-F238E27FC236}">
                <a16:creationId xmlns:a16="http://schemas.microsoft.com/office/drawing/2014/main" id="{E3035E7C-53F1-598A-D66C-D7D385559110}"/>
              </a:ext>
            </a:extLst>
          </p:cNvPr>
          <p:cNvSpPr txBox="1"/>
          <p:nvPr/>
        </p:nvSpPr>
        <p:spPr>
          <a:xfrm>
            <a:off x="3048886" y="3244334"/>
            <a:ext cx="6097772" cy="369332"/>
          </a:xfrm>
          <a:prstGeom prst="rect">
            <a:avLst/>
          </a:prstGeom>
          <a:noFill/>
        </p:spPr>
        <p:txBody>
          <a:bodyPr wrap="square">
            <a:spAutoFit/>
          </a:bodyPr>
          <a:lstStyle/>
          <a:p>
            <a:endParaRPr lang="it-IT" dirty="0"/>
          </a:p>
        </p:txBody>
      </p:sp>
      <p:sp>
        <p:nvSpPr>
          <p:cNvPr id="15" name="CasellaDiTesto 14">
            <a:extLst>
              <a:ext uri="{FF2B5EF4-FFF2-40B4-BE49-F238E27FC236}">
                <a16:creationId xmlns:a16="http://schemas.microsoft.com/office/drawing/2014/main" id="{98C326B0-3D14-566E-7A63-A186187603FF}"/>
              </a:ext>
            </a:extLst>
          </p:cNvPr>
          <p:cNvSpPr txBox="1"/>
          <p:nvPr/>
        </p:nvSpPr>
        <p:spPr>
          <a:xfrm>
            <a:off x="3048886" y="3244334"/>
            <a:ext cx="6097772" cy="369332"/>
          </a:xfrm>
          <a:prstGeom prst="rect">
            <a:avLst/>
          </a:prstGeom>
          <a:noFill/>
        </p:spPr>
        <p:txBody>
          <a:bodyPr wrap="square">
            <a:spAutoFit/>
          </a:bodyPr>
          <a:lstStyle/>
          <a:p>
            <a:endParaRPr lang="it-IT" dirty="0"/>
          </a:p>
        </p:txBody>
      </p:sp>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05FEDFB2-5B94-C818-C6DF-5042B4D592E3}"/>
                  </a:ext>
                </a:extLst>
              </p:cNvPr>
              <p:cNvSpPr>
                <a:spLocks noGrp="1"/>
              </p:cNvSpPr>
              <p:nvPr>
                <p:ph idx="1"/>
              </p:nvPr>
            </p:nvSpPr>
            <p:spPr>
              <a:xfrm>
                <a:off x="838200" y="1312438"/>
                <a:ext cx="10515600" cy="4864525"/>
              </a:xfrm>
            </p:spPr>
            <p:txBody>
              <a:bodyPr>
                <a:normAutofit/>
              </a:bodyPr>
              <a:lstStyle/>
              <a:p>
                <a:r>
                  <a:rPr lang="en-US" sz="2400" dirty="0"/>
                  <a:t>Divided the crystal into slices along </a:t>
                </a:r>
                <a14:m>
                  <m:oMath xmlns:m="http://schemas.openxmlformats.org/officeDocument/2006/math">
                    <m:r>
                      <a:rPr lang="en-US" sz="2400" i="1" dirty="0" smtClean="0">
                        <a:latin typeface="Cambria Math" panose="02040503050406030204" pitchFamily="18" charset="0"/>
                      </a:rPr>
                      <m:t>𝑥</m:t>
                    </m:r>
                  </m:oMath>
                </a14:m>
                <a:r>
                  <a:rPr lang="en-US" sz="2400" dirty="0"/>
                  <a:t> or </a:t>
                </a:r>
                <a14:m>
                  <m:oMath xmlns:m="http://schemas.openxmlformats.org/officeDocument/2006/math">
                    <m:r>
                      <a:rPr lang="en-US" sz="2400" i="1" dirty="0" smtClean="0">
                        <a:latin typeface="Cambria Math" panose="02040503050406030204" pitchFamily="18" charset="0"/>
                      </a:rPr>
                      <m:t>𝑦</m:t>
                    </m:r>
                  </m:oMath>
                </a14:m>
                <a:endParaRPr lang="en-US" sz="2400" dirty="0"/>
              </a:p>
              <a:p>
                <a:r>
                  <a:rPr lang="en-US" sz="2400" dirty="0"/>
                  <a:t>Width of the angular distribution </a:t>
                </a:r>
                <a14:m>
                  <m:oMath xmlns:m="http://schemas.openxmlformats.org/officeDocument/2006/math">
                    <m:r>
                      <a:rPr lang="it-IT" sz="2400" b="0" i="1" smtClean="0">
                        <a:latin typeface="Cambria Math" panose="02040503050406030204" pitchFamily="18" charset="0"/>
                      </a:rPr>
                      <m:t>𝜎</m:t>
                    </m:r>
                  </m:oMath>
                </a14:m>
                <a:r>
                  <a:rPr lang="en-US" sz="2400" dirty="0"/>
                  <a:t> for each slice</a:t>
                </a:r>
              </a:p>
            </p:txBody>
          </p:sp>
        </mc:Choice>
        <mc:Fallback xmlns="">
          <p:sp>
            <p:nvSpPr>
              <p:cNvPr id="8" name="Content Placeholder 7">
                <a:extLst>
                  <a:ext uri="{FF2B5EF4-FFF2-40B4-BE49-F238E27FC236}">
                    <a16:creationId xmlns:a16="http://schemas.microsoft.com/office/drawing/2014/main" id="{05FEDFB2-5B94-C818-C6DF-5042B4D592E3}"/>
                  </a:ext>
                </a:extLst>
              </p:cNvPr>
              <p:cNvSpPr>
                <a:spLocks noGrp="1" noRot="1" noChangeAspect="1" noMove="1" noResize="1" noEditPoints="1" noAdjustHandles="1" noChangeArrowheads="1" noChangeShapeType="1" noTextEdit="1"/>
              </p:cNvSpPr>
              <p:nvPr>
                <p:ph idx="1"/>
              </p:nvPr>
            </p:nvSpPr>
            <p:spPr>
              <a:xfrm>
                <a:off x="838200" y="1312438"/>
                <a:ext cx="10515600" cy="4864525"/>
              </a:xfrm>
              <a:blipFill>
                <a:blip r:embed="rId3"/>
                <a:stretch>
                  <a:fillRect l="-812" t="-1629"/>
                </a:stretch>
              </a:blipFill>
            </p:spPr>
            <p:txBody>
              <a:bodyPr/>
              <a:lstStyle/>
              <a:p>
                <a:r>
                  <a:rPr lang="it-IT">
                    <a:noFill/>
                  </a:rPr>
                  <a:t> </a:t>
                </a:r>
              </a:p>
            </p:txBody>
          </p:sp>
        </mc:Fallback>
      </mc:AlternateContent>
      <p:pic>
        <p:nvPicPr>
          <p:cNvPr id="9" name="Picture 8">
            <a:extLst>
              <a:ext uri="{FF2B5EF4-FFF2-40B4-BE49-F238E27FC236}">
                <a16:creationId xmlns:a16="http://schemas.microsoft.com/office/drawing/2014/main" id="{567F6078-1E30-0CB4-2A79-3F65DD83A900}"/>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98142" y="2881632"/>
            <a:ext cx="4800000" cy="3597228"/>
          </a:xfrm>
          <a:prstGeom prst="rect">
            <a:avLst/>
          </a:prstGeom>
        </p:spPr>
      </p:pic>
      <p:sp>
        <p:nvSpPr>
          <p:cNvPr id="12" name="Rectangle: Rounded Corners 11">
            <a:extLst>
              <a:ext uri="{FF2B5EF4-FFF2-40B4-BE49-F238E27FC236}">
                <a16:creationId xmlns:a16="http://schemas.microsoft.com/office/drawing/2014/main" id="{04F18782-7D1F-DC9C-E1C3-A4676FA4586D}"/>
              </a:ext>
            </a:extLst>
          </p:cNvPr>
          <p:cNvSpPr/>
          <p:nvPr/>
        </p:nvSpPr>
        <p:spPr>
          <a:xfrm>
            <a:off x="4305708" y="3577284"/>
            <a:ext cx="1504987" cy="593124"/>
          </a:xfrm>
          <a:prstGeom prst="roundRect">
            <a:avLst/>
          </a:prstGeom>
          <a:solidFill>
            <a:schemeClr val="bg1"/>
          </a:solid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OUTSIDE</a:t>
            </a:r>
            <a:endParaRPr lang="it-IT" sz="2000" dirty="0">
              <a:solidFill>
                <a:schemeClr val="tx1"/>
              </a:solidFill>
            </a:endParaRPr>
          </a:p>
        </p:txBody>
      </p:sp>
      <p:pic>
        <p:nvPicPr>
          <p:cNvPr id="17" name="Picture 16">
            <a:extLst>
              <a:ext uri="{FF2B5EF4-FFF2-40B4-BE49-F238E27FC236}">
                <a16:creationId xmlns:a16="http://schemas.microsoft.com/office/drawing/2014/main" id="{181CC506-EA80-A901-B57C-162055D9A665}"/>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5970600" y="2906400"/>
            <a:ext cx="4800000" cy="3593079"/>
          </a:xfrm>
          <a:prstGeom prst="rect">
            <a:avLst/>
          </a:prstGeom>
        </p:spPr>
      </p:pic>
      <p:sp>
        <p:nvSpPr>
          <p:cNvPr id="16" name="Rectangle: Rounded Corners 15">
            <a:extLst>
              <a:ext uri="{FF2B5EF4-FFF2-40B4-BE49-F238E27FC236}">
                <a16:creationId xmlns:a16="http://schemas.microsoft.com/office/drawing/2014/main" id="{EFFF1DB4-02FC-6DB9-6C7D-9C9AEB18ADE9}"/>
              </a:ext>
            </a:extLst>
          </p:cNvPr>
          <p:cNvSpPr/>
          <p:nvPr/>
        </p:nvSpPr>
        <p:spPr>
          <a:xfrm>
            <a:off x="10171347" y="3596422"/>
            <a:ext cx="1504987" cy="593124"/>
          </a:xfrm>
          <a:prstGeom prst="roundRect">
            <a:avLst/>
          </a:prstGeom>
          <a:solidFill>
            <a:schemeClr val="bg1"/>
          </a:solid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INSIDE</a:t>
            </a:r>
            <a:endParaRPr lang="it-IT" sz="2000" dirty="0">
              <a:solidFill>
                <a:schemeClr val="tx1"/>
              </a:solidFill>
            </a:endParaRPr>
          </a:p>
        </p:txBody>
      </p:sp>
      <p:grpSp>
        <p:nvGrpSpPr>
          <p:cNvPr id="52" name="Group 51">
            <a:extLst>
              <a:ext uri="{FF2B5EF4-FFF2-40B4-BE49-F238E27FC236}">
                <a16:creationId xmlns:a16="http://schemas.microsoft.com/office/drawing/2014/main" id="{63EAD447-B923-549A-00D2-FEFA199086B2}"/>
              </a:ext>
            </a:extLst>
          </p:cNvPr>
          <p:cNvGrpSpPr/>
          <p:nvPr/>
        </p:nvGrpSpPr>
        <p:grpSpPr>
          <a:xfrm>
            <a:off x="7426133" y="1273681"/>
            <a:ext cx="2845980" cy="1754206"/>
            <a:chOff x="7426133" y="943481"/>
            <a:chExt cx="2845980" cy="1754206"/>
          </a:xfrm>
        </p:grpSpPr>
        <p:cxnSp>
          <p:nvCxnSpPr>
            <p:cNvPr id="20" name="Straight Connector 19">
              <a:extLst>
                <a:ext uri="{FF2B5EF4-FFF2-40B4-BE49-F238E27FC236}">
                  <a16:creationId xmlns:a16="http://schemas.microsoft.com/office/drawing/2014/main" id="{639D6C88-2E95-A2F3-2D17-7D68656A5974}"/>
                </a:ext>
              </a:extLst>
            </p:cNvPr>
            <p:cNvCxnSpPr>
              <a:cxnSpLocks/>
            </p:cNvCxnSpPr>
            <p:nvPr/>
          </p:nvCxnSpPr>
          <p:spPr>
            <a:xfrm flipV="1">
              <a:off x="7778282" y="2499246"/>
              <a:ext cx="2203918" cy="8288"/>
            </a:xfrm>
            <a:prstGeom prst="line">
              <a:avLst/>
            </a:prstGeom>
            <a:ln>
              <a:headEnd type="none" w="med" len="med"/>
              <a:tailEnd type="arrow" w="med" len="med"/>
            </a:ln>
          </p:spPr>
          <p:style>
            <a:lnRef idx="2">
              <a:schemeClr val="dk1"/>
            </a:lnRef>
            <a:fillRef idx="0">
              <a:schemeClr val="dk1"/>
            </a:fillRef>
            <a:effectRef idx="1">
              <a:schemeClr val="dk1"/>
            </a:effectRef>
            <a:fontRef idx="minor">
              <a:schemeClr val="tx1"/>
            </a:fontRef>
          </p:style>
        </p:cxnSp>
        <p:cxnSp>
          <p:nvCxnSpPr>
            <p:cNvPr id="21" name="Straight Connector 20">
              <a:extLst>
                <a:ext uri="{FF2B5EF4-FFF2-40B4-BE49-F238E27FC236}">
                  <a16:creationId xmlns:a16="http://schemas.microsoft.com/office/drawing/2014/main" id="{978CD744-AFA2-3161-39F0-4AE09D7A7542}"/>
                </a:ext>
              </a:extLst>
            </p:cNvPr>
            <p:cNvCxnSpPr>
              <a:cxnSpLocks/>
            </p:cNvCxnSpPr>
            <p:nvPr/>
          </p:nvCxnSpPr>
          <p:spPr>
            <a:xfrm flipV="1">
              <a:off x="7778282" y="943481"/>
              <a:ext cx="0" cy="1564053"/>
            </a:xfrm>
            <a:prstGeom prst="line">
              <a:avLst/>
            </a:prstGeom>
            <a:ln>
              <a:headEnd type="none" w="med" len="med"/>
              <a:tailEnd type="arrow" w="med" len="med"/>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9CA3738B-F456-EF07-2BEB-DB04502A7CE6}"/>
                    </a:ext>
                  </a:extLst>
                </p:cNvPr>
                <p:cNvSpPr txBox="1"/>
                <p:nvPr/>
              </p:nvSpPr>
              <p:spPr>
                <a:xfrm>
                  <a:off x="9910539" y="2328355"/>
                  <a:ext cx="361574" cy="369332"/>
                </a:xfrm>
                <a:prstGeom prst="rect">
                  <a:avLst/>
                </a:prstGeom>
                <a:noFill/>
              </p:spPr>
              <p:txBody>
                <a:bodyPr wrap="none" rtlCol="0">
                  <a:spAutoFit/>
                </a:bodyPr>
                <a:lstStyle/>
                <a:p>
                  <a:pPr/>
                  <a14:m>
                    <m:oMathPara xmlns:m="http://schemas.openxmlformats.org/officeDocument/2006/math">
                      <m:oMath>
                        <m:r>
                          <a:rPr lang="it-IT" b="1" i="1" dirty="0" smtClean="0">
                            <a:latin typeface="Cambria Math" panose="02040503050406030204" pitchFamily="18" charset="0"/>
                          </a:rPr>
                          <m:t>𝒙</m:t>
                        </m:r>
                      </m:oMath>
                    </m:oMathPara>
                  </a14:m>
                  <a:endParaRPr lang="it-IT" b="1" dirty="0"/>
                </a:p>
              </p:txBody>
            </p:sp>
          </mc:Choice>
          <mc:Fallback xmlns="">
            <p:sp>
              <p:nvSpPr>
                <p:cNvPr id="26" name="TextBox 25">
                  <a:extLst>
                    <a:ext uri="{FF2B5EF4-FFF2-40B4-BE49-F238E27FC236}">
                      <a16:creationId xmlns:a16="http://schemas.microsoft.com/office/drawing/2014/main" id="{9CA3738B-F456-EF07-2BEB-DB04502A7CE6}"/>
                    </a:ext>
                  </a:extLst>
                </p:cNvPr>
                <p:cNvSpPr txBox="1">
                  <a:spLocks noRot="1" noChangeAspect="1" noMove="1" noResize="1" noEditPoints="1" noAdjustHandles="1" noChangeArrowheads="1" noChangeShapeType="1" noTextEdit="1"/>
                </p:cNvSpPr>
                <p:nvPr/>
              </p:nvSpPr>
              <p:spPr>
                <a:xfrm>
                  <a:off x="9910539" y="2328355"/>
                  <a:ext cx="361574" cy="369332"/>
                </a:xfrm>
                <a:prstGeom prst="rect">
                  <a:avLst/>
                </a:prstGeom>
                <a:blipFill>
                  <a:blip r:embed="rId6"/>
                  <a:stretch>
                    <a:fillRect/>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A45B66D8-2661-386F-6873-DE37DF56B999}"/>
                    </a:ext>
                  </a:extLst>
                </p:cNvPr>
                <p:cNvSpPr txBox="1"/>
                <p:nvPr/>
              </p:nvSpPr>
              <p:spPr>
                <a:xfrm>
                  <a:off x="7426133" y="1106696"/>
                  <a:ext cx="369012" cy="369332"/>
                </a:xfrm>
                <a:prstGeom prst="rect">
                  <a:avLst/>
                </a:prstGeom>
                <a:noFill/>
              </p:spPr>
              <p:txBody>
                <a:bodyPr wrap="none" rtlCol="0">
                  <a:spAutoFit/>
                </a:bodyPr>
                <a:lstStyle/>
                <a:p>
                  <a:pPr/>
                  <a14:m>
                    <m:oMathPara xmlns:m="http://schemas.openxmlformats.org/officeDocument/2006/math">
                      <m:oMath>
                        <m:r>
                          <a:rPr lang="it-IT" b="1" i="1" dirty="0" smtClean="0">
                            <a:latin typeface="Cambria Math" panose="02040503050406030204" pitchFamily="18" charset="0"/>
                          </a:rPr>
                          <m:t>𝒚</m:t>
                        </m:r>
                      </m:oMath>
                    </m:oMathPara>
                  </a14:m>
                  <a:endParaRPr lang="it-IT" b="1" dirty="0"/>
                </a:p>
              </p:txBody>
            </p:sp>
          </mc:Choice>
          <mc:Fallback xmlns="">
            <p:sp>
              <p:nvSpPr>
                <p:cNvPr id="28" name="TextBox 27">
                  <a:extLst>
                    <a:ext uri="{FF2B5EF4-FFF2-40B4-BE49-F238E27FC236}">
                      <a16:creationId xmlns:a16="http://schemas.microsoft.com/office/drawing/2014/main" id="{A45B66D8-2661-386F-6873-DE37DF56B999}"/>
                    </a:ext>
                  </a:extLst>
                </p:cNvPr>
                <p:cNvSpPr txBox="1">
                  <a:spLocks noRot="1" noChangeAspect="1" noMove="1" noResize="1" noEditPoints="1" noAdjustHandles="1" noChangeArrowheads="1" noChangeShapeType="1" noTextEdit="1"/>
                </p:cNvSpPr>
                <p:nvPr/>
              </p:nvSpPr>
              <p:spPr>
                <a:xfrm>
                  <a:off x="7426133" y="1106696"/>
                  <a:ext cx="369012" cy="369332"/>
                </a:xfrm>
                <a:prstGeom prst="rect">
                  <a:avLst/>
                </a:prstGeom>
                <a:blipFill>
                  <a:blip r:embed="rId7"/>
                  <a:stretch>
                    <a:fillRect b="-6667"/>
                  </a:stretch>
                </a:blipFill>
              </p:spPr>
              <p:txBody>
                <a:bodyPr/>
                <a:lstStyle/>
                <a:p>
                  <a:r>
                    <a:rPr lang="it-IT">
                      <a:noFill/>
                    </a:rPr>
                    <a:t> </a:t>
                  </a:r>
                </a:p>
              </p:txBody>
            </p:sp>
          </mc:Fallback>
        </mc:AlternateContent>
      </p:grpSp>
      <p:sp>
        <p:nvSpPr>
          <p:cNvPr id="3" name="Rectangle 2">
            <a:extLst>
              <a:ext uri="{FF2B5EF4-FFF2-40B4-BE49-F238E27FC236}">
                <a16:creationId xmlns:a16="http://schemas.microsoft.com/office/drawing/2014/main" id="{1652B541-1476-5803-AB49-11020B15072B}"/>
              </a:ext>
            </a:extLst>
          </p:cNvPr>
          <p:cNvSpPr/>
          <p:nvPr/>
        </p:nvSpPr>
        <p:spPr>
          <a:xfrm>
            <a:off x="8438732" y="1512441"/>
            <a:ext cx="801521" cy="1135902"/>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7" name="Straight Connector 6">
            <a:extLst>
              <a:ext uri="{FF2B5EF4-FFF2-40B4-BE49-F238E27FC236}">
                <a16:creationId xmlns:a16="http://schemas.microsoft.com/office/drawing/2014/main" id="{741FC664-6478-D290-AC4B-DF1F5474D0A2}"/>
              </a:ext>
            </a:extLst>
          </p:cNvPr>
          <p:cNvCxnSpPr/>
          <p:nvPr/>
        </p:nvCxnSpPr>
        <p:spPr>
          <a:xfrm>
            <a:off x="8003117" y="1656927"/>
            <a:ext cx="1708150"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1DD3D4E-396D-6BD6-16CD-253DFF318574}"/>
              </a:ext>
            </a:extLst>
          </p:cNvPr>
          <p:cNvCxnSpPr/>
          <p:nvPr/>
        </p:nvCxnSpPr>
        <p:spPr>
          <a:xfrm>
            <a:off x="8003117" y="1530122"/>
            <a:ext cx="1708150"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067EF6B-1EA9-8B7F-06CD-60E77A1E531C}"/>
              </a:ext>
            </a:extLst>
          </p:cNvPr>
          <p:cNvCxnSpPr/>
          <p:nvPr/>
        </p:nvCxnSpPr>
        <p:spPr>
          <a:xfrm>
            <a:off x="8003117" y="1793452"/>
            <a:ext cx="1708150"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B78D738D-B536-158F-43DD-465755E69EA1}"/>
              </a:ext>
            </a:extLst>
          </p:cNvPr>
          <p:cNvCxnSpPr/>
          <p:nvPr/>
        </p:nvCxnSpPr>
        <p:spPr>
          <a:xfrm>
            <a:off x="8003117" y="2066513"/>
            <a:ext cx="1708150"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85ADC88B-2CBA-384B-93F8-BBDF85E386BE}"/>
              </a:ext>
            </a:extLst>
          </p:cNvPr>
          <p:cNvCxnSpPr/>
          <p:nvPr/>
        </p:nvCxnSpPr>
        <p:spPr>
          <a:xfrm>
            <a:off x="8003117" y="1939708"/>
            <a:ext cx="1708150"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E693D7BF-F721-8934-F779-C6470240E08F}"/>
              </a:ext>
            </a:extLst>
          </p:cNvPr>
          <p:cNvCxnSpPr/>
          <p:nvPr/>
        </p:nvCxnSpPr>
        <p:spPr>
          <a:xfrm>
            <a:off x="8003117" y="2203038"/>
            <a:ext cx="1708150"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E6C40756-1AFA-2170-BC8E-8FB213336F49}"/>
              </a:ext>
            </a:extLst>
          </p:cNvPr>
          <p:cNvCxnSpPr/>
          <p:nvPr/>
        </p:nvCxnSpPr>
        <p:spPr>
          <a:xfrm>
            <a:off x="8003117" y="2477665"/>
            <a:ext cx="1708150"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F596C15F-7AE2-4CAC-8D5E-A685DBA8E01D}"/>
              </a:ext>
            </a:extLst>
          </p:cNvPr>
          <p:cNvCxnSpPr/>
          <p:nvPr/>
        </p:nvCxnSpPr>
        <p:spPr>
          <a:xfrm>
            <a:off x="8003117" y="2350860"/>
            <a:ext cx="1708150"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5A5B661B-1ACE-177A-5CC8-115BE93EFB26}"/>
              </a:ext>
            </a:extLst>
          </p:cNvPr>
          <p:cNvCxnSpPr/>
          <p:nvPr/>
        </p:nvCxnSpPr>
        <p:spPr>
          <a:xfrm>
            <a:off x="8003117" y="2614190"/>
            <a:ext cx="1708150"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4446A0A6-0DB8-7BB2-1A48-95E598FF216C}"/>
              </a:ext>
            </a:extLst>
          </p:cNvPr>
          <p:cNvCxnSpPr/>
          <p:nvPr/>
        </p:nvCxnSpPr>
        <p:spPr>
          <a:xfrm>
            <a:off x="8003117" y="1392962"/>
            <a:ext cx="1708150"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48E8A564-DE78-A4C2-3D1A-28FB47E95E30}"/>
              </a:ext>
            </a:extLst>
          </p:cNvPr>
          <p:cNvCxnSpPr/>
          <p:nvPr/>
        </p:nvCxnSpPr>
        <p:spPr>
          <a:xfrm>
            <a:off x="8003117" y="2764562"/>
            <a:ext cx="1708150"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78A63F9A-9B32-F30B-8DE2-294DB7A5A76C}"/>
              </a:ext>
            </a:extLst>
          </p:cNvPr>
          <p:cNvCxnSpPr/>
          <p:nvPr/>
        </p:nvCxnSpPr>
        <p:spPr>
          <a:xfrm>
            <a:off x="8003117" y="1273681"/>
            <a:ext cx="1708150"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nvGrpSpPr>
          <p:cNvPr id="93" name="Group 92">
            <a:extLst>
              <a:ext uri="{FF2B5EF4-FFF2-40B4-BE49-F238E27FC236}">
                <a16:creationId xmlns:a16="http://schemas.microsoft.com/office/drawing/2014/main" id="{1FB564E0-B190-DA07-75F0-3A4ECA596325}"/>
              </a:ext>
            </a:extLst>
          </p:cNvPr>
          <p:cNvGrpSpPr/>
          <p:nvPr/>
        </p:nvGrpSpPr>
        <p:grpSpPr>
          <a:xfrm>
            <a:off x="9236644" y="1190625"/>
            <a:ext cx="480811" cy="1619301"/>
            <a:chOff x="9236644" y="1190625"/>
            <a:chExt cx="480811" cy="1619301"/>
          </a:xfrm>
        </p:grpSpPr>
        <p:grpSp>
          <p:nvGrpSpPr>
            <p:cNvPr id="33" name="Group 32">
              <a:extLst>
                <a:ext uri="{FF2B5EF4-FFF2-40B4-BE49-F238E27FC236}">
                  <a16:creationId xmlns:a16="http://schemas.microsoft.com/office/drawing/2014/main" id="{CF68E7E2-8D3E-521B-CEC1-9288EF7E1752}"/>
                </a:ext>
              </a:extLst>
            </p:cNvPr>
            <p:cNvGrpSpPr/>
            <p:nvPr/>
          </p:nvGrpSpPr>
          <p:grpSpPr>
            <a:xfrm rot="5400000">
              <a:off x="8664306" y="1762965"/>
              <a:ext cx="1619301" cy="474622"/>
              <a:chOff x="10333835" y="1325762"/>
              <a:chExt cx="1619301" cy="474622"/>
            </a:xfrm>
          </p:grpSpPr>
          <p:cxnSp>
            <p:nvCxnSpPr>
              <p:cNvPr id="74" name="Straight Connector 73">
                <a:extLst>
                  <a:ext uri="{FF2B5EF4-FFF2-40B4-BE49-F238E27FC236}">
                    <a16:creationId xmlns:a16="http://schemas.microsoft.com/office/drawing/2014/main" id="{C8872DBA-DC77-1833-3D68-23C5A79FC782}"/>
                  </a:ext>
                </a:extLst>
              </p:cNvPr>
              <p:cNvCxnSpPr>
                <a:cxnSpLocks/>
              </p:cNvCxnSpPr>
              <p:nvPr/>
            </p:nvCxnSpPr>
            <p:spPr>
              <a:xfrm rot="16200000" flipH="1" flipV="1">
                <a:off x="11139040" y="986288"/>
                <a:ext cx="8891" cy="1619301"/>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97" name="Straight Connector 96">
                <a:extLst>
                  <a:ext uri="{FF2B5EF4-FFF2-40B4-BE49-F238E27FC236}">
                    <a16:creationId xmlns:a16="http://schemas.microsoft.com/office/drawing/2014/main" id="{8D53507A-338E-191F-7AD7-FCC2682F0AE6}"/>
                  </a:ext>
                </a:extLst>
              </p:cNvPr>
              <p:cNvCxnSpPr>
                <a:cxnSpLocks/>
              </p:cNvCxnSpPr>
              <p:nvPr/>
            </p:nvCxnSpPr>
            <p:spPr>
              <a:xfrm rot="16200000" flipH="1" flipV="1">
                <a:off x="10278353" y="1469102"/>
                <a:ext cx="468797" cy="182117"/>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grpSp>
        <p:cxnSp>
          <p:nvCxnSpPr>
            <p:cNvPr id="71" name="Straight Connector 70">
              <a:extLst>
                <a:ext uri="{FF2B5EF4-FFF2-40B4-BE49-F238E27FC236}">
                  <a16:creationId xmlns:a16="http://schemas.microsoft.com/office/drawing/2014/main" id="{D5A56AA5-4EF7-6EEB-40A8-0817329EA181}"/>
                </a:ext>
              </a:extLst>
            </p:cNvPr>
            <p:cNvCxnSpPr>
              <a:cxnSpLocks/>
            </p:cNvCxnSpPr>
            <p:nvPr/>
          </p:nvCxnSpPr>
          <p:spPr>
            <a:xfrm flipH="1" flipV="1">
              <a:off x="9236646" y="1384635"/>
              <a:ext cx="468797" cy="182117"/>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72" name="Straight Connector 71">
              <a:extLst>
                <a:ext uri="{FF2B5EF4-FFF2-40B4-BE49-F238E27FC236}">
                  <a16:creationId xmlns:a16="http://schemas.microsoft.com/office/drawing/2014/main" id="{A10F2A01-479A-647C-821F-65B10511B5D7}"/>
                </a:ext>
              </a:extLst>
            </p:cNvPr>
            <p:cNvCxnSpPr>
              <a:cxnSpLocks/>
            </p:cNvCxnSpPr>
            <p:nvPr/>
          </p:nvCxnSpPr>
          <p:spPr>
            <a:xfrm flipH="1" flipV="1">
              <a:off x="9236645" y="1512557"/>
              <a:ext cx="468797" cy="182117"/>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73" name="Straight Connector 72">
              <a:extLst>
                <a:ext uri="{FF2B5EF4-FFF2-40B4-BE49-F238E27FC236}">
                  <a16:creationId xmlns:a16="http://schemas.microsoft.com/office/drawing/2014/main" id="{1042F241-6B03-0A6F-9E4E-D74ADCC80D94}"/>
                </a:ext>
              </a:extLst>
            </p:cNvPr>
            <p:cNvCxnSpPr>
              <a:cxnSpLocks/>
            </p:cNvCxnSpPr>
            <p:nvPr/>
          </p:nvCxnSpPr>
          <p:spPr>
            <a:xfrm flipH="1" flipV="1">
              <a:off x="9236644" y="1644814"/>
              <a:ext cx="468797" cy="182117"/>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75" name="Straight Connector 74">
              <a:extLst>
                <a:ext uri="{FF2B5EF4-FFF2-40B4-BE49-F238E27FC236}">
                  <a16:creationId xmlns:a16="http://schemas.microsoft.com/office/drawing/2014/main" id="{5839591E-4929-4901-E1A1-CA27115B9592}"/>
                </a:ext>
              </a:extLst>
            </p:cNvPr>
            <p:cNvCxnSpPr>
              <a:cxnSpLocks/>
            </p:cNvCxnSpPr>
            <p:nvPr/>
          </p:nvCxnSpPr>
          <p:spPr>
            <a:xfrm flipH="1" flipV="1">
              <a:off x="9236644" y="1756337"/>
              <a:ext cx="468797" cy="182117"/>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76" name="Straight Connector 75">
              <a:extLst>
                <a:ext uri="{FF2B5EF4-FFF2-40B4-BE49-F238E27FC236}">
                  <a16:creationId xmlns:a16="http://schemas.microsoft.com/office/drawing/2014/main" id="{024F48E5-F05B-0012-138E-198AE804D46D}"/>
                </a:ext>
              </a:extLst>
            </p:cNvPr>
            <p:cNvCxnSpPr>
              <a:cxnSpLocks/>
            </p:cNvCxnSpPr>
            <p:nvPr/>
          </p:nvCxnSpPr>
          <p:spPr>
            <a:xfrm flipH="1" flipV="1">
              <a:off x="9238204" y="1904870"/>
              <a:ext cx="468797" cy="182117"/>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a16="http://schemas.microsoft.com/office/drawing/2014/main" id="{6C718FD6-F553-EF10-FB4A-48FD6B55E5A5}"/>
                </a:ext>
              </a:extLst>
            </p:cNvPr>
            <p:cNvCxnSpPr>
              <a:cxnSpLocks/>
            </p:cNvCxnSpPr>
            <p:nvPr/>
          </p:nvCxnSpPr>
          <p:spPr>
            <a:xfrm flipH="1" flipV="1">
              <a:off x="9238203" y="2036614"/>
              <a:ext cx="468797" cy="182117"/>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28B222BA-2902-A1D0-408D-1EE689025EB8}"/>
                </a:ext>
              </a:extLst>
            </p:cNvPr>
            <p:cNvCxnSpPr>
              <a:cxnSpLocks/>
            </p:cNvCxnSpPr>
            <p:nvPr/>
          </p:nvCxnSpPr>
          <p:spPr>
            <a:xfrm flipH="1" flipV="1">
              <a:off x="9236644" y="2184952"/>
              <a:ext cx="468797" cy="182117"/>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5F970215-46E4-DB9F-63E3-86379C7CCE55}"/>
                </a:ext>
              </a:extLst>
            </p:cNvPr>
            <p:cNvCxnSpPr>
              <a:cxnSpLocks/>
            </p:cNvCxnSpPr>
            <p:nvPr/>
          </p:nvCxnSpPr>
          <p:spPr>
            <a:xfrm flipH="1" flipV="1">
              <a:off x="9248658" y="2313881"/>
              <a:ext cx="468797" cy="182117"/>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91" name="Straight Connector 90">
              <a:extLst>
                <a:ext uri="{FF2B5EF4-FFF2-40B4-BE49-F238E27FC236}">
                  <a16:creationId xmlns:a16="http://schemas.microsoft.com/office/drawing/2014/main" id="{9E805C5F-90F5-B020-6C71-B9F52FF54A2B}"/>
                </a:ext>
              </a:extLst>
            </p:cNvPr>
            <p:cNvCxnSpPr>
              <a:cxnSpLocks/>
            </p:cNvCxnSpPr>
            <p:nvPr/>
          </p:nvCxnSpPr>
          <p:spPr>
            <a:xfrm flipH="1" flipV="1">
              <a:off x="9248658" y="2432832"/>
              <a:ext cx="468797" cy="182117"/>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92" name="Straight Connector 91">
              <a:extLst>
                <a:ext uri="{FF2B5EF4-FFF2-40B4-BE49-F238E27FC236}">
                  <a16:creationId xmlns:a16="http://schemas.microsoft.com/office/drawing/2014/main" id="{1DC071FE-2FC4-633E-C471-3D81D81900B9}"/>
                </a:ext>
              </a:extLst>
            </p:cNvPr>
            <p:cNvCxnSpPr>
              <a:cxnSpLocks/>
            </p:cNvCxnSpPr>
            <p:nvPr/>
          </p:nvCxnSpPr>
          <p:spPr>
            <a:xfrm flipH="1" flipV="1">
              <a:off x="9245112" y="2581686"/>
              <a:ext cx="468797" cy="182117"/>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grpSp>
      <p:grpSp>
        <p:nvGrpSpPr>
          <p:cNvPr id="94" name="Group 93">
            <a:extLst>
              <a:ext uri="{FF2B5EF4-FFF2-40B4-BE49-F238E27FC236}">
                <a16:creationId xmlns:a16="http://schemas.microsoft.com/office/drawing/2014/main" id="{3794AEE7-D279-74C2-45D7-20C8B2D905EB}"/>
              </a:ext>
            </a:extLst>
          </p:cNvPr>
          <p:cNvGrpSpPr/>
          <p:nvPr/>
        </p:nvGrpSpPr>
        <p:grpSpPr>
          <a:xfrm flipH="1">
            <a:off x="7964111" y="1183294"/>
            <a:ext cx="480811" cy="1619301"/>
            <a:chOff x="9236644" y="1190625"/>
            <a:chExt cx="480811" cy="1619301"/>
          </a:xfrm>
        </p:grpSpPr>
        <p:grpSp>
          <p:nvGrpSpPr>
            <p:cNvPr id="128" name="Group 127">
              <a:extLst>
                <a:ext uri="{FF2B5EF4-FFF2-40B4-BE49-F238E27FC236}">
                  <a16:creationId xmlns:a16="http://schemas.microsoft.com/office/drawing/2014/main" id="{48C42A22-2073-D7E1-F790-169CAE772C87}"/>
                </a:ext>
              </a:extLst>
            </p:cNvPr>
            <p:cNvGrpSpPr/>
            <p:nvPr/>
          </p:nvGrpSpPr>
          <p:grpSpPr>
            <a:xfrm rot="5400000">
              <a:off x="8664306" y="1762965"/>
              <a:ext cx="1619301" cy="474622"/>
              <a:chOff x="10333835" y="1325762"/>
              <a:chExt cx="1619301" cy="474622"/>
            </a:xfrm>
          </p:grpSpPr>
          <p:cxnSp>
            <p:nvCxnSpPr>
              <p:cNvPr id="139" name="Straight Connector 138">
                <a:extLst>
                  <a:ext uri="{FF2B5EF4-FFF2-40B4-BE49-F238E27FC236}">
                    <a16:creationId xmlns:a16="http://schemas.microsoft.com/office/drawing/2014/main" id="{D04E9A79-8302-5E22-AD40-578D29AE8E72}"/>
                  </a:ext>
                </a:extLst>
              </p:cNvPr>
              <p:cNvCxnSpPr>
                <a:cxnSpLocks/>
              </p:cNvCxnSpPr>
              <p:nvPr/>
            </p:nvCxnSpPr>
            <p:spPr>
              <a:xfrm rot="16200000" flipH="1" flipV="1">
                <a:off x="11139040" y="986288"/>
                <a:ext cx="8891" cy="1619301"/>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40" name="Straight Connector 139">
                <a:extLst>
                  <a:ext uri="{FF2B5EF4-FFF2-40B4-BE49-F238E27FC236}">
                    <a16:creationId xmlns:a16="http://schemas.microsoft.com/office/drawing/2014/main" id="{BF933410-405D-78C2-7155-EA391B6695F4}"/>
                  </a:ext>
                </a:extLst>
              </p:cNvPr>
              <p:cNvCxnSpPr>
                <a:cxnSpLocks/>
              </p:cNvCxnSpPr>
              <p:nvPr/>
            </p:nvCxnSpPr>
            <p:spPr>
              <a:xfrm rot="16200000" flipH="1" flipV="1">
                <a:off x="10278353" y="1469102"/>
                <a:ext cx="468797" cy="182117"/>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grpSp>
        <p:cxnSp>
          <p:nvCxnSpPr>
            <p:cNvPr id="129" name="Straight Connector 128">
              <a:extLst>
                <a:ext uri="{FF2B5EF4-FFF2-40B4-BE49-F238E27FC236}">
                  <a16:creationId xmlns:a16="http://schemas.microsoft.com/office/drawing/2014/main" id="{AD57CA2E-371C-F604-A362-AC2FDB7EEFC7}"/>
                </a:ext>
              </a:extLst>
            </p:cNvPr>
            <p:cNvCxnSpPr>
              <a:cxnSpLocks/>
            </p:cNvCxnSpPr>
            <p:nvPr/>
          </p:nvCxnSpPr>
          <p:spPr>
            <a:xfrm flipH="1" flipV="1">
              <a:off x="9236646" y="1384635"/>
              <a:ext cx="468797" cy="182117"/>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30" name="Straight Connector 129">
              <a:extLst>
                <a:ext uri="{FF2B5EF4-FFF2-40B4-BE49-F238E27FC236}">
                  <a16:creationId xmlns:a16="http://schemas.microsoft.com/office/drawing/2014/main" id="{5B4CE28A-F410-F7E9-2C5D-02A0CAA3AC2A}"/>
                </a:ext>
              </a:extLst>
            </p:cNvPr>
            <p:cNvCxnSpPr>
              <a:cxnSpLocks/>
            </p:cNvCxnSpPr>
            <p:nvPr/>
          </p:nvCxnSpPr>
          <p:spPr>
            <a:xfrm flipH="1" flipV="1">
              <a:off x="9236645" y="1512557"/>
              <a:ext cx="468797" cy="182117"/>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31" name="Straight Connector 130">
              <a:extLst>
                <a:ext uri="{FF2B5EF4-FFF2-40B4-BE49-F238E27FC236}">
                  <a16:creationId xmlns:a16="http://schemas.microsoft.com/office/drawing/2014/main" id="{6B9E1B34-90A7-4A97-80E0-CF107DC2B331}"/>
                </a:ext>
              </a:extLst>
            </p:cNvPr>
            <p:cNvCxnSpPr>
              <a:cxnSpLocks/>
            </p:cNvCxnSpPr>
            <p:nvPr/>
          </p:nvCxnSpPr>
          <p:spPr>
            <a:xfrm flipH="1" flipV="1">
              <a:off x="9236644" y="1644814"/>
              <a:ext cx="468797" cy="182117"/>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32" name="Straight Connector 131">
              <a:extLst>
                <a:ext uri="{FF2B5EF4-FFF2-40B4-BE49-F238E27FC236}">
                  <a16:creationId xmlns:a16="http://schemas.microsoft.com/office/drawing/2014/main" id="{D1C910E4-F076-CD88-3B68-BA7727E123D9}"/>
                </a:ext>
              </a:extLst>
            </p:cNvPr>
            <p:cNvCxnSpPr>
              <a:cxnSpLocks/>
            </p:cNvCxnSpPr>
            <p:nvPr/>
          </p:nvCxnSpPr>
          <p:spPr>
            <a:xfrm flipH="1" flipV="1">
              <a:off x="9236644" y="1756337"/>
              <a:ext cx="468797" cy="182117"/>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33" name="Straight Connector 132">
              <a:extLst>
                <a:ext uri="{FF2B5EF4-FFF2-40B4-BE49-F238E27FC236}">
                  <a16:creationId xmlns:a16="http://schemas.microsoft.com/office/drawing/2014/main" id="{E1B9298F-5D7A-30C9-3AD4-CAA3B75B4A46}"/>
                </a:ext>
              </a:extLst>
            </p:cNvPr>
            <p:cNvCxnSpPr>
              <a:cxnSpLocks/>
            </p:cNvCxnSpPr>
            <p:nvPr/>
          </p:nvCxnSpPr>
          <p:spPr>
            <a:xfrm flipH="1" flipV="1">
              <a:off x="9238204" y="1904870"/>
              <a:ext cx="468797" cy="182117"/>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34" name="Straight Connector 133">
              <a:extLst>
                <a:ext uri="{FF2B5EF4-FFF2-40B4-BE49-F238E27FC236}">
                  <a16:creationId xmlns:a16="http://schemas.microsoft.com/office/drawing/2014/main" id="{16902423-74FA-CF0F-6459-31E62B35B89F}"/>
                </a:ext>
              </a:extLst>
            </p:cNvPr>
            <p:cNvCxnSpPr>
              <a:cxnSpLocks/>
            </p:cNvCxnSpPr>
            <p:nvPr/>
          </p:nvCxnSpPr>
          <p:spPr>
            <a:xfrm flipH="1" flipV="1">
              <a:off x="9238203" y="2036614"/>
              <a:ext cx="468797" cy="182117"/>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35" name="Straight Connector 134">
              <a:extLst>
                <a:ext uri="{FF2B5EF4-FFF2-40B4-BE49-F238E27FC236}">
                  <a16:creationId xmlns:a16="http://schemas.microsoft.com/office/drawing/2014/main" id="{AF2B2F37-5C0E-0041-F514-8AEC90FAD955}"/>
                </a:ext>
              </a:extLst>
            </p:cNvPr>
            <p:cNvCxnSpPr>
              <a:cxnSpLocks/>
            </p:cNvCxnSpPr>
            <p:nvPr/>
          </p:nvCxnSpPr>
          <p:spPr>
            <a:xfrm flipH="1" flipV="1">
              <a:off x="9236644" y="2184952"/>
              <a:ext cx="468797" cy="182117"/>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36" name="Straight Connector 135">
              <a:extLst>
                <a:ext uri="{FF2B5EF4-FFF2-40B4-BE49-F238E27FC236}">
                  <a16:creationId xmlns:a16="http://schemas.microsoft.com/office/drawing/2014/main" id="{7E865C6E-D974-E183-D720-D9F7500456BE}"/>
                </a:ext>
              </a:extLst>
            </p:cNvPr>
            <p:cNvCxnSpPr>
              <a:cxnSpLocks/>
            </p:cNvCxnSpPr>
            <p:nvPr/>
          </p:nvCxnSpPr>
          <p:spPr>
            <a:xfrm flipH="1" flipV="1">
              <a:off x="9248658" y="2313881"/>
              <a:ext cx="468797" cy="182117"/>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37" name="Straight Connector 136">
              <a:extLst>
                <a:ext uri="{FF2B5EF4-FFF2-40B4-BE49-F238E27FC236}">
                  <a16:creationId xmlns:a16="http://schemas.microsoft.com/office/drawing/2014/main" id="{938B4548-5870-B4C9-E217-63E1A0B200F0}"/>
                </a:ext>
              </a:extLst>
            </p:cNvPr>
            <p:cNvCxnSpPr>
              <a:cxnSpLocks/>
            </p:cNvCxnSpPr>
            <p:nvPr/>
          </p:nvCxnSpPr>
          <p:spPr>
            <a:xfrm flipH="1" flipV="1">
              <a:off x="9248658" y="2432832"/>
              <a:ext cx="468797" cy="182117"/>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38" name="Straight Connector 137">
              <a:extLst>
                <a:ext uri="{FF2B5EF4-FFF2-40B4-BE49-F238E27FC236}">
                  <a16:creationId xmlns:a16="http://schemas.microsoft.com/office/drawing/2014/main" id="{FF440233-A6CB-DE61-2E66-C8AE45228985}"/>
                </a:ext>
              </a:extLst>
            </p:cNvPr>
            <p:cNvCxnSpPr>
              <a:cxnSpLocks/>
            </p:cNvCxnSpPr>
            <p:nvPr/>
          </p:nvCxnSpPr>
          <p:spPr>
            <a:xfrm flipH="1" flipV="1">
              <a:off x="9245112" y="2581686"/>
              <a:ext cx="468797" cy="182117"/>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3578445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18203-F1CC-7498-60D5-33338C49A519}"/>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8209EC7-9EA7-A745-03E0-F4AA6D4CA966}"/>
              </a:ext>
            </a:extLst>
          </p:cNvPr>
          <p:cNvSpPr>
            <a:spLocks noGrp="1"/>
          </p:cNvSpPr>
          <p:nvPr>
            <p:ph type="title"/>
          </p:nvPr>
        </p:nvSpPr>
        <p:spPr>
          <a:xfrm>
            <a:off x="38100" y="69651"/>
            <a:ext cx="12114000" cy="1153094"/>
          </a:xfrm>
          <a:prstGeom prst="roundRect">
            <a:avLst>
              <a:gd name="adj" fmla="val 36459"/>
            </a:avLst>
          </a:prstGeom>
          <a:noFill/>
        </p:spPr>
        <p:txBody>
          <a:bodyPr>
            <a:noAutofit/>
          </a:bodyPr>
          <a:lstStyle/>
          <a:p>
            <a:r>
              <a:rPr lang="en-US" sz="3400" b="1" dirty="0">
                <a:solidFill>
                  <a:srgbClr val="002060"/>
                </a:solidFill>
              </a:rPr>
              <a:t>	FIND THE CRYSTAL FOOTPRINT THROUGH SCATTERING</a:t>
            </a:r>
            <a:endParaRPr lang="it-IT" sz="3400" b="1" dirty="0">
              <a:solidFill>
                <a:srgbClr val="002060"/>
              </a:solidFill>
            </a:endParaRPr>
          </a:p>
        </p:txBody>
      </p:sp>
      <p:sp>
        <p:nvSpPr>
          <p:cNvPr id="4" name="Segnaposto data 3">
            <a:extLst>
              <a:ext uri="{FF2B5EF4-FFF2-40B4-BE49-F238E27FC236}">
                <a16:creationId xmlns:a16="http://schemas.microsoft.com/office/drawing/2014/main" id="{C89D5906-BD9E-4277-A2CC-7C0C6300880F}"/>
              </a:ext>
            </a:extLst>
          </p:cNvPr>
          <p:cNvSpPr>
            <a:spLocks noGrp="1"/>
          </p:cNvSpPr>
          <p:nvPr>
            <p:ph type="dt" sz="half" idx="10"/>
          </p:nvPr>
        </p:nvSpPr>
        <p:spPr>
          <a:xfrm>
            <a:off x="838200" y="6356349"/>
            <a:ext cx="2743200" cy="432000"/>
          </a:xfrm>
        </p:spPr>
        <p:txBody>
          <a:bodyPr/>
          <a:lstStyle/>
          <a:p>
            <a:r>
              <a:rPr lang="it-IT" sz="1500" b="1" dirty="0">
                <a:solidFill>
                  <a:srgbClr val="002060"/>
                </a:solidFill>
              </a:rPr>
              <a:t>September 2026</a:t>
            </a:r>
          </a:p>
        </p:txBody>
      </p:sp>
      <p:sp>
        <p:nvSpPr>
          <p:cNvPr id="5" name="Segnaposto piè di pagina 4">
            <a:extLst>
              <a:ext uri="{FF2B5EF4-FFF2-40B4-BE49-F238E27FC236}">
                <a16:creationId xmlns:a16="http://schemas.microsoft.com/office/drawing/2014/main" id="{D16068D6-6C64-408D-AC8D-8112E30F483F}"/>
              </a:ext>
            </a:extLst>
          </p:cNvPr>
          <p:cNvSpPr>
            <a:spLocks noGrp="1"/>
          </p:cNvSpPr>
          <p:nvPr>
            <p:ph type="ftr" sz="quarter" idx="11"/>
          </p:nvPr>
        </p:nvSpPr>
        <p:spPr>
          <a:xfrm>
            <a:off x="0" y="6356349"/>
            <a:ext cx="12192000" cy="432000"/>
          </a:xfrm>
        </p:spPr>
        <p:txBody>
          <a:bodyPr/>
          <a:lstStyle/>
          <a:p>
            <a:r>
              <a:rPr lang="it-IT" sz="1500" b="1" dirty="0">
                <a:solidFill>
                  <a:srgbClr val="002060"/>
                </a:solidFill>
              </a:rPr>
              <a:t>Anna Sofia Moro</a:t>
            </a:r>
          </a:p>
        </p:txBody>
      </p:sp>
      <p:sp>
        <p:nvSpPr>
          <p:cNvPr id="6" name="Segnaposto numero diapositiva 5">
            <a:extLst>
              <a:ext uri="{FF2B5EF4-FFF2-40B4-BE49-F238E27FC236}">
                <a16:creationId xmlns:a16="http://schemas.microsoft.com/office/drawing/2014/main" id="{632C4B4E-D03E-A5C3-365D-5A23C10069D2}"/>
              </a:ext>
            </a:extLst>
          </p:cNvPr>
          <p:cNvSpPr>
            <a:spLocks noGrp="1"/>
          </p:cNvSpPr>
          <p:nvPr>
            <p:ph type="sldNum" sz="quarter" idx="12"/>
          </p:nvPr>
        </p:nvSpPr>
        <p:spPr>
          <a:xfrm>
            <a:off x="8610600" y="6356349"/>
            <a:ext cx="2743200" cy="432000"/>
          </a:xfrm>
        </p:spPr>
        <p:txBody>
          <a:bodyPr/>
          <a:lstStyle/>
          <a:p>
            <a:fld id="{0A318BD9-CA14-4A83-ACF0-03D5918EB402}" type="slidenum">
              <a:rPr lang="it-IT" sz="1500" b="1" smtClean="0">
                <a:solidFill>
                  <a:srgbClr val="002060"/>
                </a:solidFill>
              </a:rPr>
              <a:t>5</a:t>
            </a:fld>
            <a:endParaRPr lang="it-IT" sz="1500" b="1" dirty="0">
              <a:solidFill>
                <a:srgbClr val="002060"/>
              </a:solidFill>
            </a:endParaRPr>
          </a:p>
        </p:txBody>
      </p:sp>
      <p:cxnSp>
        <p:nvCxnSpPr>
          <p:cNvPr id="10" name="Connettore diritto 9">
            <a:extLst>
              <a:ext uri="{FF2B5EF4-FFF2-40B4-BE49-F238E27FC236}">
                <a16:creationId xmlns:a16="http://schemas.microsoft.com/office/drawing/2014/main" id="{DE0B7FBE-9052-808C-8FB9-73D13C6E1BBA}"/>
              </a:ext>
            </a:extLst>
          </p:cNvPr>
          <p:cNvCxnSpPr>
            <a:cxnSpLocks/>
          </p:cNvCxnSpPr>
          <p:nvPr/>
        </p:nvCxnSpPr>
        <p:spPr>
          <a:xfrm>
            <a:off x="696000" y="1155368"/>
            <a:ext cx="10800000" cy="0"/>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sp>
        <p:nvSpPr>
          <p:cNvPr id="13" name="CasellaDiTesto 12">
            <a:extLst>
              <a:ext uri="{FF2B5EF4-FFF2-40B4-BE49-F238E27FC236}">
                <a16:creationId xmlns:a16="http://schemas.microsoft.com/office/drawing/2014/main" id="{6691CB22-C335-FEAB-22A3-D7A616350232}"/>
              </a:ext>
            </a:extLst>
          </p:cNvPr>
          <p:cNvSpPr txBox="1"/>
          <p:nvPr/>
        </p:nvSpPr>
        <p:spPr>
          <a:xfrm>
            <a:off x="3048886" y="3244334"/>
            <a:ext cx="6097772" cy="369332"/>
          </a:xfrm>
          <a:prstGeom prst="rect">
            <a:avLst/>
          </a:prstGeom>
          <a:noFill/>
        </p:spPr>
        <p:txBody>
          <a:bodyPr wrap="square">
            <a:spAutoFit/>
          </a:bodyPr>
          <a:lstStyle/>
          <a:p>
            <a:endParaRPr lang="it-IT" dirty="0"/>
          </a:p>
        </p:txBody>
      </p:sp>
      <p:sp>
        <p:nvSpPr>
          <p:cNvPr id="15" name="CasellaDiTesto 14">
            <a:extLst>
              <a:ext uri="{FF2B5EF4-FFF2-40B4-BE49-F238E27FC236}">
                <a16:creationId xmlns:a16="http://schemas.microsoft.com/office/drawing/2014/main" id="{D80E830C-9C81-B153-887A-B62D99FB490B}"/>
              </a:ext>
            </a:extLst>
          </p:cNvPr>
          <p:cNvSpPr txBox="1"/>
          <p:nvPr/>
        </p:nvSpPr>
        <p:spPr>
          <a:xfrm>
            <a:off x="3048886" y="3244334"/>
            <a:ext cx="6097772" cy="369332"/>
          </a:xfrm>
          <a:prstGeom prst="rect">
            <a:avLst/>
          </a:prstGeom>
          <a:noFill/>
        </p:spPr>
        <p:txBody>
          <a:bodyPr wrap="square">
            <a:spAutoFit/>
          </a:bodyPr>
          <a:lstStyle/>
          <a:p>
            <a:endParaRPr lang="it-IT" dirty="0"/>
          </a:p>
        </p:txBody>
      </p:sp>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A15847B1-ED92-E105-7CB4-68DEEDBA164A}"/>
                  </a:ext>
                </a:extLst>
              </p:cNvPr>
              <p:cNvSpPr>
                <a:spLocks noGrp="1"/>
              </p:cNvSpPr>
              <p:nvPr>
                <p:ph idx="1"/>
              </p:nvPr>
            </p:nvSpPr>
            <p:spPr>
              <a:xfrm>
                <a:off x="838200" y="1312438"/>
                <a:ext cx="10515600" cy="4864525"/>
              </a:xfrm>
            </p:spPr>
            <p:txBody>
              <a:bodyPr>
                <a:normAutofit/>
              </a:bodyPr>
              <a:lstStyle/>
              <a:p>
                <a:r>
                  <a:rPr lang="it-IT" sz="2400" dirty="0"/>
                  <a:t>The extracted gaussian widths </a:t>
                </a:r>
                <a14:m>
                  <m:oMath xmlns:m="http://schemas.openxmlformats.org/officeDocument/2006/math">
                    <m:r>
                      <a:rPr lang="en-US" sz="2400" i="1">
                        <a:latin typeface="Cambria Math" panose="02040503050406030204" pitchFamily="18" charset="0"/>
                      </a:rPr>
                      <m:t>𝜎</m:t>
                    </m:r>
                  </m:oMath>
                </a14:m>
                <a:r>
                  <a:rPr lang="it-IT" sz="2400" dirty="0"/>
                  <a:t> are plotted against the impact position</a:t>
                </a:r>
              </a:p>
              <a:p>
                <a:r>
                  <a:rPr lang="it-IT" sz="2400" dirty="0"/>
                  <a:t>The transition between the outside and inside regions is fitted using a Error function (Erf)</a:t>
                </a:r>
              </a:p>
            </p:txBody>
          </p:sp>
        </mc:Choice>
        <mc:Fallback xmlns="">
          <p:sp>
            <p:nvSpPr>
              <p:cNvPr id="8" name="Content Placeholder 7">
                <a:extLst>
                  <a:ext uri="{FF2B5EF4-FFF2-40B4-BE49-F238E27FC236}">
                    <a16:creationId xmlns:a16="http://schemas.microsoft.com/office/drawing/2014/main" id="{A15847B1-ED92-E105-7CB4-68DEEDBA164A}"/>
                  </a:ext>
                </a:extLst>
              </p:cNvPr>
              <p:cNvSpPr>
                <a:spLocks noGrp="1" noRot="1" noChangeAspect="1" noMove="1" noResize="1" noEditPoints="1" noAdjustHandles="1" noChangeArrowheads="1" noChangeShapeType="1" noTextEdit="1"/>
              </p:cNvSpPr>
              <p:nvPr>
                <p:ph idx="1"/>
              </p:nvPr>
            </p:nvSpPr>
            <p:spPr>
              <a:xfrm>
                <a:off x="838200" y="1312438"/>
                <a:ext cx="10515600" cy="4864525"/>
              </a:xfrm>
              <a:blipFill>
                <a:blip r:embed="rId3"/>
                <a:stretch>
                  <a:fillRect l="-812" t="-1629"/>
                </a:stretch>
              </a:blipFill>
            </p:spPr>
            <p:txBody>
              <a:bodyPr/>
              <a:lstStyle/>
              <a:p>
                <a:r>
                  <a:rPr lang="it-IT">
                    <a:noFill/>
                  </a:rPr>
                  <a:t> </a:t>
                </a:r>
              </a:p>
            </p:txBody>
          </p:sp>
        </mc:Fallback>
      </mc:AlternateContent>
      <p:pic>
        <p:nvPicPr>
          <p:cNvPr id="7" name="Picture 6">
            <a:extLst>
              <a:ext uri="{FF2B5EF4-FFF2-40B4-BE49-F238E27FC236}">
                <a16:creationId xmlns:a16="http://schemas.microsoft.com/office/drawing/2014/main" id="{F59EF23C-2F2E-C789-D447-CAC12D3FD0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0600" y="2484230"/>
            <a:ext cx="5280000" cy="3960000"/>
          </a:xfrm>
          <a:prstGeom prst="rect">
            <a:avLst/>
          </a:prstGeom>
        </p:spPr>
      </p:pic>
      <p:pic>
        <p:nvPicPr>
          <p:cNvPr id="14" name="Picture 13">
            <a:extLst>
              <a:ext uri="{FF2B5EF4-FFF2-40B4-BE49-F238E27FC236}">
                <a16:creationId xmlns:a16="http://schemas.microsoft.com/office/drawing/2014/main" id="{BDE6AB8C-0883-C774-559B-7B8C6AF593D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22200" y="2484230"/>
            <a:ext cx="5280000" cy="3960000"/>
          </a:xfrm>
          <a:prstGeom prst="rect">
            <a:avLst/>
          </a:prstGeom>
        </p:spPr>
      </p:pic>
      <mc:AlternateContent xmlns:mc="http://schemas.openxmlformats.org/markup-compatibility/2006" xmlns:a14="http://schemas.microsoft.com/office/drawing/2010/main">
        <mc:Choice Requires="a14">
          <p:sp>
            <p:nvSpPr>
              <p:cNvPr id="16" name="Rectangle: Rounded Corners 15">
                <a:extLst>
                  <a:ext uri="{FF2B5EF4-FFF2-40B4-BE49-F238E27FC236}">
                    <a16:creationId xmlns:a16="http://schemas.microsoft.com/office/drawing/2014/main" id="{BE3A4A79-ACEC-71C8-EEFF-FEBD83A36DCC}"/>
                  </a:ext>
                </a:extLst>
              </p:cNvPr>
              <p:cNvSpPr/>
              <p:nvPr/>
            </p:nvSpPr>
            <p:spPr>
              <a:xfrm>
                <a:off x="9991013" y="3244334"/>
                <a:ext cx="1504987" cy="593124"/>
              </a:xfrm>
              <a:prstGeom prst="roundRect">
                <a:avLst/>
              </a:prstGeom>
              <a:solidFill>
                <a:schemeClr val="bg1"/>
              </a:solid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US" sz="2000" i="1" dirty="0" smtClean="0">
                          <a:solidFill>
                            <a:schemeClr val="tx1"/>
                          </a:solidFill>
                          <a:latin typeface="Cambria Math" panose="02040503050406030204" pitchFamily="18" charset="0"/>
                        </a:rPr>
                        <m:t>𝑦</m:t>
                      </m:r>
                    </m:oMath>
                  </m:oMathPara>
                </a14:m>
                <a:endParaRPr lang="it-IT" sz="2000" dirty="0">
                  <a:solidFill>
                    <a:schemeClr val="tx1"/>
                  </a:solidFill>
                </a:endParaRPr>
              </a:p>
            </p:txBody>
          </p:sp>
        </mc:Choice>
        <mc:Fallback xmlns="">
          <p:sp>
            <p:nvSpPr>
              <p:cNvPr id="16" name="Rectangle: Rounded Corners 15">
                <a:extLst>
                  <a:ext uri="{FF2B5EF4-FFF2-40B4-BE49-F238E27FC236}">
                    <a16:creationId xmlns:a16="http://schemas.microsoft.com/office/drawing/2014/main" id="{BE3A4A79-ACEC-71C8-EEFF-FEBD83A36DCC}"/>
                  </a:ext>
                </a:extLst>
              </p:cNvPr>
              <p:cNvSpPr>
                <a:spLocks noRot="1" noChangeAspect="1" noMove="1" noResize="1" noEditPoints="1" noAdjustHandles="1" noChangeArrowheads="1" noChangeShapeType="1" noTextEdit="1"/>
              </p:cNvSpPr>
              <p:nvPr/>
            </p:nvSpPr>
            <p:spPr>
              <a:xfrm>
                <a:off x="9991013" y="3244334"/>
                <a:ext cx="1504987" cy="593124"/>
              </a:xfrm>
              <a:prstGeom prst="roundRect">
                <a:avLst/>
              </a:prstGeom>
              <a:blipFill>
                <a:blip r:embed="rId6"/>
                <a:stretch>
                  <a:fillRect/>
                </a:stretch>
              </a:blipFill>
              <a:ln w="38100">
                <a:solidFill>
                  <a:srgbClr val="FFC000"/>
                </a:solid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2" name="Rectangle: Rounded Corners 11">
                <a:extLst>
                  <a:ext uri="{FF2B5EF4-FFF2-40B4-BE49-F238E27FC236}">
                    <a16:creationId xmlns:a16="http://schemas.microsoft.com/office/drawing/2014/main" id="{09228606-FA7F-7B48-6529-732AB3200FE5}"/>
                  </a:ext>
                </a:extLst>
              </p:cNvPr>
              <p:cNvSpPr/>
              <p:nvPr/>
            </p:nvSpPr>
            <p:spPr>
              <a:xfrm>
                <a:off x="4626880" y="4976386"/>
                <a:ext cx="1504987" cy="593124"/>
              </a:xfrm>
              <a:prstGeom prst="roundRect">
                <a:avLst/>
              </a:prstGeom>
              <a:solidFill>
                <a:schemeClr val="bg1"/>
              </a:solid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US" sz="2000" i="1" dirty="0" smtClean="0">
                          <a:solidFill>
                            <a:schemeClr val="tx1"/>
                          </a:solidFill>
                          <a:latin typeface="Cambria Math" panose="02040503050406030204" pitchFamily="18" charset="0"/>
                        </a:rPr>
                        <m:t>𝑥</m:t>
                      </m:r>
                    </m:oMath>
                  </m:oMathPara>
                </a14:m>
                <a:endParaRPr lang="it-IT" sz="2000" dirty="0">
                  <a:solidFill>
                    <a:schemeClr val="tx1"/>
                  </a:solidFill>
                </a:endParaRPr>
              </a:p>
            </p:txBody>
          </p:sp>
        </mc:Choice>
        <mc:Fallback xmlns="">
          <p:sp>
            <p:nvSpPr>
              <p:cNvPr id="12" name="Rectangle: Rounded Corners 11">
                <a:extLst>
                  <a:ext uri="{FF2B5EF4-FFF2-40B4-BE49-F238E27FC236}">
                    <a16:creationId xmlns:a16="http://schemas.microsoft.com/office/drawing/2014/main" id="{09228606-FA7F-7B48-6529-732AB3200FE5}"/>
                  </a:ext>
                </a:extLst>
              </p:cNvPr>
              <p:cNvSpPr>
                <a:spLocks noRot="1" noChangeAspect="1" noMove="1" noResize="1" noEditPoints="1" noAdjustHandles="1" noChangeArrowheads="1" noChangeShapeType="1" noTextEdit="1"/>
              </p:cNvSpPr>
              <p:nvPr/>
            </p:nvSpPr>
            <p:spPr>
              <a:xfrm>
                <a:off x="4626880" y="4976386"/>
                <a:ext cx="1504987" cy="593124"/>
              </a:xfrm>
              <a:prstGeom prst="roundRect">
                <a:avLst/>
              </a:prstGeom>
              <a:blipFill>
                <a:blip r:embed="rId7"/>
                <a:stretch>
                  <a:fillRect/>
                </a:stretch>
              </a:blipFill>
              <a:ln w="38100">
                <a:solidFill>
                  <a:srgbClr val="FFC000"/>
                </a:solidFill>
              </a:ln>
            </p:spPr>
            <p:txBody>
              <a:bodyPr/>
              <a:lstStyle/>
              <a:p>
                <a:r>
                  <a:rPr lang="it-IT">
                    <a:noFill/>
                  </a:rPr>
                  <a:t> </a:t>
                </a:r>
              </a:p>
            </p:txBody>
          </p:sp>
        </mc:Fallback>
      </mc:AlternateContent>
    </p:spTree>
    <p:extLst>
      <p:ext uri="{BB962C8B-B14F-4D97-AF65-F5344CB8AC3E}">
        <p14:creationId xmlns:p14="http://schemas.microsoft.com/office/powerpoint/2010/main" val="33604689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7A32D-8FC5-0D92-3505-A21082727900}"/>
            </a:ext>
          </a:extLst>
        </p:cNvPr>
        <p:cNvGrpSpPr/>
        <p:nvPr/>
      </p:nvGrpSpPr>
      <p:grpSpPr>
        <a:xfrm>
          <a:off x="0" y="0"/>
          <a:ext cx="0" cy="0"/>
          <a:chOff x="0" y="0"/>
          <a:chExt cx="0" cy="0"/>
        </a:xfrm>
      </p:grpSpPr>
      <p:pic>
        <p:nvPicPr>
          <p:cNvPr id="22" name="Picture 21">
            <a:extLst>
              <a:ext uri="{FF2B5EF4-FFF2-40B4-BE49-F238E27FC236}">
                <a16:creationId xmlns:a16="http://schemas.microsoft.com/office/drawing/2014/main" id="{10C029BE-CCB2-713B-56C1-B62307C0C9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26423" y="1363202"/>
            <a:ext cx="6657530" cy="4993147"/>
          </a:xfrm>
          <a:prstGeom prst="rect">
            <a:avLst/>
          </a:prstGeom>
        </p:spPr>
      </p:pic>
      <p:sp>
        <p:nvSpPr>
          <p:cNvPr id="2" name="Titolo 1">
            <a:extLst>
              <a:ext uri="{FF2B5EF4-FFF2-40B4-BE49-F238E27FC236}">
                <a16:creationId xmlns:a16="http://schemas.microsoft.com/office/drawing/2014/main" id="{14353289-9AD8-440E-3B9A-5505DEB2B083}"/>
              </a:ext>
            </a:extLst>
          </p:cNvPr>
          <p:cNvSpPr>
            <a:spLocks noGrp="1"/>
          </p:cNvSpPr>
          <p:nvPr>
            <p:ph type="title"/>
          </p:nvPr>
        </p:nvSpPr>
        <p:spPr>
          <a:xfrm>
            <a:off x="38100" y="69651"/>
            <a:ext cx="12114000" cy="1153094"/>
          </a:xfrm>
          <a:prstGeom prst="roundRect">
            <a:avLst>
              <a:gd name="adj" fmla="val 36459"/>
            </a:avLst>
          </a:prstGeom>
          <a:noFill/>
        </p:spPr>
        <p:txBody>
          <a:bodyPr>
            <a:noAutofit/>
          </a:bodyPr>
          <a:lstStyle/>
          <a:p>
            <a:r>
              <a:rPr lang="en-US" sz="3400" b="1" dirty="0">
                <a:solidFill>
                  <a:srgbClr val="002060"/>
                </a:solidFill>
              </a:rPr>
              <a:t>	FIND THE CRYSTAL FOOTPRINT THROUGH SCATTERING</a:t>
            </a:r>
            <a:endParaRPr lang="it-IT" sz="3400" b="1" dirty="0">
              <a:solidFill>
                <a:srgbClr val="002060"/>
              </a:solidFill>
            </a:endParaRPr>
          </a:p>
        </p:txBody>
      </p:sp>
      <p:sp>
        <p:nvSpPr>
          <p:cNvPr id="4" name="Segnaposto data 3">
            <a:extLst>
              <a:ext uri="{FF2B5EF4-FFF2-40B4-BE49-F238E27FC236}">
                <a16:creationId xmlns:a16="http://schemas.microsoft.com/office/drawing/2014/main" id="{5DDE659F-8F35-A966-2CD7-4D988A771723}"/>
              </a:ext>
            </a:extLst>
          </p:cNvPr>
          <p:cNvSpPr>
            <a:spLocks noGrp="1"/>
          </p:cNvSpPr>
          <p:nvPr>
            <p:ph type="dt" sz="half" idx="10"/>
          </p:nvPr>
        </p:nvSpPr>
        <p:spPr>
          <a:xfrm>
            <a:off x="838200" y="6356349"/>
            <a:ext cx="2743200" cy="432000"/>
          </a:xfrm>
        </p:spPr>
        <p:txBody>
          <a:bodyPr/>
          <a:lstStyle/>
          <a:p>
            <a:r>
              <a:rPr lang="it-IT" sz="1500" b="1" dirty="0">
                <a:solidFill>
                  <a:srgbClr val="002060"/>
                </a:solidFill>
              </a:rPr>
              <a:t>September 2026</a:t>
            </a:r>
          </a:p>
        </p:txBody>
      </p:sp>
      <p:sp>
        <p:nvSpPr>
          <p:cNvPr id="5" name="Segnaposto piè di pagina 4">
            <a:extLst>
              <a:ext uri="{FF2B5EF4-FFF2-40B4-BE49-F238E27FC236}">
                <a16:creationId xmlns:a16="http://schemas.microsoft.com/office/drawing/2014/main" id="{7D36E6FC-21F1-EE10-F936-6E7D303DE7CE}"/>
              </a:ext>
            </a:extLst>
          </p:cNvPr>
          <p:cNvSpPr>
            <a:spLocks noGrp="1"/>
          </p:cNvSpPr>
          <p:nvPr>
            <p:ph type="ftr" sz="quarter" idx="11"/>
          </p:nvPr>
        </p:nvSpPr>
        <p:spPr>
          <a:xfrm>
            <a:off x="0" y="6356349"/>
            <a:ext cx="12192000" cy="432000"/>
          </a:xfrm>
        </p:spPr>
        <p:txBody>
          <a:bodyPr/>
          <a:lstStyle/>
          <a:p>
            <a:r>
              <a:rPr lang="it-IT" sz="1500" b="1" dirty="0">
                <a:solidFill>
                  <a:srgbClr val="002060"/>
                </a:solidFill>
              </a:rPr>
              <a:t>Anna Sofia Moro</a:t>
            </a:r>
          </a:p>
        </p:txBody>
      </p:sp>
      <p:sp>
        <p:nvSpPr>
          <p:cNvPr id="6" name="Segnaposto numero diapositiva 5">
            <a:extLst>
              <a:ext uri="{FF2B5EF4-FFF2-40B4-BE49-F238E27FC236}">
                <a16:creationId xmlns:a16="http://schemas.microsoft.com/office/drawing/2014/main" id="{03956885-FDA0-D03A-7CA8-19E0EC4F712F}"/>
              </a:ext>
            </a:extLst>
          </p:cNvPr>
          <p:cNvSpPr>
            <a:spLocks noGrp="1"/>
          </p:cNvSpPr>
          <p:nvPr>
            <p:ph type="sldNum" sz="quarter" idx="12"/>
          </p:nvPr>
        </p:nvSpPr>
        <p:spPr>
          <a:xfrm>
            <a:off x="8610600" y="6356349"/>
            <a:ext cx="2743200" cy="432000"/>
          </a:xfrm>
        </p:spPr>
        <p:txBody>
          <a:bodyPr/>
          <a:lstStyle/>
          <a:p>
            <a:fld id="{0A318BD9-CA14-4A83-ACF0-03D5918EB402}" type="slidenum">
              <a:rPr lang="it-IT" sz="1500" b="1" smtClean="0">
                <a:solidFill>
                  <a:srgbClr val="002060"/>
                </a:solidFill>
              </a:rPr>
              <a:t>6</a:t>
            </a:fld>
            <a:endParaRPr lang="it-IT" sz="1500" b="1" dirty="0">
              <a:solidFill>
                <a:srgbClr val="002060"/>
              </a:solidFill>
            </a:endParaRPr>
          </a:p>
        </p:txBody>
      </p:sp>
      <p:cxnSp>
        <p:nvCxnSpPr>
          <p:cNvPr id="10" name="Connettore diritto 9">
            <a:extLst>
              <a:ext uri="{FF2B5EF4-FFF2-40B4-BE49-F238E27FC236}">
                <a16:creationId xmlns:a16="http://schemas.microsoft.com/office/drawing/2014/main" id="{B485EEFC-A8DC-F8C5-14AF-14F7F3E81BF6}"/>
              </a:ext>
            </a:extLst>
          </p:cNvPr>
          <p:cNvCxnSpPr>
            <a:cxnSpLocks/>
          </p:cNvCxnSpPr>
          <p:nvPr/>
        </p:nvCxnSpPr>
        <p:spPr>
          <a:xfrm>
            <a:off x="696000" y="1155368"/>
            <a:ext cx="10800000" cy="0"/>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sp>
        <p:nvSpPr>
          <p:cNvPr id="13" name="CasellaDiTesto 12">
            <a:extLst>
              <a:ext uri="{FF2B5EF4-FFF2-40B4-BE49-F238E27FC236}">
                <a16:creationId xmlns:a16="http://schemas.microsoft.com/office/drawing/2014/main" id="{09BEE80B-6033-01E9-AEA5-3E75E472FC4F}"/>
              </a:ext>
            </a:extLst>
          </p:cNvPr>
          <p:cNvSpPr txBox="1"/>
          <p:nvPr/>
        </p:nvSpPr>
        <p:spPr>
          <a:xfrm>
            <a:off x="3048886" y="3244334"/>
            <a:ext cx="6097772" cy="369332"/>
          </a:xfrm>
          <a:prstGeom prst="rect">
            <a:avLst/>
          </a:prstGeom>
          <a:noFill/>
        </p:spPr>
        <p:txBody>
          <a:bodyPr wrap="square">
            <a:spAutoFit/>
          </a:bodyPr>
          <a:lstStyle/>
          <a:p>
            <a:endParaRPr lang="it-IT" dirty="0"/>
          </a:p>
        </p:txBody>
      </p:sp>
      <p:sp>
        <p:nvSpPr>
          <p:cNvPr id="15" name="CasellaDiTesto 14">
            <a:extLst>
              <a:ext uri="{FF2B5EF4-FFF2-40B4-BE49-F238E27FC236}">
                <a16:creationId xmlns:a16="http://schemas.microsoft.com/office/drawing/2014/main" id="{6D01C0A9-8B4B-EB8F-A538-388A89B20FE7}"/>
              </a:ext>
            </a:extLst>
          </p:cNvPr>
          <p:cNvSpPr txBox="1"/>
          <p:nvPr/>
        </p:nvSpPr>
        <p:spPr>
          <a:xfrm>
            <a:off x="3048886" y="3244334"/>
            <a:ext cx="6097772" cy="369332"/>
          </a:xfrm>
          <a:prstGeom prst="rect">
            <a:avLst/>
          </a:prstGeom>
          <a:noFill/>
        </p:spPr>
        <p:txBody>
          <a:bodyPr wrap="square">
            <a:spAutoFit/>
          </a:bodyPr>
          <a:lstStyle/>
          <a:p>
            <a:endParaRPr lang="it-IT" dirty="0"/>
          </a:p>
        </p:txBody>
      </p:sp>
      <p:grpSp>
        <p:nvGrpSpPr>
          <p:cNvPr id="3" name="Group 2">
            <a:extLst>
              <a:ext uri="{FF2B5EF4-FFF2-40B4-BE49-F238E27FC236}">
                <a16:creationId xmlns:a16="http://schemas.microsoft.com/office/drawing/2014/main" id="{F98BA6A9-F03D-3E04-EB7E-5999CCA31CF5}"/>
              </a:ext>
            </a:extLst>
          </p:cNvPr>
          <p:cNvGrpSpPr/>
          <p:nvPr/>
        </p:nvGrpSpPr>
        <p:grpSpPr>
          <a:xfrm>
            <a:off x="5560541" y="1451083"/>
            <a:ext cx="5820070" cy="1800000"/>
            <a:chOff x="5560541" y="1451083"/>
            <a:chExt cx="5820070" cy="1800000"/>
          </a:xfrm>
        </p:grpSpPr>
        <p:pic>
          <p:nvPicPr>
            <p:cNvPr id="7" name="Picture 6">
              <a:extLst>
                <a:ext uri="{FF2B5EF4-FFF2-40B4-BE49-F238E27FC236}">
                  <a16:creationId xmlns:a16="http://schemas.microsoft.com/office/drawing/2014/main" id="{75056139-0729-303B-C7A2-C103BD4EB36F}"/>
                </a:ext>
              </a:extLst>
            </p:cNvPr>
            <p:cNvPicPr>
              <a:picLocks noChangeAspect="1"/>
            </p:cNvPicPr>
            <p:nvPr/>
          </p:nvPicPr>
          <p:blipFill>
            <a:blip r:embed="rId4">
              <a:extLst>
                <a:ext uri="{28A0092B-C50C-407E-A947-70E740481C1C}">
                  <a14:useLocalDpi xmlns:a14="http://schemas.microsoft.com/office/drawing/2010/main" val="0"/>
                </a:ext>
              </a:extLst>
            </a:blip>
            <a:srcRect t="5262" b="5262"/>
            <a:stretch/>
          </p:blipFill>
          <p:spPr>
            <a:xfrm>
              <a:off x="7928946" y="1451083"/>
              <a:ext cx="2687477" cy="1800000"/>
            </a:xfrm>
            <a:prstGeom prst="rect">
              <a:avLst/>
            </a:prstGeom>
            <a:ln w="38100">
              <a:solidFill>
                <a:srgbClr val="FFC000"/>
              </a:solidFill>
            </a:ln>
          </p:spPr>
        </p:pic>
        <p:sp>
          <p:nvSpPr>
            <p:cNvPr id="16" name="Rectangle: Rounded Corners 15">
              <a:extLst>
                <a:ext uri="{FF2B5EF4-FFF2-40B4-BE49-F238E27FC236}">
                  <a16:creationId xmlns:a16="http://schemas.microsoft.com/office/drawing/2014/main" id="{2522C0AE-61F4-F6C4-A902-7D9FEAE91874}"/>
                </a:ext>
              </a:extLst>
            </p:cNvPr>
            <p:cNvSpPr/>
            <p:nvPr/>
          </p:nvSpPr>
          <p:spPr>
            <a:xfrm>
              <a:off x="9875624" y="1845194"/>
              <a:ext cx="1504987" cy="593124"/>
            </a:xfrm>
            <a:prstGeom prst="roundRect">
              <a:avLst/>
            </a:prstGeom>
            <a:solidFill>
              <a:schemeClr val="bg1"/>
            </a:solid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INSIDE</a:t>
              </a:r>
              <a:endParaRPr lang="it-IT" sz="2000" dirty="0">
                <a:solidFill>
                  <a:schemeClr val="tx1"/>
                </a:solidFill>
              </a:endParaRPr>
            </a:p>
          </p:txBody>
        </p:sp>
        <p:cxnSp>
          <p:nvCxnSpPr>
            <p:cNvPr id="17" name="Straight Arrow Connector 16">
              <a:extLst>
                <a:ext uri="{FF2B5EF4-FFF2-40B4-BE49-F238E27FC236}">
                  <a16:creationId xmlns:a16="http://schemas.microsoft.com/office/drawing/2014/main" id="{33A8177B-3AB5-4C1C-E0D3-2DFD72119160}"/>
                </a:ext>
              </a:extLst>
            </p:cNvPr>
            <p:cNvCxnSpPr>
              <a:cxnSpLocks/>
            </p:cNvCxnSpPr>
            <p:nvPr/>
          </p:nvCxnSpPr>
          <p:spPr>
            <a:xfrm flipH="1" flipV="1">
              <a:off x="5560541" y="2162432"/>
              <a:ext cx="2368405" cy="275886"/>
            </a:xfrm>
            <a:prstGeom prst="straightConnector1">
              <a:avLst/>
            </a:prstGeom>
            <a:ln w="38100">
              <a:solidFill>
                <a:srgbClr val="FFC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8" name="Group 7">
            <a:extLst>
              <a:ext uri="{FF2B5EF4-FFF2-40B4-BE49-F238E27FC236}">
                <a16:creationId xmlns:a16="http://schemas.microsoft.com/office/drawing/2014/main" id="{7D1BE663-98D0-A4D6-C2C7-9DA50F806FFE}"/>
              </a:ext>
            </a:extLst>
          </p:cNvPr>
          <p:cNvGrpSpPr/>
          <p:nvPr/>
        </p:nvGrpSpPr>
        <p:grpSpPr>
          <a:xfrm>
            <a:off x="7806088" y="3873532"/>
            <a:ext cx="4300205" cy="2393124"/>
            <a:chOff x="7806088" y="3873532"/>
            <a:chExt cx="4300205" cy="2393124"/>
          </a:xfrm>
        </p:grpSpPr>
        <p:pic>
          <p:nvPicPr>
            <p:cNvPr id="11" name="Picture 10">
              <a:extLst>
                <a:ext uri="{FF2B5EF4-FFF2-40B4-BE49-F238E27FC236}">
                  <a16:creationId xmlns:a16="http://schemas.microsoft.com/office/drawing/2014/main" id="{6CB6A3EB-6E0A-3054-C38C-F7C527E94C7A}"/>
                </a:ext>
              </a:extLst>
            </p:cNvPr>
            <p:cNvPicPr>
              <a:picLocks noChangeAspect="1"/>
            </p:cNvPicPr>
            <p:nvPr/>
          </p:nvPicPr>
          <p:blipFill>
            <a:blip r:embed="rId5">
              <a:extLst>
                <a:ext uri="{28A0092B-C50C-407E-A947-70E740481C1C}">
                  <a14:useLocalDpi xmlns:a14="http://schemas.microsoft.com/office/drawing/2010/main" val="0"/>
                </a:ext>
              </a:extLst>
            </a:blip>
            <a:srcRect t="4887" b="4887"/>
            <a:stretch/>
          </p:blipFill>
          <p:spPr>
            <a:xfrm>
              <a:off x="9272684" y="4466656"/>
              <a:ext cx="2657940" cy="1800000"/>
            </a:xfrm>
            <a:prstGeom prst="rect">
              <a:avLst/>
            </a:prstGeom>
            <a:ln w="38100">
              <a:solidFill>
                <a:srgbClr val="FFC000"/>
              </a:solidFill>
            </a:ln>
          </p:spPr>
        </p:pic>
        <p:sp>
          <p:nvSpPr>
            <p:cNvPr id="12" name="Rectangle: Rounded Corners 11">
              <a:extLst>
                <a:ext uri="{FF2B5EF4-FFF2-40B4-BE49-F238E27FC236}">
                  <a16:creationId xmlns:a16="http://schemas.microsoft.com/office/drawing/2014/main" id="{10C0185F-512B-741C-9B82-3151193FC7CF}"/>
                </a:ext>
              </a:extLst>
            </p:cNvPr>
            <p:cNvSpPr/>
            <p:nvPr/>
          </p:nvSpPr>
          <p:spPr>
            <a:xfrm>
              <a:off x="10601306" y="3873532"/>
              <a:ext cx="1504987" cy="593124"/>
            </a:xfrm>
            <a:prstGeom prst="roundRect">
              <a:avLst/>
            </a:prstGeom>
            <a:solidFill>
              <a:schemeClr val="bg1"/>
            </a:solid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OUTSIDE</a:t>
              </a:r>
              <a:endParaRPr lang="it-IT" sz="2000" dirty="0">
                <a:solidFill>
                  <a:schemeClr val="tx1"/>
                </a:solidFill>
              </a:endParaRPr>
            </a:p>
          </p:txBody>
        </p:sp>
        <p:cxnSp>
          <p:nvCxnSpPr>
            <p:cNvPr id="19" name="Straight Arrow Connector 18">
              <a:extLst>
                <a:ext uri="{FF2B5EF4-FFF2-40B4-BE49-F238E27FC236}">
                  <a16:creationId xmlns:a16="http://schemas.microsoft.com/office/drawing/2014/main" id="{1F1607AC-B76D-07BC-F0E7-528BBEAFDA51}"/>
                </a:ext>
              </a:extLst>
            </p:cNvPr>
            <p:cNvCxnSpPr>
              <a:cxnSpLocks/>
            </p:cNvCxnSpPr>
            <p:nvPr/>
          </p:nvCxnSpPr>
          <p:spPr>
            <a:xfrm flipH="1" flipV="1">
              <a:off x="7806088" y="5406917"/>
              <a:ext cx="1466596" cy="279591"/>
            </a:xfrm>
            <a:prstGeom prst="straightConnector1">
              <a:avLst/>
            </a:prstGeom>
            <a:ln w="38100">
              <a:solidFill>
                <a:srgbClr val="FFC000"/>
              </a:solidFill>
              <a:tailEnd type="triangle"/>
            </a:ln>
          </p:spPr>
          <p:style>
            <a:lnRef idx="2">
              <a:schemeClr val="accent1"/>
            </a:lnRef>
            <a:fillRef idx="0">
              <a:schemeClr val="accent1"/>
            </a:fillRef>
            <a:effectRef idx="1">
              <a:schemeClr val="accent1"/>
            </a:effectRef>
            <a:fontRef idx="minor">
              <a:schemeClr val="tx1"/>
            </a:fontRef>
          </p:style>
        </p:cxnSp>
      </p:grpSp>
      <p:cxnSp>
        <p:nvCxnSpPr>
          <p:cNvPr id="21" name="Straight Arrow Connector 20">
            <a:extLst>
              <a:ext uri="{FF2B5EF4-FFF2-40B4-BE49-F238E27FC236}">
                <a16:creationId xmlns:a16="http://schemas.microsoft.com/office/drawing/2014/main" id="{523CB971-15BC-496E-7A1D-BFFBC0FC6EAC}"/>
              </a:ext>
            </a:extLst>
          </p:cNvPr>
          <p:cNvCxnSpPr>
            <a:cxnSpLocks/>
          </p:cNvCxnSpPr>
          <p:nvPr/>
        </p:nvCxnSpPr>
        <p:spPr>
          <a:xfrm flipH="1">
            <a:off x="4708585" y="3793052"/>
            <a:ext cx="1531577" cy="0"/>
          </a:xfrm>
          <a:prstGeom prst="straightConnector1">
            <a:avLst/>
          </a:prstGeom>
          <a:ln w="38100">
            <a:solidFill>
              <a:srgbClr val="FF0000"/>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4" name="Rectangle: Rounded Corners 23">
                <a:extLst>
                  <a:ext uri="{FF2B5EF4-FFF2-40B4-BE49-F238E27FC236}">
                    <a16:creationId xmlns:a16="http://schemas.microsoft.com/office/drawing/2014/main" id="{3B67743A-D519-E4BA-7FDB-C3D494C82764}"/>
                  </a:ext>
                </a:extLst>
              </p:cNvPr>
              <p:cNvSpPr/>
              <p:nvPr/>
            </p:nvSpPr>
            <p:spPr>
              <a:xfrm>
                <a:off x="419204" y="1565212"/>
                <a:ext cx="3379808" cy="1153087"/>
              </a:xfrm>
              <a:prstGeom prst="roundRect">
                <a:avLst/>
              </a:prstGeom>
              <a:solidFill>
                <a:schemeClr val="bg1"/>
              </a:solid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The window @ half height</a:t>
                </a:r>
              </a:p>
              <a:p>
                <a:pPr algn="ctr"/>
                <a14:m>
                  <m:oMathPara xmlns:m="http://schemas.openxmlformats.org/officeDocument/2006/math">
                    <m:oMath>
                      <m:r>
                        <a:rPr lang="it-IT" sz="2000" b="0" i="1" smtClean="0">
                          <a:solidFill>
                            <a:schemeClr val="tx1"/>
                          </a:solidFill>
                          <a:latin typeface="Cambria Math" panose="02040503050406030204" pitchFamily="18" charset="0"/>
                        </a:rPr>
                        <m:t>2.0911±0.0004</m:t>
                      </m:r>
                    </m:oMath>
                  </m:oMathPara>
                </a14:m>
                <a:endParaRPr lang="it-IT" sz="2000" dirty="0">
                  <a:solidFill>
                    <a:schemeClr val="tx1"/>
                  </a:solidFill>
                </a:endParaRPr>
              </a:p>
            </p:txBody>
          </p:sp>
        </mc:Choice>
        <mc:Fallback xmlns="">
          <p:sp>
            <p:nvSpPr>
              <p:cNvPr id="24" name="Rectangle: Rounded Corners 23">
                <a:extLst>
                  <a:ext uri="{FF2B5EF4-FFF2-40B4-BE49-F238E27FC236}">
                    <a16:creationId xmlns:a16="http://schemas.microsoft.com/office/drawing/2014/main" id="{3B67743A-D519-E4BA-7FDB-C3D494C82764}"/>
                  </a:ext>
                </a:extLst>
              </p:cNvPr>
              <p:cNvSpPr>
                <a:spLocks noRot="1" noChangeAspect="1" noMove="1" noResize="1" noEditPoints="1" noAdjustHandles="1" noChangeArrowheads="1" noChangeShapeType="1" noTextEdit="1"/>
              </p:cNvSpPr>
              <p:nvPr/>
            </p:nvSpPr>
            <p:spPr>
              <a:xfrm>
                <a:off x="419204" y="1565212"/>
                <a:ext cx="3379808" cy="1153087"/>
              </a:xfrm>
              <a:prstGeom prst="roundRect">
                <a:avLst/>
              </a:prstGeom>
              <a:blipFill>
                <a:blip r:embed="rId6"/>
                <a:stretch>
                  <a:fillRect/>
                </a:stretch>
              </a:blipFill>
              <a:ln w="38100">
                <a:solidFill>
                  <a:srgbClr val="FF0000"/>
                </a:solidFill>
              </a:ln>
            </p:spPr>
            <p:txBody>
              <a:bodyPr/>
              <a:lstStyle/>
              <a:p>
                <a:r>
                  <a:rPr lang="it-IT">
                    <a:noFill/>
                  </a:rPr>
                  <a:t> </a:t>
                </a:r>
              </a:p>
            </p:txBody>
          </p:sp>
        </mc:Fallback>
      </mc:AlternateContent>
      <p:cxnSp>
        <p:nvCxnSpPr>
          <p:cNvPr id="26" name="Straight Arrow Connector 25">
            <a:extLst>
              <a:ext uri="{FF2B5EF4-FFF2-40B4-BE49-F238E27FC236}">
                <a16:creationId xmlns:a16="http://schemas.microsoft.com/office/drawing/2014/main" id="{531567C4-9CA7-D97F-58B2-53EB3333F4D1}"/>
              </a:ext>
            </a:extLst>
          </p:cNvPr>
          <p:cNvCxnSpPr>
            <a:cxnSpLocks/>
            <a:stCxn id="24" idx="2"/>
          </p:cNvCxnSpPr>
          <p:nvPr/>
        </p:nvCxnSpPr>
        <p:spPr>
          <a:xfrm>
            <a:off x="2109108" y="2718299"/>
            <a:ext cx="3178127" cy="1000366"/>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 name="Rectangle: Rounded Corners 8">
                <a:extLst>
                  <a:ext uri="{FF2B5EF4-FFF2-40B4-BE49-F238E27FC236}">
                    <a16:creationId xmlns:a16="http://schemas.microsoft.com/office/drawing/2014/main" id="{5CC75629-0F8D-7FA8-30DE-EEB070D49073}"/>
                  </a:ext>
                </a:extLst>
              </p:cNvPr>
              <p:cNvSpPr/>
              <p:nvPr/>
            </p:nvSpPr>
            <p:spPr>
              <a:xfrm>
                <a:off x="261376" y="4179035"/>
                <a:ext cx="3630143" cy="1153087"/>
              </a:xfrm>
              <a:prstGeom prst="roundRect">
                <a:avLst/>
              </a:prstGeom>
              <a:solidFill>
                <a:schemeClr val="bg1"/>
              </a:solid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solidFill>
                      <a:schemeClr val="tx1"/>
                    </a:solidFill>
                  </a:rPr>
                  <a:t>The width transition </a:t>
                </a:r>
                <a14:m>
                  <m:oMath xmlns:m="http://schemas.openxmlformats.org/officeDocument/2006/math">
                    <m:r>
                      <a:rPr lang="it-IT" b="0" i="1" smtClean="0">
                        <a:solidFill>
                          <a:schemeClr val="tx1"/>
                        </a:solidFill>
                        <a:latin typeface="Cambria Math" panose="02040503050406030204" pitchFamily="18" charset="0"/>
                      </a:rPr>
                      <m:t>0.0901(3) </m:t>
                    </m:r>
                    <m:r>
                      <m:rPr>
                        <m:sty m:val="p"/>
                      </m:rPr>
                      <a:rPr lang="it-IT" b="0" i="0" smtClean="0">
                        <a:solidFill>
                          <a:schemeClr val="tx1"/>
                        </a:solidFill>
                        <a:latin typeface="Cambria Math" panose="02040503050406030204" pitchFamily="18" charset="0"/>
                      </a:rPr>
                      <m:t>mm</m:t>
                    </m:r>
                  </m:oMath>
                </a14:m>
                <a:r>
                  <a:rPr lang="it-IT" dirty="0">
                    <a:solidFill>
                      <a:schemeClr val="tx1"/>
                    </a:solidFill>
                  </a:rPr>
                  <a:t> is compatible with position error </a:t>
                </a:r>
                <a14:m>
                  <m:oMath xmlns:m="http://schemas.openxmlformats.org/officeDocument/2006/math">
                    <m:r>
                      <a:rPr lang="it-IT" b="0" i="1" smtClean="0">
                        <a:solidFill>
                          <a:schemeClr val="tx1"/>
                        </a:solidFill>
                        <a:latin typeface="Cambria Math" panose="02040503050406030204" pitchFamily="18" charset="0"/>
                      </a:rPr>
                      <m:t>∼0.1055 </m:t>
                    </m:r>
                    <m:r>
                      <m:rPr>
                        <m:sty m:val="p"/>
                      </m:rPr>
                      <a:rPr lang="it-IT" b="0" i="0" smtClean="0">
                        <a:solidFill>
                          <a:schemeClr val="tx1"/>
                        </a:solidFill>
                        <a:latin typeface="Cambria Math" panose="02040503050406030204" pitchFamily="18" charset="0"/>
                      </a:rPr>
                      <m:t>mm</m:t>
                    </m:r>
                  </m:oMath>
                </a14:m>
                <a:endParaRPr lang="it-IT" dirty="0">
                  <a:solidFill>
                    <a:schemeClr val="tx1"/>
                  </a:solidFill>
                </a:endParaRPr>
              </a:p>
            </p:txBody>
          </p:sp>
        </mc:Choice>
        <mc:Fallback xmlns="">
          <p:sp>
            <p:nvSpPr>
              <p:cNvPr id="9" name="Rectangle: Rounded Corners 8">
                <a:extLst>
                  <a:ext uri="{FF2B5EF4-FFF2-40B4-BE49-F238E27FC236}">
                    <a16:creationId xmlns:a16="http://schemas.microsoft.com/office/drawing/2014/main" id="{5CC75629-0F8D-7FA8-30DE-EEB070D49073}"/>
                  </a:ext>
                </a:extLst>
              </p:cNvPr>
              <p:cNvSpPr>
                <a:spLocks noRot="1" noChangeAspect="1" noMove="1" noResize="1" noEditPoints="1" noAdjustHandles="1" noChangeArrowheads="1" noChangeShapeType="1" noTextEdit="1"/>
              </p:cNvSpPr>
              <p:nvPr/>
            </p:nvSpPr>
            <p:spPr>
              <a:xfrm>
                <a:off x="261376" y="4179035"/>
                <a:ext cx="3630143" cy="1153087"/>
              </a:xfrm>
              <a:prstGeom prst="roundRect">
                <a:avLst/>
              </a:prstGeom>
              <a:blipFill>
                <a:blip r:embed="rId7"/>
                <a:stretch>
                  <a:fillRect/>
                </a:stretch>
              </a:blipFill>
              <a:ln w="38100">
                <a:solidFill>
                  <a:srgbClr val="FF0000"/>
                </a:solidFill>
              </a:ln>
            </p:spPr>
            <p:txBody>
              <a:bodyPr/>
              <a:lstStyle/>
              <a:p>
                <a:r>
                  <a:rPr lang="it-IT">
                    <a:noFill/>
                  </a:rPr>
                  <a:t> </a:t>
                </a:r>
              </a:p>
            </p:txBody>
          </p:sp>
        </mc:Fallback>
      </mc:AlternateContent>
      <p:cxnSp>
        <p:nvCxnSpPr>
          <p:cNvPr id="14" name="Straight Arrow Connector 13">
            <a:extLst>
              <a:ext uri="{FF2B5EF4-FFF2-40B4-BE49-F238E27FC236}">
                <a16:creationId xmlns:a16="http://schemas.microsoft.com/office/drawing/2014/main" id="{B6A2015B-1683-E3D6-FDA1-4B0B6852E5D1}"/>
              </a:ext>
            </a:extLst>
          </p:cNvPr>
          <p:cNvCxnSpPr>
            <a:cxnSpLocks/>
            <a:stCxn id="9" idx="3"/>
          </p:cNvCxnSpPr>
          <p:nvPr/>
        </p:nvCxnSpPr>
        <p:spPr>
          <a:xfrm flipV="1">
            <a:off x="3891519" y="4419682"/>
            <a:ext cx="706522" cy="335897"/>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741404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5A86C-FFFB-CE2C-A997-6CDA84EA3E90}"/>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CEF0363A-EF7C-1334-6663-8E42968A49BA}"/>
              </a:ext>
            </a:extLst>
          </p:cNvPr>
          <p:cNvPicPr>
            <a:picLocks noChangeAspect="1"/>
          </p:cNvPicPr>
          <p:nvPr/>
        </p:nvPicPr>
        <p:blipFill>
          <a:blip r:embed="rId3">
            <a:extLst>
              <a:ext uri="{28A0092B-C50C-407E-A947-70E740481C1C}">
                <a14:useLocalDpi xmlns:a14="http://schemas.microsoft.com/office/drawing/2010/main" val="0"/>
              </a:ext>
            </a:extLst>
          </a:blip>
          <a:srcRect t="6850" r="1865"/>
          <a:stretch>
            <a:fillRect/>
          </a:stretch>
        </p:blipFill>
        <p:spPr>
          <a:xfrm>
            <a:off x="197187" y="2908700"/>
            <a:ext cx="4025226" cy="2865564"/>
          </a:xfrm>
          <a:prstGeom prst="rect">
            <a:avLst/>
          </a:prstGeom>
        </p:spPr>
      </p:pic>
      <p:sp>
        <p:nvSpPr>
          <p:cNvPr id="2" name="Titolo 1">
            <a:extLst>
              <a:ext uri="{FF2B5EF4-FFF2-40B4-BE49-F238E27FC236}">
                <a16:creationId xmlns:a16="http://schemas.microsoft.com/office/drawing/2014/main" id="{B438CF04-4E4C-8CA9-93E9-3C9E5AF2E173}"/>
              </a:ext>
            </a:extLst>
          </p:cNvPr>
          <p:cNvSpPr>
            <a:spLocks noGrp="1"/>
          </p:cNvSpPr>
          <p:nvPr>
            <p:ph type="title"/>
          </p:nvPr>
        </p:nvSpPr>
        <p:spPr>
          <a:xfrm>
            <a:off x="38100" y="69651"/>
            <a:ext cx="12114000" cy="1153094"/>
          </a:xfrm>
          <a:prstGeom prst="roundRect">
            <a:avLst>
              <a:gd name="adj" fmla="val 36459"/>
            </a:avLst>
          </a:prstGeom>
          <a:noFill/>
        </p:spPr>
        <p:txBody>
          <a:bodyPr>
            <a:noAutofit/>
          </a:bodyPr>
          <a:lstStyle/>
          <a:p>
            <a:r>
              <a:rPr lang="en-US" sz="3400" b="1" dirty="0">
                <a:solidFill>
                  <a:srgbClr val="002060"/>
                </a:solidFill>
              </a:rPr>
              <a:t>	FIND THE CRYSTAL FOOTPRINT THROUGH SCATTERING</a:t>
            </a:r>
            <a:endParaRPr lang="it-IT" sz="3400" b="1" dirty="0">
              <a:solidFill>
                <a:srgbClr val="002060"/>
              </a:solidFill>
            </a:endParaRPr>
          </a:p>
        </p:txBody>
      </p:sp>
      <p:sp>
        <p:nvSpPr>
          <p:cNvPr id="4" name="Segnaposto data 3">
            <a:extLst>
              <a:ext uri="{FF2B5EF4-FFF2-40B4-BE49-F238E27FC236}">
                <a16:creationId xmlns:a16="http://schemas.microsoft.com/office/drawing/2014/main" id="{9CAC3703-0773-7984-77F8-CEFB93AD43FB}"/>
              </a:ext>
            </a:extLst>
          </p:cNvPr>
          <p:cNvSpPr>
            <a:spLocks noGrp="1"/>
          </p:cNvSpPr>
          <p:nvPr>
            <p:ph type="dt" sz="half" idx="10"/>
          </p:nvPr>
        </p:nvSpPr>
        <p:spPr>
          <a:xfrm>
            <a:off x="838200" y="6356349"/>
            <a:ext cx="2743200" cy="432000"/>
          </a:xfrm>
        </p:spPr>
        <p:txBody>
          <a:bodyPr/>
          <a:lstStyle/>
          <a:p>
            <a:r>
              <a:rPr lang="it-IT" sz="1500" b="1" dirty="0">
                <a:solidFill>
                  <a:srgbClr val="002060"/>
                </a:solidFill>
              </a:rPr>
              <a:t>September 2026</a:t>
            </a:r>
          </a:p>
        </p:txBody>
      </p:sp>
      <p:sp>
        <p:nvSpPr>
          <p:cNvPr id="5" name="Segnaposto piè di pagina 4">
            <a:extLst>
              <a:ext uri="{FF2B5EF4-FFF2-40B4-BE49-F238E27FC236}">
                <a16:creationId xmlns:a16="http://schemas.microsoft.com/office/drawing/2014/main" id="{106F8D96-7A44-2EF6-3ABA-1627B320EFEC}"/>
              </a:ext>
            </a:extLst>
          </p:cNvPr>
          <p:cNvSpPr>
            <a:spLocks noGrp="1"/>
          </p:cNvSpPr>
          <p:nvPr>
            <p:ph type="ftr" sz="quarter" idx="11"/>
          </p:nvPr>
        </p:nvSpPr>
        <p:spPr>
          <a:xfrm>
            <a:off x="0" y="6356349"/>
            <a:ext cx="12192000" cy="432000"/>
          </a:xfrm>
        </p:spPr>
        <p:txBody>
          <a:bodyPr/>
          <a:lstStyle/>
          <a:p>
            <a:r>
              <a:rPr lang="it-IT" sz="1500" b="1" dirty="0">
                <a:solidFill>
                  <a:srgbClr val="002060"/>
                </a:solidFill>
              </a:rPr>
              <a:t>Anna Sofia Moro</a:t>
            </a:r>
          </a:p>
        </p:txBody>
      </p:sp>
      <p:sp>
        <p:nvSpPr>
          <p:cNvPr id="6" name="Segnaposto numero diapositiva 5">
            <a:extLst>
              <a:ext uri="{FF2B5EF4-FFF2-40B4-BE49-F238E27FC236}">
                <a16:creationId xmlns:a16="http://schemas.microsoft.com/office/drawing/2014/main" id="{6369E283-707A-81F7-52F5-5342647F2E34}"/>
              </a:ext>
            </a:extLst>
          </p:cNvPr>
          <p:cNvSpPr>
            <a:spLocks noGrp="1"/>
          </p:cNvSpPr>
          <p:nvPr>
            <p:ph type="sldNum" sz="quarter" idx="12"/>
          </p:nvPr>
        </p:nvSpPr>
        <p:spPr>
          <a:xfrm>
            <a:off x="8610600" y="6356349"/>
            <a:ext cx="2743200" cy="432000"/>
          </a:xfrm>
        </p:spPr>
        <p:txBody>
          <a:bodyPr/>
          <a:lstStyle/>
          <a:p>
            <a:fld id="{0A318BD9-CA14-4A83-ACF0-03D5918EB402}" type="slidenum">
              <a:rPr lang="it-IT" sz="1500" b="1" smtClean="0">
                <a:solidFill>
                  <a:srgbClr val="002060"/>
                </a:solidFill>
              </a:rPr>
              <a:t>7</a:t>
            </a:fld>
            <a:endParaRPr lang="it-IT" sz="1500" b="1" dirty="0">
              <a:solidFill>
                <a:srgbClr val="002060"/>
              </a:solidFill>
            </a:endParaRPr>
          </a:p>
        </p:txBody>
      </p:sp>
      <p:cxnSp>
        <p:nvCxnSpPr>
          <p:cNvPr id="10" name="Connettore diritto 9">
            <a:extLst>
              <a:ext uri="{FF2B5EF4-FFF2-40B4-BE49-F238E27FC236}">
                <a16:creationId xmlns:a16="http://schemas.microsoft.com/office/drawing/2014/main" id="{18758721-40BB-259A-7A9A-861F4026CE6A}"/>
              </a:ext>
            </a:extLst>
          </p:cNvPr>
          <p:cNvCxnSpPr>
            <a:cxnSpLocks/>
          </p:cNvCxnSpPr>
          <p:nvPr/>
        </p:nvCxnSpPr>
        <p:spPr>
          <a:xfrm>
            <a:off x="696000" y="1155368"/>
            <a:ext cx="10800000" cy="0"/>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sp>
        <p:nvSpPr>
          <p:cNvPr id="13" name="CasellaDiTesto 12">
            <a:extLst>
              <a:ext uri="{FF2B5EF4-FFF2-40B4-BE49-F238E27FC236}">
                <a16:creationId xmlns:a16="http://schemas.microsoft.com/office/drawing/2014/main" id="{30A9F725-D121-A8FD-96B1-D9781C4AC649}"/>
              </a:ext>
            </a:extLst>
          </p:cNvPr>
          <p:cNvSpPr txBox="1"/>
          <p:nvPr/>
        </p:nvSpPr>
        <p:spPr>
          <a:xfrm>
            <a:off x="3048886" y="3244334"/>
            <a:ext cx="6097772" cy="369332"/>
          </a:xfrm>
          <a:prstGeom prst="rect">
            <a:avLst/>
          </a:prstGeom>
          <a:noFill/>
        </p:spPr>
        <p:txBody>
          <a:bodyPr wrap="square">
            <a:spAutoFit/>
          </a:bodyPr>
          <a:lstStyle/>
          <a:p>
            <a:endParaRPr lang="it-IT" dirty="0"/>
          </a:p>
        </p:txBody>
      </p:sp>
      <p:sp>
        <p:nvSpPr>
          <p:cNvPr id="15" name="CasellaDiTesto 14">
            <a:extLst>
              <a:ext uri="{FF2B5EF4-FFF2-40B4-BE49-F238E27FC236}">
                <a16:creationId xmlns:a16="http://schemas.microsoft.com/office/drawing/2014/main" id="{904DD4A2-E32F-EC55-83F2-628AB1E517A1}"/>
              </a:ext>
            </a:extLst>
          </p:cNvPr>
          <p:cNvSpPr txBox="1"/>
          <p:nvPr/>
        </p:nvSpPr>
        <p:spPr>
          <a:xfrm>
            <a:off x="3048886" y="3244334"/>
            <a:ext cx="6097772" cy="369332"/>
          </a:xfrm>
          <a:prstGeom prst="rect">
            <a:avLst/>
          </a:prstGeom>
          <a:noFill/>
        </p:spPr>
        <p:txBody>
          <a:bodyPr wrap="square">
            <a:spAutoFit/>
          </a:bodyPr>
          <a:lstStyle/>
          <a:p>
            <a:endParaRPr lang="it-IT" dirty="0"/>
          </a:p>
        </p:txBody>
      </p:sp>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166FF68F-F94B-A4B2-E7C3-C52958F87B16}"/>
                  </a:ext>
                </a:extLst>
              </p:cNvPr>
              <p:cNvSpPr>
                <a:spLocks noGrp="1"/>
              </p:cNvSpPr>
              <p:nvPr>
                <p:ph idx="1"/>
              </p:nvPr>
            </p:nvSpPr>
            <p:spPr>
              <a:xfrm>
                <a:off x="838200" y="1312438"/>
                <a:ext cx="10515600" cy="4864525"/>
              </a:xfrm>
            </p:spPr>
            <p:txBody>
              <a:bodyPr>
                <a:normAutofit/>
              </a:bodyPr>
              <a:lstStyle/>
              <a:p>
                <a:pPr marL="0" indent="0">
                  <a:buNone/>
                </a:pPr>
                <a14:m>
                  <m:oMathPara xmlns:m="http://schemas.openxmlformats.org/officeDocument/2006/math">
                    <m:oMath>
                      <m:sSub>
                        <m:sSubPr>
                          <m:ctrlPr>
                            <a:rPr lang="it-IT" sz="2400" b="0" i="1" smtClean="0">
                              <a:latin typeface="Cambria Math" panose="02040503050406030204" pitchFamily="18" charset="0"/>
                            </a:rPr>
                          </m:ctrlPr>
                        </m:sSubPr>
                        <m:e>
                          <m:r>
                            <a:rPr lang="it-IT" sz="2400" b="0" i="1" smtClean="0">
                              <a:latin typeface="Cambria Math" panose="02040503050406030204" pitchFamily="18" charset="0"/>
                            </a:rPr>
                            <m:t>⟨</m:t>
                          </m:r>
                          <m:r>
                            <a:rPr lang="en-US" sz="2400" b="0" i="1" smtClean="0">
                              <a:latin typeface="Cambria Math" panose="02040503050406030204" pitchFamily="18" charset="0"/>
                            </a:rPr>
                            <m:t>𝜃</m:t>
                          </m:r>
                        </m:e>
                        <m:sub>
                          <m:r>
                            <a:rPr lang="it-IT" sz="2400" b="0" i="1" smtClean="0">
                              <a:latin typeface="Cambria Math" panose="02040503050406030204" pitchFamily="18" charset="0"/>
                            </a:rPr>
                            <m:t>𝑀𝐶𝑆</m:t>
                          </m:r>
                        </m:sub>
                      </m:sSub>
                      <m:r>
                        <a:rPr lang="it-IT" sz="2400" b="0" i="1" smtClean="0">
                          <a:latin typeface="Cambria Math" panose="02040503050406030204" pitchFamily="18" charset="0"/>
                        </a:rPr>
                        <m:t>⟩</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13.6 </m:t>
                          </m:r>
                          <m:r>
                            <m:rPr>
                              <m:sty m:val="p"/>
                            </m:rPr>
                            <a:rPr lang="en-US" sz="2400" b="0" i="0" smtClean="0">
                              <a:latin typeface="Cambria Math" panose="02040503050406030204" pitchFamily="18" charset="0"/>
                            </a:rPr>
                            <m:t>MeV</m:t>
                          </m:r>
                        </m:num>
                        <m:den>
                          <m:r>
                            <a:rPr lang="en-US" sz="2400" b="0" i="1" smtClean="0">
                              <a:latin typeface="Cambria Math" panose="02040503050406030204" pitchFamily="18" charset="0"/>
                            </a:rPr>
                            <m:t>𝛽</m:t>
                          </m:r>
                          <m:r>
                            <a:rPr lang="en-US" sz="2400" b="0" i="1" smtClean="0">
                              <a:latin typeface="Cambria Math" panose="02040503050406030204" pitchFamily="18" charset="0"/>
                            </a:rPr>
                            <m:t>𝑐𝑝</m:t>
                          </m:r>
                        </m:den>
                      </m:f>
                      <m:r>
                        <a:rPr lang="en-US" sz="2400" b="0" i="1" smtClean="0">
                          <a:latin typeface="Cambria Math" panose="02040503050406030204" pitchFamily="18" charset="0"/>
                        </a:rPr>
                        <m:t>𝑧</m:t>
                      </m:r>
                      <m:rad>
                        <m:radPr>
                          <m:degHide m:val="on"/>
                          <m:ctrlPr>
                            <a:rPr lang="it-IT" sz="2400" b="0" i="1" smtClean="0">
                              <a:latin typeface="Cambria Math" panose="02040503050406030204" pitchFamily="18" charset="0"/>
                            </a:rPr>
                          </m:ctrlPr>
                        </m:radPr>
                        <m:deg/>
                        <m:e>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𝑥</m:t>
                              </m:r>
                            </m:num>
                            <m:den>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0</m:t>
                                  </m:r>
                                </m:sub>
                              </m:sSub>
                            </m:den>
                          </m:f>
                        </m:e>
                      </m:rad>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1+0.038 </m:t>
                          </m:r>
                          <m:r>
                            <m:rPr>
                              <m:sty m:val="p"/>
                            </m:rPr>
                            <a:rPr lang="en-US" sz="2400" b="0" i="1" smtClean="0">
                              <a:latin typeface="Cambria Math" panose="02040503050406030204" pitchFamily="18" charset="0"/>
                            </a:rPr>
                            <m:t>ln</m:t>
                          </m:r>
                          <m:d>
                            <m:dPr>
                              <m:ctrlPr>
                                <a:rPr lang="en-US" sz="2400" b="0" i="1" smtClean="0">
                                  <a:latin typeface="Cambria Math" panose="02040503050406030204" pitchFamily="18" charset="0"/>
                                </a:rPr>
                              </m:ctrlPr>
                            </m:dPr>
                            <m:e>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𝑥</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𝑧</m:t>
                                      </m:r>
                                    </m:e>
                                    <m:sup>
                                      <m:r>
                                        <a:rPr lang="en-US" sz="2400" b="0" i="1" smtClean="0">
                                          <a:latin typeface="Cambria Math" panose="02040503050406030204" pitchFamily="18" charset="0"/>
                                        </a:rPr>
                                        <m:t>2</m:t>
                                      </m:r>
                                    </m:sup>
                                  </m:sSup>
                                </m:num>
                                <m:den>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0</m:t>
                                      </m:r>
                                    </m:sub>
                                  </m:sSub>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𝛽</m:t>
                                      </m:r>
                                    </m:e>
                                    <m:sup>
                                      <m:r>
                                        <a:rPr lang="en-US" sz="2400" b="0" i="1" smtClean="0">
                                          <a:latin typeface="Cambria Math" panose="02040503050406030204" pitchFamily="18" charset="0"/>
                                        </a:rPr>
                                        <m:t>2</m:t>
                                      </m:r>
                                    </m:sup>
                                  </m:sSup>
                                </m:den>
                              </m:f>
                            </m:e>
                          </m:d>
                        </m:e>
                      </m:d>
                      <m:r>
                        <a:rPr lang="en-US" sz="2400" b="0" i="1" smtClean="0">
                          <a:latin typeface="Cambria Math" panose="02040503050406030204" pitchFamily="18" charset="0"/>
                        </a:rPr>
                        <m:t>=66.5 </m:t>
                      </m:r>
                      <m:r>
                        <a:rPr lang="en-US" sz="2400" b="0" i="1" smtClean="0">
                          <a:latin typeface="Cambria Math" panose="02040503050406030204" pitchFamily="18" charset="0"/>
                        </a:rPr>
                        <m:t>𝜇</m:t>
                      </m:r>
                      <m:r>
                        <m:rPr>
                          <m:sty m:val="p"/>
                        </m:rPr>
                        <a:rPr lang="en-US" sz="2400" b="0" i="0" smtClean="0">
                          <a:latin typeface="Cambria Math" panose="02040503050406030204" pitchFamily="18" charset="0"/>
                        </a:rPr>
                        <m:t>rad</m:t>
                      </m:r>
                    </m:oMath>
                  </m:oMathPara>
                </a14:m>
                <a:endParaRPr lang="it-IT" sz="2400" dirty="0"/>
              </a:p>
              <a:p>
                <a:pPr marL="0" indent="0">
                  <a:buNone/>
                </a:pPr>
                <a:endParaRPr lang="it-IT" sz="2400" dirty="0"/>
              </a:p>
            </p:txBody>
          </p:sp>
        </mc:Choice>
        <mc:Fallback xmlns="">
          <p:sp>
            <p:nvSpPr>
              <p:cNvPr id="8" name="Content Placeholder 7">
                <a:extLst>
                  <a:ext uri="{FF2B5EF4-FFF2-40B4-BE49-F238E27FC236}">
                    <a16:creationId xmlns:a16="http://schemas.microsoft.com/office/drawing/2014/main" id="{166FF68F-F94B-A4B2-E7C3-C52958F87B16}"/>
                  </a:ext>
                </a:extLst>
              </p:cNvPr>
              <p:cNvSpPr>
                <a:spLocks noGrp="1" noRot="1" noChangeAspect="1" noMove="1" noResize="1" noEditPoints="1" noAdjustHandles="1" noChangeArrowheads="1" noChangeShapeType="1" noTextEdit="1"/>
              </p:cNvSpPr>
              <p:nvPr>
                <p:ph idx="1"/>
              </p:nvPr>
            </p:nvSpPr>
            <p:spPr>
              <a:xfrm>
                <a:off x="838200" y="1312438"/>
                <a:ext cx="10515600" cy="4864525"/>
              </a:xfrm>
              <a:blipFill>
                <a:blip r:embed="rId4"/>
                <a:stretch>
                  <a:fillRect/>
                </a:stretch>
              </a:blipFill>
            </p:spPr>
            <p:txBody>
              <a:bodyPr/>
              <a:lstStyle/>
              <a:p>
                <a:r>
                  <a:rPr lang="it-IT">
                    <a:noFill/>
                  </a:rPr>
                  <a:t> </a:t>
                </a:r>
              </a:p>
            </p:txBody>
          </p:sp>
        </mc:Fallback>
      </mc:AlternateContent>
      <p:cxnSp>
        <p:nvCxnSpPr>
          <p:cNvPr id="9" name="Straight Arrow Connector 8">
            <a:extLst>
              <a:ext uri="{FF2B5EF4-FFF2-40B4-BE49-F238E27FC236}">
                <a16:creationId xmlns:a16="http://schemas.microsoft.com/office/drawing/2014/main" id="{827CD657-7070-260B-A911-797F4F98AA56}"/>
              </a:ext>
            </a:extLst>
          </p:cNvPr>
          <p:cNvCxnSpPr>
            <a:cxnSpLocks/>
          </p:cNvCxnSpPr>
          <p:nvPr/>
        </p:nvCxnSpPr>
        <p:spPr>
          <a:xfrm flipV="1">
            <a:off x="3581400" y="5071533"/>
            <a:ext cx="2362200" cy="294369"/>
          </a:xfrm>
          <a:prstGeom prst="straightConnector1">
            <a:avLst/>
          </a:prstGeom>
          <a:ln w="38100">
            <a:solidFill>
              <a:srgbClr val="FFC000"/>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8" name="Rectangle: Rounded Corners 17">
                <a:extLst>
                  <a:ext uri="{FF2B5EF4-FFF2-40B4-BE49-F238E27FC236}">
                    <a16:creationId xmlns:a16="http://schemas.microsoft.com/office/drawing/2014/main" id="{D17E67D5-F236-24D2-710C-C0F4FB47C7B4}"/>
                  </a:ext>
                </a:extLst>
              </p:cNvPr>
              <p:cNvSpPr/>
              <p:nvPr/>
            </p:nvSpPr>
            <p:spPr>
              <a:xfrm>
                <a:off x="6111503" y="4274124"/>
                <a:ext cx="5623858" cy="1500140"/>
              </a:xfrm>
              <a:prstGeom prst="roundRect">
                <a:avLst/>
              </a:prstGeom>
              <a:solidFill>
                <a:schemeClr val="bg1"/>
              </a:solid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not zero, but </a:t>
                </a:r>
                <a14:m>
                  <m:oMath xmlns:m="http://schemas.openxmlformats.org/officeDocument/2006/math">
                    <m:r>
                      <a:rPr lang="en-US" sz="200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12.</m:t>
                    </m:r>
                    <m:r>
                      <a:rPr lang="it-IT" sz="2000" b="0" i="1" smtClean="0">
                        <a:solidFill>
                          <a:schemeClr val="tx1"/>
                        </a:solidFill>
                        <a:latin typeface="Cambria Math" panose="02040503050406030204" pitchFamily="18" charset="0"/>
                      </a:rPr>
                      <m:t>7</m:t>
                    </m:r>
                    <m:r>
                      <a:rPr lang="en-US" sz="2000" b="0" i="1" smtClean="0">
                        <a:solidFill>
                          <a:schemeClr val="tx1"/>
                        </a:solidFill>
                        <a:latin typeface="Cambria Math" panose="02040503050406030204" pitchFamily="18" charset="0"/>
                      </a:rPr>
                      <m:t>5</m:t>
                    </m:r>
                    <m:r>
                      <a:rPr lang="it-IT" sz="2000" b="0" i="1" smtClean="0">
                        <a:solidFill>
                          <a:schemeClr val="tx1"/>
                        </a:solidFill>
                        <a:latin typeface="Cambria Math" panose="02040503050406030204" pitchFamily="18" charset="0"/>
                      </a:rPr>
                      <m:t>(1)</m:t>
                    </m:r>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𝜇</m:t>
                    </m:r>
                    <m:r>
                      <m:rPr>
                        <m:sty m:val="p"/>
                      </m:rPr>
                      <a:rPr lang="en-US" sz="2000" b="0" i="0" smtClean="0">
                        <a:solidFill>
                          <a:schemeClr val="tx1"/>
                        </a:solidFill>
                        <a:latin typeface="Cambria Math" panose="02040503050406030204" pitchFamily="18" charset="0"/>
                      </a:rPr>
                      <m:t>rad</m:t>
                    </m:r>
                  </m:oMath>
                </a14:m>
                <a:endParaRPr lang="it-IT" sz="2000" dirty="0">
                  <a:solidFill>
                    <a:schemeClr val="tx1"/>
                  </a:solidFill>
                </a:endParaRPr>
              </a:p>
              <a:p>
                <a:pPr algn="ctr"/>
                <a:r>
                  <a:rPr lang="it-IT" sz="2000" dirty="0">
                    <a:solidFill>
                      <a:schemeClr val="tx1"/>
                    </a:solidFill>
                  </a:rPr>
                  <a:t>which corresponds to </a:t>
                </a:r>
                <a14:m>
                  <m:oMath xmlns:m="http://schemas.openxmlformats.org/officeDocument/2006/math">
                    <m:sSub>
                      <m:sSubPr>
                        <m:ctrlPr>
                          <a:rPr lang="en-US" sz="2000" b="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𝜎</m:t>
                        </m:r>
                      </m:e>
                      <m:sub>
                        <m:r>
                          <a:rPr lang="en-US" sz="2000" b="0" i="1" smtClean="0">
                            <a:solidFill>
                              <a:schemeClr val="tx1"/>
                            </a:solidFill>
                            <a:latin typeface="Cambria Math" panose="02040503050406030204" pitchFamily="18" charset="0"/>
                          </a:rPr>
                          <m:t>𝑡𝑟𝑎𝑐𝑘</m:t>
                        </m:r>
                      </m:sub>
                    </m:sSub>
                  </m:oMath>
                </a14:m>
                <a:endParaRPr lang="en-US" sz="2000" b="0" dirty="0">
                  <a:solidFill>
                    <a:schemeClr val="tx1"/>
                  </a:solidFill>
                </a:endParaRPr>
              </a:p>
              <a:p>
                <a:pPr algn="ctr"/>
                <a14:m>
                  <m:oMathPara xmlns:m="http://schemas.openxmlformats.org/officeDocument/2006/math">
                    <m:oMath>
                      <m:sSub>
                        <m:sSubPr>
                          <m:ctrlPr>
                            <a:rPr lang="en-US" sz="2000" b="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𝜎</m:t>
                          </m:r>
                        </m:e>
                        <m:sub>
                          <m:r>
                            <a:rPr lang="en-US" sz="2000" b="0" i="1" smtClean="0">
                              <a:solidFill>
                                <a:schemeClr val="tx1"/>
                              </a:solidFill>
                              <a:latin typeface="Cambria Math" panose="02040503050406030204" pitchFamily="18" charset="0"/>
                            </a:rPr>
                            <m:t>𝑡𝑟𝑎𝑐𝑘</m:t>
                          </m:r>
                        </m:sub>
                      </m:sSub>
                      <m:r>
                        <a:rPr lang="en-US" sz="2000" b="0" i="1" smtClean="0">
                          <a:solidFill>
                            <a:schemeClr val="tx1"/>
                          </a:solidFill>
                          <a:latin typeface="Cambria Math" panose="02040503050406030204" pitchFamily="18" charset="0"/>
                        </a:rPr>
                        <m:t>=</m:t>
                      </m:r>
                      <m:rad>
                        <m:radPr>
                          <m:degHide m:val="on"/>
                          <m:ctrlPr>
                            <a:rPr lang="it-IT" sz="2000" b="0" i="1" smtClean="0">
                              <a:solidFill>
                                <a:schemeClr val="tx1"/>
                              </a:solidFill>
                              <a:latin typeface="Cambria Math" panose="02040503050406030204" pitchFamily="18" charset="0"/>
                            </a:rPr>
                          </m:ctrlPr>
                        </m:radPr>
                        <m:deg/>
                        <m:e>
                          <m:sSubSup>
                            <m:sSubSupPr>
                              <m:ctrlPr>
                                <a:rPr lang="en-US" sz="2000" b="0" i="1" smtClean="0">
                                  <a:solidFill>
                                    <a:schemeClr val="tx1"/>
                                  </a:solidFill>
                                  <a:latin typeface="Cambria Math" panose="02040503050406030204" pitchFamily="18" charset="0"/>
                                </a:rPr>
                              </m:ctrlPr>
                            </m:sSubSupPr>
                            <m:e>
                              <m:r>
                                <a:rPr lang="en-US" sz="2000" b="0" i="1" smtClean="0">
                                  <a:solidFill>
                                    <a:schemeClr val="tx1"/>
                                  </a:solidFill>
                                  <a:latin typeface="Cambria Math" panose="02040503050406030204" pitchFamily="18" charset="0"/>
                                </a:rPr>
                                <m:t>𝜎</m:t>
                              </m:r>
                            </m:e>
                            <m:sub>
                              <m:r>
                                <a:rPr lang="en-US" sz="2000" b="0" i="1" smtClean="0">
                                  <a:solidFill>
                                    <a:schemeClr val="tx1"/>
                                  </a:solidFill>
                                  <a:latin typeface="Cambria Math" panose="02040503050406030204" pitchFamily="18" charset="0"/>
                                </a:rPr>
                                <m:t>𝑡𝑟𝑎𝑐𝑘</m:t>
                              </m:r>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𝑖𝑛</m:t>
                              </m:r>
                            </m:sub>
                            <m:sup>
                              <m:r>
                                <a:rPr lang="en-US" sz="2000" b="0" i="1" smtClean="0">
                                  <a:solidFill>
                                    <a:schemeClr val="tx1"/>
                                  </a:solidFill>
                                  <a:latin typeface="Cambria Math" panose="02040503050406030204" pitchFamily="18" charset="0"/>
                                </a:rPr>
                                <m:t>2</m:t>
                              </m:r>
                            </m:sup>
                          </m:sSubSup>
                          <m:r>
                            <a:rPr lang="en-US" sz="2000" b="0" i="1" smtClean="0">
                              <a:solidFill>
                                <a:schemeClr val="tx1"/>
                              </a:solidFill>
                              <a:latin typeface="Cambria Math" panose="02040503050406030204" pitchFamily="18" charset="0"/>
                            </a:rPr>
                            <m:t>+</m:t>
                          </m:r>
                          <m:sSubSup>
                            <m:sSubSupPr>
                              <m:ctrlPr>
                                <a:rPr lang="en-US" sz="2000" b="0" i="1" smtClean="0">
                                  <a:solidFill>
                                    <a:schemeClr val="tx1"/>
                                  </a:solidFill>
                                  <a:latin typeface="Cambria Math" panose="02040503050406030204" pitchFamily="18" charset="0"/>
                                </a:rPr>
                              </m:ctrlPr>
                            </m:sSubSupPr>
                            <m:e>
                              <m:r>
                                <a:rPr lang="en-US" sz="2000" b="0" i="1" smtClean="0">
                                  <a:solidFill>
                                    <a:schemeClr val="tx1"/>
                                  </a:solidFill>
                                  <a:latin typeface="Cambria Math" panose="02040503050406030204" pitchFamily="18" charset="0"/>
                                </a:rPr>
                                <m:t>𝜎</m:t>
                              </m:r>
                            </m:e>
                            <m:sub>
                              <m:r>
                                <a:rPr lang="en-US" sz="2000" b="0" i="1" smtClean="0">
                                  <a:solidFill>
                                    <a:schemeClr val="tx1"/>
                                  </a:solidFill>
                                  <a:latin typeface="Cambria Math" panose="02040503050406030204" pitchFamily="18" charset="0"/>
                                </a:rPr>
                                <m:t>𝑡𝑟𝑎𝑐𝑘</m:t>
                              </m:r>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𝑜𝑢𝑡</m:t>
                              </m:r>
                            </m:sub>
                            <m:sup>
                              <m:r>
                                <a:rPr lang="en-US" sz="2000" b="0" i="1" smtClean="0">
                                  <a:solidFill>
                                    <a:schemeClr val="tx1"/>
                                  </a:solidFill>
                                  <a:latin typeface="Cambria Math" panose="02040503050406030204" pitchFamily="18" charset="0"/>
                                </a:rPr>
                                <m:t>2</m:t>
                              </m:r>
                            </m:sup>
                          </m:sSubSup>
                        </m:e>
                      </m:rad>
                      <m:r>
                        <a:rPr lang="it-IT" sz="2000" b="0" i="1" smtClean="0">
                          <a:solidFill>
                            <a:schemeClr val="tx1"/>
                          </a:solidFill>
                          <a:latin typeface="Cambria Math" panose="02040503050406030204" pitchFamily="18" charset="0"/>
                        </a:rPr>
                        <m:t>=12.6 </m:t>
                      </m:r>
                      <m:r>
                        <a:rPr lang="it-IT" sz="2000" b="0" i="1" smtClean="0">
                          <a:solidFill>
                            <a:schemeClr val="tx1"/>
                          </a:solidFill>
                          <a:latin typeface="Cambria Math" panose="02040503050406030204" pitchFamily="18" charset="0"/>
                        </a:rPr>
                        <m:t>𝜇</m:t>
                      </m:r>
                      <m:r>
                        <m:rPr>
                          <m:sty m:val="p"/>
                        </m:rPr>
                        <a:rPr lang="it-IT" sz="2000" b="0" i="0" smtClean="0">
                          <a:solidFill>
                            <a:schemeClr val="tx1"/>
                          </a:solidFill>
                          <a:latin typeface="Cambria Math" panose="02040503050406030204" pitchFamily="18" charset="0"/>
                        </a:rPr>
                        <m:t>rad</m:t>
                      </m:r>
                    </m:oMath>
                  </m:oMathPara>
                </a14:m>
                <a:endParaRPr lang="it-IT" sz="2000" dirty="0">
                  <a:solidFill>
                    <a:schemeClr val="tx1"/>
                  </a:solidFill>
                </a:endParaRPr>
              </a:p>
            </p:txBody>
          </p:sp>
        </mc:Choice>
        <mc:Fallback xmlns="">
          <p:sp>
            <p:nvSpPr>
              <p:cNvPr id="18" name="Rectangle: Rounded Corners 17">
                <a:extLst>
                  <a:ext uri="{FF2B5EF4-FFF2-40B4-BE49-F238E27FC236}">
                    <a16:creationId xmlns:a16="http://schemas.microsoft.com/office/drawing/2014/main" id="{D17E67D5-F236-24D2-710C-C0F4FB47C7B4}"/>
                  </a:ext>
                </a:extLst>
              </p:cNvPr>
              <p:cNvSpPr>
                <a:spLocks noRot="1" noChangeAspect="1" noMove="1" noResize="1" noEditPoints="1" noAdjustHandles="1" noChangeArrowheads="1" noChangeShapeType="1" noTextEdit="1"/>
              </p:cNvSpPr>
              <p:nvPr/>
            </p:nvSpPr>
            <p:spPr>
              <a:xfrm>
                <a:off x="6111503" y="4274124"/>
                <a:ext cx="5623858" cy="1500140"/>
              </a:xfrm>
              <a:prstGeom prst="roundRect">
                <a:avLst/>
              </a:prstGeom>
              <a:blipFill>
                <a:blip r:embed="rId5"/>
                <a:stretch>
                  <a:fillRect/>
                </a:stretch>
              </a:blipFill>
              <a:ln w="38100">
                <a:solidFill>
                  <a:srgbClr val="FFC000"/>
                </a:solidFill>
              </a:ln>
            </p:spPr>
            <p:txBody>
              <a:bodyPr/>
              <a:lstStyle/>
              <a:p>
                <a:r>
                  <a:rPr lang="it-IT">
                    <a:noFill/>
                  </a:rPr>
                  <a:t> </a:t>
                </a:r>
              </a:p>
            </p:txBody>
          </p:sp>
        </mc:Fallback>
      </mc:AlternateContent>
      <p:cxnSp>
        <p:nvCxnSpPr>
          <p:cNvPr id="19" name="Straight Arrow Connector 18">
            <a:extLst>
              <a:ext uri="{FF2B5EF4-FFF2-40B4-BE49-F238E27FC236}">
                <a16:creationId xmlns:a16="http://schemas.microsoft.com/office/drawing/2014/main" id="{E62BAF0E-0B50-5F83-434F-C211CFA8C8B0}"/>
              </a:ext>
            </a:extLst>
          </p:cNvPr>
          <p:cNvCxnSpPr>
            <a:cxnSpLocks/>
          </p:cNvCxnSpPr>
          <p:nvPr/>
        </p:nvCxnSpPr>
        <p:spPr>
          <a:xfrm flipV="1">
            <a:off x="2752825" y="3226789"/>
            <a:ext cx="2338939" cy="34344"/>
          </a:xfrm>
          <a:prstGeom prst="straightConnector1">
            <a:avLst/>
          </a:prstGeom>
          <a:ln w="38100">
            <a:solidFill>
              <a:srgbClr val="FFC000"/>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0" name="Rectangle: Rounded Corners 19">
                <a:extLst>
                  <a:ext uri="{FF2B5EF4-FFF2-40B4-BE49-F238E27FC236}">
                    <a16:creationId xmlns:a16="http://schemas.microsoft.com/office/drawing/2014/main" id="{F1899BFA-F5A7-2A02-3EFD-3065E103651B}"/>
                  </a:ext>
                </a:extLst>
              </p:cNvPr>
              <p:cNvSpPr/>
              <p:nvPr/>
            </p:nvSpPr>
            <p:spPr>
              <a:xfrm>
                <a:off x="5338119" y="2516631"/>
                <a:ext cx="4652904" cy="1489005"/>
              </a:xfrm>
              <a:prstGeom prst="roundRect">
                <a:avLst/>
              </a:prstGeom>
              <a:solidFill>
                <a:schemeClr val="bg1"/>
              </a:solid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𝜎</m:t>
                          </m:r>
                        </m:e>
                        <m:sub>
                          <m:r>
                            <a:rPr lang="en-US" sz="2000" i="1">
                              <a:solidFill>
                                <a:schemeClr val="tx1"/>
                              </a:solidFill>
                              <a:latin typeface="Cambria Math" panose="02040503050406030204" pitchFamily="18" charset="0"/>
                            </a:rPr>
                            <m:t>𝑚𝑒𝑎𝑠</m:t>
                          </m:r>
                        </m:sub>
                      </m:sSub>
                      <m:r>
                        <a:rPr lang="en-US" sz="2000" i="1">
                          <a:solidFill>
                            <a:schemeClr val="tx1"/>
                          </a:solidFill>
                          <a:latin typeface="Cambria Math" panose="02040503050406030204" pitchFamily="18" charset="0"/>
                        </a:rPr>
                        <m:t>=</m:t>
                      </m:r>
                      <m:rad>
                        <m:radPr>
                          <m:degHide m:val="on"/>
                          <m:ctrlPr>
                            <a:rPr lang="it-IT" sz="2000" i="1">
                              <a:solidFill>
                                <a:schemeClr val="tx1"/>
                              </a:solidFill>
                              <a:latin typeface="Cambria Math" panose="02040503050406030204" pitchFamily="18" charset="0"/>
                            </a:rPr>
                          </m:ctrlPr>
                        </m:radPr>
                        <m:deg/>
                        <m:e>
                          <m:sSubSup>
                            <m:sSubSupPr>
                              <m:ctrlPr>
                                <a:rPr lang="en-US" sz="2000" i="1">
                                  <a:solidFill>
                                    <a:schemeClr val="tx1"/>
                                  </a:solidFill>
                                  <a:latin typeface="Cambria Math" panose="02040503050406030204" pitchFamily="18" charset="0"/>
                                </a:rPr>
                              </m:ctrlPr>
                            </m:sSubSupPr>
                            <m:e>
                              <m:r>
                                <a:rPr lang="en-US" sz="2000" i="1">
                                  <a:solidFill>
                                    <a:schemeClr val="tx1"/>
                                  </a:solidFill>
                                  <a:latin typeface="Cambria Math" panose="02040503050406030204" pitchFamily="18" charset="0"/>
                                </a:rPr>
                                <m:t>𝜎</m:t>
                              </m:r>
                            </m:e>
                            <m:sub>
                              <m:r>
                                <a:rPr lang="en-US" sz="2000" i="1">
                                  <a:solidFill>
                                    <a:schemeClr val="tx1"/>
                                  </a:solidFill>
                                  <a:latin typeface="Cambria Math" panose="02040503050406030204" pitchFamily="18" charset="0"/>
                                </a:rPr>
                                <m:t>𝑚𝑐𝑠</m:t>
                              </m:r>
                            </m:sub>
                            <m:sup>
                              <m:r>
                                <a:rPr lang="en-US" sz="2000" i="1">
                                  <a:solidFill>
                                    <a:schemeClr val="tx1"/>
                                  </a:solidFill>
                                  <a:latin typeface="Cambria Math" panose="02040503050406030204" pitchFamily="18" charset="0"/>
                                </a:rPr>
                                <m:t>2</m:t>
                              </m:r>
                            </m:sup>
                          </m:sSubSup>
                          <m:r>
                            <a:rPr lang="en-US" sz="2000" i="1">
                              <a:solidFill>
                                <a:schemeClr val="tx1"/>
                              </a:solidFill>
                              <a:latin typeface="Cambria Math" panose="02040503050406030204" pitchFamily="18" charset="0"/>
                            </a:rPr>
                            <m:t>+</m:t>
                          </m:r>
                          <m:sSubSup>
                            <m:sSubSupPr>
                              <m:ctrlPr>
                                <a:rPr lang="en-US" sz="2000" i="1">
                                  <a:solidFill>
                                    <a:schemeClr val="tx1"/>
                                  </a:solidFill>
                                  <a:latin typeface="Cambria Math" panose="02040503050406030204" pitchFamily="18" charset="0"/>
                                </a:rPr>
                              </m:ctrlPr>
                            </m:sSubSupPr>
                            <m:e>
                              <m:r>
                                <a:rPr lang="en-US" sz="2000" i="1">
                                  <a:solidFill>
                                    <a:schemeClr val="tx1"/>
                                  </a:solidFill>
                                  <a:latin typeface="Cambria Math" panose="02040503050406030204" pitchFamily="18" charset="0"/>
                                </a:rPr>
                                <m:t>𝜎</m:t>
                              </m:r>
                            </m:e>
                            <m:sub>
                              <m:r>
                                <a:rPr lang="en-US" sz="2000" i="1">
                                  <a:solidFill>
                                    <a:schemeClr val="tx1"/>
                                  </a:solidFill>
                                  <a:latin typeface="Cambria Math" panose="02040503050406030204" pitchFamily="18" charset="0"/>
                                </a:rPr>
                                <m:t>𝑡𝑟𝑎𝑐𝑘</m:t>
                              </m:r>
                            </m:sub>
                            <m:sup>
                              <m:r>
                                <a:rPr lang="en-US" sz="2000" i="1">
                                  <a:solidFill>
                                    <a:schemeClr val="tx1"/>
                                  </a:solidFill>
                                  <a:latin typeface="Cambria Math" panose="02040503050406030204" pitchFamily="18" charset="0"/>
                                </a:rPr>
                                <m:t>2</m:t>
                              </m:r>
                            </m:sup>
                          </m:sSubSup>
                        </m:e>
                      </m:rad>
                      <m:r>
                        <a:rPr lang="en-US" sz="200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79.5 </m:t>
                      </m:r>
                      <m:r>
                        <a:rPr lang="en-US" sz="2000" b="0" i="1" smtClean="0">
                          <a:solidFill>
                            <a:schemeClr val="tx1"/>
                          </a:solidFill>
                          <a:latin typeface="Cambria Math" panose="02040503050406030204" pitchFamily="18" charset="0"/>
                        </a:rPr>
                        <m:t>𝜇</m:t>
                      </m:r>
                      <m:r>
                        <m:rPr>
                          <m:sty m:val="p"/>
                        </m:rPr>
                        <a:rPr lang="en-US" sz="2000" b="0" i="0" smtClean="0">
                          <a:solidFill>
                            <a:schemeClr val="tx1"/>
                          </a:solidFill>
                          <a:latin typeface="Cambria Math" panose="02040503050406030204" pitchFamily="18" charset="0"/>
                        </a:rPr>
                        <m:t>rad</m:t>
                      </m:r>
                    </m:oMath>
                  </m:oMathPara>
                </a14:m>
                <a:endParaRPr lang="it-IT" sz="2000" dirty="0">
                  <a:solidFill>
                    <a:schemeClr val="tx1"/>
                  </a:solidFill>
                </a:endParaRPr>
              </a:p>
              <a:p>
                <a:pPr algn="ctr"/>
                <a14:m>
                  <m:oMathPara xmlns:m="http://schemas.openxmlformats.org/officeDocument/2006/math">
                    <m:oMath>
                      <m:r>
                        <a:rPr lang="it-IT" sz="2000" b="0" i="1" smtClean="0">
                          <a:solidFill>
                            <a:schemeClr val="tx1"/>
                          </a:solidFill>
                          <a:latin typeface="Cambria Math" panose="02040503050406030204" pitchFamily="18" charset="0"/>
                        </a:rPr>
                        <m:t>→</m:t>
                      </m:r>
                      <m:sSub>
                        <m:sSubPr>
                          <m:ctrlPr>
                            <a:rPr lang="it-IT" sz="2000" b="0" i="1" smtClean="0">
                              <a:solidFill>
                                <a:schemeClr val="tx1"/>
                              </a:solidFill>
                              <a:latin typeface="Cambria Math" panose="02040503050406030204" pitchFamily="18" charset="0"/>
                            </a:rPr>
                          </m:ctrlPr>
                        </m:sSubPr>
                        <m:e>
                          <m:r>
                            <a:rPr lang="it-IT" sz="2000" b="0" i="1" smtClean="0">
                              <a:solidFill>
                                <a:schemeClr val="tx1"/>
                              </a:solidFill>
                              <a:latin typeface="Cambria Math" panose="02040503050406030204" pitchFamily="18" charset="0"/>
                            </a:rPr>
                            <m:t>𝜎</m:t>
                          </m:r>
                        </m:e>
                        <m:sub>
                          <m:r>
                            <a:rPr lang="it-IT" sz="2000" b="0" i="1" smtClean="0">
                              <a:solidFill>
                                <a:schemeClr val="tx1"/>
                              </a:solidFill>
                              <a:latin typeface="Cambria Math" panose="02040503050406030204" pitchFamily="18" charset="0"/>
                            </a:rPr>
                            <m:t>𝑚𝑐𝑠</m:t>
                          </m:r>
                        </m:sub>
                      </m:sSub>
                      <m:r>
                        <a:rPr lang="it-IT" sz="2000" b="0" i="1" smtClean="0">
                          <a:solidFill>
                            <a:schemeClr val="tx1"/>
                          </a:solidFill>
                          <a:latin typeface="Cambria Math" panose="02040503050406030204" pitchFamily="18" charset="0"/>
                        </a:rPr>
                        <m:t>=78.30(6) </m:t>
                      </m:r>
                      <m:r>
                        <a:rPr lang="it-IT" sz="2000" b="0" i="1" smtClean="0">
                          <a:solidFill>
                            <a:schemeClr val="tx1"/>
                          </a:solidFill>
                          <a:latin typeface="Cambria Math" panose="02040503050406030204" pitchFamily="18" charset="0"/>
                        </a:rPr>
                        <m:t>𝜇</m:t>
                      </m:r>
                      <m:r>
                        <m:rPr>
                          <m:sty m:val="p"/>
                        </m:rPr>
                        <a:rPr lang="it-IT" sz="2000" b="0" i="0" smtClean="0">
                          <a:solidFill>
                            <a:schemeClr val="tx1"/>
                          </a:solidFill>
                          <a:latin typeface="Cambria Math" panose="02040503050406030204" pitchFamily="18" charset="0"/>
                        </a:rPr>
                        <m:t>rad</m:t>
                      </m:r>
                      <m:r>
                        <a:rPr lang="it-IT" sz="2000" b="0" i="1" smtClean="0">
                          <a:solidFill>
                            <a:schemeClr val="tx1"/>
                          </a:solidFill>
                          <a:latin typeface="Cambria Math" panose="02040503050406030204" pitchFamily="18" charset="0"/>
                        </a:rPr>
                        <m:t>≠</m:t>
                      </m:r>
                      <m:sSubSup>
                        <m:sSubSupPr>
                          <m:ctrlPr>
                            <a:rPr lang="it-IT" sz="2000" b="0" i="1" smtClean="0">
                              <a:solidFill>
                                <a:schemeClr val="tx1"/>
                              </a:solidFill>
                              <a:latin typeface="Cambria Math" panose="02040503050406030204" pitchFamily="18" charset="0"/>
                            </a:rPr>
                          </m:ctrlPr>
                        </m:sSubSupPr>
                        <m:e>
                          <m:r>
                            <a:rPr lang="it-IT" sz="2000" b="0" i="1" smtClean="0">
                              <a:solidFill>
                                <a:schemeClr val="tx1"/>
                              </a:solidFill>
                              <a:latin typeface="Cambria Math" panose="02040503050406030204" pitchFamily="18" charset="0"/>
                            </a:rPr>
                            <m:t>𝜎</m:t>
                          </m:r>
                        </m:e>
                        <m:sub>
                          <m:r>
                            <a:rPr lang="it-IT" sz="2000" b="0" i="1" smtClean="0">
                              <a:solidFill>
                                <a:schemeClr val="tx1"/>
                              </a:solidFill>
                              <a:latin typeface="Cambria Math" panose="02040503050406030204" pitchFamily="18" charset="0"/>
                            </a:rPr>
                            <m:t>𝑚𝑐𝑠</m:t>
                          </m:r>
                        </m:sub>
                        <m:sup>
                          <m:r>
                            <a:rPr lang="it-IT" sz="2000" b="0" i="1" smtClean="0">
                              <a:solidFill>
                                <a:schemeClr val="tx1"/>
                              </a:solidFill>
                              <a:latin typeface="Cambria Math" panose="02040503050406030204" pitchFamily="18" charset="0"/>
                            </a:rPr>
                            <m:t>𝑡ℎ</m:t>
                          </m:r>
                        </m:sup>
                      </m:sSubSup>
                    </m:oMath>
                  </m:oMathPara>
                </a14:m>
                <a:endParaRPr lang="it-IT" sz="2000" dirty="0">
                  <a:solidFill>
                    <a:schemeClr val="tx1"/>
                  </a:solidFill>
                </a:endParaRPr>
              </a:p>
            </p:txBody>
          </p:sp>
        </mc:Choice>
        <mc:Fallback xmlns="">
          <p:sp>
            <p:nvSpPr>
              <p:cNvPr id="20" name="Rectangle: Rounded Corners 19">
                <a:extLst>
                  <a:ext uri="{FF2B5EF4-FFF2-40B4-BE49-F238E27FC236}">
                    <a16:creationId xmlns:a16="http://schemas.microsoft.com/office/drawing/2014/main" id="{F1899BFA-F5A7-2A02-3EFD-3065E103651B}"/>
                  </a:ext>
                </a:extLst>
              </p:cNvPr>
              <p:cNvSpPr>
                <a:spLocks noRot="1" noChangeAspect="1" noMove="1" noResize="1" noEditPoints="1" noAdjustHandles="1" noChangeArrowheads="1" noChangeShapeType="1" noTextEdit="1"/>
              </p:cNvSpPr>
              <p:nvPr/>
            </p:nvSpPr>
            <p:spPr>
              <a:xfrm>
                <a:off x="5338119" y="2516631"/>
                <a:ext cx="4652904" cy="1489005"/>
              </a:xfrm>
              <a:prstGeom prst="roundRect">
                <a:avLst/>
              </a:prstGeom>
              <a:blipFill>
                <a:blip r:embed="rId6"/>
                <a:stretch>
                  <a:fillRect/>
                </a:stretch>
              </a:blipFill>
              <a:ln w="38100">
                <a:solidFill>
                  <a:srgbClr val="FFC000"/>
                </a:solidFill>
              </a:ln>
            </p:spPr>
            <p:txBody>
              <a:bodyPr/>
              <a:lstStyle/>
              <a:p>
                <a:r>
                  <a:rPr lang="it-IT">
                    <a:noFill/>
                  </a:rPr>
                  <a:t> </a:t>
                </a:r>
              </a:p>
            </p:txBody>
          </p:sp>
        </mc:Fallback>
      </mc:AlternateContent>
      <p:sp>
        <p:nvSpPr>
          <p:cNvPr id="17" name="Right Brace 16">
            <a:extLst>
              <a:ext uri="{FF2B5EF4-FFF2-40B4-BE49-F238E27FC236}">
                <a16:creationId xmlns:a16="http://schemas.microsoft.com/office/drawing/2014/main" id="{05108C21-3509-2BA4-2645-D03D16CDF3D4}"/>
              </a:ext>
            </a:extLst>
          </p:cNvPr>
          <p:cNvSpPr/>
          <p:nvPr/>
        </p:nvSpPr>
        <p:spPr>
          <a:xfrm>
            <a:off x="2727289" y="3165029"/>
            <a:ext cx="357786" cy="2087691"/>
          </a:xfrm>
          <a:prstGeom prst="rightBrace">
            <a:avLst>
              <a:gd name="adj1" fmla="val 43750"/>
              <a:gd name="adj2" fmla="val 50000"/>
            </a:avLst>
          </a:prstGeom>
          <a:ln>
            <a:solidFill>
              <a:srgbClr val="FFC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it-IT"/>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450DD242-528B-1D31-C125-7865ADDCE52E}"/>
                  </a:ext>
                </a:extLst>
              </p:cNvPr>
              <p:cNvSpPr txBox="1"/>
              <p:nvPr/>
            </p:nvSpPr>
            <p:spPr>
              <a:xfrm>
                <a:off x="3085075" y="4056212"/>
                <a:ext cx="2011680" cy="369332"/>
              </a:xfrm>
              <a:prstGeom prst="rect">
                <a:avLst/>
              </a:prstGeom>
              <a:noFill/>
            </p:spPr>
            <p:txBody>
              <a:bodyPr wrap="square" rtlCol="0">
                <a:spAutoFit/>
              </a:bodyPr>
              <a:lstStyle/>
              <a:p>
                <a:r>
                  <a:rPr lang="it-IT" b="0" dirty="0"/>
                  <a:t>Jump = </a:t>
                </a:r>
                <a14:m>
                  <m:oMath xmlns:m="http://schemas.openxmlformats.org/officeDocument/2006/math">
                    <m:r>
                      <a:rPr lang="it-IT" b="0" i="1" smtClean="0">
                        <a:latin typeface="Cambria Math" panose="02040503050406030204" pitchFamily="18" charset="0"/>
                      </a:rPr>
                      <m:t>66.6 </m:t>
                    </m:r>
                    <m:r>
                      <a:rPr lang="it-IT" b="0" i="1" smtClean="0">
                        <a:latin typeface="Cambria Math" panose="02040503050406030204" pitchFamily="18" charset="0"/>
                      </a:rPr>
                      <m:t>𝜇</m:t>
                    </m:r>
                    <m:r>
                      <m:rPr>
                        <m:sty m:val="p"/>
                      </m:rPr>
                      <a:rPr lang="it-IT" b="0" i="0" smtClean="0">
                        <a:latin typeface="Cambria Math" panose="02040503050406030204" pitchFamily="18" charset="0"/>
                      </a:rPr>
                      <m:t>rad</m:t>
                    </m:r>
                  </m:oMath>
                </a14:m>
                <a:endParaRPr lang="it-IT" dirty="0"/>
              </a:p>
            </p:txBody>
          </p:sp>
        </mc:Choice>
        <mc:Fallback xmlns="">
          <p:sp>
            <p:nvSpPr>
              <p:cNvPr id="21" name="TextBox 20">
                <a:extLst>
                  <a:ext uri="{FF2B5EF4-FFF2-40B4-BE49-F238E27FC236}">
                    <a16:creationId xmlns:a16="http://schemas.microsoft.com/office/drawing/2014/main" id="{450DD242-528B-1D31-C125-7865ADDCE52E}"/>
                  </a:ext>
                </a:extLst>
              </p:cNvPr>
              <p:cNvSpPr txBox="1">
                <a:spLocks noRot="1" noChangeAspect="1" noMove="1" noResize="1" noEditPoints="1" noAdjustHandles="1" noChangeArrowheads="1" noChangeShapeType="1" noTextEdit="1"/>
              </p:cNvSpPr>
              <p:nvPr/>
            </p:nvSpPr>
            <p:spPr>
              <a:xfrm>
                <a:off x="3085075" y="4056212"/>
                <a:ext cx="2011680" cy="369332"/>
              </a:xfrm>
              <a:prstGeom prst="rect">
                <a:avLst/>
              </a:prstGeom>
              <a:blipFill>
                <a:blip r:embed="rId7"/>
                <a:stretch>
                  <a:fillRect l="-2424" t="-6557" b="-26230"/>
                </a:stretch>
              </a:blipFill>
            </p:spPr>
            <p:txBody>
              <a:bodyPr/>
              <a:lstStyle/>
              <a:p>
                <a:r>
                  <a:rPr lang="it-IT">
                    <a:noFill/>
                  </a:rPr>
                  <a:t> </a:t>
                </a:r>
              </a:p>
            </p:txBody>
          </p:sp>
        </mc:Fallback>
      </mc:AlternateContent>
    </p:spTree>
    <p:extLst>
      <p:ext uri="{BB962C8B-B14F-4D97-AF65-F5344CB8AC3E}">
        <p14:creationId xmlns:p14="http://schemas.microsoft.com/office/powerpoint/2010/main" val="1018135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A147E-9583-17A2-C251-DFBD06409B1F}"/>
            </a:ext>
          </a:extLst>
        </p:cNvPr>
        <p:cNvGrpSpPr/>
        <p:nvPr/>
      </p:nvGrpSpPr>
      <p:grpSpPr>
        <a:xfrm>
          <a:off x="0" y="0"/>
          <a:ext cx="0" cy="0"/>
          <a:chOff x="0" y="0"/>
          <a:chExt cx="0" cy="0"/>
        </a:xfrm>
      </p:grpSpPr>
      <p:pic>
        <p:nvPicPr>
          <p:cNvPr id="18" name="Content Placeholder 17">
            <a:extLst>
              <a:ext uri="{FF2B5EF4-FFF2-40B4-BE49-F238E27FC236}">
                <a16:creationId xmlns:a16="http://schemas.microsoft.com/office/drawing/2014/main" id="{B444A3BC-ED1A-1CDF-F4ED-911079C6EE75}"/>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209800" y="1245062"/>
            <a:ext cx="6480000" cy="4860000"/>
          </a:xfrm>
          <a:prstGeom prst="rect">
            <a:avLst/>
          </a:prstGeom>
        </p:spPr>
      </p:pic>
      <p:sp>
        <p:nvSpPr>
          <p:cNvPr id="2" name="Titolo 1">
            <a:extLst>
              <a:ext uri="{FF2B5EF4-FFF2-40B4-BE49-F238E27FC236}">
                <a16:creationId xmlns:a16="http://schemas.microsoft.com/office/drawing/2014/main" id="{CF230C73-EB01-57B1-6C81-AB0A86448A57}"/>
              </a:ext>
            </a:extLst>
          </p:cNvPr>
          <p:cNvSpPr>
            <a:spLocks noGrp="1"/>
          </p:cNvSpPr>
          <p:nvPr>
            <p:ph type="title"/>
          </p:nvPr>
        </p:nvSpPr>
        <p:spPr>
          <a:xfrm>
            <a:off x="38100" y="69651"/>
            <a:ext cx="12114000" cy="1153094"/>
          </a:xfrm>
          <a:prstGeom prst="roundRect">
            <a:avLst>
              <a:gd name="adj" fmla="val 36459"/>
            </a:avLst>
          </a:prstGeom>
          <a:noFill/>
        </p:spPr>
        <p:txBody>
          <a:bodyPr>
            <a:noAutofit/>
          </a:bodyPr>
          <a:lstStyle/>
          <a:p>
            <a:r>
              <a:rPr lang="en-US" sz="3400" b="1" dirty="0">
                <a:solidFill>
                  <a:srgbClr val="002060"/>
                </a:solidFill>
              </a:rPr>
              <a:t>	FIND THE CRYSTAL FOOTPRINT THROUGH SCATTERING</a:t>
            </a:r>
            <a:endParaRPr lang="it-IT" sz="3400" b="1" dirty="0">
              <a:solidFill>
                <a:srgbClr val="002060"/>
              </a:solidFill>
            </a:endParaRPr>
          </a:p>
        </p:txBody>
      </p:sp>
      <p:sp>
        <p:nvSpPr>
          <p:cNvPr id="4" name="Segnaposto data 3">
            <a:extLst>
              <a:ext uri="{FF2B5EF4-FFF2-40B4-BE49-F238E27FC236}">
                <a16:creationId xmlns:a16="http://schemas.microsoft.com/office/drawing/2014/main" id="{312E0B60-1F33-9826-84B7-9FEAB3F57E1F}"/>
              </a:ext>
            </a:extLst>
          </p:cNvPr>
          <p:cNvSpPr>
            <a:spLocks noGrp="1"/>
          </p:cNvSpPr>
          <p:nvPr>
            <p:ph type="dt" sz="half" idx="10"/>
          </p:nvPr>
        </p:nvSpPr>
        <p:spPr>
          <a:xfrm>
            <a:off x="838200" y="6356349"/>
            <a:ext cx="2743200" cy="432000"/>
          </a:xfrm>
        </p:spPr>
        <p:txBody>
          <a:bodyPr/>
          <a:lstStyle/>
          <a:p>
            <a:r>
              <a:rPr lang="it-IT" sz="1500" b="1" dirty="0">
                <a:solidFill>
                  <a:srgbClr val="002060"/>
                </a:solidFill>
              </a:rPr>
              <a:t>September 2026</a:t>
            </a:r>
          </a:p>
        </p:txBody>
      </p:sp>
      <p:sp>
        <p:nvSpPr>
          <p:cNvPr id="5" name="Segnaposto piè di pagina 4">
            <a:extLst>
              <a:ext uri="{FF2B5EF4-FFF2-40B4-BE49-F238E27FC236}">
                <a16:creationId xmlns:a16="http://schemas.microsoft.com/office/drawing/2014/main" id="{0DF23F36-3686-07AA-92E1-46A183255FCB}"/>
              </a:ext>
            </a:extLst>
          </p:cNvPr>
          <p:cNvSpPr>
            <a:spLocks noGrp="1"/>
          </p:cNvSpPr>
          <p:nvPr>
            <p:ph type="ftr" sz="quarter" idx="11"/>
          </p:nvPr>
        </p:nvSpPr>
        <p:spPr>
          <a:xfrm>
            <a:off x="0" y="6356349"/>
            <a:ext cx="12192000" cy="432000"/>
          </a:xfrm>
        </p:spPr>
        <p:txBody>
          <a:bodyPr/>
          <a:lstStyle/>
          <a:p>
            <a:r>
              <a:rPr lang="it-IT" sz="1500" b="1" dirty="0">
                <a:solidFill>
                  <a:srgbClr val="002060"/>
                </a:solidFill>
              </a:rPr>
              <a:t>Anna Sofia Moro</a:t>
            </a:r>
          </a:p>
        </p:txBody>
      </p:sp>
      <p:sp>
        <p:nvSpPr>
          <p:cNvPr id="6" name="Segnaposto numero diapositiva 5">
            <a:extLst>
              <a:ext uri="{FF2B5EF4-FFF2-40B4-BE49-F238E27FC236}">
                <a16:creationId xmlns:a16="http://schemas.microsoft.com/office/drawing/2014/main" id="{3CA6A74B-1DD1-4436-C95C-22F8A6AE1908}"/>
              </a:ext>
            </a:extLst>
          </p:cNvPr>
          <p:cNvSpPr>
            <a:spLocks noGrp="1"/>
          </p:cNvSpPr>
          <p:nvPr>
            <p:ph type="sldNum" sz="quarter" idx="12"/>
          </p:nvPr>
        </p:nvSpPr>
        <p:spPr>
          <a:xfrm>
            <a:off x="8610600" y="6356349"/>
            <a:ext cx="2743200" cy="432000"/>
          </a:xfrm>
        </p:spPr>
        <p:txBody>
          <a:bodyPr/>
          <a:lstStyle/>
          <a:p>
            <a:fld id="{0A318BD9-CA14-4A83-ACF0-03D5918EB402}" type="slidenum">
              <a:rPr lang="it-IT" sz="1500" b="1" smtClean="0">
                <a:solidFill>
                  <a:srgbClr val="002060"/>
                </a:solidFill>
              </a:rPr>
              <a:t>8</a:t>
            </a:fld>
            <a:endParaRPr lang="it-IT" sz="1500" b="1" dirty="0">
              <a:solidFill>
                <a:srgbClr val="002060"/>
              </a:solidFill>
            </a:endParaRPr>
          </a:p>
        </p:txBody>
      </p:sp>
      <p:cxnSp>
        <p:nvCxnSpPr>
          <p:cNvPr id="10" name="Connettore diritto 9">
            <a:extLst>
              <a:ext uri="{FF2B5EF4-FFF2-40B4-BE49-F238E27FC236}">
                <a16:creationId xmlns:a16="http://schemas.microsoft.com/office/drawing/2014/main" id="{F26ED73A-6FA4-1E1F-54C4-FC9655F562FF}"/>
              </a:ext>
            </a:extLst>
          </p:cNvPr>
          <p:cNvCxnSpPr>
            <a:cxnSpLocks/>
          </p:cNvCxnSpPr>
          <p:nvPr/>
        </p:nvCxnSpPr>
        <p:spPr>
          <a:xfrm>
            <a:off x="696000" y="1155368"/>
            <a:ext cx="10800000" cy="0"/>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sp>
        <p:nvSpPr>
          <p:cNvPr id="13" name="CasellaDiTesto 12">
            <a:extLst>
              <a:ext uri="{FF2B5EF4-FFF2-40B4-BE49-F238E27FC236}">
                <a16:creationId xmlns:a16="http://schemas.microsoft.com/office/drawing/2014/main" id="{FF0FB334-719D-89E7-A3B2-FC39615E3439}"/>
              </a:ext>
            </a:extLst>
          </p:cNvPr>
          <p:cNvSpPr txBox="1"/>
          <p:nvPr/>
        </p:nvSpPr>
        <p:spPr>
          <a:xfrm>
            <a:off x="3048886" y="3244334"/>
            <a:ext cx="6097772" cy="369332"/>
          </a:xfrm>
          <a:prstGeom prst="rect">
            <a:avLst/>
          </a:prstGeom>
          <a:noFill/>
        </p:spPr>
        <p:txBody>
          <a:bodyPr wrap="square">
            <a:spAutoFit/>
          </a:bodyPr>
          <a:lstStyle/>
          <a:p>
            <a:endParaRPr lang="it-IT" dirty="0"/>
          </a:p>
        </p:txBody>
      </p:sp>
      <p:sp>
        <p:nvSpPr>
          <p:cNvPr id="15" name="CasellaDiTesto 14">
            <a:extLst>
              <a:ext uri="{FF2B5EF4-FFF2-40B4-BE49-F238E27FC236}">
                <a16:creationId xmlns:a16="http://schemas.microsoft.com/office/drawing/2014/main" id="{BCB31ED8-F7E7-AF0A-851D-7A5316E8089F}"/>
              </a:ext>
            </a:extLst>
          </p:cNvPr>
          <p:cNvSpPr txBox="1"/>
          <p:nvPr/>
        </p:nvSpPr>
        <p:spPr>
          <a:xfrm>
            <a:off x="3048886" y="3244334"/>
            <a:ext cx="6097772" cy="369332"/>
          </a:xfrm>
          <a:prstGeom prst="rect">
            <a:avLst/>
          </a:prstGeom>
          <a:noFill/>
        </p:spPr>
        <p:txBody>
          <a:bodyPr wrap="square">
            <a:spAutoFit/>
          </a:bodyPr>
          <a:lstStyle/>
          <a:p>
            <a:endParaRPr lang="it-IT" dirty="0"/>
          </a:p>
        </p:txBody>
      </p:sp>
      <p:pic>
        <p:nvPicPr>
          <p:cNvPr id="7" name="Picture 6">
            <a:extLst>
              <a:ext uri="{FF2B5EF4-FFF2-40B4-BE49-F238E27FC236}">
                <a16:creationId xmlns:a16="http://schemas.microsoft.com/office/drawing/2014/main" id="{ED9F59BF-1E53-7001-C3D7-32D2FE353A18}"/>
              </a:ext>
            </a:extLst>
          </p:cNvPr>
          <p:cNvPicPr>
            <a:picLocks noChangeAspect="1"/>
          </p:cNvPicPr>
          <p:nvPr/>
        </p:nvPicPr>
        <p:blipFill>
          <a:blip r:embed="rId4">
            <a:extLst>
              <a:ext uri="{28A0092B-C50C-407E-A947-70E740481C1C}">
                <a14:useLocalDpi xmlns:a14="http://schemas.microsoft.com/office/drawing/2010/main" val="0"/>
              </a:ext>
            </a:extLst>
          </a:blip>
          <a:srcRect t="5299" b="5299"/>
          <a:stretch/>
        </p:blipFill>
        <p:spPr>
          <a:xfrm>
            <a:off x="7928946" y="1451083"/>
            <a:ext cx="2687477" cy="1800000"/>
          </a:xfrm>
          <a:prstGeom prst="rect">
            <a:avLst/>
          </a:prstGeom>
          <a:ln w="38100">
            <a:solidFill>
              <a:srgbClr val="FFC000"/>
            </a:solidFill>
          </a:ln>
        </p:spPr>
      </p:pic>
      <p:pic>
        <p:nvPicPr>
          <p:cNvPr id="11" name="Picture 10">
            <a:extLst>
              <a:ext uri="{FF2B5EF4-FFF2-40B4-BE49-F238E27FC236}">
                <a16:creationId xmlns:a16="http://schemas.microsoft.com/office/drawing/2014/main" id="{C05F8B1C-DA2A-E818-14A1-4D26F4BCBD7B}"/>
              </a:ext>
            </a:extLst>
          </p:cNvPr>
          <p:cNvPicPr>
            <a:picLocks noChangeAspect="1"/>
          </p:cNvPicPr>
          <p:nvPr/>
        </p:nvPicPr>
        <p:blipFill>
          <a:blip r:embed="rId5">
            <a:extLst>
              <a:ext uri="{28A0092B-C50C-407E-A947-70E740481C1C}">
                <a14:useLocalDpi xmlns:a14="http://schemas.microsoft.com/office/drawing/2010/main" val="0"/>
              </a:ext>
            </a:extLst>
          </a:blip>
          <a:srcRect t="4765" b="4765"/>
          <a:stretch/>
        </p:blipFill>
        <p:spPr>
          <a:xfrm>
            <a:off x="9272684" y="4466656"/>
            <a:ext cx="2657940" cy="1800000"/>
          </a:xfrm>
          <a:prstGeom prst="rect">
            <a:avLst/>
          </a:prstGeom>
          <a:ln w="38100">
            <a:solidFill>
              <a:srgbClr val="FFC000"/>
            </a:solidFill>
          </a:ln>
        </p:spPr>
      </p:pic>
      <p:sp>
        <p:nvSpPr>
          <p:cNvPr id="12" name="Rectangle: Rounded Corners 11">
            <a:extLst>
              <a:ext uri="{FF2B5EF4-FFF2-40B4-BE49-F238E27FC236}">
                <a16:creationId xmlns:a16="http://schemas.microsoft.com/office/drawing/2014/main" id="{283D1D24-3363-6BE1-CCD2-CF448535CB23}"/>
              </a:ext>
            </a:extLst>
          </p:cNvPr>
          <p:cNvSpPr/>
          <p:nvPr/>
        </p:nvSpPr>
        <p:spPr>
          <a:xfrm>
            <a:off x="10601306" y="3873532"/>
            <a:ext cx="1504987" cy="593124"/>
          </a:xfrm>
          <a:prstGeom prst="roundRect">
            <a:avLst/>
          </a:prstGeom>
          <a:solidFill>
            <a:schemeClr val="bg1"/>
          </a:solid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INSIDE</a:t>
            </a:r>
            <a:endParaRPr lang="it-IT" sz="2000" dirty="0">
              <a:solidFill>
                <a:schemeClr val="tx1"/>
              </a:solidFill>
            </a:endParaRPr>
          </a:p>
        </p:txBody>
      </p:sp>
      <p:sp>
        <p:nvSpPr>
          <p:cNvPr id="16" name="Rectangle: Rounded Corners 15">
            <a:extLst>
              <a:ext uri="{FF2B5EF4-FFF2-40B4-BE49-F238E27FC236}">
                <a16:creationId xmlns:a16="http://schemas.microsoft.com/office/drawing/2014/main" id="{76BE05DE-0BBC-D16E-75BE-8162E9A8E7AA}"/>
              </a:ext>
            </a:extLst>
          </p:cNvPr>
          <p:cNvSpPr/>
          <p:nvPr/>
        </p:nvSpPr>
        <p:spPr>
          <a:xfrm>
            <a:off x="9875624" y="1845194"/>
            <a:ext cx="1504987" cy="593124"/>
          </a:xfrm>
          <a:prstGeom prst="roundRect">
            <a:avLst/>
          </a:prstGeom>
          <a:solidFill>
            <a:schemeClr val="bg1"/>
          </a:solid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CLAMP?</a:t>
            </a:r>
            <a:endParaRPr lang="it-IT" sz="2000" dirty="0">
              <a:solidFill>
                <a:schemeClr val="tx1"/>
              </a:solidFill>
            </a:endParaRPr>
          </a:p>
        </p:txBody>
      </p:sp>
      <p:cxnSp>
        <p:nvCxnSpPr>
          <p:cNvPr id="17" name="Straight Arrow Connector 16">
            <a:extLst>
              <a:ext uri="{FF2B5EF4-FFF2-40B4-BE49-F238E27FC236}">
                <a16:creationId xmlns:a16="http://schemas.microsoft.com/office/drawing/2014/main" id="{35EABA61-82F1-D53E-9065-2ED3206D0D58}"/>
              </a:ext>
            </a:extLst>
          </p:cNvPr>
          <p:cNvCxnSpPr>
            <a:cxnSpLocks/>
          </p:cNvCxnSpPr>
          <p:nvPr/>
        </p:nvCxnSpPr>
        <p:spPr>
          <a:xfrm flipH="1">
            <a:off x="4600876" y="2438318"/>
            <a:ext cx="3328070" cy="806016"/>
          </a:xfrm>
          <a:prstGeom prst="straightConnector1">
            <a:avLst/>
          </a:prstGeom>
          <a:ln w="38100">
            <a:solidFill>
              <a:srgbClr val="FFC000"/>
            </a:solidFill>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F6E8A367-C685-925C-E04D-0FD772300057}"/>
              </a:ext>
            </a:extLst>
          </p:cNvPr>
          <p:cNvCxnSpPr>
            <a:cxnSpLocks/>
          </p:cNvCxnSpPr>
          <p:nvPr/>
        </p:nvCxnSpPr>
        <p:spPr>
          <a:xfrm flipH="1" flipV="1">
            <a:off x="7238198" y="4023360"/>
            <a:ext cx="2034486" cy="1663148"/>
          </a:xfrm>
          <a:prstGeom prst="straightConnector1">
            <a:avLst/>
          </a:prstGeom>
          <a:ln w="38100">
            <a:solidFill>
              <a:srgbClr val="FFC000"/>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D222D206-5695-8B93-6C3F-8DF0E82DA48E}"/>
              </a:ext>
            </a:extLst>
          </p:cNvPr>
          <p:cNvCxnSpPr>
            <a:cxnSpLocks/>
          </p:cNvCxnSpPr>
          <p:nvPr/>
        </p:nvCxnSpPr>
        <p:spPr>
          <a:xfrm flipH="1">
            <a:off x="5226908" y="4141180"/>
            <a:ext cx="2851029" cy="0"/>
          </a:xfrm>
          <a:prstGeom prst="straightConnector1">
            <a:avLst/>
          </a:prstGeom>
          <a:ln w="38100">
            <a:solidFill>
              <a:srgbClr val="FF0000"/>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pic>
        <p:nvPicPr>
          <p:cNvPr id="22" name="Picture 21">
            <a:extLst>
              <a:ext uri="{FF2B5EF4-FFF2-40B4-BE49-F238E27FC236}">
                <a16:creationId xmlns:a16="http://schemas.microsoft.com/office/drawing/2014/main" id="{E845815C-1375-0031-24F6-9B16F6E0ACEA}"/>
              </a:ext>
            </a:extLst>
          </p:cNvPr>
          <p:cNvPicPr>
            <a:picLocks noChangeAspect="1"/>
          </p:cNvPicPr>
          <p:nvPr/>
        </p:nvPicPr>
        <p:blipFill>
          <a:blip r:embed="rId6">
            <a:extLst>
              <a:ext uri="{28A0092B-C50C-407E-A947-70E740481C1C}">
                <a14:useLocalDpi xmlns:a14="http://schemas.microsoft.com/office/drawing/2010/main" val="0"/>
              </a:ext>
            </a:extLst>
          </a:blip>
          <a:srcRect t="4817" b="4817"/>
          <a:stretch/>
        </p:blipFill>
        <p:spPr>
          <a:xfrm>
            <a:off x="579340" y="2438318"/>
            <a:ext cx="2657940" cy="1800000"/>
          </a:xfrm>
          <a:prstGeom prst="rect">
            <a:avLst/>
          </a:prstGeom>
          <a:ln w="38100">
            <a:solidFill>
              <a:srgbClr val="FFC000"/>
            </a:solidFill>
          </a:ln>
        </p:spPr>
      </p:pic>
      <p:sp>
        <p:nvSpPr>
          <p:cNvPr id="23" name="Rectangle: Rounded Corners 22">
            <a:extLst>
              <a:ext uri="{FF2B5EF4-FFF2-40B4-BE49-F238E27FC236}">
                <a16:creationId xmlns:a16="http://schemas.microsoft.com/office/drawing/2014/main" id="{27E0E980-2575-2C0C-D19D-C0EF2FA4BB4D}"/>
              </a:ext>
            </a:extLst>
          </p:cNvPr>
          <p:cNvSpPr/>
          <p:nvPr/>
        </p:nvSpPr>
        <p:spPr>
          <a:xfrm>
            <a:off x="235220" y="2011900"/>
            <a:ext cx="1504987" cy="593124"/>
          </a:xfrm>
          <a:prstGeom prst="roundRect">
            <a:avLst/>
          </a:prstGeom>
          <a:solidFill>
            <a:schemeClr val="bg1"/>
          </a:solid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OUTSIDE</a:t>
            </a:r>
            <a:endParaRPr lang="it-IT" sz="2000" dirty="0">
              <a:solidFill>
                <a:schemeClr val="tx1"/>
              </a:solidFill>
            </a:endParaRPr>
          </a:p>
        </p:txBody>
      </p:sp>
      <p:cxnSp>
        <p:nvCxnSpPr>
          <p:cNvPr id="25" name="Straight Arrow Connector 24">
            <a:extLst>
              <a:ext uri="{FF2B5EF4-FFF2-40B4-BE49-F238E27FC236}">
                <a16:creationId xmlns:a16="http://schemas.microsoft.com/office/drawing/2014/main" id="{85B2A726-B3E8-1902-65C1-258905D39C22}"/>
              </a:ext>
            </a:extLst>
          </p:cNvPr>
          <p:cNvCxnSpPr>
            <a:cxnSpLocks/>
            <a:stCxn id="22" idx="2"/>
          </p:cNvCxnSpPr>
          <p:nvPr/>
        </p:nvCxnSpPr>
        <p:spPr>
          <a:xfrm>
            <a:off x="1908310" y="4238318"/>
            <a:ext cx="1673090" cy="948179"/>
          </a:xfrm>
          <a:prstGeom prst="straightConnector1">
            <a:avLst/>
          </a:prstGeom>
          <a:ln w="38100">
            <a:solidFill>
              <a:srgbClr val="FFC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315244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246157-A75A-4F42-11F9-B089BE8F84A2}"/>
            </a:ext>
          </a:extLst>
        </p:cNvPr>
        <p:cNvGrpSpPr/>
        <p:nvPr/>
      </p:nvGrpSpPr>
      <p:grpSpPr>
        <a:xfrm>
          <a:off x="0" y="0"/>
          <a:ext cx="0" cy="0"/>
          <a:chOff x="0" y="0"/>
          <a:chExt cx="0" cy="0"/>
        </a:xfrm>
      </p:grpSpPr>
      <p:pic>
        <p:nvPicPr>
          <p:cNvPr id="18" name="Content Placeholder 17">
            <a:extLst>
              <a:ext uri="{FF2B5EF4-FFF2-40B4-BE49-F238E27FC236}">
                <a16:creationId xmlns:a16="http://schemas.microsoft.com/office/drawing/2014/main" id="{34FE4903-1386-79B7-072D-4ABE4550009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41400" y="1287011"/>
            <a:ext cx="6480000" cy="4860000"/>
          </a:xfrm>
          <a:prstGeom prst="rect">
            <a:avLst/>
          </a:prstGeom>
        </p:spPr>
      </p:pic>
      <p:sp>
        <p:nvSpPr>
          <p:cNvPr id="2" name="Titolo 1">
            <a:extLst>
              <a:ext uri="{FF2B5EF4-FFF2-40B4-BE49-F238E27FC236}">
                <a16:creationId xmlns:a16="http://schemas.microsoft.com/office/drawing/2014/main" id="{D085F966-47C0-F8C3-7B2E-CE39C7F40C76}"/>
              </a:ext>
            </a:extLst>
          </p:cNvPr>
          <p:cNvSpPr>
            <a:spLocks noGrp="1"/>
          </p:cNvSpPr>
          <p:nvPr>
            <p:ph type="title"/>
          </p:nvPr>
        </p:nvSpPr>
        <p:spPr>
          <a:xfrm>
            <a:off x="38100" y="69651"/>
            <a:ext cx="12114000" cy="1153094"/>
          </a:xfrm>
          <a:prstGeom prst="roundRect">
            <a:avLst>
              <a:gd name="adj" fmla="val 36459"/>
            </a:avLst>
          </a:prstGeom>
          <a:noFill/>
        </p:spPr>
        <p:txBody>
          <a:bodyPr>
            <a:noAutofit/>
          </a:bodyPr>
          <a:lstStyle/>
          <a:p>
            <a:r>
              <a:rPr lang="en-US" sz="3400" b="1" dirty="0">
                <a:solidFill>
                  <a:srgbClr val="002060"/>
                </a:solidFill>
              </a:rPr>
              <a:t>	FIND THE CRYSTAL FOOTPRINT THROUGH SCATTERING</a:t>
            </a:r>
            <a:endParaRPr lang="it-IT" sz="3400" b="1" dirty="0">
              <a:solidFill>
                <a:srgbClr val="002060"/>
              </a:solidFill>
            </a:endParaRPr>
          </a:p>
        </p:txBody>
      </p:sp>
      <p:sp>
        <p:nvSpPr>
          <p:cNvPr id="4" name="Segnaposto data 3">
            <a:extLst>
              <a:ext uri="{FF2B5EF4-FFF2-40B4-BE49-F238E27FC236}">
                <a16:creationId xmlns:a16="http://schemas.microsoft.com/office/drawing/2014/main" id="{AC008D3E-2AF9-7DDF-3DE4-ECC80FF94743}"/>
              </a:ext>
            </a:extLst>
          </p:cNvPr>
          <p:cNvSpPr>
            <a:spLocks noGrp="1"/>
          </p:cNvSpPr>
          <p:nvPr>
            <p:ph type="dt" sz="half" idx="10"/>
          </p:nvPr>
        </p:nvSpPr>
        <p:spPr>
          <a:xfrm>
            <a:off x="838200" y="6356349"/>
            <a:ext cx="2743200" cy="432000"/>
          </a:xfrm>
        </p:spPr>
        <p:txBody>
          <a:bodyPr/>
          <a:lstStyle/>
          <a:p>
            <a:r>
              <a:rPr lang="it-IT" sz="1500" b="1" dirty="0">
                <a:solidFill>
                  <a:srgbClr val="002060"/>
                </a:solidFill>
              </a:rPr>
              <a:t>September 2026</a:t>
            </a:r>
          </a:p>
        </p:txBody>
      </p:sp>
      <p:sp>
        <p:nvSpPr>
          <p:cNvPr id="5" name="Segnaposto piè di pagina 4">
            <a:extLst>
              <a:ext uri="{FF2B5EF4-FFF2-40B4-BE49-F238E27FC236}">
                <a16:creationId xmlns:a16="http://schemas.microsoft.com/office/drawing/2014/main" id="{722EC9F7-4985-C527-F13E-56BD3744B1B1}"/>
              </a:ext>
            </a:extLst>
          </p:cNvPr>
          <p:cNvSpPr>
            <a:spLocks noGrp="1"/>
          </p:cNvSpPr>
          <p:nvPr>
            <p:ph type="ftr" sz="quarter" idx="11"/>
          </p:nvPr>
        </p:nvSpPr>
        <p:spPr>
          <a:xfrm>
            <a:off x="0" y="6356349"/>
            <a:ext cx="12192000" cy="432000"/>
          </a:xfrm>
        </p:spPr>
        <p:txBody>
          <a:bodyPr/>
          <a:lstStyle/>
          <a:p>
            <a:r>
              <a:rPr lang="it-IT" sz="1500" b="1" dirty="0">
                <a:solidFill>
                  <a:srgbClr val="002060"/>
                </a:solidFill>
              </a:rPr>
              <a:t>Anna Sofia Moro</a:t>
            </a:r>
          </a:p>
        </p:txBody>
      </p:sp>
      <p:sp>
        <p:nvSpPr>
          <p:cNvPr id="6" name="Segnaposto numero diapositiva 5">
            <a:extLst>
              <a:ext uri="{FF2B5EF4-FFF2-40B4-BE49-F238E27FC236}">
                <a16:creationId xmlns:a16="http://schemas.microsoft.com/office/drawing/2014/main" id="{FFE29E19-3C21-641A-919C-6A6E4AA64203}"/>
              </a:ext>
            </a:extLst>
          </p:cNvPr>
          <p:cNvSpPr>
            <a:spLocks noGrp="1"/>
          </p:cNvSpPr>
          <p:nvPr>
            <p:ph type="sldNum" sz="quarter" idx="12"/>
          </p:nvPr>
        </p:nvSpPr>
        <p:spPr>
          <a:xfrm>
            <a:off x="8610600" y="6356349"/>
            <a:ext cx="2743200" cy="432000"/>
          </a:xfrm>
        </p:spPr>
        <p:txBody>
          <a:bodyPr/>
          <a:lstStyle/>
          <a:p>
            <a:fld id="{0A318BD9-CA14-4A83-ACF0-03D5918EB402}" type="slidenum">
              <a:rPr lang="it-IT" sz="1500" b="1" smtClean="0">
                <a:solidFill>
                  <a:srgbClr val="002060"/>
                </a:solidFill>
              </a:rPr>
              <a:t>9</a:t>
            </a:fld>
            <a:endParaRPr lang="it-IT" sz="1500" b="1" dirty="0">
              <a:solidFill>
                <a:srgbClr val="002060"/>
              </a:solidFill>
            </a:endParaRPr>
          </a:p>
        </p:txBody>
      </p:sp>
      <p:cxnSp>
        <p:nvCxnSpPr>
          <p:cNvPr id="10" name="Connettore diritto 9">
            <a:extLst>
              <a:ext uri="{FF2B5EF4-FFF2-40B4-BE49-F238E27FC236}">
                <a16:creationId xmlns:a16="http://schemas.microsoft.com/office/drawing/2014/main" id="{5E2EDC4B-8E0B-7DF0-AF16-AA51E87BF6F7}"/>
              </a:ext>
            </a:extLst>
          </p:cNvPr>
          <p:cNvCxnSpPr>
            <a:cxnSpLocks/>
          </p:cNvCxnSpPr>
          <p:nvPr/>
        </p:nvCxnSpPr>
        <p:spPr>
          <a:xfrm>
            <a:off x="696000" y="1155368"/>
            <a:ext cx="10800000" cy="0"/>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sp>
        <p:nvSpPr>
          <p:cNvPr id="13" name="CasellaDiTesto 12">
            <a:extLst>
              <a:ext uri="{FF2B5EF4-FFF2-40B4-BE49-F238E27FC236}">
                <a16:creationId xmlns:a16="http://schemas.microsoft.com/office/drawing/2014/main" id="{D559E469-917B-A12E-8324-98874038CE3B}"/>
              </a:ext>
            </a:extLst>
          </p:cNvPr>
          <p:cNvSpPr txBox="1"/>
          <p:nvPr/>
        </p:nvSpPr>
        <p:spPr>
          <a:xfrm>
            <a:off x="3048886" y="3244334"/>
            <a:ext cx="6097772" cy="369332"/>
          </a:xfrm>
          <a:prstGeom prst="rect">
            <a:avLst/>
          </a:prstGeom>
          <a:noFill/>
        </p:spPr>
        <p:txBody>
          <a:bodyPr wrap="square">
            <a:spAutoFit/>
          </a:bodyPr>
          <a:lstStyle/>
          <a:p>
            <a:endParaRPr lang="it-IT" dirty="0"/>
          </a:p>
        </p:txBody>
      </p:sp>
      <mc:AlternateContent xmlns:mc="http://schemas.openxmlformats.org/markup-compatibility/2006" xmlns:a14="http://schemas.microsoft.com/office/drawing/2010/main">
        <mc:Choice Requires="a14">
          <p:sp>
            <p:nvSpPr>
              <p:cNvPr id="12" name="Rectangle: Rounded Corners 11">
                <a:extLst>
                  <a:ext uri="{FF2B5EF4-FFF2-40B4-BE49-F238E27FC236}">
                    <a16:creationId xmlns:a16="http://schemas.microsoft.com/office/drawing/2014/main" id="{3A09DF68-83B5-B5DC-3ED5-47679BD22156}"/>
                  </a:ext>
                </a:extLst>
              </p:cNvPr>
              <p:cNvSpPr/>
              <p:nvPr/>
            </p:nvSpPr>
            <p:spPr>
              <a:xfrm>
                <a:off x="4695316" y="4944164"/>
                <a:ext cx="3044935" cy="1307516"/>
              </a:xfrm>
              <a:prstGeom prst="roundRect">
                <a:avLst/>
              </a:prstGeom>
              <a:solidFill>
                <a:schemeClr val="bg1"/>
              </a:solid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𝜎</m:t>
                          </m:r>
                        </m:e>
                        <m:sub>
                          <m:r>
                            <a:rPr lang="it-IT" sz="2000" b="0" i="1" smtClean="0">
                              <a:solidFill>
                                <a:schemeClr val="tx1"/>
                              </a:solidFill>
                              <a:latin typeface="Cambria Math" panose="02040503050406030204" pitchFamily="18" charset="0"/>
                            </a:rPr>
                            <m:t>𝑚𝑐𝑠</m:t>
                          </m:r>
                        </m:sub>
                      </m:sSub>
                      <m:r>
                        <a:rPr lang="en-US" sz="2000" i="1">
                          <a:solidFill>
                            <a:schemeClr val="tx1"/>
                          </a:solidFill>
                          <a:latin typeface="Cambria Math" panose="02040503050406030204" pitchFamily="18" charset="0"/>
                        </a:rPr>
                        <m:t>=</m:t>
                      </m:r>
                      <m:rad>
                        <m:radPr>
                          <m:degHide m:val="on"/>
                          <m:ctrlPr>
                            <a:rPr lang="it-IT" sz="2000" i="1">
                              <a:solidFill>
                                <a:schemeClr val="tx1"/>
                              </a:solidFill>
                              <a:latin typeface="Cambria Math" panose="02040503050406030204" pitchFamily="18" charset="0"/>
                            </a:rPr>
                          </m:ctrlPr>
                        </m:radPr>
                        <m:deg/>
                        <m:e>
                          <m:sSubSup>
                            <m:sSubSupPr>
                              <m:ctrlPr>
                                <a:rPr lang="en-US" sz="2000" i="1">
                                  <a:solidFill>
                                    <a:schemeClr val="tx1"/>
                                  </a:solidFill>
                                  <a:latin typeface="Cambria Math" panose="02040503050406030204" pitchFamily="18" charset="0"/>
                                </a:rPr>
                              </m:ctrlPr>
                            </m:sSubSupPr>
                            <m:e>
                              <m:r>
                                <a:rPr lang="en-US" sz="2000" i="1">
                                  <a:solidFill>
                                    <a:schemeClr val="tx1"/>
                                  </a:solidFill>
                                  <a:latin typeface="Cambria Math" panose="02040503050406030204" pitchFamily="18" charset="0"/>
                                </a:rPr>
                                <m:t>𝜎</m:t>
                              </m:r>
                            </m:e>
                            <m:sub>
                              <m:r>
                                <a:rPr lang="it-IT" sz="2000" b="0" i="1" smtClean="0">
                                  <a:solidFill>
                                    <a:schemeClr val="tx1"/>
                                  </a:solidFill>
                                  <a:latin typeface="Cambria Math" panose="02040503050406030204" pitchFamily="18" charset="0"/>
                                </a:rPr>
                                <m:t>𝑚𝑒𝑎𝑠</m:t>
                              </m:r>
                            </m:sub>
                            <m:sup>
                              <m:r>
                                <a:rPr lang="en-US" sz="2000" i="1">
                                  <a:solidFill>
                                    <a:schemeClr val="tx1"/>
                                  </a:solidFill>
                                  <a:latin typeface="Cambria Math" panose="02040503050406030204" pitchFamily="18" charset="0"/>
                                </a:rPr>
                                <m:t>2</m:t>
                              </m:r>
                            </m:sup>
                          </m:sSubSup>
                          <m:r>
                            <a:rPr lang="it-IT" sz="2000" b="0" i="1" smtClean="0">
                              <a:solidFill>
                                <a:schemeClr val="tx1"/>
                              </a:solidFill>
                              <a:latin typeface="Cambria Math" panose="02040503050406030204" pitchFamily="18" charset="0"/>
                            </a:rPr>
                            <m:t>−</m:t>
                          </m:r>
                          <m:sSubSup>
                            <m:sSubSupPr>
                              <m:ctrlPr>
                                <a:rPr lang="en-US" sz="2000" i="1">
                                  <a:solidFill>
                                    <a:schemeClr val="tx1"/>
                                  </a:solidFill>
                                  <a:latin typeface="Cambria Math" panose="02040503050406030204" pitchFamily="18" charset="0"/>
                                </a:rPr>
                              </m:ctrlPr>
                            </m:sSubSupPr>
                            <m:e>
                              <m:r>
                                <a:rPr lang="en-US" sz="2000" i="1">
                                  <a:solidFill>
                                    <a:schemeClr val="tx1"/>
                                  </a:solidFill>
                                  <a:latin typeface="Cambria Math" panose="02040503050406030204" pitchFamily="18" charset="0"/>
                                </a:rPr>
                                <m:t>𝜎</m:t>
                              </m:r>
                            </m:e>
                            <m:sub>
                              <m:r>
                                <a:rPr lang="it-IT" sz="2000" b="0" i="1" smtClean="0">
                                  <a:solidFill>
                                    <a:schemeClr val="tx1"/>
                                  </a:solidFill>
                                  <a:latin typeface="Cambria Math" panose="02040503050406030204" pitchFamily="18" charset="0"/>
                                </a:rPr>
                                <m:t>𝑏𝑠𝑙</m:t>
                              </m:r>
                            </m:sub>
                            <m:sup>
                              <m:r>
                                <a:rPr lang="en-US" sz="2000" i="1">
                                  <a:solidFill>
                                    <a:schemeClr val="tx1"/>
                                  </a:solidFill>
                                  <a:latin typeface="Cambria Math" panose="02040503050406030204" pitchFamily="18" charset="0"/>
                                </a:rPr>
                                <m:t>2</m:t>
                              </m:r>
                            </m:sup>
                          </m:sSubSup>
                        </m:e>
                      </m:rad>
                      <m:r>
                        <a:rPr lang="it-IT" sz="2000" b="0" i="1" smtClean="0">
                          <a:solidFill>
                            <a:schemeClr val="tx1"/>
                          </a:solidFill>
                          <a:latin typeface="Cambria Math" panose="02040503050406030204" pitchFamily="18" charset="0"/>
                        </a:rPr>
                        <m:t>=62.99(4)</m:t>
                      </m:r>
                      <m:r>
                        <a:rPr lang="en-US" sz="2000" i="1">
                          <a:solidFill>
                            <a:schemeClr val="tx1"/>
                          </a:solidFill>
                          <a:latin typeface="Cambria Math" panose="02040503050406030204" pitchFamily="18" charset="0"/>
                        </a:rPr>
                        <m:t> </m:t>
                      </m:r>
                      <m:r>
                        <a:rPr lang="en-US" sz="2000" i="1">
                          <a:solidFill>
                            <a:schemeClr val="tx1"/>
                          </a:solidFill>
                          <a:latin typeface="Cambria Math" panose="02040503050406030204" pitchFamily="18" charset="0"/>
                        </a:rPr>
                        <m:t>𝜇</m:t>
                      </m:r>
                      <m:r>
                        <m:rPr>
                          <m:sty m:val="p"/>
                        </m:rPr>
                        <a:rPr lang="en-US" sz="2000">
                          <a:solidFill>
                            <a:schemeClr val="tx1"/>
                          </a:solidFill>
                          <a:latin typeface="Cambria Math" panose="02040503050406030204" pitchFamily="18" charset="0"/>
                        </a:rPr>
                        <m:t>rad</m:t>
                      </m:r>
                    </m:oMath>
                  </m:oMathPara>
                </a14:m>
                <a:endParaRPr lang="it-IT" sz="2000" dirty="0">
                  <a:solidFill>
                    <a:schemeClr val="tx1"/>
                  </a:solidFill>
                </a:endParaRPr>
              </a:p>
            </p:txBody>
          </p:sp>
        </mc:Choice>
        <mc:Fallback xmlns="">
          <p:sp>
            <p:nvSpPr>
              <p:cNvPr id="12" name="Rectangle: Rounded Corners 11">
                <a:extLst>
                  <a:ext uri="{FF2B5EF4-FFF2-40B4-BE49-F238E27FC236}">
                    <a16:creationId xmlns:a16="http://schemas.microsoft.com/office/drawing/2014/main" id="{3A09DF68-83B5-B5DC-3ED5-47679BD22156}"/>
                  </a:ext>
                </a:extLst>
              </p:cNvPr>
              <p:cNvSpPr>
                <a:spLocks noRot="1" noChangeAspect="1" noMove="1" noResize="1" noEditPoints="1" noAdjustHandles="1" noChangeArrowheads="1" noChangeShapeType="1" noTextEdit="1"/>
              </p:cNvSpPr>
              <p:nvPr/>
            </p:nvSpPr>
            <p:spPr>
              <a:xfrm>
                <a:off x="4695316" y="4944164"/>
                <a:ext cx="3044935" cy="1307516"/>
              </a:xfrm>
              <a:prstGeom prst="roundRect">
                <a:avLst/>
              </a:prstGeom>
              <a:blipFill>
                <a:blip r:embed="rId4"/>
                <a:stretch>
                  <a:fillRect/>
                </a:stretch>
              </a:blipFill>
              <a:ln w="38100">
                <a:solidFill>
                  <a:srgbClr val="FFC000"/>
                </a:solid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6" name="Rectangle: Rounded Corners 15">
                <a:extLst>
                  <a:ext uri="{FF2B5EF4-FFF2-40B4-BE49-F238E27FC236}">
                    <a16:creationId xmlns:a16="http://schemas.microsoft.com/office/drawing/2014/main" id="{BA0E6308-C7C5-DF1E-45A9-26F01BD77B7E}"/>
                  </a:ext>
                </a:extLst>
              </p:cNvPr>
              <p:cNvSpPr/>
              <p:nvPr/>
            </p:nvSpPr>
            <p:spPr>
              <a:xfrm>
                <a:off x="6691897" y="1327414"/>
                <a:ext cx="3713011" cy="981048"/>
              </a:xfrm>
              <a:prstGeom prst="roundRect">
                <a:avLst/>
              </a:prstGeom>
              <a:solidFill>
                <a:schemeClr val="bg1"/>
              </a:solid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CLAMP: which material/metal?</a:t>
                </a:r>
              </a:p>
              <a:p>
                <a:pPr algn="ctr"/>
                <a:r>
                  <a:rPr lang="it-IT" sz="2000" dirty="0">
                    <a:solidFill>
                      <a:schemeClr val="tx1"/>
                    </a:solidFill>
                  </a:rPr>
                  <a:t>on average </a:t>
                </a:r>
                <a14:m>
                  <m:oMath xmlns:m="http://schemas.openxmlformats.org/officeDocument/2006/math">
                    <m:r>
                      <a:rPr lang="it-IT" sz="2000" b="0" i="1" smtClean="0">
                        <a:solidFill>
                          <a:schemeClr val="tx1"/>
                        </a:solidFill>
                        <a:latin typeface="Cambria Math" panose="02040503050406030204" pitchFamily="18" charset="0"/>
                      </a:rPr>
                      <m:t>∼99.2±0.3 </m:t>
                    </m:r>
                    <m:r>
                      <a:rPr lang="it-IT" sz="2000" b="0" i="1" smtClean="0">
                        <a:solidFill>
                          <a:schemeClr val="tx1"/>
                        </a:solidFill>
                        <a:latin typeface="Cambria Math" panose="02040503050406030204" pitchFamily="18" charset="0"/>
                      </a:rPr>
                      <m:t>𝜇</m:t>
                    </m:r>
                    <m:r>
                      <m:rPr>
                        <m:sty m:val="p"/>
                      </m:rPr>
                      <a:rPr lang="it-IT" sz="2000" b="0" i="0" smtClean="0">
                        <a:solidFill>
                          <a:schemeClr val="tx1"/>
                        </a:solidFill>
                        <a:latin typeface="Cambria Math" panose="02040503050406030204" pitchFamily="18" charset="0"/>
                      </a:rPr>
                      <m:t>rad</m:t>
                    </m:r>
                  </m:oMath>
                </a14:m>
                <a:endParaRPr lang="it-IT" sz="2000" dirty="0">
                  <a:solidFill>
                    <a:schemeClr val="tx1"/>
                  </a:solidFill>
                </a:endParaRPr>
              </a:p>
            </p:txBody>
          </p:sp>
        </mc:Choice>
        <mc:Fallback xmlns="">
          <p:sp>
            <p:nvSpPr>
              <p:cNvPr id="16" name="Rectangle: Rounded Corners 15">
                <a:extLst>
                  <a:ext uri="{FF2B5EF4-FFF2-40B4-BE49-F238E27FC236}">
                    <a16:creationId xmlns:a16="http://schemas.microsoft.com/office/drawing/2014/main" id="{BA0E6308-C7C5-DF1E-45A9-26F01BD77B7E}"/>
                  </a:ext>
                </a:extLst>
              </p:cNvPr>
              <p:cNvSpPr>
                <a:spLocks noRot="1" noChangeAspect="1" noMove="1" noResize="1" noEditPoints="1" noAdjustHandles="1" noChangeArrowheads="1" noChangeShapeType="1" noTextEdit="1"/>
              </p:cNvSpPr>
              <p:nvPr/>
            </p:nvSpPr>
            <p:spPr>
              <a:xfrm>
                <a:off x="6691897" y="1327414"/>
                <a:ext cx="3713011" cy="981048"/>
              </a:xfrm>
              <a:prstGeom prst="roundRect">
                <a:avLst/>
              </a:prstGeom>
              <a:blipFill>
                <a:blip r:embed="rId5"/>
                <a:stretch>
                  <a:fillRect/>
                </a:stretch>
              </a:blipFill>
              <a:ln w="38100">
                <a:solidFill>
                  <a:srgbClr val="FFC000"/>
                </a:solidFill>
              </a:ln>
            </p:spPr>
            <p:txBody>
              <a:bodyPr/>
              <a:lstStyle/>
              <a:p>
                <a:r>
                  <a:rPr lang="it-IT">
                    <a:noFill/>
                  </a:rPr>
                  <a:t> </a:t>
                </a:r>
              </a:p>
            </p:txBody>
          </p:sp>
        </mc:Fallback>
      </mc:AlternateContent>
      <p:cxnSp>
        <p:nvCxnSpPr>
          <p:cNvPr id="17" name="Straight Arrow Connector 16">
            <a:extLst>
              <a:ext uri="{FF2B5EF4-FFF2-40B4-BE49-F238E27FC236}">
                <a16:creationId xmlns:a16="http://schemas.microsoft.com/office/drawing/2014/main" id="{3A755249-2B4A-FA3A-8250-C340B54846BE}"/>
              </a:ext>
            </a:extLst>
          </p:cNvPr>
          <p:cNvCxnSpPr>
            <a:cxnSpLocks/>
            <a:stCxn id="16" idx="1"/>
          </p:cNvCxnSpPr>
          <p:nvPr/>
        </p:nvCxnSpPr>
        <p:spPr>
          <a:xfrm flipH="1">
            <a:off x="2926080" y="1817938"/>
            <a:ext cx="3765817" cy="1214004"/>
          </a:xfrm>
          <a:prstGeom prst="straightConnector1">
            <a:avLst/>
          </a:prstGeom>
          <a:ln w="38100">
            <a:solidFill>
              <a:srgbClr val="FFC000"/>
            </a:solidFill>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7B6C03C2-A856-A771-24AC-62D33E6FC818}"/>
              </a:ext>
            </a:extLst>
          </p:cNvPr>
          <p:cNvCxnSpPr>
            <a:cxnSpLocks/>
            <a:stCxn id="12" idx="1"/>
          </p:cNvCxnSpPr>
          <p:nvPr/>
        </p:nvCxnSpPr>
        <p:spPr>
          <a:xfrm flipH="1" flipV="1">
            <a:off x="4196615" y="4119896"/>
            <a:ext cx="498701" cy="1478026"/>
          </a:xfrm>
          <a:prstGeom prst="straightConnector1">
            <a:avLst/>
          </a:prstGeom>
          <a:ln w="38100">
            <a:solidFill>
              <a:srgbClr val="FFC000"/>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3" name="Rectangle: Rounded Corners 22">
                <a:extLst>
                  <a:ext uri="{FF2B5EF4-FFF2-40B4-BE49-F238E27FC236}">
                    <a16:creationId xmlns:a16="http://schemas.microsoft.com/office/drawing/2014/main" id="{60718C5F-D3F1-9719-325D-6B30A4D61916}"/>
                  </a:ext>
                </a:extLst>
              </p:cNvPr>
              <p:cNvSpPr/>
              <p:nvPr/>
            </p:nvSpPr>
            <p:spPr>
              <a:xfrm>
                <a:off x="230779" y="5828074"/>
                <a:ext cx="2565732" cy="632947"/>
              </a:xfrm>
              <a:prstGeom prst="roundRect">
                <a:avLst/>
              </a:prstGeom>
              <a:solidFill>
                <a:schemeClr val="bg1"/>
              </a:solid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𝜎</m:t>
                          </m:r>
                        </m:e>
                        <m:sub>
                          <m:r>
                            <a:rPr lang="it-IT" sz="2000" b="0" i="1" smtClean="0">
                              <a:solidFill>
                                <a:schemeClr val="tx1"/>
                              </a:solidFill>
                              <a:latin typeface="Cambria Math" panose="02040503050406030204" pitchFamily="18" charset="0"/>
                            </a:rPr>
                            <m:t>𝑏𝑠𝑙</m:t>
                          </m:r>
                        </m:sub>
                      </m:sSub>
                      <m:r>
                        <a:rPr lang="en-US" sz="2000" i="1">
                          <a:solidFill>
                            <a:schemeClr val="tx1"/>
                          </a:solidFill>
                          <a:latin typeface="Cambria Math" panose="02040503050406030204" pitchFamily="18" charset="0"/>
                        </a:rPr>
                        <m:t>=</m:t>
                      </m:r>
                      <m:r>
                        <a:rPr lang="it-IT" sz="2000" b="0" i="1" smtClean="0">
                          <a:solidFill>
                            <a:schemeClr val="tx1"/>
                          </a:solidFill>
                          <a:latin typeface="Cambria Math" panose="02040503050406030204" pitchFamily="18" charset="0"/>
                        </a:rPr>
                        <m:t>11.6(1)</m:t>
                      </m:r>
                      <m:r>
                        <a:rPr lang="en-US" sz="2000" i="1">
                          <a:solidFill>
                            <a:schemeClr val="tx1"/>
                          </a:solidFill>
                          <a:latin typeface="Cambria Math" panose="02040503050406030204" pitchFamily="18" charset="0"/>
                        </a:rPr>
                        <m:t> </m:t>
                      </m:r>
                      <m:r>
                        <a:rPr lang="en-US" sz="2000" i="1">
                          <a:solidFill>
                            <a:schemeClr val="tx1"/>
                          </a:solidFill>
                          <a:latin typeface="Cambria Math" panose="02040503050406030204" pitchFamily="18" charset="0"/>
                        </a:rPr>
                        <m:t>𝜇</m:t>
                      </m:r>
                      <m:r>
                        <m:rPr>
                          <m:sty m:val="p"/>
                        </m:rPr>
                        <a:rPr lang="en-US" sz="2000">
                          <a:solidFill>
                            <a:schemeClr val="tx1"/>
                          </a:solidFill>
                          <a:latin typeface="Cambria Math" panose="02040503050406030204" pitchFamily="18" charset="0"/>
                        </a:rPr>
                        <m:t>rad</m:t>
                      </m:r>
                    </m:oMath>
                  </m:oMathPara>
                </a14:m>
                <a:endParaRPr lang="it-IT" sz="2000" dirty="0">
                  <a:solidFill>
                    <a:schemeClr val="tx1"/>
                  </a:solidFill>
                </a:endParaRPr>
              </a:p>
            </p:txBody>
          </p:sp>
        </mc:Choice>
        <mc:Fallback xmlns="">
          <p:sp>
            <p:nvSpPr>
              <p:cNvPr id="23" name="Rectangle: Rounded Corners 22">
                <a:extLst>
                  <a:ext uri="{FF2B5EF4-FFF2-40B4-BE49-F238E27FC236}">
                    <a16:creationId xmlns:a16="http://schemas.microsoft.com/office/drawing/2014/main" id="{60718C5F-D3F1-9719-325D-6B30A4D61916}"/>
                  </a:ext>
                </a:extLst>
              </p:cNvPr>
              <p:cNvSpPr>
                <a:spLocks noRot="1" noChangeAspect="1" noMove="1" noResize="1" noEditPoints="1" noAdjustHandles="1" noChangeArrowheads="1" noChangeShapeType="1" noTextEdit="1"/>
              </p:cNvSpPr>
              <p:nvPr/>
            </p:nvSpPr>
            <p:spPr>
              <a:xfrm>
                <a:off x="230779" y="5828074"/>
                <a:ext cx="2565732" cy="632947"/>
              </a:xfrm>
              <a:prstGeom prst="roundRect">
                <a:avLst/>
              </a:prstGeom>
              <a:blipFill>
                <a:blip r:embed="rId6"/>
                <a:stretch>
                  <a:fillRect/>
                </a:stretch>
              </a:blipFill>
              <a:ln w="38100">
                <a:solidFill>
                  <a:srgbClr val="FFC000"/>
                </a:solidFill>
              </a:ln>
            </p:spPr>
            <p:txBody>
              <a:bodyPr/>
              <a:lstStyle/>
              <a:p>
                <a:r>
                  <a:rPr lang="it-IT">
                    <a:noFill/>
                  </a:rPr>
                  <a:t> </a:t>
                </a:r>
              </a:p>
            </p:txBody>
          </p:sp>
        </mc:Fallback>
      </mc:AlternateContent>
      <p:cxnSp>
        <p:nvCxnSpPr>
          <p:cNvPr id="25" name="Straight Arrow Connector 24">
            <a:extLst>
              <a:ext uri="{FF2B5EF4-FFF2-40B4-BE49-F238E27FC236}">
                <a16:creationId xmlns:a16="http://schemas.microsoft.com/office/drawing/2014/main" id="{BB735148-FAB4-02BC-AECE-82B11CFEB54B}"/>
              </a:ext>
            </a:extLst>
          </p:cNvPr>
          <p:cNvCxnSpPr>
            <a:cxnSpLocks/>
            <a:stCxn id="23" idx="0"/>
          </p:cNvCxnSpPr>
          <p:nvPr/>
        </p:nvCxnSpPr>
        <p:spPr>
          <a:xfrm flipV="1">
            <a:off x="1513645" y="5444544"/>
            <a:ext cx="170776" cy="383530"/>
          </a:xfrm>
          <a:prstGeom prst="straightConnector1">
            <a:avLst/>
          </a:prstGeom>
          <a:ln w="38100">
            <a:solidFill>
              <a:srgbClr val="FFC000"/>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0" name="Rectangle: Rounded Corners 39">
                <a:extLst>
                  <a:ext uri="{FF2B5EF4-FFF2-40B4-BE49-F238E27FC236}">
                    <a16:creationId xmlns:a16="http://schemas.microsoft.com/office/drawing/2014/main" id="{9E944CB0-EC63-A73F-6912-CFAACE8FDB4F}"/>
                  </a:ext>
                </a:extLst>
              </p:cNvPr>
              <p:cNvSpPr/>
              <p:nvPr/>
            </p:nvSpPr>
            <p:spPr>
              <a:xfrm>
                <a:off x="7997652" y="2193974"/>
                <a:ext cx="3913148" cy="3677437"/>
              </a:xfrm>
              <a:prstGeom prst="roundRect">
                <a:avLst/>
              </a:prstGeom>
              <a:solidFill>
                <a:schemeClr val="bg1"/>
              </a:solidFill>
              <a:ln w="381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2000" i="1" dirty="0">
                    <a:solidFill>
                      <a:schemeClr val="tx1"/>
                    </a:solidFill>
                  </a:rPr>
                  <a:t>unknown: </a:t>
                </a:r>
                <a14:m>
                  <m:oMath xmlns:m="http://schemas.openxmlformats.org/officeDocument/2006/math">
                    <m:r>
                      <a:rPr lang="it-IT" sz="2000" b="0" i="1" smtClean="0">
                        <a:solidFill>
                          <a:schemeClr val="tx1"/>
                        </a:solidFill>
                        <a:latin typeface="Cambria Math" panose="02040503050406030204" pitchFamily="18" charset="0"/>
                      </a:rPr>
                      <m:t>𝑥</m:t>
                    </m:r>
                    <m:r>
                      <a:rPr lang="it-IT" sz="2000" b="0" i="1" smtClean="0">
                        <a:solidFill>
                          <a:schemeClr val="tx1"/>
                        </a:solidFill>
                        <a:latin typeface="Cambria Math" panose="02040503050406030204" pitchFamily="18" charset="0"/>
                      </a:rPr>
                      <m:t>, </m:t>
                    </m:r>
                    <m:sSub>
                      <m:sSubPr>
                        <m:ctrlPr>
                          <a:rPr lang="it-IT" sz="2000" b="0" i="1" smtClean="0">
                            <a:solidFill>
                              <a:schemeClr val="tx1"/>
                            </a:solidFill>
                            <a:latin typeface="Cambria Math" panose="02040503050406030204" pitchFamily="18" charset="0"/>
                          </a:rPr>
                        </m:ctrlPr>
                      </m:sSubPr>
                      <m:e>
                        <m:r>
                          <a:rPr lang="it-IT" sz="2000" b="0" i="1" smtClean="0">
                            <a:solidFill>
                              <a:schemeClr val="tx1"/>
                            </a:solidFill>
                            <a:latin typeface="Cambria Math" panose="02040503050406030204" pitchFamily="18" charset="0"/>
                          </a:rPr>
                          <m:t>𝑋</m:t>
                        </m:r>
                      </m:e>
                      <m:sub>
                        <m:r>
                          <a:rPr lang="it-IT" sz="2000" b="0" i="1" smtClean="0">
                            <a:solidFill>
                              <a:schemeClr val="tx1"/>
                            </a:solidFill>
                            <a:latin typeface="Cambria Math" panose="02040503050406030204" pitchFamily="18" charset="0"/>
                          </a:rPr>
                          <m:t>0</m:t>
                        </m:r>
                      </m:sub>
                    </m:sSub>
                  </m:oMath>
                </a14:m>
                <a:endParaRPr lang="it-IT" sz="2000" b="0" dirty="0">
                  <a:solidFill>
                    <a:schemeClr val="tx1"/>
                  </a:solidFill>
                </a:endParaRPr>
              </a:p>
              <a:p>
                <a:pPr algn="ctr"/>
                <a:endParaRPr lang="it-IT" sz="2000" b="0" dirty="0">
                  <a:solidFill>
                    <a:schemeClr val="tx1"/>
                  </a:solidFill>
                </a:endParaRPr>
              </a:p>
              <a:p>
                <a:pPr algn="ctr"/>
                <a:r>
                  <a:rPr lang="it-IT" sz="2000" dirty="0">
                    <a:solidFill>
                      <a:schemeClr val="tx1"/>
                    </a:solidFill>
                  </a:rPr>
                  <a:t>Between different metallic materials (stainless steel, aluminium, titanium, copper, brass):</a:t>
                </a:r>
              </a:p>
              <a:p>
                <a:pPr algn="ctr"/>
                <a14:m>
                  <m:oMath xmlns:m="http://schemas.openxmlformats.org/officeDocument/2006/math">
                    <m:r>
                      <a:rPr lang="it-IT" sz="2000" b="0" i="1" dirty="0" smtClean="0">
                        <a:solidFill>
                          <a:schemeClr val="tx1"/>
                        </a:solidFill>
                        <a:latin typeface="Cambria Math" panose="02040503050406030204" pitchFamily="18" charset="0"/>
                      </a:rPr>
                      <m:t>→</m:t>
                    </m:r>
                  </m:oMath>
                </a14:m>
                <a:r>
                  <a:rPr lang="it-IT" sz="2000" b="0" dirty="0">
                    <a:solidFill>
                      <a:schemeClr val="tx1"/>
                    </a:solidFill>
                  </a:rPr>
                  <a:t> The only similar is titanium</a:t>
                </a:r>
              </a:p>
              <a:p>
                <a:pPr algn="ctr"/>
                <a14:m>
                  <m:oMathPara xmlns:m="http://schemas.openxmlformats.org/officeDocument/2006/math">
                    <m:oMath>
                      <m:r>
                        <a:rPr lang="it-IT" sz="2000" b="0" i="1" smtClean="0">
                          <a:solidFill>
                            <a:schemeClr val="tx1"/>
                          </a:solidFill>
                          <a:latin typeface="Cambria Math" panose="02040503050406030204" pitchFamily="18" charset="0"/>
                        </a:rPr>
                        <m:t>𝜃</m:t>
                      </m:r>
                      <m:r>
                        <a:rPr lang="it-IT" sz="2000" b="0" i="1" smtClean="0">
                          <a:solidFill>
                            <a:schemeClr val="tx1"/>
                          </a:solidFill>
                          <a:latin typeface="Cambria Math" panose="02040503050406030204" pitchFamily="18" charset="0"/>
                        </a:rPr>
                        <m:t>∼110 </m:t>
                      </m:r>
                      <m:r>
                        <a:rPr lang="it-IT" sz="2000" b="0" i="1" smtClean="0">
                          <a:solidFill>
                            <a:schemeClr val="tx1"/>
                          </a:solidFill>
                          <a:latin typeface="Cambria Math" panose="02040503050406030204" pitchFamily="18" charset="0"/>
                        </a:rPr>
                        <m:t>𝜇</m:t>
                      </m:r>
                      <m:r>
                        <m:rPr>
                          <m:sty m:val="p"/>
                        </m:rPr>
                        <a:rPr lang="it-IT" sz="2000" b="0" i="0" smtClean="0">
                          <a:solidFill>
                            <a:schemeClr val="tx1"/>
                          </a:solidFill>
                          <a:latin typeface="Cambria Math" panose="02040503050406030204" pitchFamily="18" charset="0"/>
                        </a:rPr>
                        <m:t>rad</m:t>
                      </m:r>
                    </m:oMath>
                  </m:oMathPara>
                </a14:m>
                <a:endParaRPr lang="it-IT" sz="2000" dirty="0">
                  <a:solidFill>
                    <a:schemeClr val="tx1"/>
                  </a:solidFill>
                </a:endParaRPr>
              </a:p>
              <a:p>
                <a:pPr algn="ctr"/>
                <a:r>
                  <a:rPr lang="it-IT" sz="1600" i="1" dirty="0">
                    <a:solidFill>
                      <a:schemeClr val="tx1"/>
                    </a:solidFill>
                  </a:rPr>
                  <a:t>(stainless steel too much scattering, aluminium not enough scattering)</a:t>
                </a:r>
              </a:p>
            </p:txBody>
          </p:sp>
        </mc:Choice>
        <mc:Fallback xmlns="">
          <p:sp>
            <p:nvSpPr>
              <p:cNvPr id="40" name="Rectangle: Rounded Corners 39">
                <a:extLst>
                  <a:ext uri="{FF2B5EF4-FFF2-40B4-BE49-F238E27FC236}">
                    <a16:creationId xmlns:a16="http://schemas.microsoft.com/office/drawing/2014/main" id="{9E944CB0-EC63-A73F-6912-CFAACE8FDB4F}"/>
                  </a:ext>
                </a:extLst>
              </p:cNvPr>
              <p:cNvSpPr>
                <a:spLocks noRot="1" noChangeAspect="1" noMove="1" noResize="1" noEditPoints="1" noAdjustHandles="1" noChangeArrowheads="1" noChangeShapeType="1" noTextEdit="1"/>
              </p:cNvSpPr>
              <p:nvPr/>
            </p:nvSpPr>
            <p:spPr>
              <a:xfrm>
                <a:off x="7997652" y="2193974"/>
                <a:ext cx="3913148" cy="3677437"/>
              </a:xfrm>
              <a:prstGeom prst="roundRect">
                <a:avLst/>
              </a:prstGeom>
              <a:blipFill>
                <a:blip r:embed="rId7"/>
                <a:stretch>
                  <a:fillRect/>
                </a:stretch>
              </a:blipFill>
              <a:ln w="38100">
                <a:solidFill>
                  <a:srgbClr val="92D050"/>
                </a:solidFill>
              </a:ln>
            </p:spPr>
            <p:txBody>
              <a:bodyPr/>
              <a:lstStyle/>
              <a:p>
                <a:r>
                  <a:rPr lang="it-IT">
                    <a:noFill/>
                  </a:rPr>
                  <a:t> </a:t>
                </a:r>
              </a:p>
            </p:txBody>
          </p:sp>
        </mc:Fallback>
      </mc:AlternateContent>
    </p:spTree>
    <p:extLst>
      <p:ext uri="{BB962C8B-B14F-4D97-AF65-F5344CB8AC3E}">
        <p14:creationId xmlns:p14="http://schemas.microsoft.com/office/powerpoint/2010/main" val="15425591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4288E-EC6F-99BD-38B8-2A46D625021A}"/>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D5B39948-F105-39FD-816C-D28029061B79}"/>
              </a:ext>
            </a:extLst>
          </p:cNvPr>
          <p:cNvSpPr>
            <a:spLocks noGrp="1"/>
          </p:cNvSpPr>
          <p:nvPr>
            <p:ph type="title"/>
          </p:nvPr>
        </p:nvSpPr>
        <p:spPr>
          <a:xfrm>
            <a:off x="38100" y="69651"/>
            <a:ext cx="12114000" cy="1153094"/>
          </a:xfrm>
          <a:prstGeom prst="roundRect">
            <a:avLst>
              <a:gd name="adj" fmla="val 36459"/>
            </a:avLst>
          </a:prstGeom>
          <a:noFill/>
        </p:spPr>
        <p:txBody>
          <a:bodyPr>
            <a:noAutofit/>
          </a:bodyPr>
          <a:lstStyle/>
          <a:p>
            <a:r>
              <a:rPr lang="it-IT" sz="3400" b="1" dirty="0">
                <a:solidFill>
                  <a:srgbClr val="002060"/>
                </a:solidFill>
              </a:rPr>
              <a:t>	ANALYSIS OF THE BEAM DISTRIBUTION (REAL DATA)</a:t>
            </a:r>
          </a:p>
        </p:txBody>
      </p:sp>
      <p:sp>
        <p:nvSpPr>
          <p:cNvPr id="4" name="Segnaposto data 3">
            <a:extLst>
              <a:ext uri="{FF2B5EF4-FFF2-40B4-BE49-F238E27FC236}">
                <a16:creationId xmlns:a16="http://schemas.microsoft.com/office/drawing/2014/main" id="{FADCD95C-E218-33C9-E8E1-CC040F2C4FBD}"/>
              </a:ext>
            </a:extLst>
          </p:cNvPr>
          <p:cNvSpPr>
            <a:spLocks noGrp="1"/>
          </p:cNvSpPr>
          <p:nvPr>
            <p:ph type="dt" sz="half" idx="10"/>
          </p:nvPr>
        </p:nvSpPr>
        <p:spPr>
          <a:xfrm>
            <a:off x="838200" y="6356349"/>
            <a:ext cx="2743200" cy="432000"/>
          </a:xfrm>
        </p:spPr>
        <p:txBody>
          <a:bodyPr/>
          <a:lstStyle/>
          <a:p>
            <a:r>
              <a:rPr lang="it-IT" sz="1500" b="1" dirty="0">
                <a:solidFill>
                  <a:srgbClr val="002060"/>
                </a:solidFill>
              </a:rPr>
              <a:t>September 2026</a:t>
            </a:r>
          </a:p>
        </p:txBody>
      </p:sp>
      <p:sp>
        <p:nvSpPr>
          <p:cNvPr id="5" name="Segnaposto piè di pagina 4">
            <a:extLst>
              <a:ext uri="{FF2B5EF4-FFF2-40B4-BE49-F238E27FC236}">
                <a16:creationId xmlns:a16="http://schemas.microsoft.com/office/drawing/2014/main" id="{90D9DA67-65BE-0A22-5F86-7F86116A97C8}"/>
              </a:ext>
            </a:extLst>
          </p:cNvPr>
          <p:cNvSpPr>
            <a:spLocks noGrp="1"/>
          </p:cNvSpPr>
          <p:nvPr>
            <p:ph type="ftr" sz="quarter" idx="11"/>
          </p:nvPr>
        </p:nvSpPr>
        <p:spPr>
          <a:xfrm>
            <a:off x="0" y="6356349"/>
            <a:ext cx="12192000" cy="432000"/>
          </a:xfrm>
        </p:spPr>
        <p:txBody>
          <a:bodyPr/>
          <a:lstStyle/>
          <a:p>
            <a:r>
              <a:rPr lang="it-IT" sz="1500" b="1" dirty="0">
                <a:solidFill>
                  <a:srgbClr val="002060"/>
                </a:solidFill>
              </a:rPr>
              <a:t>Anna Sofia Moro</a:t>
            </a:r>
          </a:p>
        </p:txBody>
      </p:sp>
      <p:sp>
        <p:nvSpPr>
          <p:cNvPr id="6" name="Segnaposto numero diapositiva 5">
            <a:extLst>
              <a:ext uri="{FF2B5EF4-FFF2-40B4-BE49-F238E27FC236}">
                <a16:creationId xmlns:a16="http://schemas.microsoft.com/office/drawing/2014/main" id="{D210CBBA-56EE-2F17-38EC-4DE3F7944AA0}"/>
              </a:ext>
            </a:extLst>
          </p:cNvPr>
          <p:cNvSpPr>
            <a:spLocks noGrp="1"/>
          </p:cNvSpPr>
          <p:nvPr>
            <p:ph type="sldNum" sz="quarter" idx="12"/>
          </p:nvPr>
        </p:nvSpPr>
        <p:spPr>
          <a:xfrm>
            <a:off x="8610600" y="6356349"/>
            <a:ext cx="2743200" cy="432000"/>
          </a:xfrm>
        </p:spPr>
        <p:txBody>
          <a:bodyPr/>
          <a:lstStyle/>
          <a:p>
            <a:fld id="{0A318BD9-CA14-4A83-ACF0-03D5918EB402}" type="slidenum">
              <a:rPr lang="it-IT" sz="1500" b="1" smtClean="0">
                <a:solidFill>
                  <a:srgbClr val="002060"/>
                </a:solidFill>
              </a:rPr>
              <a:t>10</a:t>
            </a:fld>
            <a:endParaRPr lang="it-IT" sz="1500" b="1" dirty="0">
              <a:solidFill>
                <a:srgbClr val="002060"/>
              </a:solidFill>
            </a:endParaRPr>
          </a:p>
        </p:txBody>
      </p:sp>
      <p:cxnSp>
        <p:nvCxnSpPr>
          <p:cNvPr id="10" name="Connettore diritto 9">
            <a:extLst>
              <a:ext uri="{FF2B5EF4-FFF2-40B4-BE49-F238E27FC236}">
                <a16:creationId xmlns:a16="http://schemas.microsoft.com/office/drawing/2014/main" id="{634E7D0E-4962-6310-0F77-95DF6C14E5BF}"/>
              </a:ext>
            </a:extLst>
          </p:cNvPr>
          <p:cNvCxnSpPr>
            <a:cxnSpLocks/>
          </p:cNvCxnSpPr>
          <p:nvPr/>
        </p:nvCxnSpPr>
        <p:spPr>
          <a:xfrm>
            <a:off x="696000" y="1155368"/>
            <a:ext cx="10800000" cy="0"/>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sp>
        <p:nvSpPr>
          <p:cNvPr id="13" name="CasellaDiTesto 12">
            <a:extLst>
              <a:ext uri="{FF2B5EF4-FFF2-40B4-BE49-F238E27FC236}">
                <a16:creationId xmlns:a16="http://schemas.microsoft.com/office/drawing/2014/main" id="{5AB30060-11E5-9BA8-9DA0-D6BA29088E81}"/>
              </a:ext>
            </a:extLst>
          </p:cNvPr>
          <p:cNvSpPr txBox="1"/>
          <p:nvPr/>
        </p:nvSpPr>
        <p:spPr>
          <a:xfrm>
            <a:off x="3048886" y="3244334"/>
            <a:ext cx="6097772" cy="369332"/>
          </a:xfrm>
          <a:prstGeom prst="rect">
            <a:avLst/>
          </a:prstGeom>
          <a:noFill/>
        </p:spPr>
        <p:txBody>
          <a:bodyPr wrap="square">
            <a:spAutoFit/>
          </a:bodyPr>
          <a:lstStyle/>
          <a:p>
            <a:endParaRPr lang="it-IT" dirty="0"/>
          </a:p>
        </p:txBody>
      </p:sp>
      <p:sp>
        <p:nvSpPr>
          <p:cNvPr id="15" name="CasellaDiTesto 14">
            <a:extLst>
              <a:ext uri="{FF2B5EF4-FFF2-40B4-BE49-F238E27FC236}">
                <a16:creationId xmlns:a16="http://schemas.microsoft.com/office/drawing/2014/main" id="{B13DDEBE-CCF7-8EEF-7DF4-9858528AC598}"/>
              </a:ext>
            </a:extLst>
          </p:cNvPr>
          <p:cNvSpPr txBox="1"/>
          <p:nvPr/>
        </p:nvSpPr>
        <p:spPr>
          <a:xfrm>
            <a:off x="3048886" y="3244334"/>
            <a:ext cx="6097772" cy="369332"/>
          </a:xfrm>
          <a:prstGeom prst="rect">
            <a:avLst/>
          </a:prstGeom>
          <a:noFill/>
        </p:spPr>
        <p:txBody>
          <a:bodyPr wrap="square">
            <a:spAutoFit/>
          </a:bodyPr>
          <a:lstStyle/>
          <a:p>
            <a:endParaRPr lang="it-IT" dirty="0"/>
          </a:p>
        </p:txBody>
      </p:sp>
      <p:pic>
        <p:nvPicPr>
          <p:cNvPr id="7" name="Content Placeholder 6">
            <a:extLst>
              <a:ext uri="{FF2B5EF4-FFF2-40B4-BE49-F238E27FC236}">
                <a16:creationId xmlns:a16="http://schemas.microsoft.com/office/drawing/2014/main" id="{126EFD93-2AC4-5D2C-28D4-3A10A8B17B5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38200" y="1357497"/>
            <a:ext cx="4948063" cy="4860000"/>
          </a:xfrm>
          <a:prstGeom prst="rect">
            <a:avLst/>
          </a:prstGeom>
        </p:spPr>
      </p:pic>
      <p:pic>
        <p:nvPicPr>
          <p:cNvPr id="11" name="Picture 10">
            <a:extLst>
              <a:ext uri="{FF2B5EF4-FFF2-40B4-BE49-F238E27FC236}">
                <a16:creationId xmlns:a16="http://schemas.microsoft.com/office/drawing/2014/main" id="{A7274BFB-9F00-1CC7-0464-EF70BE9F0D2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05737" y="1357497"/>
            <a:ext cx="4948063" cy="4860000"/>
          </a:xfrm>
          <a:prstGeom prst="rect">
            <a:avLst/>
          </a:prstGeom>
        </p:spPr>
      </p:pic>
      <p:sp>
        <p:nvSpPr>
          <p:cNvPr id="14" name="Oval 13">
            <a:extLst>
              <a:ext uri="{FF2B5EF4-FFF2-40B4-BE49-F238E27FC236}">
                <a16:creationId xmlns:a16="http://schemas.microsoft.com/office/drawing/2014/main" id="{5B5132BD-BA51-19D6-CD5E-ED320532FBE3}"/>
              </a:ext>
            </a:extLst>
          </p:cNvPr>
          <p:cNvSpPr/>
          <p:nvPr/>
        </p:nvSpPr>
        <p:spPr>
          <a:xfrm>
            <a:off x="4104640" y="1300480"/>
            <a:ext cx="701040" cy="32512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7" name="Oval 16">
            <a:extLst>
              <a:ext uri="{FF2B5EF4-FFF2-40B4-BE49-F238E27FC236}">
                <a16:creationId xmlns:a16="http://schemas.microsoft.com/office/drawing/2014/main" id="{965EE38E-9034-7A03-BDF8-D85D2AE59272}"/>
              </a:ext>
            </a:extLst>
          </p:cNvPr>
          <p:cNvSpPr/>
          <p:nvPr/>
        </p:nvSpPr>
        <p:spPr>
          <a:xfrm>
            <a:off x="9631680" y="1300480"/>
            <a:ext cx="701040" cy="32512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8" name="Rectangle: Rounded Corners 17">
            <a:extLst>
              <a:ext uri="{FF2B5EF4-FFF2-40B4-BE49-F238E27FC236}">
                <a16:creationId xmlns:a16="http://schemas.microsoft.com/office/drawing/2014/main" id="{60E24CE1-3B84-8701-0B62-626C73C41CC2}"/>
              </a:ext>
            </a:extLst>
          </p:cNvPr>
          <p:cNvSpPr/>
          <p:nvPr/>
        </p:nvSpPr>
        <p:spPr>
          <a:xfrm>
            <a:off x="10300067" y="1734686"/>
            <a:ext cx="1673207" cy="605294"/>
          </a:xfrm>
          <a:prstGeom prst="roundRect">
            <a:avLst/>
          </a:prstGeom>
          <a:solidFill>
            <a:schemeClr val="bg1"/>
          </a:solid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2000" dirty="0">
                <a:solidFill>
                  <a:schemeClr val="tx1"/>
                </a:solidFill>
              </a:rPr>
              <a:t>Instrumentalartifact?</a:t>
            </a:r>
          </a:p>
        </p:txBody>
      </p:sp>
      <p:cxnSp>
        <p:nvCxnSpPr>
          <p:cNvPr id="19" name="Straight Arrow Connector 18">
            <a:extLst>
              <a:ext uri="{FF2B5EF4-FFF2-40B4-BE49-F238E27FC236}">
                <a16:creationId xmlns:a16="http://schemas.microsoft.com/office/drawing/2014/main" id="{9C3CD70A-2699-02C3-D8E6-2168E8B26935}"/>
              </a:ext>
            </a:extLst>
          </p:cNvPr>
          <p:cNvCxnSpPr>
            <a:cxnSpLocks/>
            <a:stCxn id="18" idx="2"/>
          </p:cNvCxnSpPr>
          <p:nvPr/>
        </p:nvCxnSpPr>
        <p:spPr>
          <a:xfrm flipH="1">
            <a:off x="10849232" y="2339980"/>
            <a:ext cx="287439" cy="1273686"/>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8" name="Rectangle: Rounded Corners 7">
            <a:extLst>
              <a:ext uri="{FF2B5EF4-FFF2-40B4-BE49-F238E27FC236}">
                <a16:creationId xmlns:a16="http://schemas.microsoft.com/office/drawing/2014/main" id="{49A2FED0-64ED-5B1E-AEAA-95BC4C9D3153}"/>
              </a:ext>
            </a:extLst>
          </p:cNvPr>
          <p:cNvSpPr/>
          <p:nvPr/>
        </p:nvSpPr>
        <p:spPr>
          <a:xfrm>
            <a:off x="8121441" y="5591169"/>
            <a:ext cx="3813733" cy="817724"/>
          </a:xfrm>
          <a:prstGeom prst="roundRect">
            <a:avLst/>
          </a:prstGeom>
          <a:solidFill>
            <a:schemeClr val="bg1"/>
          </a:solid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600" i="1" dirty="0">
                <a:solidFill>
                  <a:schemeClr val="tx1"/>
                </a:solidFill>
              </a:rPr>
              <a:t>tracking system’s discretization effect: due to the discrete spatial resolution of the microstrip detectors</a:t>
            </a:r>
          </a:p>
        </p:txBody>
      </p:sp>
    </p:spTree>
    <p:extLst>
      <p:ext uri="{BB962C8B-B14F-4D97-AF65-F5344CB8AC3E}">
        <p14:creationId xmlns:p14="http://schemas.microsoft.com/office/powerpoint/2010/main" val="14039075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C27DB-DDFF-9A67-B037-E0DA37F36C79}"/>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23C4903D-C96D-50A4-96C3-FBB129F70F78}"/>
              </a:ext>
            </a:extLst>
          </p:cNvPr>
          <p:cNvSpPr>
            <a:spLocks noGrp="1"/>
          </p:cNvSpPr>
          <p:nvPr>
            <p:ph type="title"/>
          </p:nvPr>
        </p:nvSpPr>
        <p:spPr>
          <a:xfrm>
            <a:off x="38100" y="69651"/>
            <a:ext cx="12114000" cy="1153094"/>
          </a:xfrm>
          <a:prstGeom prst="roundRect">
            <a:avLst>
              <a:gd name="adj" fmla="val 36459"/>
            </a:avLst>
          </a:prstGeom>
          <a:noFill/>
        </p:spPr>
        <p:txBody>
          <a:bodyPr>
            <a:noAutofit/>
          </a:bodyPr>
          <a:lstStyle/>
          <a:p>
            <a:r>
              <a:rPr lang="it-IT" sz="3400" b="1" dirty="0">
                <a:solidFill>
                  <a:srgbClr val="002060"/>
                </a:solidFill>
              </a:rPr>
              <a:t>	ANALYSIS OF THE BEAM DISTRIBUTION (REAL DATA)</a:t>
            </a:r>
          </a:p>
        </p:txBody>
      </p:sp>
      <p:sp>
        <p:nvSpPr>
          <p:cNvPr id="4" name="Segnaposto data 3">
            <a:extLst>
              <a:ext uri="{FF2B5EF4-FFF2-40B4-BE49-F238E27FC236}">
                <a16:creationId xmlns:a16="http://schemas.microsoft.com/office/drawing/2014/main" id="{B25AF965-5943-0283-E758-DDECA1D0201C}"/>
              </a:ext>
            </a:extLst>
          </p:cNvPr>
          <p:cNvSpPr>
            <a:spLocks noGrp="1"/>
          </p:cNvSpPr>
          <p:nvPr>
            <p:ph type="dt" sz="half" idx="10"/>
          </p:nvPr>
        </p:nvSpPr>
        <p:spPr>
          <a:xfrm>
            <a:off x="838200" y="6356349"/>
            <a:ext cx="2743200" cy="432000"/>
          </a:xfrm>
        </p:spPr>
        <p:txBody>
          <a:bodyPr/>
          <a:lstStyle/>
          <a:p>
            <a:r>
              <a:rPr lang="it-IT" sz="1500" b="1" dirty="0">
                <a:solidFill>
                  <a:srgbClr val="002060"/>
                </a:solidFill>
              </a:rPr>
              <a:t>September 2026</a:t>
            </a:r>
          </a:p>
        </p:txBody>
      </p:sp>
      <p:sp>
        <p:nvSpPr>
          <p:cNvPr id="5" name="Segnaposto piè di pagina 4">
            <a:extLst>
              <a:ext uri="{FF2B5EF4-FFF2-40B4-BE49-F238E27FC236}">
                <a16:creationId xmlns:a16="http://schemas.microsoft.com/office/drawing/2014/main" id="{E2F4C5FA-C697-EB91-C362-CC4B61C9EBDC}"/>
              </a:ext>
            </a:extLst>
          </p:cNvPr>
          <p:cNvSpPr>
            <a:spLocks noGrp="1"/>
          </p:cNvSpPr>
          <p:nvPr>
            <p:ph type="ftr" sz="quarter" idx="11"/>
          </p:nvPr>
        </p:nvSpPr>
        <p:spPr>
          <a:xfrm>
            <a:off x="0" y="6356349"/>
            <a:ext cx="12192000" cy="432000"/>
          </a:xfrm>
        </p:spPr>
        <p:txBody>
          <a:bodyPr/>
          <a:lstStyle/>
          <a:p>
            <a:r>
              <a:rPr lang="it-IT" sz="1500" b="1" dirty="0">
                <a:solidFill>
                  <a:srgbClr val="002060"/>
                </a:solidFill>
              </a:rPr>
              <a:t>Anna Sofia Moro</a:t>
            </a:r>
          </a:p>
        </p:txBody>
      </p:sp>
      <p:sp>
        <p:nvSpPr>
          <p:cNvPr id="6" name="Segnaposto numero diapositiva 5">
            <a:extLst>
              <a:ext uri="{FF2B5EF4-FFF2-40B4-BE49-F238E27FC236}">
                <a16:creationId xmlns:a16="http://schemas.microsoft.com/office/drawing/2014/main" id="{F5FBF363-0BE0-0200-D544-D28ED192781A}"/>
              </a:ext>
            </a:extLst>
          </p:cNvPr>
          <p:cNvSpPr>
            <a:spLocks noGrp="1"/>
          </p:cNvSpPr>
          <p:nvPr>
            <p:ph type="sldNum" sz="quarter" idx="12"/>
          </p:nvPr>
        </p:nvSpPr>
        <p:spPr>
          <a:xfrm>
            <a:off x="8610600" y="6356349"/>
            <a:ext cx="2743200" cy="432000"/>
          </a:xfrm>
        </p:spPr>
        <p:txBody>
          <a:bodyPr/>
          <a:lstStyle/>
          <a:p>
            <a:fld id="{0A318BD9-CA14-4A83-ACF0-03D5918EB402}" type="slidenum">
              <a:rPr lang="it-IT" sz="1500" b="1" smtClean="0">
                <a:solidFill>
                  <a:srgbClr val="002060"/>
                </a:solidFill>
              </a:rPr>
              <a:t>11</a:t>
            </a:fld>
            <a:endParaRPr lang="it-IT" sz="1500" b="1" dirty="0">
              <a:solidFill>
                <a:srgbClr val="002060"/>
              </a:solidFill>
            </a:endParaRPr>
          </a:p>
        </p:txBody>
      </p:sp>
      <p:cxnSp>
        <p:nvCxnSpPr>
          <p:cNvPr id="10" name="Connettore diritto 9">
            <a:extLst>
              <a:ext uri="{FF2B5EF4-FFF2-40B4-BE49-F238E27FC236}">
                <a16:creationId xmlns:a16="http://schemas.microsoft.com/office/drawing/2014/main" id="{2DAF2168-1F8B-4260-524D-70AEB4FDECF4}"/>
              </a:ext>
            </a:extLst>
          </p:cNvPr>
          <p:cNvCxnSpPr>
            <a:cxnSpLocks/>
          </p:cNvCxnSpPr>
          <p:nvPr/>
        </p:nvCxnSpPr>
        <p:spPr>
          <a:xfrm>
            <a:off x="696000" y="1155368"/>
            <a:ext cx="10800000" cy="0"/>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sp>
        <p:nvSpPr>
          <p:cNvPr id="13" name="CasellaDiTesto 12">
            <a:extLst>
              <a:ext uri="{FF2B5EF4-FFF2-40B4-BE49-F238E27FC236}">
                <a16:creationId xmlns:a16="http://schemas.microsoft.com/office/drawing/2014/main" id="{A80942E6-82AE-5C4C-E0DE-FEAED56F9FA6}"/>
              </a:ext>
            </a:extLst>
          </p:cNvPr>
          <p:cNvSpPr txBox="1"/>
          <p:nvPr/>
        </p:nvSpPr>
        <p:spPr>
          <a:xfrm>
            <a:off x="3048886" y="3244334"/>
            <a:ext cx="6097772" cy="369332"/>
          </a:xfrm>
          <a:prstGeom prst="rect">
            <a:avLst/>
          </a:prstGeom>
          <a:noFill/>
        </p:spPr>
        <p:txBody>
          <a:bodyPr wrap="square">
            <a:spAutoFit/>
          </a:bodyPr>
          <a:lstStyle/>
          <a:p>
            <a:endParaRPr lang="it-IT" dirty="0"/>
          </a:p>
        </p:txBody>
      </p:sp>
      <p:sp>
        <p:nvSpPr>
          <p:cNvPr id="15" name="CasellaDiTesto 14">
            <a:extLst>
              <a:ext uri="{FF2B5EF4-FFF2-40B4-BE49-F238E27FC236}">
                <a16:creationId xmlns:a16="http://schemas.microsoft.com/office/drawing/2014/main" id="{2FBBE7E9-17A0-6F12-4A1F-3705F75368BB}"/>
              </a:ext>
            </a:extLst>
          </p:cNvPr>
          <p:cNvSpPr txBox="1"/>
          <p:nvPr/>
        </p:nvSpPr>
        <p:spPr>
          <a:xfrm>
            <a:off x="3048886" y="3244334"/>
            <a:ext cx="6097772" cy="369332"/>
          </a:xfrm>
          <a:prstGeom prst="rect">
            <a:avLst/>
          </a:prstGeom>
          <a:noFill/>
        </p:spPr>
        <p:txBody>
          <a:bodyPr wrap="square">
            <a:spAutoFit/>
          </a:bodyPr>
          <a:lstStyle/>
          <a:p>
            <a:endParaRPr lang="it-IT" dirty="0"/>
          </a:p>
        </p:txBody>
      </p:sp>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9F2404EB-35C0-DF54-D584-B92AB2894435}"/>
                  </a:ext>
                </a:extLst>
              </p:cNvPr>
              <p:cNvSpPr>
                <a:spLocks noGrp="1"/>
              </p:cNvSpPr>
              <p:nvPr>
                <p:ph idx="1"/>
              </p:nvPr>
            </p:nvSpPr>
            <p:spPr>
              <a:xfrm>
                <a:off x="5609968" y="1351294"/>
                <a:ext cx="5743832" cy="4825669"/>
              </a:xfrm>
            </p:spPr>
            <p:txBody>
              <a:bodyPr/>
              <a:lstStyle/>
              <a:p>
                <a:pPr>
                  <a:buFont typeface="Wingdings" panose="05000000000000000000" pitchFamily="2" charset="2"/>
                  <a:buChar char="ü"/>
                </a:pPr>
                <a:r>
                  <a:rPr lang="it-IT" dirty="0"/>
                  <a:t> Gaussian fits on the distributions of </a:t>
                </a:r>
                <a14:m>
                  <m:oMath xmlns:m="http://schemas.openxmlformats.org/officeDocument/2006/math">
                    <m:r>
                      <a:rPr lang="it-IT" b="0" i="1" smtClean="0">
                        <a:latin typeface="Cambria Math" panose="02040503050406030204" pitchFamily="18" charset="0"/>
                      </a:rPr>
                      <m:t>𝑥</m:t>
                    </m:r>
                    <m:r>
                      <a:rPr lang="it-IT" b="0" i="1" smtClean="0">
                        <a:latin typeface="Cambria Math" panose="02040503050406030204" pitchFamily="18" charset="0"/>
                      </a:rPr>
                      <m:t>, </m:t>
                    </m:r>
                    <m:r>
                      <a:rPr lang="it-IT" b="0" i="1" smtClean="0">
                        <a:latin typeface="Cambria Math" panose="02040503050406030204" pitchFamily="18" charset="0"/>
                      </a:rPr>
                      <m:t>𝑦</m:t>
                    </m:r>
                    <m:r>
                      <a:rPr lang="it-IT" b="0" i="1" smtClean="0">
                        <a:latin typeface="Cambria Math" panose="02040503050406030204" pitchFamily="18" charset="0"/>
                      </a:rPr>
                      <m:t>, </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𝜃</m:t>
                        </m:r>
                      </m:e>
                      <m:sub>
                        <m:r>
                          <a:rPr lang="it-IT" b="0" i="1" smtClean="0">
                            <a:latin typeface="Cambria Math" panose="02040503050406030204" pitchFamily="18" charset="0"/>
                          </a:rPr>
                          <m:t>𝑥</m:t>
                        </m:r>
                      </m:sub>
                    </m:sSub>
                    <m:r>
                      <a:rPr lang="it-IT" b="0" i="1" smtClean="0">
                        <a:latin typeface="Cambria Math" panose="02040503050406030204" pitchFamily="18" charset="0"/>
                      </a:rPr>
                      <m:t>, </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𝜃</m:t>
                        </m:r>
                      </m:e>
                      <m:sub>
                        <m:r>
                          <a:rPr lang="it-IT" b="0" i="1" smtClean="0">
                            <a:latin typeface="Cambria Math" panose="02040503050406030204" pitchFamily="18" charset="0"/>
                          </a:rPr>
                          <m:t>𝑦</m:t>
                        </m:r>
                      </m:sub>
                    </m:sSub>
                  </m:oMath>
                </a14:m>
                <a:endParaRPr lang="it-IT" dirty="0"/>
              </a:p>
              <a:p>
                <a:pPr>
                  <a:buFont typeface="Wingdings" panose="05000000000000000000" pitchFamily="2" charset="2"/>
                  <a:buChar char="ü"/>
                </a:pPr>
                <a:r>
                  <a:rPr lang="it-IT" dirty="0"/>
                  <a:t> Check the correlation:</a:t>
                </a:r>
              </a:p>
              <a:p>
                <a:pPr marL="457200" lvl="1" indent="0">
                  <a:buNone/>
                </a:pPr>
                <a:r>
                  <a:rPr lang="it-IT" dirty="0"/>
                  <a:t>Not negligible for </a:t>
                </a:r>
                <a14:m>
                  <m:oMath xmlns:m="http://schemas.openxmlformats.org/officeDocument/2006/math">
                    <m:r>
                      <a:rPr lang="it-IT" b="0" i="1" smtClean="0">
                        <a:solidFill>
                          <a:srgbClr val="FF0000"/>
                        </a:solidFill>
                        <a:latin typeface="Cambria Math" panose="02040503050406030204" pitchFamily="18" charset="0"/>
                      </a:rPr>
                      <m:t>𝑥</m:t>
                    </m:r>
                    <m:r>
                      <a:rPr lang="it-IT" b="0" i="1" smtClean="0">
                        <a:solidFill>
                          <a:srgbClr val="FF0000"/>
                        </a:solidFill>
                        <a:latin typeface="Cambria Math" panose="02040503050406030204" pitchFamily="18" charset="0"/>
                      </a:rPr>
                      <m:t>−</m:t>
                    </m:r>
                    <m:sSub>
                      <m:sSubPr>
                        <m:ctrlPr>
                          <a:rPr lang="it-IT" b="0" i="1" smtClean="0">
                            <a:solidFill>
                              <a:srgbClr val="FF0000"/>
                            </a:solidFill>
                            <a:latin typeface="Cambria Math" panose="02040503050406030204" pitchFamily="18" charset="0"/>
                          </a:rPr>
                        </m:ctrlPr>
                      </m:sSubPr>
                      <m:e>
                        <m:r>
                          <a:rPr lang="it-IT" b="0" i="1" smtClean="0">
                            <a:solidFill>
                              <a:srgbClr val="FF0000"/>
                            </a:solidFill>
                            <a:latin typeface="Cambria Math" panose="02040503050406030204" pitchFamily="18" charset="0"/>
                          </a:rPr>
                          <m:t>𝜃</m:t>
                        </m:r>
                      </m:e>
                      <m:sub>
                        <m:r>
                          <a:rPr lang="it-IT" b="0" i="1" smtClean="0">
                            <a:solidFill>
                              <a:srgbClr val="FF0000"/>
                            </a:solidFill>
                            <a:latin typeface="Cambria Math" panose="02040503050406030204" pitchFamily="18" charset="0"/>
                          </a:rPr>
                          <m:t>𝑥</m:t>
                        </m:r>
                      </m:sub>
                    </m:sSub>
                  </m:oMath>
                </a14:m>
                <a:r>
                  <a:rPr lang="it-IT" dirty="0"/>
                  <a:t>, </a:t>
                </a:r>
                <a14:m>
                  <m:oMath xmlns:m="http://schemas.openxmlformats.org/officeDocument/2006/math">
                    <m:r>
                      <a:rPr lang="it-IT" b="0" i="1" smtClean="0">
                        <a:solidFill>
                          <a:schemeClr val="accent4"/>
                        </a:solidFill>
                        <a:latin typeface="Cambria Math" panose="02040503050406030204" pitchFamily="18" charset="0"/>
                      </a:rPr>
                      <m:t>𝑦</m:t>
                    </m:r>
                    <m:r>
                      <a:rPr lang="it-IT" b="0" i="1" smtClean="0">
                        <a:solidFill>
                          <a:schemeClr val="accent4"/>
                        </a:solidFill>
                        <a:latin typeface="Cambria Math" panose="02040503050406030204" pitchFamily="18" charset="0"/>
                      </a:rPr>
                      <m:t>−</m:t>
                    </m:r>
                    <m:sSub>
                      <m:sSubPr>
                        <m:ctrlPr>
                          <a:rPr lang="it-IT" b="0" i="1" smtClean="0">
                            <a:solidFill>
                              <a:schemeClr val="accent4"/>
                            </a:solidFill>
                            <a:latin typeface="Cambria Math" panose="02040503050406030204" pitchFamily="18" charset="0"/>
                          </a:rPr>
                        </m:ctrlPr>
                      </m:sSubPr>
                      <m:e>
                        <m:r>
                          <a:rPr lang="it-IT" b="0" i="1" smtClean="0">
                            <a:solidFill>
                              <a:schemeClr val="accent4"/>
                            </a:solidFill>
                            <a:latin typeface="Cambria Math" panose="02040503050406030204" pitchFamily="18" charset="0"/>
                          </a:rPr>
                          <m:t>𝜃</m:t>
                        </m:r>
                      </m:e>
                      <m:sub>
                        <m:r>
                          <a:rPr lang="it-IT" b="0" i="1" smtClean="0">
                            <a:solidFill>
                              <a:schemeClr val="accent4"/>
                            </a:solidFill>
                            <a:latin typeface="Cambria Math" panose="02040503050406030204" pitchFamily="18" charset="0"/>
                          </a:rPr>
                          <m:t>𝑦</m:t>
                        </m:r>
                      </m:sub>
                    </m:sSub>
                  </m:oMath>
                </a14:m>
                <a:r>
                  <a:rPr lang="it-IT" dirty="0"/>
                  <a:t>:</a:t>
                </a:r>
              </a:p>
              <a:p>
                <a:pPr marL="457200" lvl="1" indent="0">
                  <a:buNone/>
                </a:pPr>
                <a:endParaRPr lang="it-IT" dirty="0"/>
              </a:p>
              <a:p>
                <a:pPr marL="457200" lvl="1" indent="0">
                  <a:buNone/>
                </a:pPr>
                <a:endParaRPr lang="it-IT" dirty="0"/>
              </a:p>
              <a:p>
                <a:pPr marL="457200" lvl="1" indent="0">
                  <a:buNone/>
                </a:pPr>
                <a14:m>
                  <m:oMathPara xmlns:m="http://schemas.openxmlformats.org/officeDocument/2006/math">
                    <m:oMath>
                      <m:m>
                        <m:mPr>
                          <m:mcs>
                            <m:mc>
                              <m:mcPr>
                                <m:count m:val="4"/>
                                <m:mcJc m:val="center"/>
                              </m:mcPr>
                            </m:mc>
                          </m:mcs>
                          <m:ctrlPr>
                            <a:rPr lang="it-IT" i="1">
                              <a:latin typeface="Cambria Math" panose="02040503050406030204" pitchFamily="18" charset="0"/>
                            </a:rPr>
                          </m:ctrlPr>
                        </m:mPr>
                        <m:mr>
                          <m:e>
                            <m:r>
                              <a:rPr lang="it-IT" i="1">
                                <a:latin typeface="Cambria Math" panose="02040503050406030204" pitchFamily="18" charset="0"/>
                              </a:rPr>
                              <m:t>1</m:t>
                            </m:r>
                          </m:e>
                          <m:e>
                            <m:r>
                              <a:rPr lang="it-IT" i="1">
                                <a:latin typeface="Cambria Math" panose="02040503050406030204" pitchFamily="18" charset="0"/>
                              </a:rPr>
                              <m:t>0</m:t>
                            </m:r>
                          </m:e>
                          <m:e>
                            <m:r>
                              <a:rPr lang="it-IT" i="1">
                                <a:solidFill>
                                  <a:srgbClr val="FF0000"/>
                                </a:solidFill>
                                <a:latin typeface="Cambria Math" panose="02040503050406030204" pitchFamily="18" charset="0"/>
                              </a:rPr>
                              <m:t>0.2</m:t>
                            </m:r>
                          </m:e>
                          <m:e>
                            <m:r>
                              <a:rPr lang="it-IT" i="1">
                                <a:latin typeface="Cambria Math" panose="02040503050406030204" pitchFamily="18" charset="0"/>
                              </a:rPr>
                              <m:t>0</m:t>
                            </m:r>
                          </m:e>
                        </m:mr>
                        <m:mr>
                          <m:e>
                            <m:r>
                              <a:rPr lang="it-IT" i="1">
                                <a:latin typeface="Cambria Math" panose="02040503050406030204" pitchFamily="18" charset="0"/>
                              </a:rPr>
                              <m:t>0</m:t>
                            </m:r>
                          </m:e>
                          <m:e>
                            <m:r>
                              <a:rPr lang="it-IT" i="1">
                                <a:latin typeface="Cambria Math" panose="02040503050406030204" pitchFamily="18" charset="0"/>
                              </a:rPr>
                              <m:t>1</m:t>
                            </m:r>
                          </m:e>
                          <m:e>
                            <m:r>
                              <a:rPr lang="it-IT" i="1">
                                <a:latin typeface="Cambria Math" panose="02040503050406030204" pitchFamily="18" charset="0"/>
                              </a:rPr>
                              <m:t>0</m:t>
                            </m:r>
                          </m:e>
                          <m:e>
                            <m:r>
                              <a:rPr lang="it-IT" i="1" smtClean="0">
                                <a:solidFill>
                                  <a:schemeClr val="accent4"/>
                                </a:solidFill>
                                <a:latin typeface="Cambria Math" panose="02040503050406030204" pitchFamily="18" charset="0"/>
                              </a:rPr>
                              <m:t>0.2</m:t>
                            </m:r>
                          </m:e>
                        </m:mr>
                        <m:mr>
                          <m:e>
                            <m:r>
                              <a:rPr lang="it-IT" i="1">
                                <a:solidFill>
                                  <a:srgbClr val="FF0000"/>
                                </a:solidFill>
                                <a:latin typeface="Cambria Math" panose="02040503050406030204" pitchFamily="18" charset="0"/>
                              </a:rPr>
                              <m:t>0.2</m:t>
                            </m:r>
                          </m:e>
                          <m:e>
                            <m:r>
                              <a:rPr lang="it-IT" i="1">
                                <a:latin typeface="Cambria Math" panose="02040503050406030204" pitchFamily="18" charset="0"/>
                              </a:rPr>
                              <m:t>0</m:t>
                            </m:r>
                          </m:e>
                          <m:e>
                            <m:r>
                              <a:rPr lang="it-IT" i="1">
                                <a:latin typeface="Cambria Math" panose="02040503050406030204" pitchFamily="18" charset="0"/>
                              </a:rPr>
                              <m:t>1</m:t>
                            </m:r>
                          </m:e>
                          <m:e>
                            <m:r>
                              <a:rPr lang="it-IT" i="1">
                                <a:latin typeface="Cambria Math" panose="02040503050406030204" pitchFamily="18" charset="0"/>
                              </a:rPr>
                              <m:t>0</m:t>
                            </m:r>
                          </m:e>
                        </m:mr>
                        <m:mr>
                          <m:e>
                            <m:r>
                              <a:rPr lang="it-IT" i="1">
                                <a:latin typeface="Cambria Math" panose="02040503050406030204" pitchFamily="18" charset="0"/>
                              </a:rPr>
                              <m:t>0</m:t>
                            </m:r>
                          </m:e>
                          <m:e>
                            <m:r>
                              <a:rPr lang="it-IT" i="1" smtClean="0">
                                <a:solidFill>
                                  <a:schemeClr val="accent4"/>
                                </a:solidFill>
                                <a:latin typeface="Cambria Math" panose="02040503050406030204" pitchFamily="18" charset="0"/>
                              </a:rPr>
                              <m:t>0.2</m:t>
                            </m:r>
                          </m:e>
                          <m:e>
                            <m:r>
                              <a:rPr lang="it-IT" i="1">
                                <a:latin typeface="Cambria Math" panose="02040503050406030204" pitchFamily="18" charset="0"/>
                              </a:rPr>
                              <m:t>0</m:t>
                            </m:r>
                          </m:e>
                          <m:e>
                            <m:r>
                              <a:rPr lang="it-IT" i="1">
                                <a:latin typeface="Cambria Math" panose="02040503050406030204" pitchFamily="18" charset="0"/>
                              </a:rPr>
                              <m:t>1</m:t>
                            </m:r>
                          </m:e>
                        </m:mr>
                      </m:m>
                    </m:oMath>
                  </m:oMathPara>
                </a14:m>
                <a:endParaRPr lang="it-IT" dirty="0"/>
              </a:p>
            </p:txBody>
          </p:sp>
        </mc:Choice>
        <mc:Fallback xmlns="">
          <p:sp>
            <p:nvSpPr>
              <p:cNvPr id="8" name="Content Placeholder 7">
                <a:extLst>
                  <a:ext uri="{FF2B5EF4-FFF2-40B4-BE49-F238E27FC236}">
                    <a16:creationId xmlns:a16="http://schemas.microsoft.com/office/drawing/2014/main" id="{9F2404EB-35C0-DF54-D584-B92AB2894435}"/>
                  </a:ext>
                </a:extLst>
              </p:cNvPr>
              <p:cNvSpPr>
                <a:spLocks noGrp="1" noRot="1" noChangeAspect="1" noMove="1" noResize="1" noEditPoints="1" noAdjustHandles="1" noChangeArrowheads="1" noChangeShapeType="1" noTextEdit="1"/>
              </p:cNvSpPr>
              <p:nvPr>
                <p:ph idx="1"/>
              </p:nvPr>
            </p:nvSpPr>
            <p:spPr>
              <a:xfrm>
                <a:off x="5609968" y="1351294"/>
                <a:ext cx="5743832" cy="4825669"/>
              </a:xfrm>
              <a:blipFill>
                <a:blip r:embed="rId3"/>
                <a:stretch>
                  <a:fillRect l="-1803" t="-2276" r="-636"/>
                </a:stretch>
              </a:blipFill>
            </p:spPr>
            <p:txBody>
              <a:bodyPr/>
              <a:lstStyle/>
              <a:p>
                <a:r>
                  <a:rPr lang="it-IT">
                    <a:noFill/>
                  </a:rPr>
                  <a:t> </a:t>
                </a:r>
              </a:p>
            </p:txBody>
          </p:sp>
        </mc:Fallback>
      </mc:AlternateContent>
      <p:pic>
        <p:nvPicPr>
          <p:cNvPr id="9" name="Content Placeholder 11">
            <a:extLst>
              <a:ext uri="{FF2B5EF4-FFF2-40B4-BE49-F238E27FC236}">
                <a16:creationId xmlns:a16="http://schemas.microsoft.com/office/drawing/2014/main" id="{66E75AF7-7B2A-D675-BC90-5353C57111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5175" y="1351294"/>
            <a:ext cx="5025939" cy="4997608"/>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DC8FF09-8E01-8C56-AA30-F654A5089D7C}"/>
                  </a:ext>
                </a:extLst>
              </p:cNvPr>
              <p:cNvSpPr txBox="1"/>
              <p:nvPr/>
            </p:nvSpPr>
            <p:spPr>
              <a:xfrm>
                <a:off x="7011801" y="3257246"/>
                <a:ext cx="2633541" cy="490840"/>
              </a:xfrm>
              <a:prstGeom prst="rect">
                <a:avLst/>
              </a:prstGeom>
              <a:noFill/>
            </p:spPr>
            <p:txBody>
              <a:bodyPr wrap="none" rtlCol="0">
                <a:spAutoFit/>
              </a:bodyPr>
              <a:lstStyle/>
              <a:p>
                <a:pPr/>
                <a14:m>
                  <m:oMathPara xmlns:m="http://schemas.openxmlformats.org/officeDocument/2006/math">
                    <m:oMath>
                      <m:r>
                        <a:rPr lang="it-IT" sz="2400" i="1">
                          <a:solidFill>
                            <a:schemeClr val="accent6"/>
                          </a:solidFill>
                          <a:latin typeface="Cambria Math" panose="02040503050406030204" pitchFamily="18" charset="0"/>
                        </a:rPr>
                        <m:t>𝑥</m:t>
                      </m:r>
                      <m:r>
                        <a:rPr lang="it-IT" sz="2400" i="1">
                          <a:solidFill>
                            <a:schemeClr val="accent6"/>
                          </a:solidFill>
                          <a:latin typeface="Cambria Math" panose="02040503050406030204" pitchFamily="18" charset="0"/>
                        </a:rPr>
                        <m:t>       </m:t>
                      </m:r>
                      <m:r>
                        <a:rPr lang="it-IT" sz="2400" i="1">
                          <a:solidFill>
                            <a:schemeClr val="accent6"/>
                          </a:solidFill>
                          <a:latin typeface="Cambria Math" panose="02040503050406030204" pitchFamily="18" charset="0"/>
                        </a:rPr>
                        <m:t>𝑦</m:t>
                      </m:r>
                      <m:r>
                        <a:rPr lang="it-IT" sz="2400" i="1">
                          <a:solidFill>
                            <a:schemeClr val="accent6"/>
                          </a:solidFill>
                          <a:latin typeface="Cambria Math" panose="02040503050406030204" pitchFamily="18" charset="0"/>
                        </a:rPr>
                        <m:t>       </m:t>
                      </m:r>
                      <m:sSub>
                        <m:sSubPr>
                          <m:ctrlPr>
                            <a:rPr lang="it-IT" sz="2400" i="1">
                              <a:solidFill>
                                <a:schemeClr val="accent6"/>
                              </a:solidFill>
                              <a:latin typeface="Cambria Math" panose="02040503050406030204" pitchFamily="18" charset="0"/>
                            </a:rPr>
                          </m:ctrlPr>
                        </m:sSubPr>
                        <m:e>
                          <m:r>
                            <a:rPr lang="it-IT" sz="2400" i="1">
                              <a:solidFill>
                                <a:schemeClr val="accent6"/>
                              </a:solidFill>
                              <a:latin typeface="Cambria Math" panose="02040503050406030204" pitchFamily="18" charset="0"/>
                            </a:rPr>
                            <m:t>𝜃</m:t>
                          </m:r>
                        </m:e>
                        <m:sub>
                          <m:r>
                            <a:rPr lang="it-IT" sz="2400" i="1">
                              <a:solidFill>
                                <a:schemeClr val="accent6"/>
                              </a:solidFill>
                              <a:latin typeface="Cambria Math" panose="02040503050406030204" pitchFamily="18" charset="0"/>
                            </a:rPr>
                            <m:t>𝑥</m:t>
                          </m:r>
                        </m:sub>
                      </m:sSub>
                      <m:r>
                        <a:rPr lang="it-IT" sz="2400" i="1">
                          <a:solidFill>
                            <a:schemeClr val="accent6"/>
                          </a:solidFill>
                          <a:latin typeface="Cambria Math" panose="02040503050406030204" pitchFamily="18" charset="0"/>
                        </a:rPr>
                        <m:t>       </m:t>
                      </m:r>
                      <m:sSub>
                        <m:sSubPr>
                          <m:ctrlPr>
                            <a:rPr lang="it-IT" sz="2400" i="1">
                              <a:solidFill>
                                <a:schemeClr val="accent6"/>
                              </a:solidFill>
                              <a:latin typeface="Cambria Math" panose="02040503050406030204" pitchFamily="18" charset="0"/>
                            </a:rPr>
                          </m:ctrlPr>
                        </m:sSubPr>
                        <m:e>
                          <m:r>
                            <a:rPr lang="it-IT" sz="2400" i="1">
                              <a:solidFill>
                                <a:schemeClr val="accent6"/>
                              </a:solidFill>
                              <a:latin typeface="Cambria Math" panose="02040503050406030204" pitchFamily="18" charset="0"/>
                            </a:rPr>
                            <m:t>𝜃</m:t>
                          </m:r>
                        </m:e>
                        <m:sub>
                          <m:r>
                            <a:rPr lang="it-IT" sz="2400" i="1">
                              <a:solidFill>
                                <a:schemeClr val="accent6"/>
                              </a:solidFill>
                              <a:latin typeface="Cambria Math" panose="02040503050406030204" pitchFamily="18" charset="0"/>
                            </a:rPr>
                            <m:t>𝑦</m:t>
                          </m:r>
                        </m:sub>
                      </m:sSub>
                    </m:oMath>
                  </m:oMathPara>
                </a14:m>
                <a:endParaRPr lang="it-IT" sz="2400" dirty="0"/>
              </a:p>
            </p:txBody>
          </p:sp>
        </mc:Choice>
        <mc:Fallback xmlns="">
          <p:sp>
            <p:nvSpPr>
              <p:cNvPr id="7" name="TextBox 6">
                <a:extLst>
                  <a:ext uri="{FF2B5EF4-FFF2-40B4-BE49-F238E27FC236}">
                    <a16:creationId xmlns:a16="http://schemas.microsoft.com/office/drawing/2014/main" id="{DDC8FF09-8E01-8C56-AA30-F654A5089D7C}"/>
                  </a:ext>
                </a:extLst>
              </p:cNvPr>
              <p:cNvSpPr txBox="1">
                <a:spLocks noRot="1" noChangeAspect="1" noMove="1" noResize="1" noEditPoints="1" noAdjustHandles="1" noChangeArrowheads="1" noChangeShapeType="1" noTextEdit="1"/>
              </p:cNvSpPr>
              <p:nvPr/>
            </p:nvSpPr>
            <p:spPr>
              <a:xfrm>
                <a:off x="7011801" y="3257246"/>
                <a:ext cx="2633541" cy="490840"/>
              </a:xfrm>
              <a:prstGeom prst="rect">
                <a:avLst/>
              </a:prstGeom>
              <a:blipFill>
                <a:blip r:embed="rId5"/>
                <a:stretch>
                  <a:fillRect b="-6173"/>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26DC93D-60D9-EEAE-67AC-E30F3AB3ADA0}"/>
                  </a:ext>
                </a:extLst>
              </p:cNvPr>
              <p:cNvSpPr txBox="1"/>
              <p:nvPr/>
            </p:nvSpPr>
            <p:spPr>
              <a:xfrm>
                <a:off x="6235700" y="3621113"/>
                <a:ext cx="850900" cy="1598836"/>
              </a:xfrm>
              <a:prstGeom prst="rect">
                <a:avLst/>
              </a:prstGeom>
              <a:noFill/>
            </p:spPr>
            <p:txBody>
              <a:bodyPr wrap="square" rtlCol="0">
                <a:spAutoFit/>
              </a:bodyPr>
              <a:lstStyle/>
              <a:p>
                <a:pPr/>
                <a14:m>
                  <m:oMathPara xmlns:m="http://schemas.openxmlformats.org/officeDocument/2006/math">
                    <m:oMath>
                      <m:r>
                        <a:rPr lang="it-IT" sz="2400" i="1" smtClean="0">
                          <a:solidFill>
                            <a:schemeClr val="accent6"/>
                          </a:solidFill>
                          <a:latin typeface="Cambria Math" panose="02040503050406030204" pitchFamily="18" charset="0"/>
                        </a:rPr>
                        <m:t>𝑥</m:t>
                      </m:r>
                    </m:oMath>
                  </m:oMathPara>
                </a14:m>
                <a:endParaRPr lang="it-IT" sz="2400" i="1" dirty="0">
                  <a:solidFill>
                    <a:schemeClr val="accent6"/>
                  </a:solidFill>
                  <a:latin typeface="Cambria Math" panose="02040503050406030204" pitchFamily="18" charset="0"/>
                </a:endParaRPr>
              </a:p>
              <a:p>
                <a:pPr/>
                <a14:m>
                  <m:oMathPara xmlns:m="http://schemas.openxmlformats.org/officeDocument/2006/math">
                    <m:oMath>
                      <m:r>
                        <a:rPr lang="it-IT" sz="2400" i="1">
                          <a:solidFill>
                            <a:schemeClr val="accent6"/>
                          </a:solidFill>
                          <a:latin typeface="Cambria Math" panose="02040503050406030204" pitchFamily="18" charset="0"/>
                        </a:rPr>
                        <m:t>𝑦</m:t>
                      </m:r>
                    </m:oMath>
                  </m:oMathPara>
                </a14:m>
                <a:endParaRPr lang="it-IT" sz="2400" i="1" dirty="0">
                  <a:solidFill>
                    <a:schemeClr val="accent6"/>
                  </a:solidFill>
                  <a:latin typeface="Cambria Math" panose="02040503050406030204" pitchFamily="18" charset="0"/>
                </a:endParaRPr>
              </a:p>
              <a:p>
                <a:pPr/>
                <a14:m>
                  <m:oMathPara xmlns:m="http://schemas.openxmlformats.org/officeDocument/2006/math">
                    <m:oMath>
                      <m:sSub>
                        <m:sSubPr>
                          <m:ctrlPr>
                            <a:rPr lang="it-IT" sz="2400" i="1">
                              <a:solidFill>
                                <a:schemeClr val="accent6"/>
                              </a:solidFill>
                              <a:latin typeface="Cambria Math" panose="02040503050406030204" pitchFamily="18" charset="0"/>
                            </a:rPr>
                          </m:ctrlPr>
                        </m:sSubPr>
                        <m:e>
                          <m:r>
                            <a:rPr lang="it-IT" sz="2400" i="1">
                              <a:solidFill>
                                <a:schemeClr val="accent6"/>
                              </a:solidFill>
                              <a:latin typeface="Cambria Math" panose="02040503050406030204" pitchFamily="18" charset="0"/>
                            </a:rPr>
                            <m:t>𝜃</m:t>
                          </m:r>
                        </m:e>
                        <m:sub>
                          <m:r>
                            <a:rPr lang="it-IT" sz="2400" i="1">
                              <a:solidFill>
                                <a:schemeClr val="accent6"/>
                              </a:solidFill>
                              <a:latin typeface="Cambria Math" panose="02040503050406030204" pitchFamily="18" charset="0"/>
                            </a:rPr>
                            <m:t>𝑥</m:t>
                          </m:r>
                        </m:sub>
                      </m:sSub>
                    </m:oMath>
                  </m:oMathPara>
                </a14:m>
                <a:endParaRPr lang="it-IT" sz="2400" i="1" dirty="0">
                  <a:solidFill>
                    <a:schemeClr val="accent6"/>
                  </a:solidFill>
                  <a:latin typeface="Cambria Math" panose="02040503050406030204" pitchFamily="18" charset="0"/>
                </a:endParaRPr>
              </a:p>
              <a:p>
                <a:pPr/>
                <a14:m>
                  <m:oMathPara xmlns:m="http://schemas.openxmlformats.org/officeDocument/2006/math">
                    <m:oMath>
                      <m:sSub>
                        <m:sSubPr>
                          <m:ctrlPr>
                            <a:rPr lang="it-IT" sz="2400" i="1">
                              <a:solidFill>
                                <a:schemeClr val="accent6"/>
                              </a:solidFill>
                              <a:latin typeface="Cambria Math" panose="02040503050406030204" pitchFamily="18" charset="0"/>
                            </a:rPr>
                          </m:ctrlPr>
                        </m:sSubPr>
                        <m:e>
                          <m:r>
                            <a:rPr lang="it-IT" sz="2400" i="1">
                              <a:solidFill>
                                <a:schemeClr val="accent6"/>
                              </a:solidFill>
                              <a:latin typeface="Cambria Math" panose="02040503050406030204" pitchFamily="18" charset="0"/>
                            </a:rPr>
                            <m:t>𝜃</m:t>
                          </m:r>
                        </m:e>
                        <m:sub>
                          <m:r>
                            <a:rPr lang="it-IT" sz="2400" i="1">
                              <a:solidFill>
                                <a:schemeClr val="accent6"/>
                              </a:solidFill>
                              <a:latin typeface="Cambria Math" panose="02040503050406030204" pitchFamily="18" charset="0"/>
                            </a:rPr>
                            <m:t>𝑦</m:t>
                          </m:r>
                        </m:sub>
                      </m:sSub>
                    </m:oMath>
                  </m:oMathPara>
                </a14:m>
                <a:endParaRPr lang="it-IT" sz="2400" dirty="0"/>
              </a:p>
            </p:txBody>
          </p:sp>
        </mc:Choice>
        <mc:Fallback xmlns="">
          <p:sp>
            <p:nvSpPr>
              <p:cNvPr id="12" name="TextBox 11">
                <a:extLst>
                  <a:ext uri="{FF2B5EF4-FFF2-40B4-BE49-F238E27FC236}">
                    <a16:creationId xmlns:a16="http://schemas.microsoft.com/office/drawing/2014/main" id="{A26DC93D-60D9-EEAE-67AC-E30F3AB3ADA0}"/>
                  </a:ext>
                </a:extLst>
              </p:cNvPr>
              <p:cNvSpPr txBox="1">
                <a:spLocks noRot="1" noChangeAspect="1" noMove="1" noResize="1" noEditPoints="1" noAdjustHandles="1" noChangeArrowheads="1" noChangeShapeType="1" noTextEdit="1"/>
              </p:cNvSpPr>
              <p:nvPr/>
            </p:nvSpPr>
            <p:spPr>
              <a:xfrm>
                <a:off x="6235700" y="3621113"/>
                <a:ext cx="850900" cy="1598836"/>
              </a:xfrm>
              <a:prstGeom prst="rect">
                <a:avLst/>
              </a:prstGeom>
              <a:blipFill>
                <a:blip r:embed="rId6"/>
                <a:stretch>
                  <a:fillRect b="-1527"/>
                </a:stretch>
              </a:blipFill>
            </p:spPr>
            <p:txBody>
              <a:bodyPr/>
              <a:lstStyle/>
              <a:p>
                <a:r>
                  <a:rPr lang="it-IT">
                    <a:noFill/>
                  </a:rPr>
                  <a:t> </a:t>
                </a:r>
              </a:p>
            </p:txBody>
          </p:sp>
        </mc:Fallback>
      </mc:AlternateContent>
    </p:spTree>
    <p:extLst>
      <p:ext uri="{BB962C8B-B14F-4D97-AF65-F5344CB8AC3E}">
        <p14:creationId xmlns:p14="http://schemas.microsoft.com/office/powerpoint/2010/main" val="10413665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44A28-4793-2DBB-2CB3-AE5CEB0B2F0B}"/>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976C7920-7576-E55A-F9E5-E837ED819F88}"/>
              </a:ext>
            </a:extLst>
          </p:cNvPr>
          <p:cNvSpPr>
            <a:spLocks noGrp="1"/>
          </p:cNvSpPr>
          <p:nvPr>
            <p:ph type="title"/>
          </p:nvPr>
        </p:nvSpPr>
        <p:spPr>
          <a:xfrm>
            <a:off x="38100" y="69651"/>
            <a:ext cx="12114000" cy="1153094"/>
          </a:xfrm>
          <a:prstGeom prst="roundRect">
            <a:avLst>
              <a:gd name="adj" fmla="val 36459"/>
            </a:avLst>
          </a:prstGeom>
          <a:noFill/>
        </p:spPr>
        <p:txBody>
          <a:bodyPr>
            <a:noAutofit/>
          </a:bodyPr>
          <a:lstStyle/>
          <a:p>
            <a:r>
              <a:rPr lang="it-IT" sz="3400" b="1" dirty="0">
                <a:solidFill>
                  <a:srgbClr val="002060"/>
                </a:solidFill>
              </a:rPr>
              <a:t>	SIMULATING THE SHORT CRYSTAL</a:t>
            </a:r>
          </a:p>
        </p:txBody>
      </p:sp>
      <p:sp>
        <p:nvSpPr>
          <p:cNvPr id="4" name="Segnaposto data 3">
            <a:extLst>
              <a:ext uri="{FF2B5EF4-FFF2-40B4-BE49-F238E27FC236}">
                <a16:creationId xmlns:a16="http://schemas.microsoft.com/office/drawing/2014/main" id="{0CFD5F52-E0FE-8106-1B0C-25E33470AECB}"/>
              </a:ext>
            </a:extLst>
          </p:cNvPr>
          <p:cNvSpPr>
            <a:spLocks noGrp="1"/>
          </p:cNvSpPr>
          <p:nvPr>
            <p:ph type="dt" sz="half" idx="10"/>
          </p:nvPr>
        </p:nvSpPr>
        <p:spPr>
          <a:xfrm>
            <a:off x="838200" y="6356349"/>
            <a:ext cx="2743200" cy="432000"/>
          </a:xfrm>
        </p:spPr>
        <p:txBody>
          <a:bodyPr/>
          <a:lstStyle/>
          <a:p>
            <a:r>
              <a:rPr lang="it-IT" sz="1500" b="1" dirty="0">
                <a:solidFill>
                  <a:srgbClr val="002060"/>
                </a:solidFill>
              </a:rPr>
              <a:t>September 2026</a:t>
            </a:r>
          </a:p>
        </p:txBody>
      </p:sp>
      <p:sp>
        <p:nvSpPr>
          <p:cNvPr id="5" name="Segnaposto piè di pagina 4">
            <a:extLst>
              <a:ext uri="{FF2B5EF4-FFF2-40B4-BE49-F238E27FC236}">
                <a16:creationId xmlns:a16="http://schemas.microsoft.com/office/drawing/2014/main" id="{7100572C-209B-383C-E60A-C4E391AEF4C8}"/>
              </a:ext>
            </a:extLst>
          </p:cNvPr>
          <p:cNvSpPr>
            <a:spLocks noGrp="1"/>
          </p:cNvSpPr>
          <p:nvPr>
            <p:ph type="ftr" sz="quarter" idx="11"/>
          </p:nvPr>
        </p:nvSpPr>
        <p:spPr>
          <a:xfrm>
            <a:off x="0" y="6356349"/>
            <a:ext cx="12192000" cy="432000"/>
          </a:xfrm>
        </p:spPr>
        <p:txBody>
          <a:bodyPr/>
          <a:lstStyle/>
          <a:p>
            <a:r>
              <a:rPr lang="it-IT" sz="1500" b="1" dirty="0">
                <a:solidFill>
                  <a:srgbClr val="002060"/>
                </a:solidFill>
              </a:rPr>
              <a:t>Anna Sofia Moro</a:t>
            </a:r>
          </a:p>
        </p:txBody>
      </p:sp>
      <p:sp>
        <p:nvSpPr>
          <p:cNvPr id="6" name="Segnaposto numero diapositiva 5">
            <a:extLst>
              <a:ext uri="{FF2B5EF4-FFF2-40B4-BE49-F238E27FC236}">
                <a16:creationId xmlns:a16="http://schemas.microsoft.com/office/drawing/2014/main" id="{EF848D93-D323-5E7C-F190-F5C2C361D822}"/>
              </a:ext>
            </a:extLst>
          </p:cNvPr>
          <p:cNvSpPr>
            <a:spLocks noGrp="1"/>
          </p:cNvSpPr>
          <p:nvPr>
            <p:ph type="sldNum" sz="quarter" idx="12"/>
          </p:nvPr>
        </p:nvSpPr>
        <p:spPr>
          <a:xfrm>
            <a:off x="8610600" y="6356349"/>
            <a:ext cx="2743200" cy="432000"/>
          </a:xfrm>
        </p:spPr>
        <p:txBody>
          <a:bodyPr/>
          <a:lstStyle/>
          <a:p>
            <a:fld id="{0A318BD9-CA14-4A83-ACF0-03D5918EB402}" type="slidenum">
              <a:rPr lang="it-IT" sz="1500" b="1" smtClean="0">
                <a:solidFill>
                  <a:srgbClr val="002060"/>
                </a:solidFill>
              </a:rPr>
              <a:t>12</a:t>
            </a:fld>
            <a:endParaRPr lang="it-IT" sz="1500" b="1" dirty="0">
              <a:solidFill>
                <a:srgbClr val="002060"/>
              </a:solidFill>
            </a:endParaRPr>
          </a:p>
        </p:txBody>
      </p:sp>
      <p:cxnSp>
        <p:nvCxnSpPr>
          <p:cNvPr id="10" name="Connettore diritto 9">
            <a:extLst>
              <a:ext uri="{FF2B5EF4-FFF2-40B4-BE49-F238E27FC236}">
                <a16:creationId xmlns:a16="http://schemas.microsoft.com/office/drawing/2014/main" id="{15B1A981-2947-503A-1549-19D09B1BB639}"/>
              </a:ext>
            </a:extLst>
          </p:cNvPr>
          <p:cNvCxnSpPr>
            <a:cxnSpLocks/>
          </p:cNvCxnSpPr>
          <p:nvPr/>
        </p:nvCxnSpPr>
        <p:spPr>
          <a:xfrm>
            <a:off x="696000" y="1155368"/>
            <a:ext cx="10800000" cy="0"/>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sp>
        <p:nvSpPr>
          <p:cNvPr id="13" name="CasellaDiTesto 12">
            <a:extLst>
              <a:ext uri="{FF2B5EF4-FFF2-40B4-BE49-F238E27FC236}">
                <a16:creationId xmlns:a16="http://schemas.microsoft.com/office/drawing/2014/main" id="{19AF92A7-D52E-83AB-8896-CD20FF14BB69}"/>
              </a:ext>
            </a:extLst>
          </p:cNvPr>
          <p:cNvSpPr txBox="1"/>
          <p:nvPr/>
        </p:nvSpPr>
        <p:spPr>
          <a:xfrm>
            <a:off x="3048886" y="3244334"/>
            <a:ext cx="6097772" cy="369332"/>
          </a:xfrm>
          <a:prstGeom prst="rect">
            <a:avLst/>
          </a:prstGeom>
          <a:noFill/>
        </p:spPr>
        <p:txBody>
          <a:bodyPr wrap="square">
            <a:spAutoFit/>
          </a:bodyPr>
          <a:lstStyle/>
          <a:p>
            <a:endParaRPr lang="it-IT" dirty="0"/>
          </a:p>
        </p:txBody>
      </p:sp>
      <p:sp>
        <p:nvSpPr>
          <p:cNvPr id="8" name="Content Placeholder 7">
            <a:extLst>
              <a:ext uri="{FF2B5EF4-FFF2-40B4-BE49-F238E27FC236}">
                <a16:creationId xmlns:a16="http://schemas.microsoft.com/office/drawing/2014/main" id="{87DD07B6-F34B-B85B-4A23-470C952937C7}"/>
              </a:ext>
            </a:extLst>
          </p:cNvPr>
          <p:cNvSpPr>
            <a:spLocks noGrp="1"/>
          </p:cNvSpPr>
          <p:nvPr>
            <p:ph idx="1"/>
          </p:nvPr>
        </p:nvSpPr>
        <p:spPr>
          <a:xfrm>
            <a:off x="5363700" y="1312438"/>
            <a:ext cx="5990100" cy="4864525"/>
          </a:xfrm>
        </p:spPr>
        <p:txBody>
          <a:bodyPr>
            <a:normAutofit/>
          </a:bodyPr>
          <a:lstStyle/>
          <a:p>
            <a:pPr marL="0" indent="0">
              <a:buNone/>
            </a:pPr>
            <a:endParaRPr lang="it-IT" sz="2400" dirty="0"/>
          </a:p>
          <a:p>
            <a:pPr marL="0" indent="0">
              <a:buNone/>
            </a:pPr>
            <a:r>
              <a:rPr lang="it-IT" sz="2400" dirty="0"/>
              <a:t>Fitting the 1d marginal distributions and then sampling them indipendently would not be correct if variables are uncorrelated.</a:t>
            </a:r>
          </a:p>
          <a:p>
            <a:pPr marL="0" indent="0">
              <a:buNone/>
            </a:pPr>
            <a:endParaRPr lang="it-IT" sz="2400" dirty="0"/>
          </a:p>
          <a:p>
            <a:pPr marL="0" indent="0">
              <a:buNone/>
            </a:pPr>
            <a:r>
              <a:rPr lang="it-IT" sz="2400" dirty="0"/>
              <a:t>Solution:</a:t>
            </a:r>
          </a:p>
          <a:p>
            <a:pPr marL="0" indent="0">
              <a:buNone/>
            </a:pPr>
            <a:r>
              <a:rPr lang="it-IT" sz="2400" dirty="0"/>
              <a:t>Using a multivariate random normal distribution (thanks to the covariance matrix reproduce the correlation)</a:t>
            </a:r>
          </a:p>
          <a:p>
            <a:pPr marL="0" indent="0">
              <a:buNone/>
            </a:pPr>
            <a:endParaRPr lang="it-IT" sz="2400" dirty="0"/>
          </a:p>
          <a:p>
            <a:pPr marL="0" indent="0">
              <a:buNone/>
            </a:pPr>
            <a:endParaRPr lang="it-IT" sz="2400" dirty="0"/>
          </a:p>
          <a:p>
            <a:pPr marL="0" indent="0">
              <a:buNone/>
            </a:pPr>
            <a:endParaRPr lang="it-IT" sz="2400" dirty="0"/>
          </a:p>
        </p:txBody>
      </p:sp>
      <p:pic>
        <p:nvPicPr>
          <p:cNvPr id="17" name="Picture 16">
            <a:extLst>
              <a:ext uri="{FF2B5EF4-FFF2-40B4-BE49-F238E27FC236}">
                <a16:creationId xmlns:a16="http://schemas.microsoft.com/office/drawing/2014/main" id="{2B38174C-0AD3-05E4-EEF6-D1709EEA52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9406" y="1334755"/>
            <a:ext cx="4894294" cy="4860000"/>
          </a:xfrm>
          <a:prstGeom prst="rect">
            <a:avLst/>
          </a:prstGeom>
        </p:spPr>
      </p:pic>
    </p:spTree>
    <p:extLst>
      <p:ext uri="{BB962C8B-B14F-4D97-AF65-F5344CB8AC3E}">
        <p14:creationId xmlns:p14="http://schemas.microsoft.com/office/powerpoint/2010/main" val="27276546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30AC2-9E90-7075-B24F-5D440F6C82D6}"/>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D42219A0-F9AA-F37A-A114-C8B837C0610A}"/>
              </a:ext>
            </a:extLst>
          </p:cNvPr>
          <p:cNvSpPr>
            <a:spLocks noGrp="1"/>
          </p:cNvSpPr>
          <p:nvPr>
            <p:ph type="title"/>
          </p:nvPr>
        </p:nvSpPr>
        <p:spPr>
          <a:xfrm>
            <a:off x="38100" y="69651"/>
            <a:ext cx="12114000" cy="1153094"/>
          </a:xfrm>
          <a:prstGeom prst="roundRect">
            <a:avLst>
              <a:gd name="adj" fmla="val 36459"/>
            </a:avLst>
          </a:prstGeom>
          <a:noFill/>
        </p:spPr>
        <p:txBody>
          <a:bodyPr>
            <a:noAutofit/>
          </a:bodyPr>
          <a:lstStyle/>
          <a:p>
            <a:r>
              <a:rPr lang="it-IT" sz="3400" b="1" dirty="0">
                <a:solidFill>
                  <a:srgbClr val="002060"/>
                </a:solidFill>
              </a:rPr>
              <a:t>	SIMULATING THE SHORT CRYSTAL</a:t>
            </a:r>
          </a:p>
        </p:txBody>
      </p:sp>
      <p:sp>
        <p:nvSpPr>
          <p:cNvPr id="4" name="Segnaposto data 3">
            <a:extLst>
              <a:ext uri="{FF2B5EF4-FFF2-40B4-BE49-F238E27FC236}">
                <a16:creationId xmlns:a16="http://schemas.microsoft.com/office/drawing/2014/main" id="{059BF3A5-3234-9472-6413-618DC899F8A2}"/>
              </a:ext>
            </a:extLst>
          </p:cNvPr>
          <p:cNvSpPr>
            <a:spLocks noGrp="1"/>
          </p:cNvSpPr>
          <p:nvPr>
            <p:ph type="dt" sz="half" idx="10"/>
          </p:nvPr>
        </p:nvSpPr>
        <p:spPr>
          <a:xfrm>
            <a:off x="838200" y="6356349"/>
            <a:ext cx="2743200" cy="432000"/>
          </a:xfrm>
        </p:spPr>
        <p:txBody>
          <a:bodyPr/>
          <a:lstStyle/>
          <a:p>
            <a:r>
              <a:rPr lang="it-IT" sz="1500" b="1" dirty="0">
                <a:solidFill>
                  <a:srgbClr val="002060"/>
                </a:solidFill>
              </a:rPr>
              <a:t>September 2026</a:t>
            </a:r>
          </a:p>
        </p:txBody>
      </p:sp>
      <p:sp>
        <p:nvSpPr>
          <p:cNvPr id="5" name="Segnaposto piè di pagina 4">
            <a:extLst>
              <a:ext uri="{FF2B5EF4-FFF2-40B4-BE49-F238E27FC236}">
                <a16:creationId xmlns:a16="http://schemas.microsoft.com/office/drawing/2014/main" id="{525FACFA-4937-EFCD-1390-D91555829A0D}"/>
              </a:ext>
            </a:extLst>
          </p:cNvPr>
          <p:cNvSpPr>
            <a:spLocks noGrp="1"/>
          </p:cNvSpPr>
          <p:nvPr>
            <p:ph type="ftr" sz="quarter" idx="11"/>
          </p:nvPr>
        </p:nvSpPr>
        <p:spPr>
          <a:xfrm>
            <a:off x="0" y="6356349"/>
            <a:ext cx="12192000" cy="432000"/>
          </a:xfrm>
        </p:spPr>
        <p:txBody>
          <a:bodyPr/>
          <a:lstStyle/>
          <a:p>
            <a:r>
              <a:rPr lang="it-IT" sz="1500" b="1" dirty="0">
                <a:solidFill>
                  <a:srgbClr val="002060"/>
                </a:solidFill>
              </a:rPr>
              <a:t>Anna Sofia Moro</a:t>
            </a:r>
          </a:p>
        </p:txBody>
      </p:sp>
      <p:sp>
        <p:nvSpPr>
          <p:cNvPr id="6" name="Segnaposto numero diapositiva 5">
            <a:extLst>
              <a:ext uri="{FF2B5EF4-FFF2-40B4-BE49-F238E27FC236}">
                <a16:creationId xmlns:a16="http://schemas.microsoft.com/office/drawing/2014/main" id="{186FAFEF-5FEA-D7D8-12D0-BC7661AC6D53}"/>
              </a:ext>
            </a:extLst>
          </p:cNvPr>
          <p:cNvSpPr>
            <a:spLocks noGrp="1"/>
          </p:cNvSpPr>
          <p:nvPr>
            <p:ph type="sldNum" sz="quarter" idx="12"/>
          </p:nvPr>
        </p:nvSpPr>
        <p:spPr>
          <a:xfrm>
            <a:off x="8610600" y="6356349"/>
            <a:ext cx="2743200" cy="432000"/>
          </a:xfrm>
        </p:spPr>
        <p:txBody>
          <a:bodyPr/>
          <a:lstStyle/>
          <a:p>
            <a:fld id="{0A318BD9-CA14-4A83-ACF0-03D5918EB402}" type="slidenum">
              <a:rPr lang="it-IT" sz="1500" b="1" smtClean="0">
                <a:solidFill>
                  <a:srgbClr val="002060"/>
                </a:solidFill>
              </a:rPr>
              <a:t>13</a:t>
            </a:fld>
            <a:endParaRPr lang="it-IT" sz="1500" b="1" dirty="0">
              <a:solidFill>
                <a:srgbClr val="002060"/>
              </a:solidFill>
            </a:endParaRPr>
          </a:p>
        </p:txBody>
      </p:sp>
      <p:cxnSp>
        <p:nvCxnSpPr>
          <p:cNvPr id="10" name="Connettore diritto 9">
            <a:extLst>
              <a:ext uri="{FF2B5EF4-FFF2-40B4-BE49-F238E27FC236}">
                <a16:creationId xmlns:a16="http://schemas.microsoft.com/office/drawing/2014/main" id="{5BD88A40-E8EC-7E70-9B3E-817DD4B017ED}"/>
              </a:ext>
            </a:extLst>
          </p:cNvPr>
          <p:cNvCxnSpPr>
            <a:cxnSpLocks/>
          </p:cNvCxnSpPr>
          <p:nvPr/>
        </p:nvCxnSpPr>
        <p:spPr>
          <a:xfrm>
            <a:off x="696000" y="1155368"/>
            <a:ext cx="10800000" cy="0"/>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sp>
        <p:nvSpPr>
          <p:cNvPr id="13" name="CasellaDiTesto 12">
            <a:extLst>
              <a:ext uri="{FF2B5EF4-FFF2-40B4-BE49-F238E27FC236}">
                <a16:creationId xmlns:a16="http://schemas.microsoft.com/office/drawing/2014/main" id="{E69142E5-D880-1067-2ABA-6E477C1C98AC}"/>
              </a:ext>
            </a:extLst>
          </p:cNvPr>
          <p:cNvSpPr txBox="1"/>
          <p:nvPr/>
        </p:nvSpPr>
        <p:spPr>
          <a:xfrm>
            <a:off x="3048886" y="3244334"/>
            <a:ext cx="6097772" cy="369332"/>
          </a:xfrm>
          <a:prstGeom prst="rect">
            <a:avLst/>
          </a:prstGeom>
          <a:noFill/>
        </p:spPr>
        <p:txBody>
          <a:bodyPr wrap="square">
            <a:spAutoFit/>
          </a:bodyPr>
          <a:lstStyle/>
          <a:p>
            <a:endParaRPr lang="it-IT" dirty="0"/>
          </a:p>
        </p:txBody>
      </p:sp>
      <p:cxnSp>
        <p:nvCxnSpPr>
          <p:cNvPr id="7" name="Straight Arrow Connector 6">
            <a:extLst>
              <a:ext uri="{FF2B5EF4-FFF2-40B4-BE49-F238E27FC236}">
                <a16:creationId xmlns:a16="http://schemas.microsoft.com/office/drawing/2014/main" id="{690F6DAB-1A59-3D57-9017-7515A1A597A5}"/>
              </a:ext>
            </a:extLst>
          </p:cNvPr>
          <p:cNvCxnSpPr/>
          <p:nvPr/>
        </p:nvCxnSpPr>
        <p:spPr>
          <a:xfrm>
            <a:off x="5736000" y="3965489"/>
            <a:ext cx="720000" cy="0"/>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pic>
        <p:nvPicPr>
          <p:cNvPr id="9" name="Picture 8">
            <a:extLst>
              <a:ext uri="{FF2B5EF4-FFF2-40B4-BE49-F238E27FC236}">
                <a16:creationId xmlns:a16="http://schemas.microsoft.com/office/drawing/2014/main" id="{5DE927F5-F761-3AE6-4C47-936912C231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628218"/>
            <a:ext cx="4860000" cy="4860000"/>
          </a:xfrm>
          <a:prstGeom prst="rect">
            <a:avLst/>
          </a:prstGeom>
        </p:spPr>
      </p:pic>
      <p:sp>
        <p:nvSpPr>
          <p:cNvPr id="11" name="TextBox 10">
            <a:extLst>
              <a:ext uri="{FF2B5EF4-FFF2-40B4-BE49-F238E27FC236}">
                <a16:creationId xmlns:a16="http://schemas.microsoft.com/office/drawing/2014/main" id="{756A96DD-BE1B-7A18-53E4-B9B8FF750DE2}"/>
              </a:ext>
            </a:extLst>
          </p:cNvPr>
          <p:cNvSpPr txBox="1"/>
          <p:nvPr/>
        </p:nvSpPr>
        <p:spPr>
          <a:xfrm>
            <a:off x="1606392" y="1258886"/>
            <a:ext cx="3460534" cy="369332"/>
          </a:xfrm>
          <a:prstGeom prst="rect">
            <a:avLst/>
          </a:prstGeom>
          <a:noFill/>
        </p:spPr>
        <p:txBody>
          <a:bodyPr wrap="square" rtlCol="0">
            <a:spAutoFit/>
          </a:bodyPr>
          <a:lstStyle/>
          <a:p>
            <a:pPr algn="ctr"/>
            <a:r>
              <a:rPr lang="it-IT" dirty="0">
                <a:solidFill>
                  <a:srgbClr val="FF0000"/>
                </a:solidFill>
              </a:rPr>
              <a:t>Before: normal distribution</a:t>
            </a:r>
          </a:p>
        </p:txBody>
      </p:sp>
      <p:sp>
        <p:nvSpPr>
          <p:cNvPr id="14" name="TextBox 13">
            <a:extLst>
              <a:ext uri="{FF2B5EF4-FFF2-40B4-BE49-F238E27FC236}">
                <a16:creationId xmlns:a16="http://schemas.microsoft.com/office/drawing/2014/main" id="{790F1820-EFD9-B860-32FB-CC9BB743C7F7}"/>
              </a:ext>
            </a:extLst>
          </p:cNvPr>
          <p:cNvSpPr txBox="1"/>
          <p:nvPr/>
        </p:nvSpPr>
        <p:spPr>
          <a:xfrm>
            <a:off x="7436442" y="1258886"/>
            <a:ext cx="3460534" cy="369332"/>
          </a:xfrm>
          <a:prstGeom prst="rect">
            <a:avLst/>
          </a:prstGeom>
          <a:noFill/>
        </p:spPr>
        <p:txBody>
          <a:bodyPr wrap="square" rtlCol="0">
            <a:spAutoFit/>
          </a:bodyPr>
          <a:lstStyle/>
          <a:p>
            <a:pPr algn="ctr"/>
            <a:r>
              <a:rPr lang="it-IT" dirty="0">
                <a:solidFill>
                  <a:srgbClr val="FF0000"/>
                </a:solidFill>
              </a:rPr>
              <a:t>Now: normal distribution</a:t>
            </a:r>
          </a:p>
        </p:txBody>
      </p:sp>
      <p:pic>
        <p:nvPicPr>
          <p:cNvPr id="17" name="Picture 16">
            <a:extLst>
              <a:ext uri="{FF2B5EF4-FFF2-40B4-BE49-F238E27FC236}">
                <a16:creationId xmlns:a16="http://schemas.microsoft.com/office/drawing/2014/main" id="{E322F68B-2322-EF3A-9E3F-748BB4E4F43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90806" y="1628218"/>
            <a:ext cx="4894294" cy="4860000"/>
          </a:xfrm>
          <a:prstGeom prst="rect">
            <a:avLst/>
          </a:prstGeom>
        </p:spPr>
      </p:pic>
    </p:spTree>
    <p:extLst>
      <p:ext uri="{BB962C8B-B14F-4D97-AF65-F5344CB8AC3E}">
        <p14:creationId xmlns:p14="http://schemas.microsoft.com/office/powerpoint/2010/main" val="20008431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560B5-9D3F-A936-39C1-2DA5B22FCF15}"/>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0991FAD-F457-6AF8-F0D7-036E373B807A}"/>
              </a:ext>
            </a:extLst>
          </p:cNvPr>
          <p:cNvSpPr>
            <a:spLocks noGrp="1"/>
          </p:cNvSpPr>
          <p:nvPr>
            <p:ph type="title"/>
          </p:nvPr>
        </p:nvSpPr>
        <p:spPr>
          <a:xfrm>
            <a:off x="38100" y="69651"/>
            <a:ext cx="12114000" cy="1153094"/>
          </a:xfrm>
          <a:prstGeom prst="roundRect">
            <a:avLst>
              <a:gd name="adj" fmla="val 36459"/>
            </a:avLst>
          </a:prstGeom>
          <a:noFill/>
        </p:spPr>
        <p:txBody>
          <a:bodyPr>
            <a:noAutofit/>
          </a:bodyPr>
          <a:lstStyle/>
          <a:p>
            <a:r>
              <a:rPr lang="it-IT" sz="3400" b="1" dirty="0">
                <a:solidFill>
                  <a:srgbClr val="002060"/>
                </a:solidFill>
              </a:rPr>
              <a:t>	SIMULATING THE SHORT CRYSTAL</a:t>
            </a:r>
          </a:p>
        </p:txBody>
      </p:sp>
      <p:sp>
        <p:nvSpPr>
          <p:cNvPr id="4" name="Segnaposto data 3">
            <a:extLst>
              <a:ext uri="{FF2B5EF4-FFF2-40B4-BE49-F238E27FC236}">
                <a16:creationId xmlns:a16="http://schemas.microsoft.com/office/drawing/2014/main" id="{1774DFDF-891C-8D6D-2360-087C2893FEE2}"/>
              </a:ext>
            </a:extLst>
          </p:cNvPr>
          <p:cNvSpPr>
            <a:spLocks noGrp="1"/>
          </p:cNvSpPr>
          <p:nvPr>
            <p:ph type="dt" sz="half" idx="10"/>
          </p:nvPr>
        </p:nvSpPr>
        <p:spPr>
          <a:xfrm>
            <a:off x="838200" y="6356349"/>
            <a:ext cx="2743200" cy="432000"/>
          </a:xfrm>
        </p:spPr>
        <p:txBody>
          <a:bodyPr/>
          <a:lstStyle/>
          <a:p>
            <a:r>
              <a:rPr lang="it-IT" sz="1500" b="1" dirty="0">
                <a:solidFill>
                  <a:srgbClr val="002060"/>
                </a:solidFill>
              </a:rPr>
              <a:t>September 2026</a:t>
            </a:r>
          </a:p>
        </p:txBody>
      </p:sp>
      <p:sp>
        <p:nvSpPr>
          <p:cNvPr id="5" name="Segnaposto piè di pagina 4">
            <a:extLst>
              <a:ext uri="{FF2B5EF4-FFF2-40B4-BE49-F238E27FC236}">
                <a16:creationId xmlns:a16="http://schemas.microsoft.com/office/drawing/2014/main" id="{6664EEAD-65D1-41FF-6A9D-4C0C72BDCDFD}"/>
              </a:ext>
            </a:extLst>
          </p:cNvPr>
          <p:cNvSpPr>
            <a:spLocks noGrp="1"/>
          </p:cNvSpPr>
          <p:nvPr>
            <p:ph type="ftr" sz="quarter" idx="11"/>
          </p:nvPr>
        </p:nvSpPr>
        <p:spPr>
          <a:xfrm>
            <a:off x="0" y="6356349"/>
            <a:ext cx="12192000" cy="432000"/>
          </a:xfrm>
        </p:spPr>
        <p:txBody>
          <a:bodyPr/>
          <a:lstStyle/>
          <a:p>
            <a:r>
              <a:rPr lang="it-IT" sz="1500" b="1" dirty="0">
                <a:solidFill>
                  <a:srgbClr val="002060"/>
                </a:solidFill>
              </a:rPr>
              <a:t>Anna Sofia Moro</a:t>
            </a:r>
          </a:p>
        </p:txBody>
      </p:sp>
      <p:sp>
        <p:nvSpPr>
          <p:cNvPr id="6" name="Segnaposto numero diapositiva 5">
            <a:extLst>
              <a:ext uri="{FF2B5EF4-FFF2-40B4-BE49-F238E27FC236}">
                <a16:creationId xmlns:a16="http://schemas.microsoft.com/office/drawing/2014/main" id="{F190A438-9598-BAAB-ED90-1DD3383636D1}"/>
              </a:ext>
            </a:extLst>
          </p:cNvPr>
          <p:cNvSpPr>
            <a:spLocks noGrp="1"/>
          </p:cNvSpPr>
          <p:nvPr>
            <p:ph type="sldNum" sz="quarter" idx="12"/>
          </p:nvPr>
        </p:nvSpPr>
        <p:spPr>
          <a:xfrm>
            <a:off x="8610600" y="6356349"/>
            <a:ext cx="2743200" cy="432000"/>
          </a:xfrm>
        </p:spPr>
        <p:txBody>
          <a:bodyPr/>
          <a:lstStyle/>
          <a:p>
            <a:fld id="{0A318BD9-CA14-4A83-ACF0-03D5918EB402}" type="slidenum">
              <a:rPr lang="it-IT" sz="1500" b="1" smtClean="0">
                <a:solidFill>
                  <a:srgbClr val="002060"/>
                </a:solidFill>
              </a:rPr>
              <a:t>14</a:t>
            </a:fld>
            <a:endParaRPr lang="it-IT" sz="1500" b="1" dirty="0">
              <a:solidFill>
                <a:srgbClr val="002060"/>
              </a:solidFill>
            </a:endParaRPr>
          </a:p>
        </p:txBody>
      </p:sp>
      <p:cxnSp>
        <p:nvCxnSpPr>
          <p:cNvPr id="10" name="Connettore diritto 9">
            <a:extLst>
              <a:ext uri="{FF2B5EF4-FFF2-40B4-BE49-F238E27FC236}">
                <a16:creationId xmlns:a16="http://schemas.microsoft.com/office/drawing/2014/main" id="{3A8E2A96-D34C-2B8D-EBDA-82E4365F708F}"/>
              </a:ext>
            </a:extLst>
          </p:cNvPr>
          <p:cNvCxnSpPr>
            <a:cxnSpLocks/>
          </p:cNvCxnSpPr>
          <p:nvPr/>
        </p:nvCxnSpPr>
        <p:spPr>
          <a:xfrm>
            <a:off x="696000" y="1155368"/>
            <a:ext cx="10800000" cy="0"/>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sp>
        <p:nvSpPr>
          <p:cNvPr id="13" name="CasellaDiTesto 12">
            <a:extLst>
              <a:ext uri="{FF2B5EF4-FFF2-40B4-BE49-F238E27FC236}">
                <a16:creationId xmlns:a16="http://schemas.microsoft.com/office/drawing/2014/main" id="{ABA7411B-B00B-2824-A4B5-49BAD101680A}"/>
              </a:ext>
            </a:extLst>
          </p:cNvPr>
          <p:cNvSpPr txBox="1"/>
          <p:nvPr/>
        </p:nvSpPr>
        <p:spPr>
          <a:xfrm>
            <a:off x="3048886" y="3244334"/>
            <a:ext cx="6097772" cy="369332"/>
          </a:xfrm>
          <a:prstGeom prst="rect">
            <a:avLst/>
          </a:prstGeom>
          <a:noFill/>
        </p:spPr>
        <p:txBody>
          <a:bodyPr wrap="square">
            <a:spAutoFit/>
          </a:bodyPr>
          <a:lstStyle/>
          <a:p>
            <a:endParaRPr lang="it-IT" dirty="0"/>
          </a:p>
        </p:txBody>
      </p:sp>
      <p:sp>
        <p:nvSpPr>
          <p:cNvPr id="15" name="CasellaDiTesto 14">
            <a:extLst>
              <a:ext uri="{FF2B5EF4-FFF2-40B4-BE49-F238E27FC236}">
                <a16:creationId xmlns:a16="http://schemas.microsoft.com/office/drawing/2014/main" id="{805144DC-BB28-6FBE-CF1D-1659A6DAA5FA}"/>
              </a:ext>
            </a:extLst>
          </p:cNvPr>
          <p:cNvSpPr txBox="1"/>
          <p:nvPr/>
        </p:nvSpPr>
        <p:spPr>
          <a:xfrm>
            <a:off x="3048886" y="3244334"/>
            <a:ext cx="6097772" cy="369332"/>
          </a:xfrm>
          <a:prstGeom prst="rect">
            <a:avLst/>
          </a:prstGeom>
          <a:noFill/>
        </p:spPr>
        <p:txBody>
          <a:bodyPr wrap="square">
            <a:spAutoFit/>
          </a:bodyPr>
          <a:lstStyle/>
          <a:p>
            <a:endParaRPr lang="it-IT" dirty="0"/>
          </a:p>
        </p:txBody>
      </p:sp>
      <p:pic>
        <p:nvPicPr>
          <p:cNvPr id="7" name="Content Placeholder 6">
            <a:extLst>
              <a:ext uri="{FF2B5EF4-FFF2-40B4-BE49-F238E27FC236}">
                <a16:creationId xmlns:a16="http://schemas.microsoft.com/office/drawing/2014/main" id="{AD807C3B-110A-2326-741C-BB0A2B2F2E8B}"/>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50000"/>
          <a:stretch>
            <a:fillRect/>
          </a:stretch>
        </p:blipFill>
        <p:spPr>
          <a:xfrm>
            <a:off x="508000" y="2217922"/>
            <a:ext cx="3771900" cy="3143249"/>
          </a:xfrm>
          <a:prstGeom prst="rect">
            <a:avLst/>
          </a:prstGeom>
        </p:spPr>
      </p:pic>
      <mc:AlternateContent xmlns:mc="http://schemas.openxmlformats.org/markup-compatibility/2006">
        <mc:Choice xmlns:a14="http://schemas.microsoft.com/office/drawing/2010/main" Requires="a14">
          <p:sp>
            <p:nvSpPr>
              <p:cNvPr id="9" name="Content Placeholder 7">
                <a:extLst>
                  <a:ext uri="{FF2B5EF4-FFF2-40B4-BE49-F238E27FC236}">
                    <a16:creationId xmlns:a16="http://schemas.microsoft.com/office/drawing/2014/main" id="{B4BC83D3-748A-A91A-0C8B-2D2C2930A9ED}"/>
                  </a:ext>
                </a:extLst>
              </p:cNvPr>
              <p:cNvSpPr txBox="1">
                <a:spLocks/>
              </p:cNvSpPr>
              <p:nvPr/>
            </p:nvSpPr>
            <p:spPr>
              <a:xfrm>
                <a:off x="4279900" y="1312438"/>
                <a:ext cx="7073900" cy="48645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it-IT" sz="2400" dirty="0"/>
                  <a:t>Out of 200k particles only </a:t>
                </a:r>
                <a14:m>
                  <m:oMath xmlns:m="http://schemas.openxmlformats.org/officeDocument/2006/math">
                    <m:r>
                      <a:rPr lang="it-IT" sz="2400" b="0" i="1" smtClean="0">
                        <a:latin typeface="Cambria Math" panose="02040503050406030204" pitchFamily="18" charset="0"/>
                      </a:rPr>
                      <m:t>∼</m:t>
                    </m:r>
                  </m:oMath>
                </a14:m>
                <a:r>
                  <a:rPr lang="it-IT" sz="2400" dirty="0"/>
                  <a:t>650 are surviving</a:t>
                </a:r>
              </a:p>
              <a:p>
                <a:pPr marL="0" indent="0">
                  <a:buFont typeface="Arial" panose="020B0604020202020204" pitchFamily="34" charset="0"/>
                  <a:buNone/>
                </a:pPr>
                <a:r>
                  <a:rPr lang="it-IT" sz="2400" dirty="0"/>
                  <a:t>But with </a:t>
                </a:r>
                <a14:m>
                  <m:oMath xmlns:m="http://schemas.openxmlformats.org/officeDocument/2006/math">
                    <m:sSub>
                      <m:sSubPr>
                        <m:ctrlPr>
                          <a:rPr lang="it-IT" sz="2400" b="0" i="1" smtClean="0">
                            <a:latin typeface="Cambria Math" panose="02040503050406030204" pitchFamily="18" charset="0"/>
                          </a:rPr>
                        </m:ctrlPr>
                      </m:sSubPr>
                      <m:e>
                        <m:r>
                          <a:rPr lang="it-IT" sz="2400" b="0" i="1" smtClean="0">
                            <a:latin typeface="Cambria Math" panose="02040503050406030204" pitchFamily="18" charset="0"/>
                          </a:rPr>
                          <m:t>𝜎</m:t>
                        </m:r>
                      </m:e>
                      <m:sub>
                        <m:r>
                          <a:rPr lang="it-IT" sz="2400" b="0" i="1" smtClean="0">
                            <a:latin typeface="Cambria Math" panose="02040503050406030204" pitchFamily="18" charset="0"/>
                          </a:rPr>
                          <m:t>𝑥</m:t>
                        </m:r>
                      </m:sub>
                    </m:sSub>
                    <m:r>
                      <a:rPr lang="it-IT" sz="2400" b="0" i="1" smtClean="0">
                        <a:latin typeface="Cambria Math" panose="02040503050406030204" pitchFamily="18" charset="0"/>
                      </a:rPr>
                      <m:t>=0.568 </m:t>
                    </m:r>
                    <m:r>
                      <m:rPr>
                        <m:sty m:val="p"/>
                      </m:rPr>
                      <a:rPr lang="it-IT" sz="2400" b="0" i="0" smtClean="0">
                        <a:latin typeface="Cambria Math" panose="02040503050406030204" pitchFamily="18" charset="0"/>
                      </a:rPr>
                      <m:t>mm</m:t>
                    </m:r>
                  </m:oMath>
                </a14:m>
                <a:r>
                  <a:rPr lang="it-IT" sz="2400" dirty="0"/>
                  <a:t> and the crystal with </a:t>
                </a:r>
                <a14:m>
                  <m:oMath xmlns:m="http://schemas.openxmlformats.org/officeDocument/2006/math">
                    <m:r>
                      <a:rPr lang="it-IT" sz="2400" i="1" dirty="0" smtClean="0">
                        <a:latin typeface="Cambria Math" panose="02040503050406030204" pitchFamily="18" charset="0"/>
                      </a:rPr>
                      <m:t>1 </m:t>
                    </m:r>
                    <m:r>
                      <m:rPr>
                        <m:sty m:val="p"/>
                      </m:rPr>
                      <a:rPr lang="it-IT" sz="2400" i="0" dirty="0" smtClean="0">
                        <a:latin typeface="Cambria Math" panose="02040503050406030204" pitchFamily="18" charset="0"/>
                      </a:rPr>
                      <m:t>mm</m:t>
                    </m:r>
                    <m:r>
                      <a:rPr lang="it-IT" sz="2400" i="0" dirty="0" smtClean="0">
                        <a:latin typeface="Cambria Math" panose="02040503050406030204" pitchFamily="18" charset="0"/>
                      </a:rPr>
                      <m:t> </m:t>
                    </m:r>
                  </m:oMath>
                </a14:m>
                <a:r>
                  <a:rPr lang="it-IT" sz="2400" dirty="0"/>
                  <a:t>width, the fraction that should hit the crystal is 92%.</a:t>
                </a:r>
              </a:p>
              <a:p>
                <a:pPr marL="0" indent="0">
                  <a:buFont typeface="Arial" panose="020B0604020202020204" pitchFamily="34" charset="0"/>
                  <a:buNone/>
                </a:pPr>
                <a:endParaRPr lang="it-IT" sz="2400" dirty="0"/>
              </a:p>
              <a:p>
                <a:pPr marL="0" indent="0">
                  <a:buFont typeface="Arial" panose="020B0604020202020204" pitchFamily="34" charset="0"/>
                  <a:buNone/>
                </a:pPr>
                <a:r>
                  <a:rPr lang="it-IT" sz="2400" dirty="0"/>
                  <a:t>Possible problems?</a:t>
                </a:r>
              </a:p>
              <a:p>
                <a:r>
                  <a:rPr lang="it-IT" sz="2400" dirty="0"/>
                  <a:t>Analysing the impact position that the lost particles would have had, they would have both been outside or inside the crystal (they are getting lost also if they would have travel through air)</a:t>
                </a:r>
              </a:p>
              <a:p>
                <a:r>
                  <a:rPr lang="it-IT" sz="2400" dirty="0"/>
                  <a:t>Aperture values, energy cut, ...</a:t>
                </a:r>
              </a:p>
            </p:txBody>
          </p:sp>
        </mc:Choice>
        <mc:Fallback>
          <p:sp>
            <p:nvSpPr>
              <p:cNvPr id="9" name="Content Placeholder 7">
                <a:extLst>
                  <a:ext uri="{FF2B5EF4-FFF2-40B4-BE49-F238E27FC236}">
                    <a16:creationId xmlns:a16="http://schemas.microsoft.com/office/drawing/2014/main" id="{B4BC83D3-748A-A91A-0C8B-2D2C2930A9ED}"/>
                  </a:ext>
                </a:extLst>
              </p:cNvPr>
              <p:cNvSpPr txBox="1">
                <a:spLocks noRot="1" noChangeAspect="1" noMove="1" noResize="1" noEditPoints="1" noAdjustHandles="1" noChangeArrowheads="1" noChangeShapeType="1" noTextEdit="1"/>
              </p:cNvSpPr>
              <p:nvPr/>
            </p:nvSpPr>
            <p:spPr>
              <a:xfrm>
                <a:off x="4279900" y="1312438"/>
                <a:ext cx="7073900" cy="4864525"/>
              </a:xfrm>
              <a:prstGeom prst="rect">
                <a:avLst/>
              </a:prstGeom>
              <a:blipFill>
                <a:blip r:embed="rId4"/>
                <a:stretch>
                  <a:fillRect l="-1292" t="-1629" r="-1895"/>
                </a:stretch>
              </a:blipFill>
            </p:spPr>
            <p:txBody>
              <a:bodyPr/>
              <a:lstStyle/>
              <a:p>
                <a:r>
                  <a:rPr lang="it-IT">
                    <a:noFill/>
                  </a:rPr>
                  <a:t> </a:t>
                </a:r>
              </a:p>
            </p:txBody>
          </p:sp>
        </mc:Fallback>
      </mc:AlternateContent>
    </p:spTree>
    <p:extLst>
      <p:ext uri="{BB962C8B-B14F-4D97-AF65-F5344CB8AC3E}">
        <p14:creationId xmlns:p14="http://schemas.microsoft.com/office/powerpoint/2010/main" val="14652511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740B9-8AA9-2FAF-F04A-67F1D0456289}"/>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3ADA8C4B-4242-BEDA-3511-DE6891DB8A1B}"/>
              </a:ext>
            </a:extLst>
          </p:cNvPr>
          <p:cNvSpPr>
            <a:spLocks noGrp="1"/>
          </p:cNvSpPr>
          <p:nvPr>
            <p:ph type="title"/>
          </p:nvPr>
        </p:nvSpPr>
        <p:spPr>
          <a:xfrm>
            <a:off x="38100" y="69651"/>
            <a:ext cx="12114000" cy="1153094"/>
          </a:xfrm>
          <a:prstGeom prst="roundRect">
            <a:avLst>
              <a:gd name="adj" fmla="val 36459"/>
            </a:avLst>
          </a:prstGeom>
          <a:noFill/>
        </p:spPr>
        <p:txBody>
          <a:bodyPr>
            <a:noAutofit/>
          </a:bodyPr>
          <a:lstStyle/>
          <a:p>
            <a:r>
              <a:rPr lang="it-IT" sz="3400" b="1" dirty="0">
                <a:solidFill>
                  <a:srgbClr val="002060"/>
                </a:solidFill>
              </a:rPr>
              <a:t>	THESIS: PART I</a:t>
            </a:r>
          </a:p>
        </p:txBody>
      </p:sp>
      <p:sp>
        <p:nvSpPr>
          <p:cNvPr id="4" name="Segnaposto data 3">
            <a:extLst>
              <a:ext uri="{FF2B5EF4-FFF2-40B4-BE49-F238E27FC236}">
                <a16:creationId xmlns:a16="http://schemas.microsoft.com/office/drawing/2014/main" id="{8CF59E0A-0CF6-E520-1963-280F68D8D26E}"/>
              </a:ext>
            </a:extLst>
          </p:cNvPr>
          <p:cNvSpPr>
            <a:spLocks noGrp="1"/>
          </p:cNvSpPr>
          <p:nvPr>
            <p:ph type="dt" sz="half" idx="10"/>
          </p:nvPr>
        </p:nvSpPr>
        <p:spPr>
          <a:xfrm>
            <a:off x="838200" y="6356349"/>
            <a:ext cx="2743200" cy="432000"/>
          </a:xfrm>
        </p:spPr>
        <p:txBody>
          <a:bodyPr/>
          <a:lstStyle/>
          <a:p>
            <a:r>
              <a:rPr lang="it-IT" sz="1500" b="1" dirty="0">
                <a:solidFill>
                  <a:srgbClr val="002060"/>
                </a:solidFill>
              </a:rPr>
              <a:t>September 2026</a:t>
            </a:r>
          </a:p>
        </p:txBody>
      </p:sp>
      <p:sp>
        <p:nvSpPr>
          <p:cNvPr id="5" name="Segnaposto piè di pagina 4">
            <a:extLst>
              <a:ext uri="{FF2B5EF4-FFF2-40B4-BE49-F238E27FC236}">
                <a16:creationId xmlns:a16="http://schemas.microsoft.com/office/drawing/2014/main" id="{E98F6D1F-0AF7-7D9B-13B0-F0DFEC95CFC9}"/>
              </a:ext>
            </a:extLst>
          </p:cNvPr>
          <p:cNvSpPr>
            <a:spLocks noGrp="1"/>
          </p:cNvSpPr>
          <p:nvPr>
            <p:ph type="ftr" sz="quarter" idx="11"/>
          </p:nvPr>
        </p:nvSpPr>
        <p:spPr>
          <a:xfrm>
            <a:off x="0" y="6356349"/>
            <a:ext cx="12192000" cy="432000"/>
          </a:xfrm>
        </p:spPr>
        <p:txBody>
          <a:bodyPr/>
          <a:lstStyle/>
          <a:p>
            <a:r>
              <a:rPr lang="it-IT" sz="1500" b="1" dirty="0">
                <a:solidFill>
                  <a:srgbClr val="002060"/>
                </a:solidFill>
              </a:rPr>
              <a:t>Anna Sofia Moro</a:t>
            </a:r>
          </a:p>
        </p:txBody>
      </p:sp>
      <p:sp>
        <p:nvSpPr>
          <p:cNvPr id="6" name="Segnaposto numero diapositiva 5">
            <a:extLst>
              <a:ext uri="{FF2B5EF4-FFF2-40B4-BE49-F238E27FC236}">
                <a16:creationId xmlns:a16="http://schemas.microsoft.com/office/drawing/2014/main" id="{0FA79A45-3DF5-E45E-8F5F-149225F4A83C}"/>
              </a:ext>
            </a:extLst>
          </p:cNvPr>
          <p:cNvSpPr>
            <a:spLocks noGrp="1"/>
          </p:cNvSpPr>
          <p:nvPr>
            <p:ph type="sldNum" sz="quarter" idx="12"/>
          </p:nvPr>
        </p:nvSpPr>
        <p:spPr>
          <a:xfrm>
            <a:off x="8610600" y="6356349"/>
            <a:ext cx="2743200" cy="432000"/>
          </a:xfrm>
        </p:spPr>
        <p:txBody>
          <a:bodyPr/>
          <a:lstStyle/>
          <a:p>
            <a:fld id="{0A318BD9-CA14-4A83-ACF0-03D5918EB402}" type="slidenum">
              <a:rPr lang="it-IT" sz="1500" b="1" smtClean="0">
                <a:solidFill>
                  <a:srgbClr val="002060"/>
                </a:solidFill>
              </a:rPr>
              <a:t>15</a:t>
            </a:fld>
            <a:endParaRPr lang="it-IT" sz="1500" b="1" dirty="0">
              <a:solidFill>
                <a:srgbClr val="002060"/>
              </a:solidFill>
            </a:endParaRPr>
          </a:p>
        </p:txBody>
      </p:sp>
      <p:cxnSp>
        <p:nvCxnSpPr>
          <p:cNvPr id="10" name="Connettore diritto 9">
            <a:extLst>
              <a:ext uri="{FF2B5EF4-FFF2-40B4-BE49-F238E27FC236}">
                <a16:creationId xmlns:a16="http://schemas.microsoft.com/office/drawing/2014/main" id="{8757F355-D998-0EBE-CC7F-C612991E14BF}"/>
              </a:ext>
            </a:extLst>
          </p:cNvPr>
          <p:cNvCxnSpPr>
            <a:cxnSpLocks/>
          </p:cNvCxnSpPr>
          <p:nvPr/>
        </p:nvCxnSpPr>
        <p:spPr>
          <a:xfrm>
            <a:off x="696000" y="1155368"/>
            <a:ext cx="10800000" cy="0"/>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sp>
        <p:nvSpPr>
          <p:cNvPr id="13" name="CasellaDiTesto 12">
            <a:extLst>
              <a:ext uri="{FF2B5EF4-FFF2-40B4-BE49-F238E27FC236}">
                <a16:creationId xmlns:a16="http://schemas.microsoft.com/office/drawing/2014/main" id="{7406D862-D0F0-CF92-1BBF-B1619A2D6B6E}"/>
              </a:ext>
            </a:extLst>
          </p:cNvPr>
          <p:cNvSpPr txBox="1"/>
          <p:nvPr/>
        </p:nvSpPr>
        <p:spPr>
          <a:xfrm>
            <a:off x="3048886" y="3244334"/>
            <a:ext cx="6097772" cy="369332"/>
          </a:xfrm>
          <a:prstGeom prst="rect">
            <a:avLst/>
          </a:prstGeom>
          <a:noFill/>
        </p:spPr>
        <p:txBody>
          <a:bodyPr wrap="square">
            <a:spAutoFit/>
          </a:bodyPr>
          <a:lstStyle/>
          <a:p>
            <a:endParaRPr lang="it-IT" dirty="0"/>
          </a:p>
        </p:txBody>
      </p:sp>
      <p:sp>
        <p:nvSpPr>
          <p:cNvPr id="15" name="CasellaDiTesto 14">
            <a:extLst>
              <a:ext uri="{FF2B5EF4-FFF2-40B4-BE49-F238E27FC236}">
                <a16:creationId xmlns:a16="http://schemas.microsoft.com/office/drawing/2014/main" id="{3C979220-279B-471E-F49D-7F8298DE5712}"/>
              </a:ext>
            </a:extLst>
          </p:cNvPr>
          <p:cNvSpPr txBox="1"/>
          <p:nvPr/>
        </p:nvSpPr>
        <p:spPr>
          <a:xfrm>
            <a:off x="3048886" y="3244334"/>
            <a:ext cx="6097772" cy="369332"/>
          </a:xfrm>
          <a:prstGeom prst="rect">
            <a:avLst/>
          </a:prstGeom>
          <a:noFill/>
        </p:spPr>
        <p:txBody>
          <a:bodyPr wrap="square">
            <a:spAutoFit/>
          </a:bodyPr>
          <a:lstStyle/>
          <a:p>
            <a:endParaRPr lang="it-IT" dirty="0"/>
          </a:p>
        </p:txBody>
      </p:sp>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A1EBF645-28B3-090B-1F1E-40A3FA08FC91}"/>
                  </a:ext>
                </a:extLst>
              </p:cNvPr>
              <p:cNvSpPr>
                <a:spLocks noGrp="1"/>
              </p:cNvSpPr>
              <p:nvPr>
                <p:ph idx="1"/>
              </p:nvPr>
            </p:nvSpPr>
            <p:spPr>
              <a:xfrm>
                <a:off x="3962400" y="1524000"/>
                <a:ext cx="7829723" cy="4652963"/>
              </a:xfrm>
            </p:spPr>
            <p:txBody>
              <a:bodyPr>
                <a:normAutofit/>
              </a:bodyPr>
              <a:lstStyle/>
              <a:p>
                <a:r>
                  <a:rPr lang="it-IT" dirty="0"/>
                  <a:t>Physics background</a:t>
                </a:r>
              </a:p>
              <a:p>
                <a:pPr lvl="1"/>
                <a:r>
                  <a:rPr lang="it-IT" dirty="0"/>
                  <a:t>Dipole moment</a:t>
                </a:r>
              </a:p>
              <a:p>
                <a:pPr lvl="1"/>
                <a14:m>
                  <m:oMath xmlns:m="http://schemas.openxmlformats.org/officeDocument/2006/math">
                    <m:sSubSup>
                      <m:sSubSupPr>
                        <m:ctrlPr>
                          <a:rPr lang="it-IT" b="0" i="0" smtClean="0">
                            <a:latin typeface="Cambria Math" panose="02040503050406030204" pitchFamily="18" charset="0"/>
                          </a:rPr>
                        </m:ctrlPr>
                      </m:sSubSupPr>
                      <m:e>
                        <m:r>
                          <m:rPr>
                            <m:sty m:val="p"/>
                          </m:rPr>
                          <a:rPr lang="it-IT" b="0" i="0" smtClean="0">
                            <a:latin typeface="Cambria Math" panose="02040503050406030204" pitchFamily="18" charset="0"/>
                          </a:rPr>
                          <m:t>Λ</m:t>
                        </m:r>
                      </m:e>
                      <m:sub>
                        <m:r>
                          <a:rPr lang="it-IT" b="0" i="1" smtClean="0">
                            <a:latin typeface="Cambria Math" panose="02040503050406030204" pitchFamily="18" charset="0"/>
                          </a:rPr>
                          <m:t>𝑐</m:t>
                        </m:r>
                      </m:sub>
                      <m:sup>
                        <m:r>
                          <a:rPr lang="it-IT" b="0" i="1" smtClean="0">
                            <a:latin typeface="Cambria Math" panose="02040503050406030204" pitchFamily="18" charset="0"/>
                          </a:rPr>
                          <m:t>+</m:t>
                        </m:r>
                      </m:sup>
                    </m:sSubSup>
                  </m:oMath>
                </a14:m>
                <a:endParaRPr lang="it-IT" dirty="0"/>
              </a:p>
              <a:p>
                <a:r>
                  <a:rPr lang="it-IT" dirty="0"/>
                  <a:t>Crystal Channeling</a:t>
                </a:r>
              </a:p>
              <a:p>
                <a:pPr lvl="1"/>
                <a:r>
                  <a:rPr lang="it-IT" dirty="0"/>
                  <a:t>In straight/bent crystals</a:t>
                </a:r>
              </a:p>
              <a:p>
                <a:pPr lvl="1"/>
                <a:r>
                  <a:rPr lang="it-IT" dirty="0"/>
                  <a:t>Other processes (dechanneling, volume capture, ...)</a:t>
                </a:r>
              </a:p>
              <a:p>
                <a:r>
                  <a:rPr lang="it-IT" dirty="0"/>
                  <a:t>Experimental principle: measuring spin precession though bent crystals</a:t>
                </a:r>
              </a:p>
              <a:p>
                <a:r>
                  <a:rPr lang="it-IT" dirty="0"/>
                  <a:t>TWOCRYST experiment</a:t>
                </a:r>
              </a:p>
              <a:p>
                <a:r>
                  <a:rPr lang="it-IT" dirty="0"/>
                  <a:t>H8 testing</a:t>
                </a:r>
              </a:p>
              <a:p>
                <a:pPr lvl="1"/>
                <a:endParaRPr lang="it-IT" dirty="0"/>
              </a:p>
            </p:txBody>
          </p:sp>
        </mc:Choice>
        <mc:Fallback xmlns="">
          <p:sp>
            <p:nvSpPr>
              <p:cNvPr id="8" name="Content Placeholder 7">
                <a:extLst>
                  <a:ext uri="{FF2B5EF4-FFF2-40B4-BE49-F238E27FC236}">
                    <a16:creationId xmlns:a16="http://schemas.microsoft.com/office/drawing/2014/main" id="{A1EBF645-28B3-090B-1F1E-40A3FA08FC91}"/>
                  </a:ext>
                </a:extLst>
              </p:cNvPr>
              <p:cNvSpPr>
                <a:spLocks noGrp="1" noRot="1" noChangeAspect="1" noMove="1" noResize="1" noEditPoints="1" noAdjustHandles="1" noChangeArrowheads="1" noChangeShapeType="1" noTextEdit="1"/>
              </p:cNvSpPr>
              <p:nvPr>
                <p:ph idx="1"/>
              </p:nvPr>
            </p:nvSpPr>
            <p:spPr>
              <a:xfrm>
                <a:off x="3962400" y="1524000"/>
                <a:ext cx="7829723" cy="4652963"/>
              </a:xfrm>
              <a:blipFill>
                <a:blip r:embed="rId3"/>
                <a:stretch>
                  <a:fillRect l="-1402" t="-2228"/>
                </a:stretch>
              </a:blipFill>
            </p:spPr>
            <p:txBody>
              <a:bodyPr/>
              <a:lstStyle/>
              <a:p>
                <a:r>
                  <a:rPr lang="it-IT">
                    <a:noFill/>
                  </a:rPr>
                  <a:t> </a:t>
                </a:r>
              </a:p>
            </p:txBody>
          </p:sp>
        </mc:Fallback>
      </mc:AlternateContent>
      <p:pic>
        <p:nvPicPr>
          <p:cNvPr id="7" name="Picture 6">
            <a:extLst>
              <a:ext uri="{FF2B5EF4-FFF2-40B4-BE49-F238E27FC236}">
                <a16:creationId xmlns:a16="http://schemas.microsoft.com/office/drawing/2014/main" id="{8F408DA5-FF18-EFD0-1F08-73D11C4DEBF3}"/>
              </a:ext>
            </a:extLst>
          </p:cNvPr>
          <p:cNvPicPr>
            <a:picLocks noChangeAspect="1"/>
          </p:cNvPicPr>
          <p:nvPr/>
        </p:nvPicPr>
        <p:blipFill>
          <a:blip r:embed="rId4"/>
          <a:stretch>
            <a:fillRect/>
          </a:stretch>
        </p:blipFill>
        <p:spPr>
          <a:xfrm>
            <a:off x="564977" y="1632773"/>
            <a:ext cx="3087332" cy="4223854"/>
          </a:xfrm>
          <a:prstGeom prst="rect">
            <a:avLst/>
          </a:prstGeom>
          <a:ln w="28575">
            <a:solidFill>
              <a:srgbClr val="C00000"/>
            </a:solidFill>
          </a:ln>
        </p:spPr>
      </p:pic>
    </p:spTree>
    <p:extLst>
      <p:ext uri="{BB962C8B-B14F-4D97-AF65-F5344CB8AC3E}">
        <p14:creationId xmlns:p14="http://schemas.microsoft.com/office/powerpoint/2010/main" val="3318205303"/>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4782</TotalTime>
  <Words>692</Words>
  <Application>Microsoft Office PowerPoint</Application>
  <PresentationFormat>Widescreen</PresentationFormat>
  <Paragraphs>161</Paragraphs>
  <Slides>15</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Aptos Display</vt:lpstr>
      <vt:lpstr>Arial</vt:lpstr>
      <vt:lpstr>Cambria Math</vt:lpstr>
      <vt:lpstr>Wingdings</vt:lpstr>
      <vt:lpstr>Tema di Office</vt:lpstr>
      <vt:lpstr>PowerPoint Presentation</vt:lpstr>
      <vt:lpstr> WHAT’S NEW?</vt:lpstr>
      <vt:lpstr> FIND THE CRYSTAL FOOTPRINT THROUGH SCATTERING</vt:lpstr>
      <vt:lpstr> FIND THE CRYSTAL FOOTPRINT THROUGH SCATTERING</vt:lpstr>
      <vt:lpstr> FIND THE CRYSTAL FOOTPRINT THROUGH SCATTERING</vt:lpstr>
      <vt:lpstr> FIND THE CRYSTAL FOOTPRINT THROUGH SCATTERING</vt:lpstr>
      <vt:lpstr> FIND THE CRYSTAL FOOTPRINT THROUGH SCATTERING</vt:lpstr>
      <vt:lpstr> FIND THE CRYSTAL FOOTPRINT THROUGH SCATTERING</vt:lpstr>
      <vt:lpstr> FIND THE CRYSTAL FOOTPRINT THROUGH SCATTERING</vt:lpstr>
      <vt:lpstr> ANALYSIS OF THE BEAM DISTRIBUTION (REAL DATA)</vt:lpstr>
      <vt:lpstr> ANALYSIS OF THE BEAM DISTRIBUTION (REAL DATA)</vt:lpstr>
      <vt:lpstr> SIMULATING THE SHORT CRYSTAL</vt:lpstr>
      <vt:lpstr> SIMULATING THE SHORT CRYSTAL</vt:lpstr>
      <vt:lpstr> SIMULATING THE SHORT CRYSTAL</vt:lpstr>
      <vt:lpstr> THESIS: PART 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Anna Sofia Moro</dc:creator>
  <cp:lastModifiedBy>Anna Sofia Moro</cp:lastModifiedBy>
  <cp:revision>52</cp:revision>
  <dcterms:created xsi:type="dcterms:W3CDTF">2026-07-09T15:21:04Z</dcterms:created>
  <dcterms:modified xsi:type="dcterms:W3CDTF">2026-09-17T13:58:31Z</dcterms:modified>
</cp:coreProperties>
</file>