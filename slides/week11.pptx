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333" r:id="rId3"/>
    <p:sldId id="337" r:id="rId4"/>
    <p:sldId id="341" r:id="rId5"/>
    <p:sldId id="340" r:id="rId6"/>
    <p:sldId id="334" r:id="rId7"/>
    <p:sldId id="335" r:id="rId8"/>
    <p:sldId id="336" r:id="rId9"/>
    <p:sldId id="349" r:id="rId10"/>
    <p:sldId id="342" r:id="rId11"/>
    <p:sldId id="344" r:id="rId12"/>
    <p:sldId id="350" r:id="rId13"/>
    <p:sldId id="347" r:id="rId14"/>
    <p:sldId id="348" r:id="rId15"/>
    <p:sldId id="346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309" autoAdjust="0"/>
    <p:restoredTop sz="93447" autoAdjust="0"/>
  </p:normalViewPr>
  <p:slideViewPr>
    <p:cSldViewPr snapToGrid="0">
      <p:cViewPr>
        <p:scale>
          <a:sx n="50" d="100"/>
          <a:sy n="50" d="100"/>
        </p:scale>
        <p:origin x="1004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0E52A-AE9E-EF31-4847-15EA692A5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D7F543-3BA6-5432-8F7F-63BFB76AD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7432BF7-36A7-ED07-6245-B860036BA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DD010B-06B2-5CB6-74AD-2035CBDE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2922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DE7AE-B6AD-E6DA-3B86-DA352441C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45DF293-4809-F6E8-AAAC-76686CAA40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A85CAC-CBC7-DE27-ECFE-2A6F9CD0D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CC640DE-9756-0B01-8B9D-1D6DCF178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4728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63B6B-68C2-8513-BA09-DCAE79FBD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409A026-E349-7BB1-10E9-06C7B108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A616CFA-B9A8-3EE1-2195-65DA07DFA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505FAC-AD39-7E3C-AA81-6B73BA118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25154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3A0B5-38F2-544D-07D4-E364F9DF0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8C20FE7-35F9-34A5-90BA-CF37C5D0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29326BA-6A48-A0F3-91FF-80AA4A198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4E512B4-BE2F-6EE3-8AE2-76125D1C27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12873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A7664-76DA-527F-81D4-3A5832891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217D64F-85FA-9242-C1AF-0381CAAF9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582EF77-62AA-DF3D-ADFA-F2F6A4662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D6F1AA2-50E2-9593-05D2-77611599C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3642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993D9-A4A3-C2EF-F57C-4F8B5FB13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7E042F-0C69-1FE2-492F-508C57FD3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E89C93D-EE29-78BB-A33C-C776F3043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7B2BFB1-BBCE-44F4-0693-18A63EB851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17648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13A2B-5A11-D823-0904-63EE33C8C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ACEF337-0A99-611D-D9A0-DB251789BB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8A43E95-3040-4EDD-E46B-5EB9C70D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A13B3DD-2D7B-907C-D8AB-82A4D64495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904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281DA-8F11-DB82-0F37-478613A45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1F3C766-3D98-EC90-EC3B-B62517B1B0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C0502C4-E60C-6BF5-F3D9-2A623506B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E57D5F4-3165-D279-4E3C-025D58FDB2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067548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1B343-F8B5-3B22-59ED-0435E118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5237B16-1294-3EA4-7C59-C6A232F12B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note 2">
                <a:extLst>
                  <a:ext uri="{FF2B5EF4-FFF2-40B4-BE49-F238E27FC236}">
                    <a16:creationId xmlns:a16="http://schemas.microsoft.com/office/drawing/2014/main" id="{7DF6C387-3DF3-3BD6-E0D3-952D2A41C9F3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sz="1200" dirty="0">
                    <a:solidFill>
                      <a:schemeClr val="tx1"/>
                    </a:solidFill>
                  </a:rPr>
                  <a:t>assuming </a:t>
                </a:r>
                <a14:m>
                  <m:oMath xmlns:m="http://schemas.openxmlformats.org/officeDocument/2006/math">
                    <m:r>
                      <a:rPr lang="it-IT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1200" dirty="0">
                    <a:solidFill>
                      <a:schemeClr val="tx1"/>
                    </a:solidFill>
                  </a:rPr>
                  <a:t> same as crystal:</a:t>
                </a:r>
              </a:p>
              <a:p>
                <a:endParaRPr lang="it-IT" dirty="0"/>
              </a:p>
            </p:txBody>
          </p:sp>
        </mc:Choice>
        <mc:Fallback>
          <p:sp>
            <p:nvSpPr>
              <p:cNvPr id="3" name="Segnaposto note 2">
                <a:extLst>
                  <a:ext uri="{FF2B5EF4-FFF2-40B4-BE49-F238E27FC236}">
                    <a16:creationId xmlns:a16="http://schemas.microsoft.com/office/drawing/2014/main" id="{7DF6C387-3DF3-3BD6-E0D3-952D2A41C9F3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sz="1200" dirty="0">
                    <a:solidFill>
                      <a:schemeClr val="tx1"/>
                    </a:solidFill>
                  </a:rPr>
                  <a:t>assuming </a:t>
                </a:r>
                <a:r>
                  <a:rPr lang="it-IT" sz="1200" i="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𝑥</a:t>
                </a:r>
                <a:r>
                  <a:rPr lang="it-IT" sz="1200" dirty="0">
                    <a:solidFill>
                      <a:schemeClr val="tx1"/>
                    </a:solidFill>
                  </a:rPr>
                  <a:t> same as crystal:</a:t>
                </a:r>
              </a:p>
              <a:p>
                <a:endParaRPr lang="it-IT" dirty="0"/>
              </a:p>
            </p:txBody>
          </p:sp>
        </mc:Fallback>
      </mc:AlternateContent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E76D56F-A6ED-D36A-6BAE-9FAFC2EF4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394191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07821-2CC9-3AF0-60AC-1A30C521E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0A25853-A62B-03B3-0786-3A1CCB652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B554926-B3BA-1AA6-B9A3-40ACCC103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070939-F8E3-AA8A-35CA-A4C81BA8F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586216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74D6C-DE92-FFAF-9C08-0D25C7B9F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CD9ABE6-56AA-36FD-FB96-4405DA7B6C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39E30F4-0A3D-3E3D-A5D9-2B08DD306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37C7E91-58DB-60DB-C006-3D7F33AECF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03342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89C79-D88E-DA21-C5DE-162DACADD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4AB341C-CD18-933F-BC00-57A5EAEB3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7508156-441A-A26E-39CB-05D12CFB0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8EA0B1B-2D72-8A4C-B981-FAC2454FB6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61490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9C3CE-58BB-02AD-0FDE-FB7A0D194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3EFC608-2DFF-3193-FCF8-8B1297EFB6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FE63914-562C-2360-96AB-52FC06288C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363891C-AEFE-DE5C-83F7-6391BF4F2D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870380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1B5CB-6497-48BB-5974-1303A1E08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50F6B75-27C5-11F1-70F6-665D7BD8B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E1287EE-0F5A-1786-0A12-16A96DC820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6974C6A-5E36-9EBD-5819-EADFB7D060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6844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2103135"/>
            <a:ext cx="12192000" cy="2651728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it-IT" sz="3000" b="1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2921168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SEPTEMBER 2026 UPDATE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405C-6D45-8954-1444-BCD11467A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4FCCAC-F871-19BB-1DB9-A799D5A5D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WHAT’S NEW?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CEAF9E-BE3E-5C6D-7367-619BAD4C65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C82166C-D392-7820-4D24-6F7B5D294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C7A8A5C-343C-FAD2-1497-574FADFE1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18365AA-B1D1-C447-2B5F-C638FA62D1A2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2B0EE0E-5840-CBFD-FF67-2A244F06E9C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3DD62F0-621C-EEC0-7E76-C612357FE56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086EA36-9CCD-FD6F-2F86-F0947A128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2438"/>
            <a:ext cx="10515600" cy="4864525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it-IT" sz="2400" dirty="0"/>
              <a:t>Multiple Coulomb Scattering</a:t>
            </a:r>
          </a:p>
          <a:p>
            <a:pPr lvl="1"/>
            <a:r>
              <a:rPr lang="it-IT" dirty="0"/>
              <a:t>Analysis made for both x and y</a:t>
            </a:r>
          </a:p>
          <a:p>
            <a:pPr lvl="1"/>
            <a:r>
              <a:rPr lang="it-IT" dirty="0"/>
              <a:t>Clamp material evaluation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400" dirty="0"/>
              <a:t>Analysis of the beam distribution of real data</a:t>
            </a:r>
          </a:p>
          <a:p>
            <a:pPr lvl="1"/>
            <a:r>
              <a:rPr lang="it-IT" dirty="0"/>
              <a:t>Check the distributions</a:t>
            </a:r>
          </a:p>
          <a:p>
            <a:pPr lvl="1"/>
            <a:r>
              <a:rPr lang="it-IT" dirty="0"/>
              <a:t>Check the correlation/covariance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400" dirty="0"/>
              <a:t>Simulation</a:t>
            </a:r>
          </a:p>
          <a:p>
            <a:pPr lvl="1"/>
            <a:r>
              <a:rPr lang="it-IT" dirty="0"/>
              <a:t>Reproduce the real data beam features</a:t>
            </a:r>
          </a:p>
          <a:p>
            <a:pPr lvl="1"/>
            <a:r>
              <a:rPr lang="it-IT" dirty="0"/>
              <a:t>Channeling efficiency analysis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400" dirty="0"/>
              <a:t>Thesis</a:t>
            </a:r>
          </a:p>
          <a:p>
            <a:pPr lvl="1"/>
            <a:r>
              <a:rPr lang="it-IT" dirty="0"/>
              <a:t>Possible order of topics in the 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1571421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D8B3-9F40-C55D-39DA-DF91181D2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D736E0-F643-82EF-1992-C60507B46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06CD9E4-BF4B-D4CC-51AF-596B2BA18E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CF7B707-C2E4-D2A7-CFFE-05CA2FEE9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BF91714-2C6F-67CD-D36C-382CFFB55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8341470-8762-5796-3725-337EF610811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8C01C16-11BC-D7FD-E1A4-F33E6C753AD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ECD685B-257F-7909-F0F8-9291C5CC7E2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85D0EB1-5481-2D70-CB27-EFD4CA340B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Divided the crystal into slices along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Width of the angular distribution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400" dirty="0"/>
                  <a:t> for each slice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85D0EB1-5481-2D70-CB27-EFD4CA340B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3"/>
                <a:stretch>
                  <a:fillRect l="-812" t="-16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49FD0DB2-AD83-FE6A-E51E-AA15B9C018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42" y="2880246"/>
            <a:ext cx="4800000" cy="3600000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A98D75B-EEC2-B8A9-496F-2DA26E4AB852}"/>
              </a:ext>
            </a:extLst>
          </p:cNvPr>
          <p:cNvSpPr/>
          <p:nvPr/>
        </p:nvSpPr>
        <p:spPr>
          <a:xfrm>
            <a:off x="4305708" y="357728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84FFD37-E6E5-CF7D-A4E8-1449996991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0600" y="2902940"/>
            <a:ext cx="4800000" cy="3600000"/>
          </a:xfrm>
          <a:prstGeom prst="rect">
            <a:avLst/>
          </a:prstGeom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CD33BC0-FF39-AC32-4D0C-080E8027C4FB}"/>
              </a:ext>
            </a:extLst>
          </p:cNvPr>
          <p:cNvSpPr/>
          <p:nvPr/>
        </p:nvSpPr>
        <p:spPr>
          <a:xfrm>
            <a:off x="10171347" y="359642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E737D7-8C05-8C19-44D8-A49B3022470B}"/>
              </a:ext>
            </a:extLst>
          </p:cNvPr>
          <p:cNvSpPr/>
          <p:nvPr/>
        </p:nvSpPr>
        <p:spPr>
          <a:xfrm>
            <a:off x="8508733" y="1430291"/>
            <a:ext cx="731520" cy="113590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FBE3A0D-24C9-2E7A-CF13-EC5D62D55405}"/>
              </a:ext>
            </a:extLst>
          </p:cNvPr>
          <p:cNvGrpSpPr/>
          <p:nvPr/>
        </p:nvGrpSpPr>
        <p:grpSpPr>
          <a:xfrm>
            <a:off x="7426133" y="1273681"/>
            <a:ext cx="2845980" cy="1754206"/>
            <a:chOff x="7426133" y="943481"/>
            <a:chExt cx="2845980" cy="1754206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02650E6-F3F8-ECEF-3794-69E541479B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78282" y="2499246"/>
              <a:ext cx="2203918" cy="8288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1CB5595-391F-7A63-2ABA-7F95A854DA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78282" y="943481"/>
              <a:ext cx="0" cy="1564053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2454BE6-76C2-4B17-E7E7-FF7BB0C6AAAA}"/>
                    </a:ext>
                  </a:extLst>
                </p:cNvPr>
                <p:cNvSpPr txBox="1"/>
                <p:nvPr/>
              </p:nvSpPr>
              <p:spPr>
                <a:xfrm>
                  <a:off x="9910539" y="2328355"/>
                  <a:ext cx="3615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2454BE6-76C2-4B17-E7E7-FF7BB0C6AA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0539" y="2328355"/>
                  <a:ext cx="36157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1831B37-43A1-EAAF-15C0-56F172DEACFE}"/>
                    </a:ext>
                  </a:extLst>
                </p:cNvPr>
                <p:cNvSpPr txBox="1"/>
                <p:nvPr/>
              </p:nvSpPr>
              <p:spPr>
                <a:xfrm>
                  <a:off x="7426133" y="1106696"/>
                  <a:ext cx="3690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1831B37-43A1-EAAF-15C0-56F172DEAC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6133" y="1106696"/>
                  <a:ext cx="36901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8121728-747C-B772-E5A7-0B8DB5A49A1D}"/>
              </a:ext>
            </a:extLst>
          </p:cNvPr>
          <p:cNvCxnSpPr>
            <a:cxnSpLocks/>
          </p:cNvCxnSpPr>
          <p:nvPr/>
        </p:nvCxnSpPr>
        <p:spPr>
          <a:xfrm>
            <a:off x="80031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6DD75BC-E3E3-E2CD-9EFA-3F79F1C9DBE4}"/>
              </a:ext>
            </a:extLst>
          </p:cNvPr>
          <p:cNvCxnSpPr>
            <a:cxnSpLocks/>
          </p:cNvCxnSpPr>
          <p:nvPr/>
        </p:nvCxnSpPr>
        <p:spPr>
          <a:xfrm>
            <a:off x="8155517" y="1222745"/>
            <a:ext cx="0" cy="153061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C3E3327-F0E1-F3AC-8C91-B5A8DD3D8B6E}"/>
              </a:ext>
            </a:extLst>
          </p:cNvPr>
          <p:cNvCxnSpPr>
            <a:cxnSpLocks/>
          </p:cNvCxnSpPr>
          <p:nvPr/>
        </p:nvCxnSpPr>
        <p:spPr>
          <a:xfrm>
            <a:off x="8312150" y="1222745"/>
            <a:ext cx="0" cy="152553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BFC8331-76A9-CC28-577C-2DA1679579C0}"/>
              </a:ext>
            </a:extLst>
          </p:cNvPr>
          <p:cNvCxnSpPr>
            <a:cxnSpLocks/>
          </p:cNvCxnSpPr>
          <p:nvPr/>
        </p:nvCxnSpPr>
        <p:spPr>
          <a:xfrm>
            <a:off x="84603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AC768A8-C925-53BA-4A22-4F0BA9AEE281}"/>
              </a:ext>
            </a:extLst>
          </p:cNvPr>
          <p:cNvCxnSpPr>
            <a:cxnSpLocks/>
          </p:cNvCxnSpPr>
          <p:nvPr/>
        </p:nvCxnSpPr>
        <p:spPr>
          <a:xfrm>
            <a:off x="86127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468CD69-0FB1-4BEE-1251-2AFA77349F30}"/>
              </a:ext>
            </a:extLst>
          </p:cNvPr>
          <p:cNvCxnSpPr>
            <a:cxnSpLocks/>
          </p:cNvCxnSpPr>
          <p:nvPr/>
        </p:nvCxnSpPr>
        <p:spPr>
          <a:xfrm>
            <a:off x="8769350" y="1222745"/>
            <a:ext cx="0" cy="152553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75CC6F9-FCFB-8B22-0E80-390F045FED08}"/>
              </a:ext>
            </a:extLst>
          </p:cNvPr>
          <p:cNvCxnSpPr>
            <a:cxnSpLocks/>
          </p:cNvCxnSpPr>
          <p:nvPr/>
        </p:nvCxnSpPr>
        <p:spPr>
          <a:xfrm>
            <a:off x="8931220" y="1222745"/>
            <a:ext cx="0" cy="152045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80AA079-041D-DD8D-3A5A-40AA02E90AF3}"/>
              </a:ext>
            </a:extLst>
          </p:cNvPr>
          <p:cNvCxnSpPr>
            <a:cxnSpLocks/>
          </p:cNvCxnSpPr>
          <p:nvPr/>
        </p:nvCxnSpPr>
        <p:spPr>
          <a:xfrm>
            <a:off x="9083620" y="1222745"/>
            <a:ext cx="0" cy="152553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B6A6C9B-A301-080D-2E2C-90B04E384E4A}"/>
              </a:ext>
            </a:extLst>
          </p:cNvPr>
          <p:cNvCxnSpPr>
            <a:cxnSpLocks/>
          </p:cNvCxnSpPr>
          <p:nvPr/>
        </p:nvCxnSpPr>
        <p:spPr>
          <a:xfrm>
            <a:off x="9240253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633187C-0FFE-A233-E3AC-DD9497BF3848}"/>
              </a:ext>
            </a:extLst>
          </p:cNvPr>
          <p:cNvCxnSpPr>
            <a:cxnSpLocks/>
          </p:cNvCxnSpPr>
          <p:nvPr/>
        </p:nvCxnSpPr>
        <p:spPr>
          <a:xfrm>
            <a:off x="93874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5A7835B-F505-0A39-2179-8D8DC3079E8F}"/>
              </a:ext>
            </a:extLst>
          </p:cNvPr>
          <p:cNvCxnSpPr>
            <a:cxnSpLocks/>
          </p:cNvCxnSpPr>
          <p:nvPr/>
        </p:nvCxnSpPr>
        <p:spPr>
          <a:xfrm>
            <a:off x="9539817" y="1222745"/>
            <a:ext cx="0" cy="1515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92F12DF-E80B-15F8-7B85-207AAD478AE0}"/>
              </a:ext>
            </a:extLst>
          </p:cNvPr>
          <p:cNvCxnSpPr>
            <a:cxnSpLocks/>
          </p:cNvCxnSpPr>
          <p:nvPr/>
        </p:nvCxnSpPr>
        <p:spPr>
          <a:xfrm>
            <a:off x="9696450" y="1222745"/>
            <a:ext cx="0" cy="152045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28ACF14-07DB-DFE6-A8FD-791B4BA01B91}"/>
              </a:ext>
            </a:extLst>
          </p:cNvPr>
          <p:cNvCxnSpPr>
            <a:cxnSpLocks/>
          </p:cNvCxnSpPr>
          <p:nvPr/>
        </p:nvCxnSpPr>
        <p:spPr>
          <a:xfrm flipH="1">
            <a:off x="7836145" y="1430291"/>
            <a:ext cx="2117480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EB20602-B66F-6AAF-D9E7-B141E8162066}"/>
              </a:ext>
            </a:extLst>
          </p:cNvPr>
          <p:cNvCxnSpPr>
            <a:cxnSpLocks/>
          </p:cNvCxnSpPr>
          <p:nvPr/>
        </p:nvCxnSpPr>
        <p:spPr>
          <a:xfrm flipH="1">
            <a:off x="7934915" y="1248166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06F00222-EDA7-CBBA-5C9A-F502FD1753F9}"/>
              </a:ext>
            </a:extLst>
          </p:cNvPr>
          <p:cNvCxnSpPr>
            <a:cxnSpLocks/>
          </p:cNvCxnSpPr>
          <p:nvPr/>
        </p:nvCxnSpPr>
        <p:spPr>
          <a:xfrm flipH="1">
            <a:off x="8130193" y="1248166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61407CA-0CBD-1535-8898-8B55BB56868C}"/>
              </a:ext>
            </a:extLst>
          </p:cNvPr>
          <p:cNvCxnSpPr>
            <a:cxnSpLocks/>
          </p:cNvCxnSpPr>
          <p:nvPr/>
        </p:nvCxnSpPr>
        <p:spPr>
          <a:xfrm flipH="1">
            <a:off x="8324055" y="1248166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5FDDD9A-743C-F0B8-3D5D-5598FDED63B5}"/>
              </a:ext>
            </a:extLst>
          </p:cNvPr>
          <p:cNvCxnSpPr>
            <a:cxnSpLocks/>
          </p:cNvCxnSpPr>
          <p:nvPr/>
        </p:nvCxnSpPr>
        <p:spPr>
          <a:xfrm flipH="1">
            <a:off x="8498962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222C6F6-DDFB-B0C5-BC61-579D37F20A61}"/>
              </a:ext>
            </a:extLst>
          </p:cNvPr>
          <p:cNvCxnSpPr>
            <a:cxnSpLocks/>
          </p:cNvCxnSpPr>
          <p:nvPr/>
        </p:nvCxnSpPr>
        <p:spPr>
          <a:xfrm flipH="1">
            <a:off x="8694240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80DAC7D-B918-4B2A-3A73-57075D8675A0}"/>
              </a:ext>
            </a:extLst>
          </p:cNvPr>
          <p:cNvCxnSpPr>
            <a:cxnSpLocks/>
          </p:cNvCxnSpPr>
          <p:nvPr/>
        </p:nvCxnSpPr>
        <p:spPr>
          <a:xfrm flipH="1">
            <a:off x="8888102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CE3056C2-7090-711C-5C8E-C423C4880880}"/>
              </a:ext>
            </a:extLst>
          </p:cNvPr>
          <p:cNvCxnSpPr>
            <a:cxnSpLocks/>
          </p:cNvCxnSpPr>
          <p:nvPr/>
        </p:nvCxnSpPr>
        <p:spPr>
          <a:xfrm flipH="1">
            <a:off x="9091014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110CEC6-7711-3297-0ACD-C6B7F7152287}"/>
              </a:ext>
            </a:extLst>
          </p:cNvPr>
          <p:cNvCxnSpPr>
            <a:cxnSpLocks/>
          </p:cNvCxnSpPr>
          <p:nvPr/>
        </p:nvCxnSpPr>
        <p:spPr>
          <a:xfrm flipH="1">
            <a:off x="9286292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5A3A723-CBCE-784F-76A4-C2BC00C44F6A}"/>
              </a:ext>
            </a:extLst>
          </p:cNvPr>
          <p:cNvCxnSpPr>
            <a:cxnSpLocks/>
          </p:cNvCxnSpPr>
          <p:nvPr/>
        </p:nvCxnSpPr>
        <p:spPr>
          <a:xfrm flipH="1">
            <a:off x="9480154" y="124197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206B8F8-3017-7659-5118-183191CB4D5E}"/>
              </a:ext>
            </a:extLst>
          </p:cNvPr>
          <p:cNvCxnSpPr>
            <a:cxnSpLocks/>
          </p:cNvCxnSpPr>
          <p:nvPr/>
        </p:nvCxnSpPr>
        <p:spPr>
          <a:xfrm flipH="1">
            <a:off x="9661297" y="1244737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9A9378EA-0EB5-DD37-A707-1A876C4DB58E}"/>
              </a:ext>
            </a:extLst>
          </p:cNvPr>
          <p:cNvCxnSpPr>
            <a:cxnSpLocks/>
          </p:cNvCxnSpPr>
          <p:nvPr/>
        </p:nvCxnSpPr>
        <p:spPr>
          <a:xfrm flipH="1">
            <a:off x="9856575" y="1244737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4425B94A-A7D0-970A-A7AF-9BD2A6533B70}"/>
              </a:ext>
            </a:extLst>
          </p:cNvPr>
          <p:cNvCxnSpPr>
            <a:cxnSpLocks/>
          </p:cNvCxnSpPr>
          <p:nvPr/>
        </p:nvCxnSpPr>
        <p:spPr>
          <a:xfrm flipH="1">
            <a:off x="8033042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08CD1F60-BDBD-0FA6-7DAC-AAAEE159B7C3}"/>
              </a:ext>
            </a:extLst>
          </p:cNvPr>
          <p:cNvCxnSpPr>
            <a:cxnSpLocks/>
          </p:cNvCxnSpPr>
          <p:nvPr/>
        </p:nvCxnSpPr>
        <p:spPr>
          <a:xfrm flipH="1">
            <a:off x="8228320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B725C2EA-F641-D401-0393-C75230B7609A}"/>
              </a:ext>
            </a:extLst>
          </p:cNvPr>
          <p:cNvCxnSpPr>
            <a:cxnSpLocks/>
          </p:cNvCxnSpPr>
          <p:nvPr/>
        </p:nvCxnSpPr>
        <p:spPr>
          <a:xfrm flipH="1">
            <a:off x="8422182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BE2D2B4-B8B0-9AF4-AC30-DDB28F14D1A0}"/>
              </a:ext>
            </a:extLst>
          </p:cNvPr>
          <p:cNvCxnSpPr>
            <a:cxnSpLocks/>
          </p:cNvCxnSpPr>
          <p:nvPr/>
        </p:nvCxnSpPr>
        <p:spPr>
          <a:xfrm flipH="1">
            <a:off x="8597089" y="1241615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4427E9C-0DA9-7C29-9F24-1651ABB2279C}"/>
              </a:ext>
            </a:extLst>
          </p:cNvPr>
          <p:cNvCxnSpPr>
            <a:cxnSpLocks/>
          </p:cNvCxnSpPr>
          <p:nvPr/>
        </p:nvCxnSpPr>
        <p:spPr>
          <a:xfrm flipH="1">
            <a:off x="8792367" y="1241615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7157EC3D-019A-9FEC-4369-325EDE67FE52}"/>
              </a:ext>
            </a:extLst>
          </p:cNvPr>
          <p:cNvCxnSpPr>
            <a:cxnSpLocks/>
          </p:cNvCxnSpPr>
          <p:nvPr/>
        </p:nvCxnSpPr>
        <p:spPr>
          <a:xfrm flipH="1">
            <a:off x="8994467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FD9604B-E30D-E56B-09B7-10E06DE42F78}"/>
              </a:ext>
            </a:extLst>
          </p:cNvPr>
          <p:cNvCxnSpPr>
            <a:cxnSpLocks/>
          </p:cNvCxnSpPr>
          <p:nvPr/>
        </p:nvCxnSpPr>
        <p:spPr>
          <a:xfrm flipH="1">
            <a:off x="9189745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A4482B81-635B-08ED-1910-936E2AC1F720}"/>
              </a:ext>
            </a:extLst>
          </p:cNvPr>
          <p:cNvCxnSpPr>
            <a:cxnSpLocks/>
          </p:cNvCxnSpPr>
          <p:nvPr/>
        </p:nvCxnSpPr>
        <p:spPr>
          <a:xfrm flipH="1">
            <a:off x="9383607" y="124780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A0757B0E-E7CC-68A1-178C-44476058B488}"/>
              </a:ext>
            </a:extLst>
          </p:cNvPr>
          <p:cNvCxnSpPr>
            <a:cxnSpLocks/>
          </p:cNvCxnSpPr>
          <p:nvPr/>
        </p:nvCxnSpPr>
        <p:spPr>
          <a:xfrm flipH="1">
            <a:off x="9558514" y="1241615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19EB73F0-17E8-848E-85EC-202BB239BD5D}"/>
              </a:ext>
            </a:extLst>
          </p:cNvPr>
          <p:cNvCxnSpPr>
            <a:cxnSpLocks/>
          </p:cNvCxnSpPr>
          <p:nvPr/>
        </p:nvCxnSpPr>
        <p:spPr>
          <a:xfrm flipH="1">
            <a:off x="9753792" y="1241615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DF91A938-A73B-01FD-2DF6-752712B4CBE3}"/>
              </a:ext>
            </a:extLst>
          </p:cNvPr>
          <p:cNvCxnSpPr>
            <a:cxnSpLocks/>
          </p:cNvCxnSpPr>
          <p:nvPr/>
        </p:nvCxnSpPr>
        <p:spPr>
          <a:xfrm flipH="1">
            <a:off x="7946749" y="2568696"/>
            <a:ext cx="2117480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F6C36AF4-37DA-B827-8131-D4AAFCD909B1}"/>
              </a:ext>
            </a:extLst>
          </p:cNvPr>
          <p:cNvCxnSpPr>
            <a:cxnSpLocks/>
          </p:cNvCxnSpPr>
          <p:nvPr/>
        </p:nvCxnSpPr>
        <p:spPr>
          <a:xfrm flipH="1">
            <a:off x="7915865" y="2572071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CD0336EA-5EA0-3176-2CD7-9613EA1A0C1D}"/>
              </a:ext>
            </a:extLst>
          </p:cNvPr>
          <p:cNvCxnSpPr>
            <a:cxnSpLocks/>
          </p:cNvCxnSpPr>
          <p:nvPr/>
        </p:nvCxnSpPr>
        <p:spPr>
          <a:xfrm flipH="1">
            <a:off x="8111143" y="2572071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D0A4F182-22AD-2866-BEBE-C8D22F4B7196}"/>
              </a:ext>
            </a:extLst>
          </p:cNvPr>
          <p:cNvCxnSpPr>
            <a:cxnSpLocks/>
          </p:cNvCxnSpPr>
          <p:nvPr/>
        </p:nvCxnSpPr>
        <p:spPr>
          <a:xfrm flipH="1">
            <a:off x="8305005" y="2572071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9B5D865A-9761-8FF2-795C-3FCDD575C87A}"/>
              </a:ext>
            </a:extLst>
          </p:cNvPr>
          <p:cNvCxnSpPr>
            <a:cxnSpLocks/>
          </p:cNvCxnSpPr>
          <p:nvPr/>
        </p:nvCxnSpPr>
        <p:spPr>
          <a:xfrm flipH="1">
            <a:off x="8479912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4F1A7A1C-9BA2-B212-F384-C5D25B30F09A}"/>
              </a:ext>
            </a:extLst>
          </p:cNvPr>
          <p:cNvCxnSpPr>
            <a:cxnSpLocks/>
          </p:cNvCxnSpPr>
          <p:nvPr/>
        </p:nvCxnSpPr>
        <p:spPr>
          <a:xfrm flipH="1">
            <a:off x="8675190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1C6A0DD-7AF6-B1B5-0E81-0A8C1FCE1AB0}"/>
              </a:ext>
            </a:extLst>
          </p:cNvPr>
          <p:cNvCxnSpPr>
            <a:cxnSpLocks/>
          </p:cNvCxnSpPr>
          <p:nvPr/>
        </p:nvCxnSpPr>
        <p:spPr>
          <a:xfrm flipH="1">
            <a:off x="8869052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6A86026-BE2E-2AF4-BA19-7A52D0B37347}"/>
              </a:ext>
            </a:extLst>
          </p:cNvPr>
          <p:cNvCxnSpPr>
            <a:cxnSpLocks/>
          </p:cNvCxnSpPr>
          <p:nvPr/>
        </p:nvCxnSpPr>
        <p:spPr>
          <a:xfrm flipH="1">
            <a:off x="9071964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6A0E733-EFB7-14C2-A5D0-200480C86DE7}"/>
              </a:ext>
            </a:extLst>
          </p:cNvPr>
          <p:cNvCxnSpPr>
            <a:cxnSpLocks/>
          </p:cNvCxnSpPr>
          <p:nvPr/>
        </p:nvCxnSpPr>
        <p:spPr>
          <a:xfrm flipH="1">
            <a:off x="9267242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4C7492FB-8575-1255-322A-1753E9D5F2F7}"/>
              </a:ext>
            </a:extLst>
          </p:cNvPr>
          <p:cNvCxnSpPr>
            <a:cxnSpLocks/>
          </p:cNvCxnSpPr>
          <p:nvPr/>
        </p:nvCxnSpPr>
        <p:spPr>
          <a:xfrm flipH="1">
            <a:off x="9461104" y="2565883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4A6C649-9985-F4C3-B1E9-2C6F2F72A8AB}"/>
              </a:ext>
            </a:extLst>
          </p:cNvPr>
          <p:cNvCxnSpPr>
            <a:cxnSpLocks/>
          </p:cNvCxnSpPr>
          <p:nvPr/>
        </p:nvCxnSpPr>
        <p:spPr>
          <a:xfrm flipH="1">
            <a:off x="9642247" y="2568642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FA31086A-A70A-DA1A-8802-522891884A60}"/>
              </a:ext>
            </a:extLst>
          </p:cNvPr>
          <p:cNvCxnSpPr>
            <a:cxnSpLocks/>
          </p:cNvCxnSpPr>
          <p:nvPr/>
        </p:nvCxnSpPr>
        <p:spPr>
          <a:xfrm flipH="1">
            <a:off x="9837525" y="2568642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ABDF7DB8-2CFE-95C1-AF46-77A5602F0030}"/>
              </a:ext>
            </a:extLst>
          </p:cNvPr>
          <p:cNvCxnSpPr>
            <a:cxnSpLocks/>
          </p:cNvCxnSpPr>
          <p:nvPr/>
        </p:nvCxnSpPr>
        <p:spPr>
          <a:xfrm flipH="1">
            <a:off x="8013992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2E70D268-A8C0-5B5F-512C-5238E17A3545}"/>
              </a:ext>
            </a:extLst>
          </p:cNvPr>
          <p:cNvCxnSpPr>
            <a:cxnSpLocks/>
          </p:cNvCxnSpPr>
          <p:nvPr/>
        </p:nvCxnSpPr>
        <p:spPr>
          <a:xfrm flipH="1">
            <a:off x="8209270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0E35FB3B-6B85-EC8C-7692-0E3A904A2F88}"/>
              </a:ext>
            </a:extLst>
          </p:cNvPr>
          <p:cNvCxnSpPr>
            <a:cxnSpLocks/>
          </p:cNvCxnSpPr>
          <p:nvPr/>
        </p:nvCxnSpPr>
        <p:spPr>
          <a:xfrm flipH="1">
            <a:off x="8403132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B5BC5ED6-2BA8-CFF9-61AA-CF36216772E4}"/>
              </a:ext>
            </a:extLst>
          </p:cNvPr>
          <p:cNvCxnSpPr>
            <a:cxnSpLocks/>
          </p:cNvCxnSpPr>
          <p:nvPr/>
        </p:nvCxnSpPr>
        <p:spPr>
          <a:xfrm flipH="1">
            <a:off x="8578039" y="2565520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318DBF4-A2F6-2BF0-4B8F-9360E4DC6A2F}"/>
              </a:ext>
            </a:extLst>
          </p:cNvPr>
          <p:cNvCxnSpPr>
            <a:cxnSpLocks/>
          </p:cNvCxnSpPr>
          <p:nvPr/>
        </p:nvCxnSpPr>
        <p:spPr>
          <a:xfrm flipH="1">
            <a:off x="8773317" y="2565520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AE022886-1A48-9507-9057-2B73DB266C28}"/>
              </a:ext>
            </a:extLst>
          </p:cNvPr>
          <p:cNvCxnSpPr>
            <a:cxnSpLocks/>
          </p:cNvCxnSpPr>
          <p:nvPr/>
        </p:nvCxnSpPr>
        <p:spPr>
          <a:xfrm flipH="1">
            <a:off x="8975417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224FB0CD-C2A7-B424-2119-0F5A41589E64}"/>
              </a:ext>
            </a:extLst>
          </p:cNvPr>
          <p:cNvCxnSpPr>
            <a:cxnSpLocks/>
          </p:cNvCxnSpPr>
          <p:nvPr/>
        </p:nvCxnSpPr>
        <p:spPr>
          <a:xfrm flipH="1">
            <a:off x="9170695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60356F82-6434-2C1C-5696-5BDFBB0970E5}"/>
              </a:ext>
            </a:extLst>
          </p:cNvPr>
          <p:cNvCxnSpPr>
            <a:cxnSpLocks/>
          </p:cNvCxnSpPr>
          <p:nvPr/>
        </p:nvCxnSpPr>
        <p:spPr>
          <a:xfrm flipH="1">
            <a:off x="9364557" y="2571708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2E388A1-94BB-43C0-A612-16175C3CC580}"/>
              </a:ext>
            </a:extLst>
          </p:cNvPr>
          <p:cNvCxnSpPr>
            <a:cxnSpLocks/>
          </p:cNvCxnSpPr>
          <p:nvPr/>
        </p:nvCxnSpPr>
        <p:spPr>
          <a:xfrm flipH="1">
            <a:off x="9539464" y="2565520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B0DCDF0E-A15E-76F3-15B0-55DEB6ECE672}"/>
              </a:ext>
            </a:extLst>
          </p:cNvPr>
          <p:cNvCxnSpPr>
            <a:cxnSpLocks/>
          </p:cNvCxnSpPr>
          <p:nvPr/>
        </p:nvCxnSpPr>
        <p:spPr>
          <a:xfrm flipH="1">
            <a:off x="9734742" y="2565520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B39877D2-C0BD-5AC8-75D2-8226B3B51EFF}"/>
              </a:ext>
            </a:extLst>
          </p:cNvPr>
          <p:cNvCxnSpPr>
            <a:cxnSpLocks/>
          </p:cNvCxnSpPr>
          <p:nvPr/>
        </p:nvCxnSpPr>
        <p:spPr>
          <a:xfrm flipH="1">
            <a:off x="7847734" y="2562319"/>
            <a:ext cx="195517" cy="18555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8879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7700A-4BA9-59D6-7095-32790D1B6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7364600-12D1-A8B4-CEB3-7EE36CE24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E515DA8-2D65-568F-EBDA-3A7F71726D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315B1E2-8421-8A93-9C68-0B420B703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A8F9AB5-280E-E104-12EC-01AB91BFA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D0D830-0ECF-DF66-C3EE-573AF9015A4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3035E7C-53F1-598A-D66C-D7D385559110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8C326B0-3D14-566E-7A63-A186187603F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5FEDFB2-5B94-C818-C6DF-5042B4D592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Divided the crystal into slices along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Width of the angular distribution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400" dirty="0"/>
                  <a:t> for each slice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5FEDFB2-5B94-C818-C6DF-5042B4D592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3"/>
                <a:stretch>
                  <a:fillRect l="-812" t="-16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567F6078-1E30-0CB4-2A79-3F65DD83A9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8142" y="2881632"/>
            <a:ext cx="4800000" cy="3597228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4F18782-7D1F-DC9C-E1C3-A4676FA4586D}"/>
              </a:ext>
            </a:extLst>
          </p:cNvPr>
          <p:cNvSpPr/>
          <p:nvPr/>
        </p:nvSpPr>
        <p:spPr>
          <a:xfrm>
            <a:off x="4305708" y="357728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81CC506-EA80-A901-B57C-162055D9A6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70600" y="2906400"/>
            <a:ext cx="4800000" cy="3593079"/>
          </a:xfrm>
          <a:prstGeom prst="rect">
            <a:avLst/>
          </a:prstGeom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FFF1DB4-02FC-6DB9-6C7D-9C9AEB18ADE9}"/>
              </a:ext>
            </a:extLst>
          </p:cNvPr>
          <p:cNvSpPr/>
          <p:nvPr/>
        </p:nvSpPr>
        <p:spPr>
          <a:xfrm>
            <a:off x="10171347" y="359642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3EAD447-B923-549A-00D2-FEFA199086B2}"/>
              </a:ext>
            </a:extLst>
          </p:cNvPr>
          <p:cNvGrpSpPr/>
          <p:nvPr/>
        </p:nvGrpSpPr>
        <p:grpSpPr>
          <a:xfrm>
            <a:off x="7426133" y="1273681"/>
            <a:ext cx="2845980" cy="1754206"/>
            <a:chOff x="7426133" y="943481"/>
            <a:chExt cx="2845980" cy="1754206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39D6C88-2E95-A2F3-2D17-7D68656A59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78282" y="2499246"/>
              <a:ext cx="2203918" cy="8288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78CD744-AFA2-3161-39F0-4AE09D7A75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78282" y="943481"/>
              <a:ext cx="0" cy="1564053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CA3738B-F456-EF07-2BEB-DB04502A7CE6}"/>
                    </a:ext>
                  </a:extLst>
                </p:cNvPr>
                <p:cNvSpPr txBox="1"/>
                <p:nvPr/>
              </p:nvSpPr>
              <p:spPr>
                <a:xfrm>
                  <a:off x="9910539" y="2328355"/>
                  <a:ext cx="3615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CA3738B-F456-EF07-2BEB-DB04502A7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0539" y="2328355"/>
                  <a:ext cx="36157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A45B66D8-2661-386F-6873-DE37DF56B999}"/>
                    </a:ext>
                  </a:extLst>
                </p:cNvPr>
                <p:cNvSpPr txBox="1"/>
                <p:nvPr/>
              </p:nvSpPr>
              <p:spPr>
                <a:xfrm>
                  <a:off x="7426133" y="1106696"/>
                  <a:ext cx="3690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A45B66D8-2661-386F-6873-DE37DF56B9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6133" y="1106696"/>
                  <a:ext cx="36901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1652B541-1476-5803-AB49-11020B15072B}"/>
              </a:ext>
            </a:extLst>
          </p:cNvPr>
          <p:cNvSpPr/>
          <p:nvPr/>
        </p:nvSpPr>
        <p:spPr>
          <a:xfrm>
            <a:off x="8438732" y="1512441"/>
            <a:ext cx="801521" cy="113590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1FC664-6478-D290-AC4B-DF1F5474D0A2}"/>
              </a:ext>
            </a:extLst>
          </p:cNvPr>
          <p:cNvCxnSpPr/>
          <p:nvPr/>
        </p:nvCxnSpPr>
        <p:spPr>
          <a:xfrm>
            <a:off x="8003117" y="1656927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1DD3D4E-396D-6BD6-16CD-253DFF318574}"/>
              </a:ext>
            </a:extLst>
          </p:cNvPr>
          <p:cNvCxnSpPr/>
          <p:nvPr/>
        </p:nvCxnSpPr>
        <p:spPr>
          <a:xfrm>
            <a:off x="8003117" y="1530122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67EF6B-1EA9-8B7F-06CD-60E77A1E531C}"/>
              </a:ext>
            </a:extLst>
          </p:cNvPr>
          <p:cNvCxnSpPr/>
          <p:nvPr/>
        </p:nvCxnSpPr>
        <p:spPr>
          <a:xfrm>
            <a:off x="8003117" y="1793452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78D738D-B536-158F-43DD-465755E69EA1}"/>
              </a:ext>
            </a:extLst>
          </p:cNvPr>
          <p:cNvCxnSpPr/>
          <p:nvPr/>
        </p:nvCxnSpPr>
        <p:spPr>
          <a:xfrm>
            <a:off x="8003117" y="2066513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ADC88B-2CBA-384B-93F8-BBDF85E386BE}"/>
              </a:ext>
            </a:extLst>
          </p:cNvPr>
          <p:cNvCxnSpPr/>
          <p:nvPr/>
        </p:nvCxnSpPr>
        <p:spPr>
          <a:xfrm>
            <a:off x="8003117" y="1939708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693D7BF-F721-8934-F779-C6470240E08F}"/>
              </a:ext>
            </a:extLst>
          </p:cNvPr>
          <p:cNvCxnSpPr/>
          <p:nvPr/>
        </p:nvCxnSpPr>
        <p:spPr>
          <a:xfrm>
            <a:off x="8003117" y="2203038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6C40756-1AFA-2170-BC8E-8FB213336F49}"/>
              </a:ext>
            </a:extLst>
          </p:cNvPr>
          <p:cNvCxnSpPr/>
          <p:nvPr/>
        </p:nvCxnSpPr>
        <p:spPr>
          <a:xfrm>
            <a:off x="8003117" y="2477665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596C15F-7AE2-4CAC-8D5E-A685DBA8E01D}"/>
              </a:ext>
            </a:extLst>
          </p:cNvPr>
          <p:cNvCxnSpPr/>
          <p:nvPr/>
        </p:nvCxnSpPr>
        <p:spPr>
          <a:xfrm>
            <a:off x="8003117" y="2350860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A5B661B-1ACE-177A-5CC8-115BE93EFB26}"/>
              </a:ext>
            </a:extLst>
          </p:cNvPr>
          <p:cNvCxnSpPr/>
          <p:nvPr/>
        </p:nvCxnSpPr>
        <p:spPr>
          <a:xfrm>
            <a:off x="8003117" y="2614190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446A0A6-0DB8-7BB2-1A48-95E598FF216C}"/>
              </a:ext>
            </a:extLst>
          </p:cNvPr>
          <p:cNvCxnSpPr/>
          <p:nvPr/>
        </p:nvCxnSpPr>
        <p:spPr>
          <a:xfrm>
            <a:off x="8003117" y="1392962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8E8A564-DE78-A4C2-3D1A-28FB47E95E30}"/>
              </a:ext>
            </a:extLst>
          </p:cNvPr>
          <p:cNvCxnSpPr/>
          <p:nvPr/>
        </p:nvCxnSpPr>
        <p:spPr>
          <a:xfrm>
            <a:off x="8003117" y="2764562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8A63F9A-9B32-F30B-8DE2-294DB7A5A76C}"/>
              </a:ext>
            </a:extLst>
          </p:cNvPr>
          <p:cNvCxnSpPr/>
          <p:nvPr/>
        </p:nvCxnSpPr>
        <p:spPr>
          <a:xfrm>
            <a:off x="8003117" y="1273681"/>
            <a:ext cx="170815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1FB564E0-B190-DA07-75F0-3A4ECA596325}"/>
              </a:ext>
            </a:extLst>
          </p:cNvPr>
          <p:cNvGrpSpPr/>
          <p:nvPr/>
        </p:nvGrpSpPr>
        <p:grpSpPr>
          <a:xfrm>
            <a:off x="9236644" y="1190625"/>
            <a:ext cx="480811" cy="1619301"/>
            <a:chOff x="9236644" y="1190625"/>
            <a:chExt cx="480811" cy="1619301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CF68E7E2-8D3E-521B-CEC1-9288EF7E1752}"/>
                </a:ext>
              </a:extLst>
            </p:cNvPr>
            <p:cNvGrpSpPr/>
            <p:nvPr/>
          </p:nvGrpSpPr>
          <p:grpSpPr>
            <a:xfrm rot="5400000">
              <a:off x="8664306" y="1762965"/>
              <a:ext cx="1619301" cy="474622"/>
              <a:chOff x="10333835" y="1325762"/>
              <a:chExt cx="1619301" cy="474622"/>
            </a:xfrm>
          </p:grpSpPr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C8872DBA-DC77-1833-3D68-23C5A79FC78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11139040" y="986288"/>
                <a:ext cx="8891" cy="1619301"/>
              </a:xfrm>
              <a:prstGeom prst="line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8D53507A-338E-191F-7AD7-FCC2682F0AE6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10278353" y="1469102"/>
                <a:ext cx="468797" cy="182117"/>
              </a:xfrm>
              <a:prstGeom prst="line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5A56AA5-4EF7-6EEB-40A8-0817329EA18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6" y="1384635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10F2A01-479A-647C-821F-65B10511B5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5" y="1512557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1042F241-6B03-0A6F-9E4E-D74ADCC80D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1644814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5839591E-4929-4901-E1A1-CA27115B959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1756337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024F48E5-F05B-0012-138E-198AE804D4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8204" y="1904870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6C718FD6-F553-EF10-FB4A-48FD6B55E5A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8203" y="2036614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28B222BA-2902-A1D0-408D-1EE689025E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2184952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F970215-46E4-DB9F-63E3-86379C7CCE5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8658" y="2313881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E805C5F-90F5-B020-6C71-B9F52FF54A2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8658" y="2432832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1DC071FE-2FC4-633E-C471-3D81D81900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5112" y="2581686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3794AEE7-D279-74C2-45D7-20C8B2D905EB}"/>
              </a:ext>
            </a:extLst>
          </p:cNvPr>
          <p:cNvGrpSpPr/>
          <p:nvPr/>
        </p:nvGrpSpPr>
        <p:grpSpPr>
          <a:xfrm flipH="1">
            <a:off x="7964111" y="1183294"/>
            <a:ext cx="480811" cy="1619301"/>
            <a:chOff x="9236644" y="1190625"/>
            <a:chExt cx="480811" cy="1619301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8C42A22-2073-D7E1-F790-169CAE772C87}"/>
                </a:ext>
              </a:extLst>
            </p:cNvPr>
            <p:cNvGrpSpPr/>
            <p:nvPr/>
          </p:nvGrpSpPr>
          <p:grpSpPr>
            <a:xfrm rot="5400000">
              <a:off x="8664306" y="1762965"/>
              <a:ext cx="1619301" cy="474622"/>
              <a:chOff x="10333835" y="1325762"/>
              <a:chExt cx="1619301" cy="474622"/>
            </a:xfrm>
          </p:grpSpPr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D04E9A79-8302-5E22-AD40-578D29AE8E7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11139040" y="986288"/>
                <a:ext cx="8891" cy="1619301"/>
              </a:xfrm>
              <a:prstGeom prst="line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BF933410-405D-78C2-7155-EA391B6695F4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10278353" y="1469102"/>
                <a:ext cx="468797" cy="182117"/>
              </a:xfrm>
              <a:prstGeom prst="line">
                <a:avLst/>
              </a:prstGeom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AD57CA2E-371C-F604-A362-AC2FDB7EEF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6" y="1384635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5B4CE28A-F410-F7E9-2C5D-02A0CAA3AC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5" y="1512557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6B9E1B34-90A7-4A97-80E0-CF107DC2B3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1644814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D1C910E4-F076-CD88-3B68-BA7727E123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1756337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E1B9298F-5D7A-30C9-3AD4-CAA3B75B4A4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8204" y="1904870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6902423-74FA-CF0F-6459-31E62B35B8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8203" y="2036614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AF2B2F37-5C0E-0041-F514-8AEC90FAD95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6644" y="2184952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E865C6E-D974-E183-D720-D9F7500456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8658" y="2313881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938B4548-5870-B4C9-E217-63E1A0B200F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8658" y="2432832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FF440233-A6CB-DE61-2E66-C8AE452289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45112" y="2581686"/>
              <a:ext cx="468797" cy="18211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578445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18203-F1CC-7498-60D5-33338C49A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209EC7-9EA7-A745-03E0-F4AA6D4CA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9D5906-BD9E-4277-A2CC-7C0C630088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6068D6-6C64-408D-AC8D-8112E30F4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2C4B4E-D03E-A5C3-365D-5A23C1006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E0B7FBE-9052-808C-8FB9-73D13C6E1BB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691CB22-C335-FEAB-22A3-D7A61635023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80E830C-9C81-B153-887A-B62D99FB490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5847B1-ED92-E105-7CB4-68DEEDBA16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r>
                  <a:rPr lang="it-IT" sz="2400" dirty="0"/>
                  <a:t>The extracted gaussian widths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400" dirty="0"/>
                  <a:t> are plotted against the impact position</a:t>
                </a:r>
              </a:p>
              <a:p>
                <a:r>
                  <a:rPr lang="it-IT" sz="2400" dirty="0"/>
                  <a:t>The transition between the outside and inside regions is fitted using a Error function (Erf)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5847B1-ED92-E105-7CB4-68DEEDBA16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3"/>
                <a:stretch>
                  <a:fillRect l="-812" t="-16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59EF23C-2F2E-C789-D447-CAC12D3FD0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600" y="2484230"/>
            <a:ext cx="5280000" cy="396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DE6AB8C-0883-C774-559B-7B8C6AF593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2200" y="2484230"/>
            <a:ext cx="5280000" cy="39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E3A4A79-ACEC-71C8-EEFF-FEBD83A36DCC}"/>
                  </a:ext>
                </a:extLst>
              </p:cNvPr>
              <p:cNvSpPr/>
              <p:nvPr/>
            </p:nvSpPr>
            <p:spPr>
              <a:xfrm>
                <a:off x="9991013" y="3244334"/>
                <a:ext cx="1504987" cy="59312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E3A4A79-ACEC-71C8-EEFF-FEBD83A36D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1013" y="3244334"/>
                <a:ext cx="1504987" cy="59312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9228606-FA7F-7B48-6529-732AB3200FE5}"/>
                  </a:ext>
                </a:extLst>
              </p:cNvPr>
              <p:cNvSpPr/>
              <p:nvPr/>
            </p:nvSpPr>
            <p:spPr>
              <a:xfrm>
                <a:off x="4626880" y="4976386"/>
                <a:ext cx="1504987" cy="59312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9228606-FA7F-7B48-6529-732AB3200F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6880" y="4976386"/>
                <a:ext cx="1504987" cy="593124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04689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7A32D-8FC5-0D92-3505-A21082727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10C029BE-CCB2-713B-56C1-B62307C0C9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6423" y="1363202"/>
            <a:ext cx="6657530" cy="499314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4353289-9AD8-440E-3B9A-5505DEB2B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DDE659F-8F35-A966-2CD7-4D988A7717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36E6FC-21F1-EE10-F936-6E7D303DE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3956885-FDA0-D03A-7CA8-19E0EC4F7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485EEFC-A8DC-F8C5-14AF-14F7F3E81BF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9BEE80B-6033-01E9-AEA5-3E75E472FC4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D01C0A9-8B4B-EB8F-A538-388A89B20FE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98BA6A9-F03D-3E04-EB7E-5999CCA31CF5}"/>
              </a:ext>
            </a:extLst>
          </p:cNvPr>
          <p:cNvGrpSpPr/>
          <p:nvPr/>
        </p:nvGrpSpPr>
        <p:grpSpPr>
          <a:xfrm>
            <a:off x="5560541" y="1451083"/>
            <a:ext cx="5820070" cy="1800000"/>
            <a:chOff x="5560541" y="1451083"/>
            <a:chExt cx="5820070" cy="1800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5056139-0729-303B-C7A2-C103BD4EB3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62" b="5262"/>
            <a:stretch/>
          </p:blipFill>
          <p:spPr>
            <a:xfrm>
              <a:off x="7928946" y="1451083"/>
              <a:ext cx="2687477" cy="1800000"/>
            </a:xfrm>
            <a:prstGeom prst="rect">
              <a:avLst/>
            </a:prstGeom>
            <a:ln w="38100">
              <a:solidFill>
                <a:srgbClr val="FFC000"/>
              </a:solidFill>
            </a:ln>
          </p:spPr>
        </p:pic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2522C0AE-61F4-F6C4-A902-7D9FEAE91874}"/>
                </a:ext>
              </a:extLst>
            </p:cNvPr>
            <p:cNvSpPr/>
            <p:nvPr/>
          </p:nvSpPr>
          <p:spPr>
            <a:xfrm>
              <a:off x="9875624" y="1845194"/>
              <a:ext cx="1504987" cy="593124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INSIDE</a:t>
              </a:r>
              <a:endParaRPr lang="it-IT" sz="2000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3A8177B-3AB5-4C1C-E0D3-2DFD721191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560541" y="2162432"/>
              <a:ext cx="2368405" cy="275886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D1BE663-98D0-A4D6-C2C7-9DA50F806FFE}"/>
              </a:ext>
            </a:extLst>
          </p:cNvPr>
          <p:cNvGrpSpPr/>
          <p:nvPr/>
        </p:nvGrpSpPr>
        <p:grpSpPr>
          <a:xfrm>
            <a:off x="7806088" y="3873532"/>
            <a:ext cx="4300205" cy="2393124"/>
            <a:chOff x="7806088" y="3873532"/>
            <a:chExt cx="4300205" cy="2393124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CB6A3EB-6E0A-3054-C38C-F7C527E94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87" b="4887"/>
            <a:stretch/>
          </p:blipFill>
          <p:spPr>
            <a:xfrm>
              <a:off x="9272684" y="4466656"/>
              <a:ext cx="2657940" cy="1800000"/>
            </a:xfrm>
            <a:prstGeom prst="rect">
              <a:avLst/>
            </a:prstGeom>
            <a:ln w="38100">
              <a:solidFill>
                <a:srgbClr val="FFC000"/>
              </a:solidFill>
            </a:ln>
          </p:spPr>
        </p:pic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0C0185F-512B-741C-9B82-3151193FC7CF}"/>
                </a:ext>
              </a:extLst>
            </p:cNvPr>
            <p:cNvSpPr/>
            <p:nvPr/>
          </p:nvSpPr>
          <p:spPr>
            <a:xfrm>
              <a:off x="10601306" y="3873532"/>
              <a:ext cx="1504987" cy="593124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OUTSIDE</a:t>
              </a:r>
              <a:endParaRPr lang="it-IT" sz="200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F1607AC-B76D-07BC-F0E7-528BBEAFDA5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06088" y="5406917"/>
              <a:ext cx="1466596" cy="27959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23CB971-15BC-496E-7A1D-BFFBC0FC6EAC}"/>
              </a:ext>
            </a:extLst>
          </p:cNvPr>
          <p:cNvCxnSpPr>
            <a:cxnSpLocks/>
          </p:cNvCxnSpPr>
          <p:nvPr/>
        </p:nvCxnSpPr>
        <p:spPr>
          <a:xfrm flipH="1">
            <a:off x="4708585" y="3793052"/>
            <a:ext cx="1531577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3B67743A-D519-E4BA-7FDB-C3D494C82764}"/>
                  </a:ext>
                </a:extLst>
              </p:cNvPr>
              <p:cNvSpPr/>
              <p:nvPr/>
            </p:nvSpPr>
            <p:spPr>
              <a:xfrm>
                <a:off x="419204" y="1565212"/>
                <a:ext cx="3379808" cy="115308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The window @ half height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2.091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±0.00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3B67743A-D519-E4BA-7FDB-C3D494C827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204" y="1565212"/>
                <a:ext cx="3379808" cy="115308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1567C4-9CA7-D97F-58B2-53EB3333F4D1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2109108" y="2718299"/>
            <a:ext cx="3178127" cy="10003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5CC75629-0F8D-7FA8-30DE-EEB070D49073}"/>
                  </a:ext>
                </a:extLst>
              </p:cNvPr>
              <p:cNvSpPr/>
              <p:nvPr/>
            </p:nvSpPr>
            <p:spPr>
              <a:xfrm>
                <a:off x="261376" y="4179035"/>
                <a:ext cx="3630143" cy="115308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dirty="0">
                    <a:solidFill>
                      <a:schemeClr val="tx1"/>
                    </a:solidFill>
                  </a:rPr>
                  <a:t>The width transition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0.0901(3) </m:t>
                    </m:r>
                    <m:r>
                      <m:rPr>
                        <m:sty m:val="p"/>
                      </m:rPr>
                      <a:rPr lang="it-IT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is compatible with position error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∼0.1055 </m:t>
                    </m:r>
                    <m:r>
                      <m:rPr>
                        <m:sty m:val="p"/>
                      </m:rPr>
                      <a:rPr lang="it-IT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it-IT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5CC75629-0F8D-7FA8-30DE-EEB070D490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376" y="4179035"/>
                <a:ext cx="3630143" cy="115308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6A2015B-1683-E3D6-FDA1-4B0B6852E5D1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891519" y="4419682"/>
            <a:ext cx="706522" cy="33589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140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5A86C-FFFB-CE2C-A997-6CDA84EA3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EF0363A-EF7C-1334-6663-8E42968A49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50" r="1865"/>
          <a:stretch>
            <a:fillRect/>
          </a:stretch>
        </p:blipFill>
        <p:spPr>
          <a:xfrm>
            <a:off x="197187" y="2908700"/>
            <a:ext cx="4025226" cy="2865564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438CF04-4E4C-8CA9-93E9-3C9E5AF2E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AC3703-0773-7984-77F8-CEFB93AD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06F8D96-7A44-2EF6-3ABA-1627B320E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69E283-707A-81F7-52F5-5342647F2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8758721-40BB-259A-7A9A-861F4026CE6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0A9F725-D121-A8FD-96B1-D9781C4AC64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04DD4A2-E32F-EC55-83F2-628AB1E517A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66FF68F-F94B-A4B2-E7C3-C52958F87B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𝑀𝐶𝑆</m:t>
                          </m:r>
                        </m:sub>
                      </m:sSub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⟩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13.6 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MeV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𝑐𝑝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ad>
                        <m:radPr>
                          <m:degHide m:val="on"/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1+0.038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=66.5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400" dirty="0"/>
              </a:p>
              <a:p>
                <a:pPr marL="0" indent="0">
                  <a:buNone/>
                </a:pPr>
                <a:endParaRPr lang="it-IT" sz="2400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66FF68F-F94B-A4B2-E7C3-C52958F87B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27CD657-7070-260B-A911-797F4F98AA56}"/>
              </a:ext>
            </a:extLst>
          </p:cNvPr>
          <p:cNvCxnSpPr>
            <a:cxnSpLocks/>
          </p:cNvCxnSpPr>
          <p:nvPr/>
        </p:nvCxnSpPr>
        <p:spPr>
          <a:xfrm flipV="1">
            <a:off x="3581400" y="5071533"/>
            <a:ext cx="2362200" cy="294369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D17E67D5-F236-24D2-710C-C0F4FB47C7B4}"/>
                  </a:ext>
                </a:extLst>
              </p:cNvPr>
              <p:cNvSpPr/>
              <p:nvPr/>
            </p:nvSpPr>
            <p:spPr>
              <a:xfrm>
                <a:off x="6111503" y="4274124"/>
                <a:ext cx="5623858" cy="1500140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not zero, but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12.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(1)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which corresponds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𝑡𝑟𝑎𝑐𝑘</m:t>
                        </m:r>
                      </m:sub>
                    </m:sSub>
                  </m:oMath>
                </a14:m>
                <a:endParaRPr lang="en-US" sz="2000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𝑡𝑟𝑎𝑐𝑘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  <m:sup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  <m:sup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=12.6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D17E67D5-F236-24D2-710C-C0F4FB47C7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503" y="4274124"/>
                <a:ext cx="5623858" cy="150014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62BAF0E-0B50-5F83-434F-C211CFA8C8B0}"/>
              </a:ext>
            </a:extLst>
          </p:cNvPr>
          <p:cNvCxnSpPr>
            <a:cxnSpLocks/>
          </p:cNvCxnSpPr>
          <p:nvPr/>
        </p:nvCxnSpPr>
        <p:spPr>
          <a:xfrm flipV="1">
            <a:off x="2752825" y="3226789"/>
            <a:ext cx="2338939" cy="34344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F1899BFA-F5A7-2A02-3EFD-3065E103651B}"/>
                  </a:ext>
                </a:extLst>
              </p:cNvPr>
              <p:cNvSpPr/>
              <p:nvPr/>
            </p:nvSpPr>
            <p:spPr>
              <a:xfrm>
                <a:off x="5338119" y="2516631"/>
                <a:ext cx="4652904" cy="1489005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𝑚𝑒𝑎𝑠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𝑚𝑐𝑠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79.5 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𝑚𝑐𝑠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=78.30(6)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≠</m:t>
                      </m:r>
                      <m:sSubSup>
                        <m:sSubSup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𝑚𝑐𝑠</m:t>
                          </m:r>
                        </m:sub>
                        <m:sup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𝑡ℎ</m:t>
                          </m:r>
                        </m:sup>
                      </m:sSubSup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F1899BFA-F5A7-2A02-3EFD-3065E10365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119" y="2516631"/>
                <a:ext cx="4652904" cy="14890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Brace 16">
            <a:extLst>
              <a:ext uri="{FF2B5EF4-FFF2-40B4-BE49-F238E27FC236}">
                <a16:creationId xmlns:a16="http://schemas.microsoft.com/office/drawing/2014/main" id="{05108C21-3509-2BA4-2645-D03D16CDF3D4}"/>
              </a:ext>
            </a:extLst>
          </p:cNvPr>
          <p:cNvSpPr/>
          <p:nvPr/>
        </p:nvSpPr>
        <p:spPr>
          <a:xfrm>
            <a:off x="2727289" y="3165029"/>
            <a:ext cx="357786" cy="2087691"/>
          </a:xfrm>
          <a:prstGeom prst="rightBrace">
            <a:avLst>
              <a:gd name="adj1" fmla="val 43750"/>
              <a:gd name="adj2" fmla="val 50000"/>
            </a:avLst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0DD242-528B-1D31-C125-7865ADDCE52E}"/>
                  </a:ext>
                </a:extLst>
              </p:cNvPr>
              <p:cNvSpPr txBox="1"/>
              <p:nvPr/>
            </p:nvSpPr>
            <p:spPr>
              <a:xfrm>
                <a:off x="3085075" y="4056212"/>
                <a:ext cx="20116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b="0" dirty="0"/>
                  <a:t>Jump =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66.6 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it-IT" b="0" i="0" smtClean="0"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endParaRPr lang="it-IT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0DD242-528B-1D31-C125-7865ADDCE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5075" y="4056212"/>
                <a:ext cx="2011680" cy="369332"/>
              </a:xfrm>
              <a:prstGeom prst="rect">
                <a:avLst/>
              </a:prstGeom>
              <a:blipFill>
                <a:blip r:embed="rId7"/>
                <a:stretch>
                  <a:fillRect l="-2424" t="-6557" b="-2623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813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A147E-9583-17A2-C251-DFBD0640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B444A3BC-ED1A-1CDF-F4ED-911079C6E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245062"/>
            <a:ext cx="6480000" cy="486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CF230C73-EB01-57B1-6C81-AB0A8644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12E0B60-1F33-9826-84B7-9FEAB3F57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F23F36-3686-07AA-92E1-46A183255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CA6A74B-1DD1-4436-C95C-22F8A6AE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26ED73A-6FA4-1E1F-54C4-FC9655F562F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F0FB334-719D-89E7-A3B2-FC39615E343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CB31ED8-F7E7-AF0A-851D-7A5316E8089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9F59BF-1E53-7001-C3D7-32D2FE353A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9" b="5299"/>
          <a:stretch/>
        </p:blipFill>
        <p:spPr>
          <a:xfrm>
            <a:off x="7928946" y="1451083"/>
            <a:ext cx="2687477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05F8B1C-DA2A-E818-14A1-4D26F4BCBD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5" b="4765"/>
          <a:stretch/>
        </p:blipFill>
        <p:spPr>
          <a:xfrm>
            <a:off x="9272684" y="4466656"/>
            <a:ext cx="2657940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83D1D24-3363-6BE1-CCD2-CF448535CB23}"/>
              </a:ext>
            </a:extLst>
          </p:cNvPr>
          <p:cNvSpPr/>
          <p:nvPr/>
        </p:nvSpPr>
        <p:spPr>
          <a:xfrm>
            <a:off x="10601306" y="387353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6BE05DE-0BBC-D16E-75BE-8162E9A8E7AA}"/>
              </a:ext>
            </a:extLst>
          </p:cNvPr>
          <p:cNvSpPr/>
          <p:nvPr/>
        </p:nvSpPr>
        <p:spPr>
          <a:xfrm>
            <a:off x="9875624" y="184519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CLAMP?</a:t>
            </a:r>
            <a:endParaRPr lang="it-IT" sz="20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5EABA61-82F1-D53E-9065-2ED3206D0D58}"/>
              </a:ext>
            </a:extLst>
          </p:cNvPr>
          <p:cNvCxnSpPr>
            <a:cxnSpLocks/>
          </p:cNvCxnSpPr>
          <p:nvPr/>
        </p:nvCxnSpPr>
        <p:spPr>
          <a:xfrm flipH="1">
            <a:off x="4600876" y="2438318"/>
            <a:ext cx="3328070" cy="806016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E8A367-C685-925C-E04D-0FD772300057}"/>
              </a:ext>
            </a:extLst>
          </p:cNvPr>
          <p:cNvCxnSpPr>
            <a:cxnSpLocks/>
          </p:cNvCxnSpPr>
          <p:nvPr/>
        </p:nvCxnSpPr>
        <p:spPr>
          <a:xfrm flipH="1" flipV="1">
            <a:off x="7238198" y="4023360"/>
            <a:ext cx="2034486" cy="1663148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22D206-5695-8B93-6C3F-8DF0E82DA48E}"/>
              </a:ext>
            </a:extLst>
          </p:cNvPr>
          <p:cNvCxnSpPr>
            <a:cxnSpLocks/>
          </p:cNvCxnSpPr>
          <p:nvPr/>
        </p:nvCxnSpPr>
        <p:spPr>
          <a:xfrm flipH="1">
            <a:off x="5226908" y="4141180"/>
            <a:ext cx="2851029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E845815C-1375-0031-24F6-9B16F6E0AC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7" b="4817"/>
          <a:stretch/>
        </p:blipFill>
        <p:spPr>
          <a:xfrm>
            <a:off x="579340" y="2438318"/>
            <a:ext cx="2657940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7E0E980-2575-2C0C-D19D-C0EF2FA4BB4D}"/>
              </a:ext>
            </a:extLst>
          </p:cNvPr>
          <p:cNvSpPr/>
          <p:nvPr/>
        </p:nvSpPr>
        <p:spPr>
          <a:xfrm>
            <a:off x="235220" y="2011900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5B2A726-B3E8-1902-65C1-258905D39C22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1908310" y="4238318"/>
            <a:ext cx="1673090" cy="948179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1524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46157-A75A-4F42-11F9-B089BE8F8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34FE4903-1386-79B7-072D-4ABE455000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400" y="1287011"/>
            <a:ext cx="6480000" cy="486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085F966-47C0-F8C3-7B2E-CE39C7F40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008D3E-2AF9-7DDF-3DE4-ECC80FF9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22EC9F7-4985-C527-F13E-56BD3744B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FE29E19-3C21-641A-919C-6A6E4AA6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E2EDC4B-8E0B-7DF0-AF16-AA51E87BF6F7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559E469-917B-A12E-8324-98874038CE3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3A09DF68-83B5-B5DC-3ED5-47679BD22156}"/>
                  </a:ext>
                </a:extLst>
              </p:cNvPr>
              <p:cNvSpPr/>
              <p:nvPr/>
            </p:nvSpPr>
            <p:spPr>
              <a:xfrm>
                <a:off x="4695316" y="4944164"/>
                <a:ext cx="3044935" cy="1307516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𝑚𝑐𝑠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𝑚𝑒𝑎𝑠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𝑏𝑠𝑙</m:t>
                              </m:r>
                            </m:sub>
                            <m:sup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=62.99(4)</m:t>
                      </m:r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3A09DF68-83B5-B5DC-3ED5-47679BD221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5316" y="4944164"/>
                <a:ext cx="3044935" cy="13075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A0E6308-C7C5-DF1E-45A9-26F01BD77B7E}"/>
                  </a:ext>
                </a:extLst>
              </p:cNvPr>
              <p:cNvSpPr/>
              <p:nvPr/>
            </p:nvSpPr>
            <p:spPr>
              <a:xfrm>
                <a:off x="6691897" y="1327414"/>
                <a:ext cx="3713011" cy="981048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CLAMP: which material/metal?</a:t>
                </a: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on average </a:t>
                </a:r>
                <a14:m>
                  <m:oMath xmlns:m="http://schemas.openxmlformats.org/officeDocument/2006/math"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∼99.2±0.3 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it-IT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A0E6308-C7C5-DF1E-45A9-26F01BD77B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1897" y="1327414"/>
                <a:ext cx="3713011" cy="981048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A755249-2B4A-FA3A-8250-C340B54846BE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2926080" y="1817938"/>
            <a:ext cx="3765817" cy="1214004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6C03C2-A856-A771-24AC-62D33E6FC818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4196615" y="4119896"/>
            <a:ext cx="498701" cy="1478026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60718C5F-D3F1-9719-325D-6B30A4D61916}"/>
                  </a:ext>
                </a:extLst>
              </p:cNvPr>
              <p:cNvSpPr/>
              <p:nvPr/>
            </p:nvSpPr>
            <p:spPr>
              <a:xfrm>
                <a:off x="230779" y="5828074"/>
                <a:ext cx="2565732" cy="63294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𝑏𝑠𝑙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11.6(1)</m:t>
                      </m:r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60718C5F-D3F1-9719-325D-6B30A4D619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779" y="5828074"/>
                <a:ext cx="2565732" cy="63294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735148-FAB4-02BC-AECE-82B11CFEB54B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1513645" y="5444544"/>
            <a:ext cx="170776" cy="38353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9E944CB0-EC63-A73F-6912-CFAACE8FDB4F}"/>
                  </a:ext>
                </a:extLst>
              </p:cNvPr>
              <p:cNvSpPr/>
              <p:nvPr/>
            </p:nvSpPr>
            <p:spPr>
              <a:xfrm>
                <a:off x="7997652" y="2193974"/>
                <a:ext cx="3913148" cy="367743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000" i="1" dirty="0">
                    <a:solidFill>
                      <a:schemeClr val="tx1"/>
                    </a:solidFill>
                  </a:rPr>
                  <a:t>unknown: </a:t>
                </a:r>
                <a14:m>
                  <m:oMath xmlns:m="http://schemas.openxmlformats.org/officeDocument/2006/math"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b="0" dirty="0">
                  <a:solidFill>
                    <a:schemeClr val="tx1"/>
                  </a:solidFill>
                </a:endParaRPr>
              </a:p>
              <a:p>
                <a:pPr algn="ctr"/>
                <a:endParaRPr lang="it-IT" sz="2000" b="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Between different metallic materials (stainless steel, aluminium, titanium, copper, brass):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it-IT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it-IT" sz="2000" b="0" dirty="0">
                    <a:solidFill>
                      <a:schemeClr val="tx1"/>
                    </a:solidFill>
                  </a:rPr>
                  <a:t> The only similar is titanium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∼110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1600" i="1" dirty="0">
                    <a:solidFill>
                      <a:schemeClr val="tx1"/>
                    </a:solidFill>
                  </a:rPr>
                  <a:t>(stainless steel too much scattering, aluminium not enough scattering)</a:t>
                </a:r>
              </a:p>
            </p:txBody>
          </p:sp>
        </mc:Choice>
        <mc:Fallback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9E944CB0-EC63-A73F-6912-CFAACE8FDB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7652" y="2193974"/>
                <a:ext cx="3913148" cy="367743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2559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4288E-EC6F-99BD-38B8-2A46D625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B39948-F105-39FD-816C-D28029061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ANALYSIS OF THE BEAM DISTRIBUTION (REAL DATA)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ADCD95C-E218-33C9-E8E1-CC040F2C4F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D9DA67-65BE-0A22-5F86-7F86116A9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210CBBA-56EE-2F17-38EC-4DE3F7944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634E7D0E-4962-6310-0F77-95DF6C14E5B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AB30060-11E5-9BA8-9DA0-D6BA29088E8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13DDEBE-CCF7-8EEF-7DF4-9858528AC59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26EFD93-2AC4-5D2C-28D4-3A10A8B17B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57497"/>
            <a:ext cx="4948063" cy="486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274BFB-9F00-1CC7-0464-EF70BE9F0D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5737" y="1357497"/>
            <a:ext cx="4948063" cy="4860000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5B5132BD-BA51-19D6-CD5E-ED320532FBE3}"/>
              </a:ext>
            </a:extLst>
          </p:cNvPr>
          <p:cNvSpPr/>
          <p:nvPr/>
        </p:nvSpPr>
        <p:spPr>
          <a:xfrm>
            <a:off x="4104640" y="1300480"/>
            <a:ext cx="701040" cy="3251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65EE38E-9034-7A03-BDF8-D85D2AE59272}"/>
              </a:ext>
            </a:extLst>
          </p:cNvPr>
          <p:cNvSpPr/>
          <p:nvPr/>
        </p:nvSpPr>
        <p:spPr>
          <a:xfrm>
            <a:off x="9631680" y="1300480"/>
            <a:ext cx="701040" cy="3251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0E24CE1-3B84-8701-0B62-626C73C41CC2}"/>
              </a:ext>
            </a:extLst>
          </p:cNvPr>
          <p:cNvSpPr/>
          <p:nvPr/>
        </p:nvSpPr>
        <p:spPr>
          <a:xfrm>
            <a:off x="10300067" y="1734686"/>
            <a:ext cx="1673207" cy="60529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dirty="0">
                <a:solidFill>
                  <a:schemeClr val="tx1"/>
                </a:solidFill>
              </a:rPr>
              <a:t>Instrumentalartifact?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3CD70A-2699-02C3-D8E6-2168E8B26935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10849232" y="2339980"/>
            <a:ext cx="287439" cy="12736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A2FED0-64ED-5B1E-AEAA-95BC4C9D3153}"/>
              </a:ext>
            </a:extLst>
          </p:cNvPr>
          <p:cNvSpPr/>
          <p:nvPr/>
        </p:nvSpPr>
        <p:spPr>
          <a:xfrm>
            <a:off x="8121441" y="5591169"/>
            <a:ext cx="3813733" cy="8177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i="1" dirty="0">
                <a:solidFill>
                  <a:schemeClr val="tx1"/>
                </a:solidFill>
              </a:rPr>
              <a:t>tracking system’s discretization effect: due to the discrete spatial resolution of the microstrip detectors</a:t>
            </a:r>
          </a:p>
        </p:txBody>
      </p:sp>
    </p:spTree>
    <p:extLst>
      <p:ext uri="{BB962C8B-B14F-4D97-AF65-F5344CB8AC3E}">
        <p14:creationId xmlns:p14="http://schemas.microsoft.com/office/powerpoint/2010/main" val="1403907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C27DB-DDFF-9A67-B037-E0DA37F36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C4903D-C96D-50A4-96C3-FBB129F70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ANALYSIS OF THE BEAM DISTRIBUTION (REAL DATA)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25AF965-5943-0283-E758-DDECA1D020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2F4C5FA-C697-EB91-C362-CC4B61C9E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FBF363-0BE0-0200-D544-D28ED192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DAF2168-1F8B-4260-524D-70AEB4FDECF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80942E6-82AE-5C4C-E0DE-FEAED56F9FA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FBBE7E9-17A0-6F12-4A1F-3705F75368B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F2404EB-35C0-DF54-D584-B92AB28944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09968" y="1351294"/>
                <a:ext cx="5743832" cy="4825669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ü"/>
                </a:pPr>
                <a:r>
                  <a:rPr lang="it-IT" dirty="0"/>
                  <a:t> Gaussian fits on the distributions of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it-IT" dirty="0"/>
              </a:p>
              <a:p>
                <a:pPr>
                  <a:buFont typeface="Wingdings" panose="05000000000000000000" pitchFamily="2" charset="2"/>
                  <a:buChar char="ü"/>
                </a:pPr>
                <a:r>
                  <a:rPr lang="it-IT" dirty="0"/>
                  <a:t> Check the correlation:</a:t>
                </a:r>
              </a:p>
              <a:p>
                <a:pPr marL="457200" lvl="1" indent="0">
                  <a:buNone/>
                </a:pPr>
                <a:r>
                  <a:rPr lang="it-IT" dirty="0"/>
                  <a:t>Not negligible for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it-IT" dirty="0"/>
                  <a:t>,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it-IT" dirty="0"/>
                  <a:t>:</a:t>
                </a:r>
              </a:p>
              <a:p>
                <a:pPr marL="457200" lvl="1" indent="0">
                  <a:buNone/>
                </a:pPr>
                <a:endParaRPr lang="it-IT" dirty="0"/>
              </a:p>
              <a:p>
                <a:pPr marL="457200" lvl="1" indent="0">
                  <a:buNone/>
                </a:pPr>
                <a:endParaRPr lang="it-IT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mcs>
                            <m:mc>
                              <m:mcPr>
                                <m:count m:val="4"/>
                                <m:mcJc m:val="center"/>
                              </m:mcPr>
                            </m:mc>
                          </m:mcs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0.2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0.2</m:t>
                            </m:r>
                          </m:e>
                        </m:mr>
                        <m:mr>
                          <m:e>
                            <m:r>
                              <a:rPr lang="it-IT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0.2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0.2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</m:m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F2404EB-35C0-DF54-D584-B92AB28944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09968" y="1351294"/>
                <a:ext cx="5743832" cy="4825669"/>
              </a:xfrm>
              <a:blipFill>
                <a:blip r:embed="rId3"/>
                <a:stretch>
                  <a:fillRect l="-1803" t="-2276" r="-63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11">
            <a:extLst>
              <a:ext uri="{FF2B5EF4-FFF2-40B4-BE49-F238E27FC236}">
                <a16:creationId xmlns:a16="http://schemas.microsoft.com/office/drawing/2014/main" id="{66E75AF7-7B2A-D675-BC90-5353C57111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175" y="1351294"/>
            <a:ext cx="5025939" cy="499760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C8FF09-8E01-8C56-AA30-F654A5089D7C}"/>
                  </a:ext>
                </a:extLst>
              </p:cNvPr>
              <p:cNvSpPr txBox="1"/>
              <p:nvPr/>
            </p:nvSpPr>
            <p:spPr>
              <a:xfrm>
                <a:off x="7011801" y="3257246"/>
                <a:ext cx="2633541" cy="490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      </m:t>
                      </m:r>
                      <m:sSub>
                        <m:sSubPr>
                          <m:ctrlP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      </m:t>
                      </m:r>
                      <m:sSub>
                        <m:sSubPr>
                          <m:ctrlP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it-IT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C8FF09-8E01-8C56-AA30-F654A5089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1801" y="3257246"/>
                <a:ext cx="2633541" cy="490840"/>
              </a:xfrm>
              <a:prstGeom prst="rect">
                <a:avLst/>
              </a:prstGeom>
              <a:blipFill>
                <a:blip r:embed="rId5"/>
                <a:stretch>
                  <a:fillRect b="-61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6DC93D-60D9-EEAE-67AC-E30F3AB3ADA0}"/>
                  </a:ext>
                </a:extLst>
              </p:cNvPr>
              <p:cNvSpPr txBox="1"/>
              <p:nvPr/>
            </p:nvSpPr>
            <p:spPr>
              <a:xfrm>
                <a:off x="6235700" y="3621113"/>
                <a:ext cx="850900" cy="15988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sz="240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it-IT" sz="2400" i="1" dirty="0">
                  <a:solidFill>
                    <a:schemeClr val="accent6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it-IT" sz="2400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it-IT" sz="2400" i="1" dirty="0">
                  <a:solidFill>
                    <a:schemeClr val="accent6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it-IT" sz="2400" i="1" dirty="0">
                  <a:solidFill>
                    <a:schemeClr val="accent6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4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it-IT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6DC93D-60D9-EEAE-67AC-E30F3AB3A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5700" y="3621113"/>
                <a:ext cx="850900" cy="1598836"/>
              </a:xfrm>
              <a:prstGeom prst="rect">
                <a:avLst/>
              </a:prstGeom>
              <a:blipFill>
                <a:blip r:embed="rId6"/>
                <a:stretch>
                  <a:fillRect b="-152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13665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44A28-4793-2DBB-2CB3-AE5CEB0B2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6C7920-7576-E55A-F9E5-E837ED819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SIMULATING THE SHORT CRYSTAL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CFD5F52-E0FE-8106-1B0C-25E33470AE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100572C-209B-383C-E60A-C4E391AEF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848D93-D323-5E7C-F190-F5C2C361D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5B1A981-2947-503A-1549-19D09B1BB63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9AF92A7-D52E-83AB-8896-CD20FF14BB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7DD07B6-F34B-B85B-4A23-470C95293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3700" y="1312438"/>
            <a:ext cx="5990100" cy="486452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sz="2400" dirty="0"/>
          </a:p>
          <a:p>
            <a:pPr marL="0" indent="0">
              <a:buNone/>
            </a:pPr>
            <a:r>
              <a:rPr lang="it-IT" sz="2400" dirty="0"/>
              <a:t>Fitting the 1d marginal distributions and then sampling them indipendently would not be correct if variables are uncorrelated.</a:t>
            </a:r>
          </a:p>
          <a:p>
            <a:pPr marL="0" indent="0">
              <a:buNone/>
            </a:pPr>
            <a:endParaRPr lang="it-IT" sz="2400" dirty="0"/>
          </a:p>
          <a:p>
            <a:pPr marL="0" indent="0">
              <a:buNone/>
            </a:pPr>
            <a:r>
              <a:rPr lang="it-IT" sz="2400" dirty="0"/>
              <a:t>Solution:</a:t>
            </a:r>
          </a:p>
          <a:p>
            <a:pPr marL="0" indent="0">
              <a:buNone/>
            </a:pPr>
            <a:r>
              <a:rPr lang="it-IT" sz="2400" dirty="0"/>
              <a:t>Using a multivariate random normal distribution (thanks to the covariance matrix reproduce the correlation)</a:t>
            </a:r>
          </a:p>
          <a:p>
            <a:pPr marL="0" indent="0">
              <a:buNone/>
            </a:pPr>
            <a:endParaRPr lang="it-IT" sz="2400" dirty="0"/>
          </a:p>
          <a:p>
            <a:pPr marL="0" indent="0">
              <a:buNone/>
            </a:pPr>
            <a:endParaRPr lang="it-IT" sz="2400" dirty="0"/>
          </a:p>
          <a:p>
            <a:pPr marL="0" indent="0">
              <a:buNone/>
            </a:pPr>
            <a:endParaRPr lang="it-IT" sz="24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B38174C-0AD3-05E4-EEF6-D1709EEA5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406" y="1334755"/>
            <a:ext cx="4894294" cy="48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654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30AC2-9E90-7075-B24F-5D440F6C8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2219A0-F9AA-F37A-A114-C8B837C06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SIMULATING THE SHORT CRYSTAL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59BF3A5-3234-9472-6413-618DC899F8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25FACFA-4937-EFCD-1390-D91555829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86FAFEF-5FEA-D7D8-12D0-BC7661AC6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BD88A40-E8EC-7E70-9B3E-817DD4B017ED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69142E5-D880-1067-2ABA-6E477C1C98A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90F6DAB-1A59-3D57-9017-7515A1A597A5}"/>
              </a:ext>
            </a:extLst>
          </p:cNvPr>
          <p:cNvCxnSpPr/>
          <p:nvPr/>
        </p:nvCxnSpPr>
        <p:spPr>
          <a:xfrm>
            <a:off x="5736000" y="3965489"/>
            <a:ext cx="72000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5DE927F5-F761-3AE6-4C47-936912C231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28218"/>
            <a:ext cx="4860000" cy="4860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56A96DD-BE1B-7A18-53E4-B9B8FF750DE2}"/>
              </a:ext>
            </a:extLst>
          </p:cNvPr>
          <p:cNvSpPr txBox="1"/>
          <p:nvPr/>
        </p:nvSpPr>
        <p:spPr>
          <a:xfrm>
            <a:off x="1606392" y="1258886"/>
            <a:ext cx="3460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FF0000"/>
                </a:solidFill>
              </a:rPr>
              <a:t>Before: normal distribution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0F1820-EFD9-B860-32FB-CC9BB743C7F7}"/>
              </a:ext>
            </a:extLst>
          </p:cNvPr>
          <p:cNvSpPr txBox="1"/>
          <p:nvPr/>
        </p:nvSpPr>
        <p:spPr>
          <a:xfrm>
            <a:off x="7436442" y="1258886"/>
            <a:ext cx="3460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FF0000"/>
                </a:solidFill>
              </a:rPr>
              <a:t>Now: normal distribution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322F68B-2322-EF3A-9E3F-748BB4E4F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0806" y="1628218"/>
            <a:ext cx="4894294" cy="48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8431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60B5-9D3F-A936-39C1-2DA5B22FC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991FAD-F457-6AF8-F0D7-036E373B8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SIMULATING THE SHORT CRYSTAL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774DFDF-891C-8D6D-2360-087C2893FEE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664EEAD-65D1-41FF-6A9D-4C0C72BDC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90A438-9598-BAAB-ED90-1DD338363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A8E2A96-D34C-2B8D-EBDA-82E4365F708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BA7411B-B00B-2824-A4B5-49BAD101680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05144DC-BB28-6FBE-CF1D-1659A6DAA5F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D807C3B-110A-2326-741C-BB0A2B2F2E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>
          <a:xfrm>
            <a:off x="508000" y="2217922"/>
            <a:ext cx="3771900" cy="31432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7">
                <a:extLst>
                  <a:ext uri="{FF2B5EF4-FFF2-40B4-BE49-F238E27FC236}">
                    <a16:creationId xmlns:a16="http://schemas.microsoft.com/office/drawing/2014/main" id="{B4BC83D3-748A-A91A-0C8B-2D2C2930A9E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79900" y="1312438"/>
                <a:ext cx="7073900" cy="48645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it-IT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it-IT" sz="2400" dirty="0"/>
                  <a:t>Out of 200k particles only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it-IT" sz="2400" dirty="0"/>
                  <a:t>650 are surviving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it-IT" sz="2400" dirty="0"/>
                  <a:t>But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=0.568 </m:t>
                    </m:r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r>
                  <a:rPr lang="it-IT" sz="2400" dirty="0"/>
                  <a:t> and the crystal with </a:t>
                </a:r>
                <a14:m>
                  <m:oMath xmlns:m="http://schemas.openxmlformats.org/officeDocument/2006/math">
                    <m:r>
                      <a:rPr lang="it-IT" sz="2400" i="1" dirty="0" smtClean="0">
                        <a:latin typeface="Cambria Math" panose="02040503050406030204" pitchFamily="18" charset="0"/>
                      </a:rPr>
                      <m:t>1 </m:t>
                    </m:r>
                    <m:r>
                      <m:rPr>
                        <m:sty m:val="p"/>
                      </m:rPr>
                      <a:rPr lang="it-IT" sz="2400" i="0" dirty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it-IT" sz="240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400" dirty="0"/>
                  <a:t>width, the fraction that should hit the crystal is 92%.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it-IT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it-IT" sz="2400" dirty="0"/>
                  <a:t>Possible problems?</a:t>
                </a:r>
              </a:p>
              <a:p>
                <a:endParaRPr lang="it-IT" sz="2400" dirty="0"/>
              </a:p>
            </p:txBody>
          </p:sp>
        </mc:Choice>
        <mc:Fallback>
          <p:sp>
            <p:nvSpPr>
              <p:cNvPr id="9" name="Content Placeholder 7">
                <a:extLst>
                  <a:ext uri="{FF2B5EF4-FFF2-40B4-BE49-F238E27FC236}">
                    <a16:creationId xmlns:a16="http://schemas.microsoft.com/office/drawing/2014/main" id="{B4BC83D3-748A-A91A-0C8B-2D2C2930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9900" y="1312438"/>
                <a:ext cx="7073900" cy="4864525"/>
              </a:xfrm>
              <a:prstGeom prst="rect">
                <a:avLst/>
              </a:prstGeom>
              <a:blipFill>
                <a:blip r:embed="rId4"/>
                <a:stretch>
                  <a:fillRect l="-1292" r="-189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2511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740B9-8AA9-2FAF-F04A-67F1D0456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DA8C4B-4242-BEDA-3511-DE6891DB8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it-IT" sz="3400" b="1" dirty="0">
                <a:solidFill>
                  <a:srgbClr val="002060"/>
                </a:solidFill>
              </a:rPr>
              <a:t>	THESIS: PART I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F59E0A-0CF6-E520-1963-280F68D8D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September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98F6D1F-0AF7-7D9B-13B0-F0DFEC95C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A79A45-3DF5-E45E-8F5F-149225F4A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757F355-D998-0EBE-CC7F-C612991E14B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406D862-D0F0-CF92-1BBF-B1619A2D6B6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3C979220-279B-471E-F49D-7F8298DE571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EBF645-28B3-090B-1F1E-40A3FA08FC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62400" y="1524000"/>
                <a:ext cx="7829723" cy="4652963"/>
              </a:xfrm>
            </p:spPr>
            <p:txBody>
              <a:bodyPr>
                <a:normAutofit/>
              </a:bodyPr>
              <a:lstStyle/>
              <a:p>
                <a:r>
                  <a:rPr lang="it-IT" dirty="0"/>
                  <a:t>Physics background</a:t>
                </a:r>
              </a:p>
              <a:p>
                <a:pPr lvl="1"/>
                <a:r>
                  <a:rPr lang="it-IT" dirty="0"/>
                  <a:t>Dipole moment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it-IT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it-IT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endParaRPr lang="it-IT" dirty="0"/>
              </a:p>
              <a:p>
                <a:r>
                  <a:rPr lang="it-IT" dirty="0"/>
                  <a:t>Crystal Channeling</a:t>
                </a:r>
              </a:p>
              <a:p>
                <a:pPr lvl="1"/>
                <a:r>
                  <a:rPr lang="it-IT" dirty="0"/>
                  <a:t>In straight/bent crystals</a:t>
                </a:r>
              </a:p>
              <a:p>
                <a:pPr lvl="1"/>
                <a:r>
                  <a:rPr lang="it-IT" dirty="0"/>
                  <a:t>Other processes (dechanneling, volume capture, ...)</a:t>
                </a:r>
              </a:p>
              <a:p>
                <a:r>
                  <a:rPr lang="it-IT" dirty="0"/>
                  <a:t>Experimental principle: measuring spin precession though bent crystals</a:t>
                </a:r>
              </a:p>
              <a:p>
                <a:r>
                  <a:rPr lang="it-IT" dirty="0"/>
                  <a:t>TWOCRYST experiment</a:t>
                </a:r>
              </a:p>
              <a:p>
                <a:r>
                  <a:rPr lang="it-IT" dirty="0"/>
                  <a:t>H8 testing</a:t>
                </a:r>
              </a:p>
              <a:p>
                <a:pPr lvl="1"/>
                <a:endParaRPr lang="it-IT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EBF645-28B3-090B-1F1E-40A3FA08FC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62400" y="1524000"/>
                <a:ext cx="7829723" cy="4652963"/>
              </a:xfrm>
              <a:blipFill>
                <a:blip r:embed="rId3"/>
                <a:stretch>
                  <a:fillRect l="-1402" t="-22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F408DA5-FF18-EFD0-1F08-73D11C4DEB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977" y="1632773"/>
            <a:ext cx="3087332" cy="4223854"/>
          </a:xfrm>
          <a:prstGeom prst="rect">
            <a:avLst/>
          </a:prstGeom>
          <a:ln w="28575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33182053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4771</TotalTime>
  <Words>649</Words>
  <Application>Microsoft Office PowerPoint</Application>
  <PresentationFormat>Widescreen</PresentationFormat>
  <Paragraphs>160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Wingdings</vt:lpstr>
      <vt:lpstr>Tema di Office</vt:lpstr>
      <vt:lpstr>PowerPoint Presentation</vt:lpstr>
      <vt:lpstr> WHAT’S NEW?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ANALYSIS OF THE BEAM DISTRIBUTION (REAL DATA)</vt:lpstr>
      <vt:lpstr> ANALYSIS OF THE BEAM DISTRIBUTION (REAL DATA)</vt:lpstr>
      <vt:lpstr> SIMULATING THE SHORT CRYSTAL</vt:lpstr>
      <vt:lpstr> SIMULATING THE SHORT CRYSTAL</vt:lpstr>
      <vt:lpstr> SIMULATING THE SHORT CRYSTAL</vt:lpstr>
      <vt:lpstr> THESIS: PART 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51</cp:revision>
  <dcterms:created xsi:type="dcterms:W3CDTF">2026-07-09T15:21:04Z</dcterms:created>
  <dcterms:modified xsi:type="dcterms:W3CDTF">2026-09-17T12:56:13Z</dcterms:modified>
</cp:coreProperties>
</file>