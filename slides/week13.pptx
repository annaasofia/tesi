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33" r:id="rId3"/>
    <p:sldId id="352" r:id="rId4"/>
    <p:sldId id="340" r:id="rId5"/>
    <p:sldId id="355" r:id="rId6"/>
    <p:sldId id="334" r:id="rId7"/>
    <p:sldId id="335" r:id="rId8"/>
    <p:sldId id="351" r:id="rId9"/>
    <p:sldId id="356" r:id="rId10"/>
    <p:sldId id="357" r:id="rId11"/>
    <p:sldId id="354" r:id="rId12"/>
    <p:sldId id="353" r:id="rId13"/>
    <p:sldId id="336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C00"/>
    <a:srgbClr val="84B4D5"/>
    <a:srgbClr val="EFB4DD"/>
    <a:srgbClr val="89D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6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4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422DF-4847-4D6E-BB97-9B75D56F5D74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5392F-55BF-4B8E-AF01-45F81C88C28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075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0E52A-AE9E-EF31-4847-15EA692A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3D7F543-3BA6-5432-8F7F-63BFB76AD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7432BF7-36A7-ED07-6245-B860036BA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DD010B-06B2-5CB6-74AD-2035CBDEA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292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8AF5-A649-3044-2D44-13C95615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35CCE35-0AF9-6CA2-CF77-50E5C2AD8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174BB7-8B76-E3C6-EB97-367CE7215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1514A1-4707-9F5F-1089-42CB0C751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4943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A0B5-38F2-544D-07D4-E364F9DF0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8C20FE7-35F9-34A5-90BA-CF37C5D0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29326BA-6A48-A0F3-91FF-80AA4A198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4E512B4-BE2F-6EE3-8AE2-76125D1C2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1287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A753-3393-6DA0-6EF1-C1A7B69E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9379699-69D5-FBBA-D33E-D8234EFB1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F8BC6F8-B034-7D03-F35C-048DEFEBE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63D6BAC-48C3-EC9D-5779-7F0E1B712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8118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7664-76DA-527F-81D4-3A583289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217D64F-85FA-9242-C1AF-0381CAAF9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582EF77-62AA-DF3D-ADFA-F2F6A4662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D6F1AA2-50E2-9593-05D2-77611599C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3642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993D9-A4A3-C2EF-F57C-4F8B5FB1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07E042F-0C69-1FE2-492F-508C57FD3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E89C93D-EE29-78BB-A33C-C776F3043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B2BFB1-BBCE-44F4-0693-18A63EB85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1764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BF478-3C52-7086-1707-6221D7E56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D28EA5-08C2-DB88-A960-8C8FD6EA4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80B62EB-B4F6-4C6B-1DDF-C33233A3F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AC48F90-BA1D-4B72-D784-EAD312C08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1398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55934-1E6D-285F-1A9A-AC82F5FDA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37948A7-20E1-F182-552F-39046466F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CE8EFF5-E8C0-879A-6840-665F51EF2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9D04C4-7AC6-F0E4-ACF3-66F64E0A8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5903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7DF3-5A74-C728-42CF-C352C0317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7F8E9E1-5451-8FC2-33A7-F2B0041EB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BD256FA-14B2-F584-33CB-2BC5562DA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B87BB5-1239-00B9-000D-948A60237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1076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D4F3-6C5D-95FC-C592-D4FD8F92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8686485-E0BF-0F2A-5305-192EAF8F2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57B7E2-3F52-B7D4-C7CE-41FA1BAE1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D9CD01-8EC5-75CD-8574-20F4D0473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941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288A-9950-DFF8-6943-248F9268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073FFEC-C532-6554-75FB-4E1392599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74A36A-8FAF-89F6-C0D4-2C166EDD2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638CA7-BD97-4B0C-C258-61894FA6A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0282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13A2B-5A11-D823-0904-63EE33C8C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ACEF337-0A99-611D-D9A0-DB251789B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8A43E95-3040-4EDD-E46B-5EB9C70D7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A13B3DD-2D7B-907C-D8AB-82A4D6449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904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21984-7078-FB6F-53DE-65CB49592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0F579-13AD-1739-E1E4-4A793161E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366BD3-025C-431C-F893-5E744EEA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6B1278-2C38-DAAA-2180-B3C7CF9E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97CBF5-3F4D-EE8F-2948-DA6B6F72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5BF9F7-DF67-1E3C-547B-A5DD6323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897D17-B33A-6EF1-CEF4-981888F7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88FE08-6E28-2435-B1EC-792C36B6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6292FF-01B5-7AC1-867C-EEFA64FD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C4693C-59F1-46F6-6F7F-2B896072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53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FA5AA-FBCD-6954-D2E4-9E6A30EC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157C25-DA71-A412-A8F8-C57915EA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B257C5-C8D1-BC78-EB2A-67B902C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0A21B9-77D6-757F-FA97-6E2E8511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EEBBD-AFF0-E5A1-86E3-6BF12AA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01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FECF5-18C9-81B6-0E7F-7D0C714E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F01EA4-A558-FA53-457E-90179EFC9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96ED2A-F813-DC16-E2A0-22104D93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83BCB6-BE83-B09D-6860-23AA5F3B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807251-F5D2-194C-A28B-1FF256E4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282E7D-96B1-1FEB-7101-C83209A2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3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10D65-D9F5-6682-A088-CCB2E189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1461FA-1BD4-41E7-5612-B9A63DC6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E14A22-90A5-A90F-BD0E-F256D29DF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80727B-7142-286E-DE3B-7B8E833DC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203D91-1775-8A1D-169A-D6CE16954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26E9141-3575-E6BC-31BD-40D6F8C1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ED44CC-825C-252C-F9E7-9AFB2DDF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EAFB81-9B92-09AB-31C7-9964D6A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7CDB2-4B02-4B07-9307-AA112DA8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45ED6FB-CF38-9B06-4770-9487CFF1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24D896-7BDD-3114-11AB-2CAEBBB0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13DBC53-D20A-CA44-6D1D-3E3F05E1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04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8297C2-0D3B-ED56-8B61-FCB9774E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48E9F0-0B23-D251-AC8F-D94B00C1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CAA01-23A7-6F7F-6E50-FED32F98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1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600CA-7798-78EF-A297-14320CA8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CFEC1-C59B-4282-7ECD-EED1E518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FA0D9B-562D-BA61-6460-5B681C24F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6EF93F-C388-68A8-6F71-1DF2A7CA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C792410-D57D-8112-5C15-B3FE6B71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A02F4E-4C83-F922-9862-ADBD0F7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8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2439D-E4F5-5CFC-2A7E-3B711100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76CAC3F-4306-8C93-FAFD-71172627C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77C4C85-4610-E23F-E411-CAB1446C0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0750AC-EC3B-956F-684D-3C0FEE6C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A1C4B6-8AD9-702F-FC48-361C84EE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A69AD3-3C4C-17D2-A40D-87D5ECD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4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266DE-32C7-73E6-6685-47860E28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B3BC10-8E18-A721-00DD-56CA590D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F265D-9538-2214-0D6D-0C6078CC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1A8A0C-1534-981E-3D4B-30FF7C64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CFED61-CB81-D9BC-C52D-CE21C2E8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18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CC69D5-05DB-95B6-C17D-00B311146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743714-00DC-E371-9597-EB25A8FBA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0DE6F-350B-6C8A-3068-BFEE6901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165C43-787E-C48A-1E67-0D099BC1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0D0913-985D-6312-E38E-9477ADF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8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8B87C-FD1A-B59F-78B3-6892EFB8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67C8B9-89B9-D7BA-FB20-C7EB5813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A205FC-B67D-F4FD-003E-9D2FD2A1C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34174-4AE7-4BE8-A29D-97641C0FB41A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218BC-0ED4-07D9-A0D8-A1B2B24A2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910B92-3F1F-78FA-6C70-FEC529A9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4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4856A9A-3EED-F0B3-DD7D-25DC283AB952}"/>
              </a:ext>
            </a:extLst>
          </p:cNvPr>
          <p:cNvSpPr txBox="1">
            <a:spLocks/>
          </p:cNvSpPr>
          <p:nvPr/>
        </p:nvSpPr>
        <p:spPr>
          <a:xfrm>
            <a:off x="0" y="2103135"/>
            <a:ext cx="12192000" cy="2651728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sz="3000" b="1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C78894-2BE6-7008-73A1-DD7B80075B0A}"/>
              </a:ext>
            </a:extLst>
          </p:cNvPr>
          <p:cNvSpPr txBox="1"/>
          <p:nvPr/>
        </p:nvSpPr>
        <p:spPr>
          <a:xfrm>
            <a:off x="0" y="2921168"/>
            <a:ext cx="121920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3000" b="1" dirty="0">
                <a:solidFill>
                  <a:schemeClr val="bg1"/>
                </a:solidFill>
              </a:rPr>
              <a:t>OCTOBER 2026 UPDATE</a:t>
            </a:r>
          </a:p>
          <a:p>
            <a:pPr algn="ctr"/>
            <a:r>
              <a:rPr lang="it-IT" sz="3000" b="1" dirty="0">
                <a:solidFill>
                  <a:schemeClr val="bg1"/>
                </a:solidFill>
              </a:rPr>
              <a:t>ANNA SOFIA MORO</a:t>
            </a:r>
          </a:p>
        </p:txBody>
      </p:sp>
    </p:spTree>
    <p:extLst>
      <p:ext uri="{BB962C8B-B14F-4D97-AF65-F5344CB8AC3E}">
        <p14:creationId xmlns:p14="http://schemas.microsoft.com/office/powerpoint/2010/main" val="389528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D405C-6D45-8954-1444-BCD11467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4FCCAC-F871-19BB-1DB9-A799D5A5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it-IT" sz="3400" b="1" dirty="0">
                <a:solidFill>
                  <a:srgbClr val="002060"/>
                </a:solidFill>
              </a:rPr>
              <a:t>	ABOUT MULTIPLE COULOMB SCATTERING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CEAF9E-BE3E-5C6D-7367-619BAD4C6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82166C-D392-7820-4D24-6F7B5D29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7A8A5C-343C-FAD2-1497-574FADFE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18365AA-B1D1-C447-2B5F-C638FA62D1A2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2B0EE0E-5840-CBFD-FF67-2A244F06E9C2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3DD62F0-621C-EEC0-7E76-C612357FE56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86EA36-9CCD-FD6F-2F86-F0947A1280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2438"/>
                <a:ext cx="10515600" cy="4864525"/>
              </a:xfrm>
            </p:spPr>
            <p:txBody>
              <a:bodyPr>
                <a:normAutofit/>
              </a:bodyPr>
              <a:lstStyle/>
              <a:p>
                <a:r>
                  <a:rPr lang="it-IT" sz="2500" dirty="0"/>
                  <a:t>Study the angular deflection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5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IT" sz="2500" dirty="0"/>
                  <a:t> to measure MCS</a:t>
                </a:r>
              </a:p>
              <a:p>
                <a:r>
                  <a:rPr lang="it-IT" sz="2500" dirty="0"/>
                  <a:t>Mapping the local angular spread </a:t>
                </a:r>
                <a14:m>
                  <m:oMath xmlns:m="http://schemas.openxmlformats.org/officeDocument/2006/math"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sz="25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500" dirty="0"/>
                  <a:t> as a function of </a:t>
                </a:r>
                <a14:m>
                  <m:oMath xmlns:m="http://schemas.openxmlformats.org/officeDocument/2006/math"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it-IT" sz="2500" b="0" dirty="0"/>
              </a:p>
              <a:p>
                <a:endParaRPr lang="it-IT" sz="2500" dirty="0"/>
              </a:p>
              <a:p>
                <a:endParaRPr lang="it-IT" sz="2500" dirty="0"/>
              </a:p>
              <a:p>
                <a:pPr marL="0" indent="0" algn="ctr">
                  <a:buNone/>
                </a:pPr>
                <a:r>
                  <a:rPr lang="it-IT" sz="2500" i="1" dirty="0"/>
                  <a:t>material transitions appear as sharp steps</a:t>
                </a:r>
              </a:p>
              <a:p>
                <a:r>
                  <a:rPr lang="it-IT" sz="2500" dirty="0"/>
                  <a:t>Model the transition with an Error function</a:t>
                </a:r>
              </a:p>
              <a:p>
                <a:r>
                  <a:rPr lang="it-IT" sz="2500" dirty="0"/>
                  <a:t>Compare </a:t>
                </a:r>
                <a14:m>
                  <m:oMath xmlns:m="http://schemas.openxmlformats.org/officeDocument/2006/math">
                    <m:r>
                      <a:rPr lang="it-IT" sz="25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it-IT" sz="25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sz="2500">
                        <a:latin typeface="Cambria Math" panose="02040503050406030204" pitchFamily="18" charset="0"/>
                      </a:rPr>
                      <m:t>Δ</m:t>
                    </m:r>
                    <m:r>
                      <a:rPr lang="it-IT" sz="25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500" dirty="0"/>
                  <a:t> with the theory:</a:t>
                </a:r>
              </a:p>
              <a:p>
                <a:pPr marL="0" indent="0">
                  <a:buNone/>
                </a:pPr>
                <a:endParaRPr lang="it-IT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𝑀𝐶𝑆</m:t>
                          </m:r>
                        </m:sub>
                      </m:sSub>
                      <m:r>
                        <a:rPr lang="it-IT" sz="2000" i="1">
                          <a:latin typeface="Cambria Math" panose="02040503050406030204" pitchFamily="18" charset="0"/>
                        </a:rPr>
                        <m:t>⟩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13.6 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MeV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𝑐𝑝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𝑧</m:t>
                      </m:r>
                      <m:rad>
                        <m:radPr>
                          <m:degHide m:val="on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1+0.038 </m:t>
                          </m:r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it-IT" sz="2000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86EA36-9CCD-FD6F-2F86-F0947A1280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2438"/>
                <a:ext cx="10515600" cy="4864525"/>
              </a:xfrm>
              <a:blipFill>
                <a:blip r:embed="rId3"/>
                <a:stretch>
                  <a:fillRect l="-870" t="-16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8F14524-5201-BB00-C0A9-326A76F792E2}"/>
              </a:ext>
            </a:extLst>
          </p:cNvPr>
          <p:cNvGrpSpPr/>
          <p:nvPr/>
        </p:nvGrpSpPr>
        <p:grpSpPr>
          <a:xfrm>
            <a:off x="6899911" y="3613666"/>
            <a:ext cx="1207770" cy="845439"/>
            <a:chOff x="7692390" y="3793052"/>
            <a:chExt cx="1207770" cy="845439"/>
          </a:xfrm>
        </p:grpSpPr>
        <p:pic>
          <p:nvPicPr>
            <p:cNvPr id="11" name="Picture 10" descr="Error function - Wikipedia">
              <a:extLst>
                <a:ext uri="{FF2B5EF4-FFF2-40B4-BE49-F238E27FC236}">
                  <a16:creationId xmlns:a16="http://schemas.microsoft.com/office/drawing/2014/main" id="{653EF114-B50C-E449-8E34-B45F41169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92390" y="3793052"/>
              <a:ext cx="1207770" cy="845439"/>
            </a:xfrm>
            <a:prstGeom prst="rect">
              <a:avLst/>
            </a:prstGeom>
          </p:spPr>
        </p:pic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3DA1418-B5F0-F519-F881-B2C6B5B4470B}"/>
                </a:ext>
              </a:extLst>
            </p:cNvPr>
            <p:cNvSpPr/>
            <p:nvPr/>
          </p:nvSpPr>
          <p:spPr>
            <a:xfrm>
              <a:off x="7854950" y="3865563"/>
              <a:ext cx="960438" cy="650222"/>
            </a:xfrm>
            <a:custGeom>
              <a:avLst/>
              <a:gdLst>
                <a:gd name="csX0" fmla="*/ 0 w 960438"/>
                <a:gd name="csY0" fmla="*/ 641350 h 650222"/>
                <a:gd name="csX1" fmla="*/ 300038 w 960438"/>
                <a:gd name="csY1" fmla="*/ 615950 h 650222"/>
                <a:gd name="csX2" fmla="*/ 474663 w 960438"/>
                <a:gd name="csY2" fmla="*/ 333374 h 650222"/>
                <a:gd name="csX3" fmla="*/ 661988 w 960438"/>
                <a:gd name="csY3" fmla="*/ 36512 h 650222"/>
                <a:gd name="csX4" fmla="*/ 960438 w 960438"/>
                <a:gd name="csY4" fmla="*/ 0 h 650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60438" h="650222">
                  <a:moveTo>
                    <a:pt x="0" y="641350"/>
                  </a:moveTo>
                  <a:cubicBezTo>
                    <a:pt x="107156" y="647171"/>
                    <a:pt x="219076" y="667544"/>
                    <a:pt x="300038" y="615950"/>
                  </a:cubicBezTo>
                  <a:cubicBezTo>
                    <a:pt x="381000" y="564356"/>
                    <a:pt x="414867" y="441589"/>
                    <a:pt x="474663" y="333374"/>
                  </a:cubicBezTo>
                  <a:cubicBezTo>
                    <a:pt x="529696" y="229921"/>
                    <a:pt x="582878" y="91810"/>
                    <a:pt x="661988" y="36512"/>
                  </a:cubicBezTo>
                  <a:cubicBezTo>
                    <a:pt x="741099" y="-18786"/>
                    <a:pt x="890589" y="9790"/>
                    <a:pt x="960438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BCE8EA-DBD5-75BF-8495-4521ECBE27C4}"/>
              </a:ext>
            </a:extLst>
          </p:cNvPr>
          <p:cNvGrpSpPr/>
          <p:nvPr/>
        </p:nvGrpSpPr>
        <p:grpSpPr>
          <a:xfrm>
            <a:off x="6075681" y="2326640"/>
            <a:ext cx="2032000" cy="907534"/>
            <a:chOff x="6075680" y="2407920"/>
            <a:chExt cx="4765039" cy="90753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E36FBEB-BF59-97F6-EB6A-2AD7D4A4EE90}"/>
                </a:ext>
              </a:extLst>
            </p:cNvPr>
            <p:cNvCxnSpPr>
              <a:cxnSpLocks/>
            </p:cNvCxnSpPr>
            <p:nvPr/>
          </p:nvCxnSpPr>
          <p:spPr>
            <a:xfrm>
              <a:off x="6075680" y="2407920"/>
              <a:ext cx="0" cy="90753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6276B4-1935-3ED0-8A62-D8C261FA2436}"/>
                </a:ext>
              </a:extLst>
            </p:cNvPr>
            <p:cNvSpPr txBox="1"/>
            <p:nvPr/>
          </p:nvSpPr>
          <p:spPr>
            <a:xfrm>
              <a:off x="6116321" y="2599323"/>
              <a:ext cx="47243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b="1" dirty="0">
                  <a:solidFill>
                    <a:srgbClr val="FFC000"/>
                  </a:solidFill>
                </a:rPr>
                <a:t>what to expect?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B3CB85-C7B7-C1A9-0686-FB307CA005B0}"/>
              </a:ext>
            </a:extLst>
          </p:cNvPr>
          <p:cNvGrpSpPr/>
          <p:nvPr/>
        </p:nvGrpSpPr>
        <p:grpSpPr>
          <a:xfrm>
            <a:off x="6116321" y="4795520"/>
            <a:ext cx="518159" cy="763368"/>
            <a:chOff x="6116321" y="5049520"/>
            <a:chExt cx="518159" cy="76336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3329CCD-9D9D-E0F6-303D-22A00D895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321" y="5049520"/>
              <a:ext cx="518159" cy="39929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A251556-80A0-BEB7-1056-DC2FC5D08158}"/>
                </a:ext>
              </a:extLst>
            </p:cNvPr>
            <p:cNvCxnSpPr>
              <a:cxnSpLocks/>
            </p:cNvCxnSpPr>
            <p:nvPr/>
          </p:nvCxnSpPr>
          <p:spPr>
            <a:xfrm>
              <a:off x="6116321" y="5413593"/>
              <a:ext cx="518159" cy="39929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FF7A2F-9F1A-340D-3684-C06EB55CA308}"/>
                  </a:ext>
                </a:extLst>
              </p:cNvPr>
              <p:cNvSpPr txBox="1"/>
              <p:nvPr/>
            </p:nvSpPr>
            <p:spPr>
              <a:xfrm>
                <a:off x="6715760" y="4548798"/>
                <a:ext cx="4338319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500" dirty="0"/>
                  <a:t>inside: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5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500" b="0" i="1" smtClean="0">
                            <a:latin typeface="Cambria Math" panose="02040503050406030204" pitchFamily="18" charset="0"/>
                          </a:rPr>
                          <m:t>𝑆𝑖</m:t>
                        </m:r>
                      </m:sub>
                    </m:sSub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=66.5 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it-IT" sz="2500" b="0" i="0" smtClean="0">
                        <a:latin typeface="Cambria Math" panose="02040503050406030204" pitchFamily="18" charset="0"/>
                      </a:rPr>
                      <m:t>rad</m:t>
                    </m:r>
                  </m:oMath>
                </a14:m>
                <a:endParaRPr lang="it-IT" sz="2500" b="0" dirty="0"/>
              </a:p>
              <a:p>
                <a:endParaRPr lang="it-IT" sz="2500" dirty="0"/>
              </a:p>
              <a:p>
                <a:r>
                  <a:rPr lang="it-IT" sz="2500" dirty="0"/>
                  <a:t>outside: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5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500" b="0" i="1" smtClean="0">
                            <a:latin typeface="Cambria Math" panose="02040503050406030204" pitchFamily="18" charset="0"/>
                          </a:rPr>
                          <m:t>𝑎𝑖𝑟</m:t>
                        </m:r>
                      </m:sub>
                    </m:sSub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=0.8 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it-IT" sz="2500" b="0" i="0" smtClean="0">
                        <a:latin typeface="Cambria Math" panose="02040503050406030204" pitchFamily="18" charset="0"/>
                      </a:rPr>
                      <m:t>rad</m:t>
                    </m:r>
                  </m:oMath>
                </a14:m>
                <a:endParaRPr lang="it-IT" sz="25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FF7A2F-9F1A-340D-3684-C06EB55CA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760" y="4548798"/>
                <a:ext cx="4338319" cy="1246495"/>
              </a:xfrm>
              <a:prstGeom prst="rect">
                <a:avLst/>
              </a:prstGeom>
              <a:blipFill>
                <a:blip r:embed="rId5"/>
                <a:stretch>
                  <a:fillRect l="-2391" t="-3415" b="-1073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1421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8D4FE-6C7A-3671-0D5A-7FE1EF83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6970DA6-1685-F93E-F9C9-35540589C524}"/>
              </a:ext>
            </a:extLst>
          </p:cNvPr>
          <p:cNvSpPr/>
          <p:nvPr/>
        </p:nvSpPr>
        <p:spPr>
          <a:xfrm>
            <a:off x="7561300" y="2281957"/>
            <a:ext cx="1686019" cy="5034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2619BEF-D20E-7DE8-A38A-02D666CE5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	METHOD</a:t>
            </a:r>
            <a:endParaRPr lang="it-IT" sz="34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7DEFFF-2026-0E9B-CC5D-90EEA0D0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9E6E73-E874-33DE-C758-64D0AE55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BB8360-5AE2-5E49-ADE6-AE9928D5E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4DF046D-C6A6-DD90-A0A0-4F8C34DEA217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09B3682-DB90-E69A-7B9B-CCD9E0C08309}"/>
              </a:ext>
            </a:extLst>
          </p:cNvPr>
          <p:cNvSpPr txBox="1"/>
          <p:nvPr/>
        </p:nvSpPr>
        <p:spPr>
          <a:xfrm>
            <a:off x="3278259" y="316376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007C748-CB9A-F812-2EA4-13F6471626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2438"/>
                <a:ext cx="10515600" cy="486452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Divided the crystal into slices along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Width of the angular distribution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dirty="0"/>
                  <a:t> for each slice</a:t>
                </a:r>
              </a:p>
              <a:p>
                <a:pPr lvl="1"/>
                <a:r>
                  <a:rPr lang="en-US" sz="2000" dirty="0"/>
                  <a:t>I always expect a distribution centered at zero</a:t>
                </a:r>
              </a:p>
              <a:p>
                <a:pPr lvl="1"/>
                <a:r>
                  <a:rPr lang="en-US" sz="2000" dirty="0"/>
                  <a:t>Gaussian fit within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±2.5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The measured width also accounts for the 					           tracker uncertainty of 12 𝜇rad.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007C748-CB9A-F812-2EA4-13F6471626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2438"/>
                <a:ext cx="10515600" cy="4864525"/>
              </a:xfrm>
              <a:blipFill>
                <a:blip r:embed="rId3"/>
                <a:stretch>
                  <a:fillRect l="-812" t="-16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72978DE9-E594-FA9C-E805-2179C788E5E8}"/>
              </a:ext>
            </a:extLst>
          </p:cNvPr>
          <p:cNvSpPr/>
          <p:nvPr/>
        </p:nvSpPr>
        <p:spPr>
          <a:xfrm>
            <a:off x="3899717" y="1914136"/>
            <a:ext cx="731520" cy="15306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0A9D64D-00B7-50B3-08B6-EB5AC85CDD97}"/>
              </a:ext>
            </a:extLst>
          </p:cNvPr>
          <p:cNvGrpSpPr/>
          <p:nvPr/>
        </p:nvGrpSpPr>
        <p:grpSpPr>
          <a:xfrm>
            <a:off x="2817117" y="1878714"/>
            <a:ext cx="2845980" cy="1754206"/>
            <a:chOff x="7426133" y="943481"/>
            <a:chExt cx="2845980" cy="175420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D8A01CF-6482-4D4F-AEF4-DBFB60E0AD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8282" y="2499246"/>
              <a:ext cx="2203918" cy="8288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9A820B5-9E1D-C489-AA8D-98C5ED0B47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8282" y="943481"/>
              <a:ext cx="0" cy="1564053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91C4C55-6E10-6A5B-F71D-0FC700C0D0B6}"/>
                    </a:ext>
                  </a:extLst>
                </p:cNvPr>
                <p:cNvSpPr txBox="1"/>
                <p:nvPr/>
              </p:nvSpPr>
              <p:spPr>
                <a:xfrm>
                  <a:off x="9910539" y="2328355"/>
                  <a:ext cx="3615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it-IT" b="1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91C4C55-6E10-6A5B-F71D-0FC700C0D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0539" y="2328355"/>
                  <a:ext cx="36157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A7513D8-4512-38E8-A40E-265C06553248}"/>
                    </a:ext>
                  </a:extLst>
                </p:cNvPr>
                <p:cNvSpPr txBox="1"/>
                <p:nvPr/>
              </p:nvSpPr>
              <p:spPr>
                <a:xfrm>
                  <a:off x="7426133" y="1106696"/>
                  <a:ext cx="3690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it-IT" b="1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A7513D8-4512-38E8-A40E-265C06553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133" y="1106696"/>
                  <a:ext cx="36901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913126-A078-E5BC-EF98-0808A761A02F}"/>
              </a:ext>
            </a:extLst>
          </p:cNvPr>
          <p:cNvCxnSpPr>
            <a:cxnSpLocks/>
          </p:cNvCxnSpPr>
          <p:nvPr/>
        </p:nvCxnSpPr>
        <p:spPr>
          <a:xfrm>
            <a:off x="3394101" y="1908206"/>
            <a:ext cx="0" cy="1515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70E89F8-4B4D-7412-5472-4B728F07B238}"/>
              </a:ext>
            </a:extLst>
          </p:cNvPr>
          <p:cNvCxnSpPr>
            <a:cxnSpLocks/>
          </p:cNvCxnSpPr>
          <p:nvPr/>
        </p:nvCxnSpPr>
        <p:spPr>
          <a:xfrm>
            <a:off x="3546501" y="1908206"/>
            <a:ext cx="0" cy="15306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D3DDC25-EF48-3949-5918-0A5179654861}"/>
              </a:ext>
            </a:extLst>
          </p:cNvPr>
          <p:cNvCxnSpPr>
            <a:cxnSpLocks/>
          </p:cNvCxnSpPr>
          <p:nvPr/>
        </p:nvCxnSpPr>
        <p:spPr>
          <a:xfrm>
            <a:off x="3703134" y="1908206"/>
            <a:ext cx="0" cy="15255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A1B1908-4505-A4FC-C5F9-E961F9189889}"/>
              </a:ext>
            </a:extLst>
          </p:cNvPr>
          <p:cNvCxnSpPr>
            <a:cxnSpLocks/>
          </p:cNvCxnSpPr>
          <p:nvPr/>
        </p:nvCxnSpPr>
        <p:spPr>
          <a:xfrm>
            <a:off x="3851301" y="1908206"/>
            <a:ext cx="0" cy="1515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7898FE9-692A-E057-380B-97DE344B3787}"/>
              </a:ext>
            </a:extLst>
          </p:cNvPr>
          <p:cNvCxnSpPr>
            <a:cxnSpLocks/>
          </p:cNvCxnSpPr>
          <p:nvPr/>
        </p:nvCxnSpPr>
        <p:spPr>
          <a:xfrm>
            <a:off x="4003701" y="1908206"/>
            <a:ext cx="0" cy="1515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4734925-B419-FE28-E17A-E4E98CE599FA}"/>
              </a:ext>
            </a:extLst>
          </p:cNvPr>
          <p:cNvCxnSpPr>
            <a:cxnSpLocks/>
          </p:cNvCxnSpPr>
          <p:nvPr/>
        </p:nvCxnSpPr>
        <p:spPr>
          <a:xfrm>
            <a:off x="4160334" y="1908206"/>
            <a:ext cx="0" cy="15255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94FB071-B9BD-EB19-2151-BDA37ECD0CEC}"/>
              </a:ext>
            </a:extLst>
          </p:cNvPr>
          <p:cNvCxnSpPr>
            <a:cxnSpLocks/>
          </p:cNvCxnSpPr>
          <p:nvPr/>
        </p:nvCxnSpPr>
        <p:spPr>
          <a:xfrm>
            <a:off x="4322204" y="1908206"/>
            <a:ext cx="0" cy="15204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2CFB14-874F-F20C-98A8-C2D6C2B2CA08}"/>
              </a:ext>
            </a:extLst>
          </p:cNvPr>
          <p:cNvCxnSpPr>
            <a:cxnSpLocks/>
          </p:cNvCxnSpPr>
          <p:nvPr/>
        </p:nvCxnSpPr>
        <p:spPr>
          <a:xfrm>
            <a:off x="4474604" y="1908206"/>
            <a:ext cx="0" cy="1515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A833E54-484D-FE13-DAB0-75335869A9FD}"/>
              </a:ext>
            </a:extLst>
          </p:cNvPr>
          <p:cNvCxnSpPr>
            <a:cxnSpLocks/>
          </p:cNvCxnSpPr>
          <p:nvPr/>
        </p:nvCxnSpPr>
        <p:spPr>
          <a:xfrm>
            <a:off x="4631237" y="1908206"/>
            <a:ext cx="0" cy="1515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E3CB917-A9E0-A413-5DAF-E14C42E0A9EA}"/>
              </a:ext>
            </a:extLst>
          </p:cNvPr>
          <p:cNvCxnSpPr>
            <a:cxnSpLocks/>
          </p:cNvCxnSpPr>
          <p:nvPr/>
        </p:nvCxnSpPr>
        <p:spPr>
          <a:xfrm>
            <a:off x="4778401" y="1908206"/>
            <a:ext cx="0" cy="1515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06773D0-9317-F3F0-89E5-F9A69630A1CB}"/>
              </a:ext>
            </a:extLst>
          </p:cNvPr>
          <p:cNvCxnSpPr>
            <a:cxnSpLocks/>
          </p:cNvCxnSpPr>
          <p:nvPr/>
        </p:nvCxnSpPr>
        <p:spPr>
          <a:xfrm>
            <a:off x="4930801" y="1908206"/>
            <a:ext cx="0" cy="1515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A1780D2-1100-FB42-C4CF-A89785F639E3}"/>
              </a:ext>
            </a:extLst>
          </p:cNvPr>
          <p:cNvCxnSpPr>
            <a:cxnSpLocks/>
          </p:cNvCxnSpPr>
          <p:nvPr/>
        </p:nvCxnSpPr>
        <p:spPr>
          <a:xfrm>
            <a:off x="5087434" y="1908206"/>
            <a:ext cx="0" cy="15204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14438C-8F45-3D39-EF59-27C03AF1A095}"/>
              </a:ext>
            </a:extLst>
          </p:cNvPr>
          <p:cNvSpPr txBox="1"/>
          <p:nvPr/>
        </p:nvSpPr>
        <p:spPr>
          <a:xfrm rot="1480906">
            <a:off x="4053963" y="2080916"/>
            <a:ext cx="460211" cy="1282025"/>
          </a:xfrm>
          <a:prstGeom prst="rect">
            <a:avLst/>
          </a:prstGeom>
          <a:noFill/>
        </p:spPr>
        <p:txBody>
          <a:bodyPr vert="vert270" wrap="square" lIns="90000" rtlCol="0">
            <a:spAutoFit/>
          </a:bodyPr>
          <a:lstStyle/>
          <a:p>
            <a:pPr algn="ctr"/>
            <a:r>
              <a:rPr lang="it-IT" b="1" dirty="0"/>
              <a:t>CRYSTAL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CD3B747C-2713-3410-5D49-DCC7E24A3E59}"/>
              </a:ext>
            </a:extLst>
          </p:cNvPr>
          <p:cNvSpPr/>
          <p:nvPr/>
        </p:nvSpPr>
        <p:spPr>
          <a:xfrm flipH="1" flipV="1">
            <a:off x="6715856" y="993427"/>
            <a:ext cx="1395487" cy="1426335"/>
          </a:xfrm>
          <a:prstGeom prst="arc">
            <a:avLst>
              <a:gd name="adj1" fmla="val 17118446"/>
              <a:gd name="adj2" fmla="val 0"/>
            </a:avLst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F5D702-6AD0-BF44-99AD-6F478C4A2D55}"/>
              </a:ext>
            </a:extLst>
          </p:cNvPr>
          <p:cNvGrpSpPr/>
          <p:nvPr/>
        </p:nvGrpSpPr>
        <p:grpSpPr>
          <a:xfrm>
            <a:off x="7181538" y="1873259"/>
            <a:ext cx="2845980" cy="1754206"/>
            <a:chOff x="7426133" y="943481"/>
            <a:chExt cx="2845980" cy="175420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8FE8A4C-24C7-60BD-8E5D-87ACE653C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8282" y="2499246"/>
              <a:ext cx="2203918" cy="8288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3947A2D-DC14-E0A7-AACA-F80986E29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8282" y="943481"/>
              <a:ext cx="0" cy="1564053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80FA40-2206-4C0B-4AB3-D805A5A5611E}"/>
                    </a:ext>
                  </a:extLst>
                </p:cNvPr>
                <p:cNvSpPr txBox="1"/>
                <p:nvPr/>
              </p:nvSpPr>
              <p:spPr>
                <a:xfrm>
                  <a:off x="9910539" y="2328355"/>
                  <a:ext cx="3615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it-IT" b="1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80FA40-2206-4C0B-4AB3-D805A5A561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0539" y="2328355"/>
                  <a:ext cx="36157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6E32B88-019A-488E-122C-4FE653390209}"/>
                    </a:ext>
                  </a:extLst>
                </p:cNvPr>
                <p:cNvSpPr txBox="1"/>
                <p:nvPr/>
              </p:nvSpPr>
              <p:spPr>
                <a:xfrm>
                  <a:off x="7426133" y="1106696"/>
                  <a:ext cx="3690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it-IT" b="1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6E32B88-019A-488E-122C-4FE6533902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133" y="1106696"/>
                  <a:ext cx="36901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88828E-2AE2-D7FD-052A-BAD9D94A854F}"/>
              </a:ext>
            </a:extLst>
          </p:cNvPr>
          <p:cNvCxnSpPr/>
          <p:nvPr/>
        </p:nvCxnSpPr>
        <p:spPr>
          <a:xfrm>
            <a:off x="7552700" y="2274294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28A85-8866-090B-DFE4-CC0358BFF0A5}"/>
              </a:ext>
            </a:extLst>
          </p:cNvPr>
          <p:cNvCxnSpPr/>
          <p:nvPr/>
        </p:nvCxnSpPr>
        <p:spPr>
          <a:xfrm>
            <a:off x="7552700" y="2147489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6D8724-B0C7-687B-868A-1C89E3E7DE50}"/>
              </a:ext>
            </a:extLst>
          </p:cNvPr>
          <p:cNvCxnSpPr/>
          <p:nvPr/>
        </p:nvCxnSpPr>
        <p:spPr>
          <a:xfrm>
            <a:off x="7552700" y="2410819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AFBED46-4B45-3A1A-3685-D3CBFA5498AC}"/>
              </a:ext>
            </a:extLst>
          </p:cNvPr>
          <p:cNvCxnSpPr/>
          <p:nvPr/>
        </p:nvCxnSpPr>
        <p:spPr>
          <a:xfrm>
            <a:off x="7552700" y="2683880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4920CA1-51B9-A8F6-A008-B81768C40510}"/>
              </a:ext>
            </a:extLst>
          </p:cNvPr>
          <p:cNvCxnSpPr/>
          <p:nvPr/>
        </p:nvCxnSpPr>
        <p:spPr>
          <a:xfrm>
            <a:off x="7552700" y="2557075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F652B1-3FF7-1D90-2CAA-B8A6828A9F61}"/>
              </a:ext>
            </a:extLst>
          </p:cNvPr>
          <p:cNvCxnSpPr/>
          <p:nvPr/>
        </p:nvCxnSpPr>
        <p:spPr>
          <a:xfrm>
            <a:off x="7552700" y="2820405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703C69E-5FCD-43F1-548E-D118263651FB}"/>
              </a:ext>
            </a:extLst>
          </p:cNvPr>
          <p:cNvCxnSpPr/>
          <p:nvPr/>
        </p:nvCxnSpPr>
        <p:spPr>
          <a:xfrm>
            <a:off x="7552700" y="3095032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BAD7E1-E892-1BC2-E130-DF76FB9DE3BF}"/>
              </a:ext>
            </a:extLst>
          </p:cNvPr>
          <p:cNvCxnSpPr/>
          <p:nvPr/>
        </p:nvCxnSpPr>
        <p:spPr>
          <a:xfrm>
            <a:off x="7552700" y="2968227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B1091D5-8F63-D50E-F5D7-6DE2FED692DD}"/>
              </a:ext>
            </a:extLst>
          </p:cNvPr>
          <p:cNvCxnSpPr/>
          <p:nvPr/>
        </p:nvCxnSpPr>
        <p:spPr>
          <a:xfrm>
            <a:off x="7552700" y="3231557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9EFA5C6-5EB7-B096-61A8-ED65C005DDCF}"/>
              </a:ext>
            </a:extLst>
          </p:cNvPr>
          <p:cNvCxnSpPr/>
          <p:nvPr/>
        </p:nvCxnSpPr>
        <p:spPr>
          <a:xfrm>
            <a:off x="7552700" y="2010329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0F8E4B-E215-844B-ECAD-2D3872E75959}"/>
              </a:ext>
            </a:extLst>
          </p:cNvPr>
          <p:cNvCxnSpPr/>
          <p:nvPr/>
        </p:nvCxnSpPr>
        <p:spPr>
          <a:xfrm>
            <a:off x="7552700" y="3381929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93B0F97-1C56-58DC-BAF0-B201BC47A1A9}"/>
              </a:ext>
            </a:extLst>
          </p:cNvPr>
          <p:cNvCxnSpPr/>
          <p:nvPr/>
        </p:nvCxnSpPr>
        <p:spPr>
          <a:xfrm>
            <a:off x="7552700" y="1891048"/>
            <a:ext cx="17081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0131C6D1-C5DD-DEEA-E9B4-62CE20B711A7}"/>
              </a:ext>
            </a:extLst>
          </p:cNvPr>
          <p:cNvSpPr txBox="1"/>
          <p:nvPr/>
        </p:nvSpPr>
        <p:spPr>
          <a:xfrm rot="4409974">
            <a:off x="8181758" y="1898813"/>
            <a:ext cx="460211" cy="1282025"/>
          </a:xfrm>
          <a:prstGeom prst="rect">
            <a:avLst/>
          </a:prstGeom>
          <a:noFill/>
        </p:spPr>
        <p:txBody>
          <a:bodyPr vert="vert270" wrap="square" lIns="90000" rtlCol="0">
            <a:spAutoFit/>
          </a:bodyPr>
          <a:lstStyle/>
          <a:p>
            <a:pPr algn="ctr"/>
            <a:r>
              <a:rPr lang="it-IT" b="1" dirty="0"/>
              <a:t>CRYSTAL</a:t>
            </a:r>
          </a:p>
        </p:txBody>
      </p:sp>
      <p:sp>
        <p:nvSpPr>
          <p:cNvPr id="133" name="Arc 132">
            <a:extLst>
              <a:ext uri="{FF2B5EF4-FFF2-40B4-BE49-F238E27FC236}">
                <a16:creationId xmlns:a16="http://schemas.microsoft.com/office/drawing/2014/main" id="{17BF31A0-6602-BC10-0635-72D4C671BBDB}"/>
              </a:ext>
            </a:extLst>
          </p:cNvPr>
          <p:cNvSpPr/>
          <p:nvPr/>
        </p:nvSpPr>
        <p:spPr>
          <a:xfrm flipV="1">
            <a:off x="4498696" y="979471"/>
            <a:ext cx="1395487" cy="1426335"/>
          </a:xfrm>
          <a:prstGeom prst="arc">
            <a:avLst>
              <a:gd name="adj1" fmla="val 17118446"/>
              <a:gd name="adj2" fmla="val 0"/>
            </a:avLst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D5BD220C-6F12-4357-F11A-76683032F215}"/>
              </a:ext>
            </a:extLst>
          </p:cNvPr>
          <p:cNvSpPr/>
          <p:nvPr/>
        </p:nvSpPr>
        <p:spPr>
          <a:xfrm>
            <a:off x="6776720" y="3917953"/>
            <a:ext cx="756967" cy="64229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409403E0-71DD-2DAA-76C5-DFA57422CBA4}"/>
              </a:ext>
            </a:extLst>
          </p:cNvPr>
          <p:cNvSpPr/>
          <p:nvPr/>
        </p:nvSpPr>
        <p:spPr>
          <a:xfrm rot="16200000" flipH="1">
            <a:off x="5943500" y="1671640"/>
            <a:ext cx="1395487" cy="3576490"/>
          </a:xfrm>
          <a:prstGeom prst="arc">
            <a:avLst>
              <a:gd name="adj1" fmla="val 16320702"/>
              <a:gd name="adj2" fmla="val 731791"/>
            </a:avLst>
          </a:prstGeom>
          <a:ln>
            <a:solidFill>
              <a:srgbClr val="FFC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7" name="Left Brace 136">
            <a:extLst>
              <a:ext uri="{FF2B5EF4-FFF2-40B4-BE49-F238E27FC236}">
                <a16:creationId xmlns:a16="http://schemas.microsoft.com/office/drawing/2014/main" id="{CD6AA9A9-9585-0E65-AE75-8C3B30732453}"/>
              </a:ext>
            </a:extLst>
          </p:cNvPr>
          <p:cNvSpPr/>
          <p:nvPr/>
        </p:nvSpPr>
        <p:spPr>
          <a:xfrm rot="16200000">
            <a:off x="4831451" y="3400288"/>
            <a:ext cx="45719" cy="152982"/>
          </a:xfrm>
          <a:prstGeom prst="leftBrace">
            <a:avLst>
              <a:gd name="adj1" fmla="val 58908"/>
              <a:gd name="adj2" fmla="val 50000"/>
            </a:avLst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9" name="Arc 138">
            <a:extLst>
              <a:ext uri="{FF2B5EF4-FFF2-40B4-BE49-F238E27FC236}">
                <a16:creationId xmlns:a16="http://schemas.microsoft.com/office/drawing/2014/main" id="{47291490-AA20-31BC-336C-1C6C7F7C27B7}"/>
              </a:ext>
            </a:extLst>
          </p:cNvPr>
          <p:cNvSpPr/>
          <p:nvPr/>
        </p:nvSpPr>
        <p:spPr>
          <a:xfrm flipH="1">
            <a:off x="6969592" y="3159126"/>
            <a:ext cx="1395487" cy="1222346"/>
          </a:xfrm>
          <a:prstGeom prst="arc">
            <a:avLst>
              <a:gd name="adj1" fmla="val 17451813"/>
              <a:gd name="adj2" fmla="val 869060"/>
            </a:avLst>
          </a:prstGeom>
          <a:ln>
            <a:solidFill>
              <a:srgbClr val="FFC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1" name="Left Brace 140">
            <a:extLst>
              <a:ext uri="{FF2B5EF4-FFF2-40B4-BE49-F238E27FC236}">
                <a16:creationId xmlns:a16="http://schemas.microsoft.com/office/drawing/2014/main" id="{EE41102F-8361-205C-CAE8-C04995B869F1}"/>
              </a:ext>
            </a:extLst>
          </p:cNvPr>
          <p:cNvSpPr/>
          <p:nvPr/>
        </p:nvSpPr>
        <p:spPr>
          <a:xfrm>
            <a:off x="7450670" y="3095032"/>
            <a:ext cx="45719" cy="152982"/>
          </a:xfrm>
          <a:prstGeom prst="leftBrace">
            <a:avLst>
              <a:gd name="adj1" fmla="val 58908"/>
              <a:gd name="adj2" fmla="val 50000"/>
            </a:avLst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83F04456-92A5-AED6-DB7C-A9415BA3BE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7334" y="3660761"/>
            <a:ext cx="3760165" cy="2817952"/>
          </a:xfrm>
          <a:prstGeom prst="rect">
            <a:avLst/>
          </a:prstGeom>
        </p:spPr>
      </p:pic>
      <p:sp>
        <p:nvSpPr>
          <p:cNvPr id="147" name="Left Brace 146">
            <a:extLst>
              <a:ext uri="{FF2B5EF4-FFF2-40B4-BE49-F238E27FC236}">
                <a16:creationId xmlns:a16="http://schemas.microsoft.com/office/drawing/2014/main" id="{9CA85C0D-090B-B642-A2FA-7D87B147DD83}"/>
              </a:ext>
            </a:extLst>
          </p:cNvPr>
          <p:cNvSpPr/>
          <p:nvPr/>
        </p:nvSpPr>
        <p:spPr>
          <a:xfrm flipH="1">
            <a:off x="9279862" y="2947870"/>
            <a:ext cx="45719" cy="152982"/>
          </a:xfrm>
          <a:prstGeom prst="leftBrace">
            <a:avLst>
              <a:gd name="adj1" fmla="val 58908"/>
              <a:gd name="adj2" fmla="val 50000"/>
            </a:avLst>
          </a:prstGeom>
          <a:ln w="19050">
            <a:solidFill>
              <a:srgbClr val="EFB4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0" name="Arc 149">
            <a:extLst>
              <a:ext uri="{FF2B5EF4-FFF2-40B4-BE49-F238E27FC236}">
                <a16:creationId xmlns:a16="http://schemas.microsoft.com/office/drawing/2014/main" id="{B5B853F4-072A-D5C9-6D4A-0DBC44D9C2DD}"/>
              </a:ext>
            </a:extLst>
          </p:cNvPr>
          <p:cNvSpPr/>
          <p:nvPr/>
        </p:nvSpPr>
        <p:spPr>
          <a:xfrm>
            <a:off x="8411863" y="2985945"/>
            <a:ext cx="1395487" cy="1222346"/>
          </a:xfrm>
          <a:prstGeom prst="arc">
            <a:avLst>
              <a:gd name="adj1" fmla="val 17451813"/>
              <a:gd name="adj2" fmla="val 869060"/>
            </a:avLst>
          </a:prstGeom>
          <a:ln>
            <a:solidFill>
              <a:srgbClr val="EFB4DD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F4A406D-C8AC-82FE-BB20-C31C2792AC64}"/>
              </a:ext>
            </a:extLst>
          </p:cNvPr>
          <p:cNvSpPr txBox="1"/>
          <p:nvPr/>
        </p:nvSpPr>
        <p:spPr>
          <a:xfrm>
            <a:off x="9942897" y="4470680"/>
            <a:ext cx="21142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it-IT" i="1" dirty="0"/>
              <a:t>example of slice</a:t>
            </a:r>
          </a:p>
          <a:p>
            <a:pPr algn="r"/>
            <a:r>
              <a:rPr lang="it-IT" i="1" dirty="0"/>
              <a:t>outside the crystal</a:t>
            </a:r>
          </a:p>
        </p:txBody>
      </p:sp>
    </p:spTree>
    <p:extLst>
      <p:ext uri="{BB962C8B-B14F-4D97-AF65-F5344CB8AC3E}">
        <p14:creationId xmlns:p14="http://schemas.microsoft.com/office/powerpoint/2010/main" val="18784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18203-F1CC-7498-60D5-33338C49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209EC7-9EA7-A745-03E0-F4AA6D4CA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	METHOD</a:t>
            </a:r>
            <a:endParaRPr lang="it-IT" sz="34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9D5906-BD9E-4277-A2CC-7C0C6300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6068D6-6C64-408D-AC8D-8112E30F4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2C4B4E-D03E-A5C3-365D-5A23C100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E0B7FBE-9052-808C-8FB9-73D13C6E1BB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5847B1-ED92-E105-7CB4-68DEEDBA16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2438"/>
                <a:ext cx="10515600" cy="52519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The measured width also accounts for the tracker uncertainty of 12 𝜇rad.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We are measuring spreads of distributions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they are variances.</a:t>
                </a:r>
              </a:p>
              <a:p>
                <a:r>
                  <a:rPr lang="en-US" sz="2400" dirty="0"/>
                  <a:t>Tracker contribution is independent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add in quadrature.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(independent):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endParaRPr lang="it-IT" sz="2400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5847B1-ED92-E105-7CB4-68DEEDBA1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2438"/>
                <a:ext cx="10515600" cy="5251991"/>
              </a:xfrm>
              <a:blipFill>
                <a:blip r:embed="rId3"/>
                <a:stretch>
                  <a:fillRect l="-928" t="-18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7F86B93-2F3A-587B-1EE4-7CB26DFA1447}"/>
              </a:ext>
            </a:extLst>
          </p:cNvPr>
          <p:cNvGrpSpPr/>
          <p:nvPr/>
        </p:nvGrpSpPr>
        <p:grpSpPr>
          <a:xfrm>
            <a:off x="6095100" y="1768070"/>
            <a:ext cx="3809295" cy="907534"/>
            <a:chOff x="6075680" y="2407920"/>
            <a:chExt cx="8932795" cy="907534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1005B6E-1CAD-3E80-7E12-65B4DA3FA87B}"/>
                </a:ext>
              </a:extLst>
            </p:cNvPr>
            <p:cNvCxnSpPr>
              <a:cxnSpLocks/>
            </p:cNvCxnSpPr>
            <p:nvPr/>
          </p:nvCxnSpPr>
          <p:spPr>
            <a:xfrm>
              <a:off x="6075680" y="2407920"/>
              <a:ext cx="0" cy="90753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60FFA4-4208-4BED-D026-F5CA69497A1B}"/>
                </a:ext>
              </a:extLst>
            </p:cNvPr>
            <p:cNvSpPr txBox="1"/>
            <p:nvPr/>
          </p:nvSpPr>
          <p:spPr>
            <a:xfrm>
              <a:off x="6116321" y="2599323"/>
              <a:ext cx="88921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b="1" dirty="0">
                  <a:solidFill>
                    <a:srgbClr val="FFC000"/>
                  </a:solidFill>
                </a:rPr>
                <a:t>how to take it into account?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0468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8885C-BB80-2551-575E-147E982CC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AB09135-2397-D53B-24C6-59B23B5C6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479" y="1237958"/>
            <a:ext cx="3415842" cy="256188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26639F6-A5AD-30C7-FDDF-3D3CED41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	METHOD</a:t>
            </a:r>
            <a:endParaRPr lang="it-IT" sz="34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98674FA-B142-F0E3-A22C-F97869CA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27BABD8-8323-0705-0D86-B1EC0AF6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0F61FA-8C70-2048-DBFA-C92380F1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F7822CB-E8FD-F713-1B98-E9CC8EAF1B2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AC9984E-ADFF-B216-513E-D9798AFF057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ADFDC6-EB7D-4028-522C-14E255101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094" y="3090329"/>
            <a:ext cx="3004685" cy="2575444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2CCAA54-6C8B-D4FA-FA09-09AFDE01E41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65D72F1-EE05-724F-2AD2-91A77D0B1F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2438"/>
                <a:ext cx="10515600" cy="52519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2400" i="1" dirty="0"/>
                  <a:t>Problem</a:t>
                </a:r>
                <a:r>
                  <a:rPr lang="it-IT" sz="2400" dirty="0"/>
                  <a:t>: distribution not centered at zero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𝑚𝑒𝑎𝑠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≫</m:t>
                    </m:r>
                    <m:sSubSup>
                      <m:sSub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𝑚𝑐𝑠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bSup>
                  </m:oMath>
                </a14:m>
                <a:endParaRPr lang="it-IT" sz="2400" dirty="0"/>
              </a:p>
              <a:p>
                <a:pPr lvl="1"/>
                <a:r>
                  <a:rPr lang="it-IT" sz="2000" dirty="0"/>
                  <a:t>Unreliable results</a:t>
                </a:r>
              </a:p>
              <a:p>
                <a:pPr marL="0" indent="0">
                  <a:buNone/>
                </a:pPr>
                <a:endParaRPr lang="it-IT" sz="100" dirty="0"/>
              </a:p>
              <a:p>
                <a:r>
                  <a:rPr lang="it-IT" sz="2400" dirty="0"/>
                  <a:t>filter on the incoming angle?</a:t>
                </a:r>
              </a:p>
              <a:p>
                <a:pPr lvl="1"/>
                <a:r>
                  <a:rPr lang="it-IT" sz="2000" dirty="0"/>
                  <a:t>In short crystals we are able to indentify and filter the regions</a:t>
                </a:r>
              </a:p>
              <a:p>
                <a:endParaRPr lang="it-IT" sz="2400" dirty="0"/>
              </a:p>
              <a:p>
                <a:pPr marL="0" indent="0">
                  <a:buNone/>
                </a:pPr>
                <a:endParaRPr lang="it-IT" sz="2400" dirty="0"/>
              </a:p>
              <a:p>
                <a:pPr marL="0" indent="0">
                  <a:buNone/>
                </a:pPr>
                <a:endParaRPr lang="it-IT" sz="2400" dirty="0"/>
              </a:p>
              <a:p>
                <a:pPr marL="0" indent="0">
                  <a:buNone/>
                </a:pPr>
                <a:endParaRPr lang="it-IT" sz="2400" dirty="0"/>
              </a:p>
              <a:p>
                <a:pPr marL="0" indent="0">
                  <a:buNone/>
                </a:pPr>
                <a:endParaRPr lang="it-IT" sz="2400" dirty="0"/>
              </a:p>
              <a:p>
                <a:pPr marL="0" indent="0">
                  <a:buNone/>
                </a:pPr>
                <a:endParaRPr lang="it-IT" sz="2400" dirty="0"/>
              </a:p>
              <a:p>
                <a:pPr marL="0" indent="0">
                  <a:buNone/>
                </a:pPr>
                <a:r>
                  <a:rPr lang="it-IT" sz="2400" i="1" dirty="0"/>
                  <a:t>Solution</a:t>
                </a:r>
                <a:r>
                  <a:rPr lang="it-IT" sz="2400" dirty="0"/>
                  <a:t>: use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it-IT" sz="2400" dirty="0"/>
                  <a:t> instead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it-IT" sz="2400" dirty="0"/>
                  <a:t> to have pure MCS (isotropic)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65D72F1-EE05-724F-2AD2-91A77D0B1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2438"/>
                <a:ext cx="10515600" cy="5251991"/>
              </a:xfrm>
              <a:blipFill>
                <a:blip r:embed="rId5"/>
                <a:stretch>
                  <a:fillRect l="-928" t="-13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98394B0A-83CF-8603-538A-DC3C0785C0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90329"/>
            <a:ext cx="3750503" cy="256188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8BA44D-4DF2-4223-F43D-DFAC90752DE0}"/>
              </a:ext>
            </a:extLst>
          </p:cNvPr>
          <p:cNvCxnSpPr/>
          <p:nvPr/>
        </p:nvCxnSpPr>
        <p:spPr>
          <a:xfrm>
            <a:off x="1871133" y="2981870"/>
            <a:ext cx="149436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7152D03-BE21-B549-9C5A-E1C6CAB758FA}"/>
              </a:ext>
            </a:extLst>
          </p:cNvPr>
          <p:cNvSpPr/>
          <p:nvPr/>
        </p:nvSpPr>
        <p:spPr>
          <a:xfrm>
            <a:off x="2906686" y="2981871"/>
            <a:ext cx="638763" cy="1183730"/>
          </a:xfrm>
          <a:custGeom>
            <a:avLst/>
            <a:gdLst>
              <a:gd name="csX0" fmla="*/ 0 w 620205"/>
              <a:gd name="csY0" fmla="*/ 0 h 1176867"/>
              <a:gd name="csX1" fmla="*/ 618067 w 620205"/>
              <a:gd name="csY1" fmla="*/ 296334 h 1176867"/>
              <a:gd name="csX2" fmla="*/ 187028 w 620205"/>
              <a:gd name="csY2" fmla="*/ 1176867 h 1176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0205" h="1176867">
                <a:moveTo>
                  <a:pt x="0" y="0"/>
                </a:moveTo>
                <a:cubicBezTo>
                  <a:pt x="292805" y="50095"/>
                  <a:pt x="585611" y="100190"/>
                  <a:pt x="618067" y="296334"/>
                </a:cubicBezTo>
                <a:cubicBezTo>
                  <a:pt x="650523" y="492478"/>
                  <a:pt x="304650" y="1001314"/>
                  <a:pt x="187028" y="1176867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94B744-298C-4C89-A822-5737105D7A6F}"/>
              </a:ext>
            </a:extLst>
          </p:cNvPr>
          <p:cNvSpPr txBox="1"/>
          <p:nvPr/>
        </p:nvSpPr>
        <p:spPr>
          <a:xfrm>
            <a:off x="4538614" y="3444603"/>
            <a:ext cx="1568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FF0000"/>
                </a:solidFill>
              </a:rPr>
              <a:t>Not in long</a:t>
            </a:r>
          </a:p>
          <a:p>
            <a:pPr algn="r"/>
            <a:r>
              <a:rPr lang="it-IT" i="1" dirty="0">
                <a:solidFill>
                  <a:srgbClr val="FF0000"/>
                </a:solidFill>
              </a:rPr>
              <a:t>crystals!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6F53E5C-DB1F-32C1-7659-19EB3BCE18C1}"/>
              </a:ext>
            </a:extLst>
          </p:cNvPr>
          <p:cNvSpPr/>
          <p:nvPr/>
        </p:nvSpPr>
        <p:spPr>
          <a:xfrm rot="16200000" flipH="1">
            <a:off x="6038338" y="3555153"/>
            <a:ext cx="369328" cy="1428748"/>
          </a:xfrm>
          <a:custGeom>
            <a:avLst/>
            <a:gdLst>
              <a:gd name="csX0" fmla="*/ 0 w 620205"/>
              <a:gd name="csY0" fmla="*/ 0 h 1176867"/>
              <a:gd name="csX1" fmla="*/ 618067 w 620205"/>
              <a:gd name="csY1" fmla="*/ 296334 h 1176867"/>
              <a:gd name="csX2" fmla="*/ 187028 w 620205"/>
              <a:gd name="csY2" fmla="*/ 1176867 h 1176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0205" h="1176867">
                <a:moveTo>
                  <a:pt x="0" y="0"/>
                </a:moveTo>
                <a:cubicBezTo>
                  <a:pt x="292805" y="50095"/>
                  <a:pt x="585611" y="100190"/>
                  <a:pt x="618067" y="296334"/>
                </a:cubicBezTo>
                <a:cubicBezTo>
                  <a:pt x="650523" y="492478"/>
                  <a:pt x="304650" y="1001314"/>
                  <a:pt x="187028" y="1176867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072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7A32D-8FC5-0D92-3505-A2108272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0C029BE-CCB2-713B-56C1-B62307C0C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423" y="1363202"/>
            <a:ext cx="6657530" cy="49931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4353289-9AD8-440E-3B9A-5505DEB2B0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en-US" sz="3400" b="1" dirty="0">
                    <a:solidFill>
                      <a:srgbClr val="002060"/>
                    </a:solidFill>
                  </a:rPr>
                  <a:t>	RESULTS ALONG </a:t>
                </a:r>
                <a14:m>
                  <m:oMath xmlns:m="http://schemas.openxmlformats.org/officeDocument/2006/math">
                    <m:r>
                      <a:rPr lang="en-US" sz="34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it-IT" sz="34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4353289-9AD8-440E-3B9A-5505DEB2B0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DE659F-8F35-A966-2CD7-4D988A77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36E6FC-21F1-EE10-F936-6E7D303D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956885-FDA0-D03A-7CA8-19E0EC4F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485EEFC-A8DC-F8C5-14AF-14F7F3E81BF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9BEE80B-6033-01E9-AEA5-3E75E472FC4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D01C0A9-8B4B-EB8F-A538-388A89B20FE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8BA6A9-F03D-3E04-EB7E-5999CCA31CF5}"/>
              </a:ext>
            </a:extLst>
          </p:cNvPr>
          <p:cNvGrpSpPr/>
          <p:nvPr/>
        </p:nvGrpSpPr>
        <p:grpSpPr>
          <a:xfrm>
            <a:off x="5560541" y="1451083"/>
            <a:ext cx="5820070" cy="1800000"/>
            <a:chOff x="5560541" y="1451083"/>
            <a:chExt cx="5820070" cy="1800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056139-0729-303B-C7A2-C103BD4EB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48" b="5348"/>
            <a:stretch/>
          </p:blipFill>
          <p:spPr>
            <a:xfrm>
              <a:off x="7928946" y="1451083"/>
              <a:ext cx="2687477" cy="1800000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</p:pic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522C0AE-61F4-F6C4-A902-7D9FEAE91874}"/>
                </a:ext>
              </a:extLst>
            </p:cNvPr>
            <p:cNvSpPr/>
            <p:nvPr/>
          </p:nvSpPr>
          <p:spPr>
            <a:xfrm>
              <a:off x="9875624" y="1845194"/>
              <a:ext cx="1504987" cy="593124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INSIDE</a:t>
              </a:r>
              <a:endParaRPr lang="it-IT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3A8177B-3AB5-4C1C-E0D3-2DFD721191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0541" y="2162432"/>
              <a:ext cx="2368405" cy="27588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D1BE663-98D0-A4D6-C2C7-9DA50F806FFE}"/>
              </a:ext>
            </a:extLst>
          </p:cNvPr>
          <p:cNvGrpSpPr/>
          <p:nvPr/>
        </p:nvGrpSpPr>
        <p:grpSpPr>
          <a:xfrm>
            <a:off x="7806088" y="3873532"/>
            <a:ext cx="4300205" cy="2393124"/>
            <a:chOff x="7806088" y="3873532"/>
            <a:chExt cx="4300205" cy="2393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B6A3EB-6E0A-3054-C38C-F7C527E94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87" b="4887"/>
            <a:stretch/>
          </p:blipFill>
          <p:spPr>
            <a:xfrm>
              <a:off x="9272684" y="4466656"/>
              <a:ext cx="2657940" cy="1800000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0C0185F-512B-741C-9B82-3151193FC7CF}"/>
                </a:ext>
              </a:extLst>
            </p:cNvPr>
            <p:cNvSpPr/>
            <p:nvPr/>
          </p:nvSpPr>
          <p:spPr>
            <a:xfrm>
              <a:off x="10601306" y="3873532"/>
              <a:ext cx="1504987" cy="593124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OUTSIDE</a:t>
              </a:r>
              <a:endParaRPr lang="it-IT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F1607AC-B76D-07BC-F0E7-528BBEAFDA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6088" y="5406917"/>
              <a:ext cx="1466596" cy="27959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3CB971-15BC-496E-7A1D-BFFBC0FC6EAC}"/>
              </a:ext>
            </a:extLst>
          </p:cNvPr>
          <p:cNvCxnSpPr>
            <a:cxnSpLocks/>
          </p:cNvCxnSpPr>
          <p:nvPr/>
        </p:nvCxnSpPr>
        <p:spPr>
          <a:xfrm flipH="1">
            <a:off x="4739065" y="3793052"/>
            <a:ext cx="1531577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3B67743A-D519-E4BA-7FDB-C3D494C82764}"/>
                  </a:ext>
                </a:extLst>
              </p:cNvPr>
              <p:cNvSpPr/>
              <p:nvPr/>
            </p:nvSpPr>
            <p:spPr>
              <a:xfrm>
                <a:off x="419204" y="1565212"/>
                <a:ext cx="3379808" cy="1153087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The window @ half height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2.09±0.01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3B67743A-D519-E4BA-7FDB-C3D494C82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04" y="1565212"/>
                <a:ext cx="3379808" cy="115308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1567C4-9CA7-D97F-58B2-53EB3333F4D1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2109108" y="2718299"/>
            <a:ext cx="3178127" cy="10003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5CC75629-0F8D-7FA8-30DE-EEB070D49073}"/>
                  </a:ext>
                </a:extLst>
              </p:cNvPr>
              <p:cNvSpPr/>
              <p:nvPr/>
            </p:nvSpPr>
            <p:spPr>
              <a:xfrm>
                <a:off x="261376" y="4179035"/>
                <a:ext cx="3630143" cy="1153087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dirty="0">
                    <a:solidFill>
                      <a:schemeClr val="tx1"/>
                    </a:solidFill>
                  </a:rPr>
                  <a:t>The width transition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0.09(1) 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 is compatible with position error of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0.11 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endParaRPr lang="it-IT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5CC75629-0F8D-7FA8-30DE-EEB070D490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76" y="4179035"/>
                <a:ext cx="3630143" cy="115308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A2015B-1683-E3D6-FDA1-4B0B6852E5D1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891519" y="4419682"/>
            <a:ext cx="706522" cy="3358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140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A86C-FFFB-CE2C-A997-6CDA84EA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38CF04-4E4C-8CA9-93E9-3C9E5AF2E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	RESULTS</a:t>
            </a:r>
            <a:endParaRPr lang="it-IT" sz="34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AC3703-0773-7984-77F8-CEFB93A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6F8D96-7A44-2EF6-3ABA-1627B320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69E283-707A-81F7-52F5-5342647F2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8758721-40BB-259A-7A9A-861F4026CE6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0A9F725-D121-A8FD-96B1-D9781C4AC64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04DD4A2-E32F-EC55-83F2-628AB1E517A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951184-B29F-4854-6292-A44291DEC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20" y="4275680"/>
            <a:ext cx="2400000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53BDA1-BAFF-8AB3-AC69-42DD97B48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95" y="4275680"/>
            <a:ext cx="2400000" cy="180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9191949-3386-9359-6C84-5DF1E2ADA2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560" y="4275680"/>
            <a:ext cx="2400000" cy="180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D17E67D5-F236-24D2-710C-C0F4FB47C7B4}"/>
                  </a:ext>
                </a:extLst>
              </p:cNvPr>
              <p:cNvSpPr/>
              <p:nvPr/>
            </p:nvSpPr>
            <p:spPr>
              <a:xfrm>
                <a:off x="6456000" y="1464286"/>
                <a:ext cx="5040000" cy="4611394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OUTSIDE</a:t>
                </a:r>
              </a:p>
              <a:p>
                <a:pPr algn="ctr"/>
                <a:endParaRPr lang="en-US" sz="2000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𝑀𝐶𝑆</m:t>
                          </m:r>
                        </m:sub>
                        <m:sup>
                          <m: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𝑡ℎ</m:t>
                          </m:r>
                        </m:sup>
                      </m:sSubSup>
                      <m:r>
                        <a:rPr lang="it-IT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it-IT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it-IT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it-IT" sz="20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000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𝑚𝑒𝑎𝑠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𝑡𝑟𝑎𝑐𝑘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it-IT" sz="2000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𝑀𝐶𝑆</m:t>
                          </m:r>
                        </m:sub>
                        <m:sup>
                          <m: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𝑚𝑒𝑎𝑠</m:t>
                          </m:r>
                        </m:sup>
                      </m:sSubSup>
                      <m:r>
                        <a:rPr lang="it-I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  <m:sup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𝑡𝑟𝑎𝑐𝑘𝑒𝑟</m:t>
                              </m:r>
                            </m:sub>
                            <m:sup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it-I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it-I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it-IT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D17E67D5-F236-24D2-710C-C0F4FB47C7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00" y="1464286"/>
                <a:ext cx="5040000" cy="461139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C2368FC-3273-9926-E578-810B46D68DDC}"/>
                  </a:ext>
                </a:extLst>
              </p:cNvPr>
              <p:cNvSpPr txBox="1"/>
              <p:nvPr/>
            </p:nvSpPr>
            <p:spPr>
              <a:xfrm>
                <a:off x="8353560" y="4473351"/>
                <a:ext cx="450000" cy="540000"/>
              </a:xfrm>
              <a:prstGeom prst="ellipse">
                <a:avLst/>
              </a:prstGeom>
              <a:solidFill>
                <a:srgbClr val="EFB4DD"/>
              </a:solidFill>
              <a:ln w="28575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it-IT" sz="20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it-IT" sz="2000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C2368FC-3273-9926-E578-810B46D68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560" y="4473351"/>
                <a:ext cx="450000" cy="540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EF366B8F-2191-A7DA-3A45-511A235C17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855" y="4275680"/>
            <a:ext cx="2400000" cy="180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F1899BFA-F5A7-2A02-3EFD-3065E103651B}"/>
                  </a:ext>
                </a:extLst>
              </p:cNvPr>
              <p:cNvSpPr/>
              <p:nvPr/>
            </p:nvSpPr>
            <p:spPr>
              <a:xfrm>
                <a:off x="696000" y="1464286"/>
                <a:ext cx="5040000" cy="4611394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INSIDE</a:t>
                </a:r>
              </a:p>
              <a:p>
                <a:pPr algn="ctr"/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𝑀𝐶𝑆</m:t>
                          </m:r>
                        </m:sub>
                        <m:sup>
                          <m: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𝑡ℎ</m:t>
                          </m:r>
                        </m:sup>
                      </m:sSubSup>
                      <m:r>
                        <a:rPr lang="it-IT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66.5 </m:t>
                      </m:r>
                      <m:r>
                        <a:rPr lang="it-IT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it-IT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it-IT" sz="20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𝑚𝑒𝑎𝑠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𝑚𝑐𝑠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𝑡𝑟𝑎𝑐𝑘</m:t>
                              </m:r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𝑒𝑟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𝑀𝐶𝑆</m:t>
                          </m:r>
                        </m:sub>
                        <m:sup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𝑚𝑒𝑎𝑠</m:t>
                          </m:r>
                        </m:sup>
                      </m:sSubSup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  <m:sup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𝑡𝑟𝑎𝑐𝑘𝑒𝑟</m:t>
                              </m:r>
                            </m:sub>
                            <m:sup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=65 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it-IT" sz="20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F1899BFA-F5A7-2A02-3EFD-3065E10365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464286"/>
                <a:ext cx="5040000" cy="4611394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5C745D-1DFE-B106-E94F-A2A78A3A0A2C}"/>
                  </a:ext>
                </a:extLst>
              </p:cNvPr>
              <p:cNvSpPr txBox="1"/>
              <p:nvPr/>
            </p:nvSpPr>
            <p:spPr>
              <a:xfrm>
                <a:off x="10753560" y="4473351"/>
                <a:ext cx="450000" cy="540000"/>
              </a:xfrm>
              <a:prstGeom prst="ellipse">
                <a:avLst/>
              </a:prstGeom>
              <a:solidFill>
                <a:srgbClr val="EFB4DD"/>
              </a:solidFill>
              <a:ln w="28575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it-IT" sz="20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it-IT" sz="20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5C745D-1DFE-B106-E94F-A2A78A3A0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3560" y="4473351"/>
                <a:ext cx="450000" cy="540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415FFA-094A-EA28-03AB-F4429250F441}"/>
                  </a:ext>
                </a:extLst>
              </p:cNvPr>
              <p:cNvSpPr txBox="1"/>
              <p:nvPr/>
            </p:nvSpPr>
            <p:spPr>
              <a:xfrm>
                <a:off x="2598068" y="4467662"/>
                <a:ext cx="450000" cy="540000"/>
              </a:xfrm>
              <a:prstGeom prst="ellipse">
                <a:avLst/>
              </a:prstGeom>
              <a:solidFill>
                <a:srgbClr val="84B4D5"/>
              </a:solidFill>
              <a:ln w="28575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it-IT" sz="20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it-IT" sz="2000" b="1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415FFA-094A-EA28-03AB-F4429250F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068" y="4467662"/>
                <a:ext cx="450000" cy="540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8A9833-B285-ABA1-7E86-CBB49F64AE1D}"/>
                  </a:ext>
                </a:extLst>
              </p:cNvPr>
              <p:cNvSpPr txBox="1"/>
              <p:nvPr/>
            </p:nvSpPr>
            <p:spPr>
              <a:xfrm>
                <a:off x="4955100" y="4456347"/>
                <a:ext cx="450000" cy="540000"/>
              </a:xfrm>
              <a:prstGeom prst="ellipse">
                <a:avLst/>
              </a:prstGeom>
              <a:solidFill>
                <a:srgbClr val="84B4D5"/>
              </a:solidFill>
              <a:ln w="28575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it-IT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it-IT" sz="2000" b="1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8A9833-B285-ABA1-7E86-CBB49F64A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100" y="4456347"/>
                <a:ext cx="450000" cy="540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81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39DD2-9117-98DA-CA5A-6DE6157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495E13-119A-9669-8AFF-04CB99A3F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it-IT" sz="3400" b="1" dirty="0">
                <a:solidFill>
                  <a:srgbClr val="002060"/>
                </a:solidFill>
              </a:rPr>
              <a:t>	ABOUT THE SIMULATIONS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BA2011-2B8A-5FBF-C4A6-BB392DFF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884000-F21F-A527-2445-A617D4F7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9A1E69-313E-F691-87A0-87D227047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2F82C05-42FC-8A83-4BAC-0C4B061629B4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EEC15BF-618C-0A42-518D-F911C96E150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2FAB065-467E-37A9-14F3-FC36885084D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994D205-FC85-B0C7-107A-93E67469B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2438"/>
                <a:ext cx="10515600" cy="4864525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General comparison:</a:t>
                </a:r>
              </a:p>
              <a:p>
                <a:pPr lvl="1"/>
                <a:r>
                  <a:rPr lang="it-IT" dirty="0"/>
                  <a:t>Absorbed particles in Silicon due to inelastic nuclear reactions:		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∼(1−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pPr lvl="1"/>
                <a:r>
                  <a:rPr lang="it-IT" dirty="0"/>
                  <a:t>Particles entered in the crystal: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it-IT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erf</m:t>
                        </m:r>
                      </m:fName>
                      <m:e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√2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it-IT" dirty="0"/>
              </a:p>
              <a:p>
                <a:r>
                  <a:rPr lang="it-IT" dirty="0"/>
                  <a:t>Short crystal (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50 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rad</m:t>
                    </m:r>
                  </m:oMath>
                </a14:m>
                <a:r>
                  <a:rPr lang="it-IT" dirty="0"/>
                  <a:t>):</a:t>
                </a:r>
              </a:p>
              <a:p>
                <a:pPr lvl="1"/>
                <a:r>
                  <a:rPr lang="it-IT" dirty="0"/>
                  <a:t>should I simulate them with different seeds?</a:t>
                </a:r>
              </a:p>
              <a:p>
                <a:r>
                  <a:rPr lang="it-IT" dirty="0"/>
                  <a:t>Long crystal (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6 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mrad</m:t>
                    </m:r>
                  </m:oMath>
                </a14:m>
                <a:r>
                  <a:rPr lang="it-IT" dirty="0"/>
                  <a:t>):</a:t>
                </a:r>
              </a:p>
              <a:p>
                <a:pPr lvl="1"/>
                <a:r>
                  <a:rPr lang="it-IT" dirty="0"/>
                  <a:t>Use another routine? Xtrack?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994D205-FC85-B0C7-107A-93E67469B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2438"/>
                <a:ext cx="10515600" cy="4864525"/>
              </a:xfrm>
              <a:blipFill>
                <a:blip r:embed="rId3"/>
                <a:stretch>
                  <a:fillRect l="-1043" t="-21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029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73BB-05CA-917D-39BB-2D26979B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0BB741-82A3-7323-EED6-52E03950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it-IT" sz="3400" b="1" dirty="0">
                <a:solidFill>
                  <a:srgbClr val="002060"/>
                </a:solidFill>
              </a:rPr>
              <a:t>	SIMULATING THE SHORT CRYSTAL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3A94CE-5A3A-EDED-0715-CA5C2A3B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BC2C89-39A9-90C3-A782-66332CD3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4EB7B7-CC63-DFA0-0711-B7E643D0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8EF71ED-6586-0F76-C6BC-5A47CBC8523C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6F12C03-80AD-DCEA-F629-1ECB6772CCA7}"/>
              </a:ext>
            </a:extLst>
          </p:cNvPr>
          <p:cNvSpPr txBox="1">
            <a:spLocks/>
          </p:cNvSpPr>
          <p:nvPr/>
        </p:nvSpPr>
        <p:spPr>
          <a:xfrm>
            <a:off x="4279900" y="1312438"/>
            <a:ext cx="7073900" cy="4864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579D68-D87D-0C9B-8A0C-48853A8CD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31"/>
          <a:stretch>
            <a:fillRect/>
          </a:stretch>
        </p:blipFill>
        <p:spPr>
          <a:xfrm>
            <a:off x="6368337" y="1813666"/>
            <a:ext cx="4343258" cy="360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CD1704C-76A9-661B-32B1-AA728FFBFDC1}"/>
                  </a:ext>
                </a:extLst>
              </p:cNvPr>
              <p:cNvSpPr/>
              <p:nvPr/>
            </p:nvSpPr>
            <p:spPr>
              <a:xfrm>
                <a:off x="7158621" y="2283779"/>
                <a:ext cx="1912899" cy="59312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8C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=75%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CD1704C-76A9-661B-32B1-AA728FFBF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21" y="2283779"/>
                <a:ext cx="1912899" cy="59312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8C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6B934031-E223-CE42-EDAE-514208A633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94"/>
          <a:stretch>
            <a:fillRect/>
          </a:stretch>
        </p:blipFill>
        <p:spPr>
          <a:xfrm>
            <a:off x="1015726" y="1523974"/>
            <a:ext cx="5352611" cy="4523263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EA9CC6E-920D-D2AE-9D4C-616AD460C75F}"/>
              </a:ext>
            </a:extLst>
          </p:cNvPr>
          <p:cNvSpPr/>
          <p:nvPr/>
        </p:nvSpPr>
        <p:spPr>
          <a:xfrm>
            <a:off x="3692032" y="4201997"/>
            <a:ext cx="508494" cy="2557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VR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29A587-B669-6C84-B42D-2A902AAC0418}"/>
              </a:ext>
            </a:extLst>
          </p:cNvPr>
          <p:cNvSpPr/>
          <p:nvPr/>
        </p:nvSpPr>
        <p:spPr>
          <a:xfrm>
            <a:off x="2209800" y="3833697"/>
            <a:ext cx="558800" cy="2557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AM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DB32940-4118-049E-F894-3D0BAFA94144}"/>
              </a:ext>
            </a:extLst>
          </p:cNvPr>
          <p:cNvSpPr/>
          <p:nvPr/>
        </p:nvSpPr>
        <p:spPr>
          <a:xfrm>
            <a:off x="4381429" y="3640942"/>
            <a:ext cx="558800" cy="2557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AM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662B715-60E3-39C7-9B39-DB5EA8681286}"/>
              </a:ext>
            </a:extLst>
          </p:cNvPr>
          <p:cNvSpPr/>
          <p:nvPr/>
        </p:nvSpPr>
        <p:spPr>
          <a:xfrm>
            <a:off x="3485626" y="2656003"/>
            <a:ext cx="558800" cy="2557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CH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CBAF9D0-1B12-82CD-8C5B-A3D915C2C378}"/>
              </a:ext>
            </a:extLst>
          </p:cNvPr>
          <p:cNvSpPr/>
          <p:nvPr/>
        </p:nvSpPr>
        <p:spPr>
          <a:xfrm>
            <a:off x="2450742" y="3103446"/>
            <a:ext cx="743403" cy="2557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DCH</a:t>
            </a:r>
          </a:p>
        </p:txBody>
      </p:sp>
    </p:spTree>
    <p:extLst>
      <p:ext uri="{BB962C8B-B14F-4D97-AF65-F5344CB8AC3E}">
        <p14:creationId xmlns:p14="http://schemas.microsoft.com/office/powerpoint/2010/main" val="2580549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573B9-B70A-7823-74ED-BD7A1A41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8A779E-C643-5153-E336-3B7912C3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it-IT" sz="3400" b="1" dirty="0">
                <a:solidFill>
                  <a:srgbClr val="002060"/>
                </a:solidFill>
              </a:rPr>
              <a:t>	SIMULATING THE LONG CRYSTAL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0DD9D9-1D88-5D87-F621-557C565F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E64F70-B1CF-FB8F-21DC-1B8BC304F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27BA26-DA44-E6F0-5A31-83B2356F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13F0A59-7A2A-E907-D274-026D909D8699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539CE9E-5A4A-657C-52F5-40AACDDDF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030" y="1572693"/>
            <a:ext cx="9654140" cy="40300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70F7A47-46DF-8F0D-5C59-4A89FD1A6C8A}"/>
                  </a:ext>
                </a:extLst>
              </p:cNvPr>
              <p:cNvSpPr/>
              <p:nvPr/>
            </p:nvSpPr>
            <p:spPr>
              <a:xfrm>
                <a:off x="9583101" y="2011900"/>
                <a:ext cx="1912899" cy="59312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8C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5%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70F7A47-46DF-8F0D-5C59-4A89FD1A6C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101" y="2011900"/>
                <a:ext cx="1912899" cy="59312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8C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244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79FD-C9ED-7DD8-DF3D-DAEC4A02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37B906-A7B3-A7B3-4F3B-338A6700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it-IT" sz="3400" b="1" dirty="0">
                <a:solidFill>
                  <a:srgbClr val="002060"/>
                </a:solidFill>
              </a:rPr>
              <a:t>	BACKUP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053743-CB4C-4593-0810-CC3BA03340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5A2B9E-EDDC-117A-2448-1BFC4684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B377D6-2079-7E0A-E2D4-5D845390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DE786EF-B717-CD1E-52A6-4F00132E84B2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6B91C8C-11AC-1E7B-4474-F22D0886F598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9DE1C47-03D7-73AD-11A6-2A5BF283F67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B9053F-0EF1-5C13-4FE2-D6F0A88C5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438"/>
            <a:ext cx="10515600" cy="48645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6852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DEB8-2C9E-B7CB-97C6-9B783A10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DE4EE2-BB05-6843-1F48-DB85F5FB6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	RESULTS</a:t>
            </a:r>
            <a:endParaRPr lang="it-IT" sz="34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C906F9-8386-00FA-48E0-C696A457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A2D233-5E97-2C8E-7B36-A2E5D82E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ABFC33-25D2-98EE-9DFB-4646AEC06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90044634-0733-FB04-87C7-97773DAE255F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D0C5B94-0BD8-2718-D2AF-DA959464FA06}"/>
              </a:ext>
            </a:extLst>
          </p:cNvPr>
          <p:cNvSpPr txBox="1"/>
          <p:nvPr/>
        </p:nvSpPr>
        <p:spPr>
          <a:xfrm>
            <a:off x="3054286" y="242618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EAEF9A1-41A3-C282-C9F4-40D69D1896F9}"/>
              </a:ext>
            </a:extLst>
          </p:cNvPr>
          <p:cNvSpPr txBox="1"/>
          <p:nvPr/>
        </p:nvSpPr>
        <p:spPr>
          <a:xfrm>
            <a:off x="3054286" y="242618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CA25B3-95BC-7259-9E48-19847AAA4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000" y="1666081"/>
            <a:ext cx="5279999" cy="396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1E9550-A9DA-F82D-796C-01A64FBB2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7600" y="1668281"/>
            <a:ext cx="5280000" cy="3955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58F4903-A4B5-DB67-D27E-B927EF8F7AA1}"/>
                  </a:ext>
                </a:extLst>
              </p:cNvPr>
              <p:cNvSpPr/>
              <p:nvPr/>
            </p:nvSpPr>
            <p:spPr>
              <a:xfrm>
                <a:off x="9996413" y="2426185"/>
                <a:ext cx="1504987" cy="59312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it-IT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58F4903-A4B5-DB67-D27E-B927EF8F7A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413" y="2426185"/>
                <a:ext cx="1504987" cy="59312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D9CDA59-6E53-F0E7-A57E-F8641C13C85C}"/>
                  </a:ext>
                </a:extLst>
              </p:cNvPr>
              <p:cNvSpPr/>
              <p:nvPr/>
            </p:nvSpPr>
            <p:spPr>
              <a:xfrm>
                <a:off x="4632280" y="4158237"/>
                <a:ext cx="1504987" cy="59312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it-IT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D9CDA59-6E53-F0E7-A57E-F8641C13C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280" y="4158237"/>
                <a:ext cx="1504987" cy="59312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8805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A147E-9583-17A2-C251-DFBD06409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B444A3BC-ED1A-1CDF-F4ED-911079C6E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9800" y="1245062"/>
            <a:ext cx="6480000" cy="4860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F230C73-EB01-57B1-6C81-AB0A8644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	RESULTS</a:t>
            </a:r>
            <a:endParaRPr lang="it-IT" sz="34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2E0B60-1F33-9826-84B7-9FEAB3F5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October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F23F36-3686-07AA-92E1-46A183255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A6A74B-1DD1-4436-C95C-22F8A6AE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26ED73A-6FA4-1E1F-54C4-FC9655F562FF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F0FB334-719D-89E7-A3B2-FC39615E343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CB31ED8-F7E7-AF0A-851D-7A5316E8089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9F59BF-1E53-7001-C3D7-32D2FE353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9" b="5299"/>
          <a:stretch/>
        </p:blipFill>
        <p:spPr>
          <a:xfrm>
            <a:off x="7928946" y="1451083"/>
            <a:ext cx="2687477" cy="180000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5F8B1C-DA2A-E818-14A1-4D26F4BCBD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9" b="4929"/>
          <a:stretch/>
        </p:blipFill>
        <p:spPr>
          <a:xfrm>
            <a:off x="9272684" y="4466656"/>
            <a:ext cx="2657940" cy="180000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3D1D24-3363-6BE1-CCD2-CF448535CB23}"/>
              </a:ext>
            </a:extLst>
          </p:cNvPr>
          <p:cNvSpPr/>
          <p:nvPr/>
        </p:nvSpPr>
        <p:spPr>
          <a:xfrm>
            <a:off x="10601306" y="3873532"/>
            <a:ext cx="1504987" cy="59312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INSIDE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6BE05DE-0BBC-D16E-75BE-8162E9A8E7AA}"/>
              </a:ext>
            </a:extLst>
          </p:cNvPr>
          <p:cNvSpPr/>
          <p:nvPr/>
        </p:nvSpPr>
        <p:spPr>
          <a:xfrm>
            <a:off x="9875624" y="1845194"/>
            <a:ext cx="1504987" cy="59312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CLAMP?</a:t>
            </a:r>
            <a:endParaRPr lang="it-IT" sz="20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EABA61-82F1-D53E-9065-2ED3206D0D58}"/>
              </a:ext>
            </a:extLst>
          </p:cNvPr>
          <p:cNvCxnSpPr>
            <a:cxnSpLocks/>
          </p:cNvCxnSpPr>
          <p:nvPr/>
        </p:nvCxnSpPr>
        <p:spPr>
          <a:xfrm flipH="1">
            <a:off x="4841507" y="2438318"/>
            <a:ext cx="308743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E8A367-C685-925C-E04D-0FD772300057}"/>
              </a:ext>
            </a:extLst>
          </p:cNvPr>
          <p:cNvCxnSpPr>
            <a:cxnSpLocks/>
          </p:cNvCxnSpPr>
          <p:nvPr/>
        </p:nvCxnSpPr>
        <p:spPr>
          <a:xfrm flipH="1" flipV="1">
            <a:off x="7238198" y="4023360"/>
            <a:ext cx="2034486" cy="1663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E845815C-1375-0031-24F6-9B16F6E0AC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9" b="4929"/>
          <a:stretch/>
        </p:blipFill>
        <p:spPr>
          <a:xfrm>
            <a:off x="579340" y="2438318"/>
            <a:ext cx="2657940" cy="180000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0E980-2575-2C0C-D19D-C0EF2FA4BB4D}"/>
              </a:ext>
            </a:extLst>
          </p:cNvPr>
          <p:cNvSpPr/>
          <p:nvPr/>
        </p:nvSpPr>
        <p:spPr>
          <a:xfrm>
            <a:off x="235220" y="2011900"/>
            <a:ext cx="1504987" cy="59312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OUTSIDE</a:t>
            </a:r>
            <a:endParaRPr lang="it-IT" sz="20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5B2A726-B3E8-1902-65C1-258905D39C22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1908310" y="4238318"/>
            <a:ext cx="1673090" cy="94817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524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5608</TotalTime>
  <Words>518</Words>
  <Application>Microsoft Office PowerPoint</Application>
  <PresentationFormat>Widescreen</PresentationFormat>
  <Paragraphs>156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Tema di Office</vt:lpstr>
      <vt:lpstr>PowerPoint Presentation</vt:lpstr>
      <vt:lpstr> ABOUT MULTIPLE COULOMB SCATTERING</vt:lpstr>
      <vt:lpstr> METHOD</vt:lpstr>
      <vt:lpstr> METHOD</vt:lpstr>
      <vt:lpstr> METHOD</vt:lpstr>
      <vt:lpstr> RESULTS ALONG x</vt:lpstr>
      <vt:lpstr> RESULTS</vt:lpstr>
      <vt:lpstr> ABOUT THE SIMULATIONS</vt:lpstr>
      <vt:lpstr> SIMULATING THE SHORT CRYSTAL</vt:lpstr>
      <vt:lpstr> SIMULATING THE LONG CRYSTAL</vt:lpstr>
      <vt:lpstr> BACKUP</vt:lpstr>
      <vt:lpstr> RESULTS</vt:lpstr>
      <vt:lpstr>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Sofia Moro</dc:creator>
  <cp:lastModifiedBy>Anna Sofia Moro</cp:lastModifiedBy>
  <cp:revision>61</cp:revision>
  <dcterms:created xsi:type="dcterms:W3CDTF">2026-07-09T15:21:04Z</dcterms:created>
  <dcterms:modified xsi:type="dcterms:W3CDTF">2026-10-06T12:01:05Z</dcterms:modified>
</cp:coreProperties>
</file>