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6" r:id="rId3"/>
    <p:sldId id="319" r:id="rId4"/>
    <p:sldId id="288" r:id="rId5"/>
    <p:sldId id="292" r:id="rId6"/>
    <p:sldId id="317" r:id="rId7"/>
    <p:sldId id="289" r:id="rId8"/>
    <p:sldId id="291" r:id="rId9"/>
    <p:sldId id="318" r:id="rId10"/>
    <p:sldId id="316" r:id="rId11"/>
    <p:sldId id="297" r:id="rId12"/>
    <p:sldId id="295" r:id="rId13"/>
    <p:sldId id="299" r:id="rId14"/>
    <p:sldId id="298" r:id="rId15"/>
    <p:sldId id="303" r:id="rId16"/>
    <p:sldId id="314" r:id="rId17"/>
    <p:sldId id="315" r:id="rId18"/>
    <p:sldId id="301" r:id="rId19"/>
    <p:sldId id="308" r:id="rId20"/>
    <p:sldId id="304" r:id="rId21"/>
    <p:sldId id="321" r:id="rId22"/>
    <p:sldId id="309" r:id="rId23"/>
    <p:sldId id="305" r:id="rId24"/>
    <p:sldId id="320" r:id="rId25"/>
    <p:sldId id="311" r:id="rId26"/>
    <p:sldId id="310" r:id="rId27"/>
    <p:sldId id="306" r:id="rId28"/>
    <p:sldId id="307" r:id="rId29"/>
    <p:sldId id="312" r:id="rId30"/>
    <p:sldId id="313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2493" autoAdjust="0"/>
  </p:normalViewPr>
  <p:slideViewPr>
    <p:cSldViewPr snapToGrid="0">
      <p:cViewPr varScale="1">
        <p:scale>
          <a:sx n="53" d="100"/>
          <a:sy n="53" d="100"/>
        </p:scale>
        <p:origin x="105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the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subsequent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coordinates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follow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lattice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resulting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a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geometric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drift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x-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traverse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footprint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entrance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face, we must project the downstream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upstream.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3883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use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simplest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that can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data,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so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it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physics</a:t>
            </a:r>
            <a:r>
              <a:rPr lang="it-IT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ECBE-E1C4-2681-0ED2-457E14990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4C63B2A-68E9-C3B2-E2B6-CBD98CF9C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4DB49C-A470-4C4A-C2FF-DBF8A0C42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B0A7F6C-8E4A-1933-317C-49B56617A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55606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dividing</a:t>
            </a:r>
            <a:r>
              <a:rPr lang="it-IT" dirty="0"/>
              <a:t> data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subsamples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particle</a:t>
            </a:r>
            <a:r>
              <a:rPr lang="it-IT" dirty="0"/>
              <a:t> impact position on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  <a:p>
            <a:r>
              <a:rPr lang="it-IT" dirty="0"/>
              <a:t>this </a:t>
            </a:r>
            <a:r>
              <a:rPr lang="it-IT" dirty="0" err="1"/>
              <a:t>allows</a:t>
            </a:r>
            <a:r>
              <a:rPr lang="it-IT" dirty="0"/>
              <a:t> </a:t>
            </a:r>
            <a:r>
              <a:rPr lang="it-IT" dirty="0" err="1"/>
              <a:t>identifying</a:t>
            </a:r>
            <a:r>
              <a:rPr lang="it-IT" dirty="0"/>
              <a:t> the </a:t>
            </a:r>
            <a:r>
              <a:rPr lang="it-IT" dirty="0" err="1"/>
              <a:t>orientation</a:t>
            </a:r>
            <a:r>
              <a:rPr lang="it-IT" dirty="0"/>
              <a:t> with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, </a:t>
            </a:r>
            <a:r>
              <a:rPr lang="it-IT" dirty="0" err="1"/>
              <a:t>corresponding</a:t>
            </a:r>
            <a:r>
              <a:rPr lang="it-IT" dirty="0"/>
              <a:t> to the </a:t>
            </a:r>
            <a:r>
              <a:rPr lang="it-IT" dirty="0" err="1"/>
              <a:t>orientation</a:t>
            </a:r>
            <a:r>
              <a:rPr lang="it-IT" dirty="0"/>
              <a:t> of the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/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1900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0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9247" y="1546325"/>
            <a:ext cx="8757821" cy="416543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61CFF4-1AA7-7DBA-C7AD-C4C417735B36}"/>
              </a:ext>
            </a:extLst>
          </p:cNvPr>
          <p:cNvSpPr txBox="1"/>
          <p:nvPr/>
        </p:nvSpPr>
        <p:spPr>
          <a:xfrm>
            <a:off x="28194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T1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3769F19-49FA-6A86-4E43-EE9B9FCF5335}"/>
              </a:ext>
            </a:extLst>
          </p:cNvPr>
          <p:cNvSpPr txBox="1"/>
          <p:nvPr/>
        </p:nvSpPr>
        <p:spPr>
          <a:xfrm>
            <a:off x="349885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6613190-54C0-7766-BE53-A88A0928D029}"/>
              </a:ext>
            </a:extLst>
          </p:cNvPr>
          <p:cNvSpPr txBox="1"/>
          <p:nvPr/>
        </p:nvSpPr>
        <p:spPr>
          <a:xfrm>
            <a:off x="61468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1ABB6A2-0253-F61C-3A3B-B5D48ED67530}"/>
              </a:ext>
            </a:extLst>
          </p:cNvPr>
          <p:cNvSpPr txBox="1"/>
          <p:nvPr/>
        </p:nvSpPr>
        <p:spPr>
          <a:xfrm>
            <a:off x="8455025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C4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EF31BC2-B06C-C19F-8B82-234E7051B99F}"/>
              </a:ext>
            </a:extLst>
          </p:cNvPr>
          <p:cNvSpPr txBox="1"/>
          <p:nvPr/>
        </p:nvSpPr>
        <p:spPr>
          <a:xfrm>
            <a:off x="4914900" y="4911565"/>
            <a:ext cx="10477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/>
              <a:t>crystal</a:t>
            </a:r>
            <a:endParaRPr lang="it-IT" sz="2000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516CBA-691F-320E-81BE-67B07E92F0CB}"/>
              </a:ext>
            </a:extLst>
          </p:cNvPr>
          <p:cNvSpPr txBox="1"/>
          <p:nvPr/>
        </p:nvSpPr>
        <p:spPr>
          <a:xfrm>
            <a:off x="10402009" y="4315824"/>
            <a:ext cx="67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[m]</a:t>
            </a:r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=0.004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86E7-1A7A-D5FF-00F7-4EA047E91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A1DB4D-1ABD-A3F3-5222-17C3D2873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EBEEF6-A28E-39F6-8449-8812EF9C3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0E214C-E59D-866B-031F-B4179AE3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8C4BE9-74D3-5C68-A715-2F5A9ED4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AE6CA7-9F2D-CE6D-06CC-5EE7AFC0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700AA9C-2368-44FD-B5A1-95604DB48E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0BA96C06-4EFC-1DB2-F6AE-9D4290B62609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64A8EB8-0B59-286A-1CA3-C6C166623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30272D5E-1964-7C54-CC85-FC6F30DE3317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ED5E50EE-9091-8029-174B-6855889A457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93181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232946" y="2156056"/>
            <a:ext cx="9493450" cy="3320716"/>
            <a:chOff x="232946" y="2040556"/>
            <a:chExt cx="9493450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232946" y="2593936"/>
              <a:ext cx="2078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IMPACT POSITION</a:t>
              </a:r>
            </a:p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419100" y="4166393"/>
              <a:ext cx="1979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C6166-FE84-CE3F-0649-4905E5866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677B0D9E-035E-F55D-8D73-D0C24D2C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0524BDA-A9F5-3129-9FB8-D3236D26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  <a:p>
                <a:r>
                  <a:rPr lang="it-IT" sz="2400" dirty="0"/>
                  <a:t>The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was </a:t>
                </a:r>
                <a:r>
                  <a:rPr lang="it-IT" sz="2400" dirty="0" err="1"/>
                  <a:t>performed</a:t>
                </a:r>
                <a:r>
                  <a:rPr lang="it-IT" sz="2400" dirty="0"/>
                  <a:t> on the 				           </a:t>
                </a:r>
                <a:r>
                  <a:rPr lang="it-IT" sz="2400" dirty="0" err="1"/>
                  <a:t>dowstream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since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show 					         more </a:t>
                </a:r>
                <a:r>
                  <a:rPr lang="it-IT" sz="2400" dirty="0" err="1"/>
                  <a:t>defined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F3708B-B74A-74C3-49C4-D47F5DCA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497987-DFD4-E644-4DD8-60504FFA6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E13CF2-BC13-751B-CA26-A5E740D35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18F4508-C177-0D85-4A4C-1321EA43B6B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ttangolo 8">
            <a:extLst>
              <a:ext uri="{FF2B5EF4-FFF2-40B4-BE49-F238E27FC236}">
                <a16:creationId xmlns:a16="http://schemas.microsoft.com/office/drawing/2014/main" id="{2E43FB0E-7D20-8032-1D71-D2711D3BD28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253F37C6-E636-81DA-4537-B44ED5F9D761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01308BBB-2F02-586A-9BDF-DA3ABB293EB1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CD8AB4A-3551-93F4-7F51-A01117EC332F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AD7CDBF-935C-69DD-5E6C-9114FEFA1CC5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13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89F9-D1FA-1576-64FD-A2EB689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8E94EB5A-4F43-6CBD-4C92-4CA9F1757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F000813B-5FBF-D20E-DACE-03AC95F539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565F3B-3ED1-0D04-5BA8-550046893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To </a:t>
                </a:r>
                <a:r>
                  <a:rPr lang="it-IT" sz="2400" dirty="0" err="1"/>
                  <a:t>define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true</a:t>
                </a:r>
                <a:r>
                  <a:rPr lang="it-IT" sz="2400" dirty="0"/>
                  <a:t> footprint </a:t>
                </a:r>
                <a:r>
                  <a:rPr lang="it-IT" sz="2400" dirty="0" err="1"/>
                  <a:t>at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entrance</a:t>
                </a:r>
                <a:r>
                  <a:rPr lang="it-IT" sz="2400" dirty="0"/>
                  <a:t> face we must project the downstream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back upstream.</a:t>
                </a:r>
              </a:p>
              <a:p>
                <a:r>
                  <a:rPr lang="it-IT" sz="2400" dirty="0"/>
                  <a:t>We </a:t>
                </a:r>
                <a:r>
                  <a:rPr lang="it-IT" sz="2400" dirty="0" err="1"/>
                  <a:t>need</a:t>
                </a:r>
                <a:r>
                  <a:rPr lang="it-IT" sz="2400" dirty="0"/>
                  <a:t> to </a:t>
                </a:r>
                <a:r>
                  <a:rPr lang="it-IT" sz="2400" dirty="0" err="1"/>
                  <a:t>subtract</a:t>
                </a:r>
                <a:r>
                  <a:rPr lang="it-IT" sz="2400" dirty="0"/>
                  <a:t> a shift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from the downstream </a:t>
                </a:r>
                <a:r>
                  <a:rPr lang="it-IT" sz="2400" dirty="0" err="1"/>
                  <a:t>edge</a:t>
                </a:r>
                <a:r>
                  <a:rPr lang="it-IT" sz="2400" dirty="0"/>
                  <a:t> position.</a:t>
                </a:r>
              </a:p>
              <a:p>
                <a:r>
                  <a:rPr lang="it-IT" sz="2400" dirty="0" err="1"/>
                  <a:t>Channeled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follow the </a:t>
                </a:r>
                <a:r>
                  <a:rPr lang="it-IT" sz="2400" dirty="0" err="1"/>
                  <a:t>bent</a:t>
                </a:r>
                <a:r>
                  <a:rPr lang="it-IT" sz="2400" dirty="0"/>
                  <a:t> lattice </a:t>
                </a:r>
                <a:r>
                  <a:rPr lang="it-IT" sz="2400" dirty="0" err="1"/>
                  <a:t>planes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resulting</a:t>
                </a:r>
                <a:r>
                  <a:rPr lang="it-IT" sz="2400" dirty="0"/>
                  <a:t> in a </a:t>
                </a:r>
                <a:r>
                  <a:rPr lang="it-IT" sz="2400" dirty="0" err="1"/>
                  <a:t>lateral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geometric</a:t>
                </a:r>
                <a:r>
                  <a:rPr lang="it-IT" sz="2400" dirty="0"/>
                  <a:t> drift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the x-</a:t>
                </a:r>
                <a:r>
                  <a:rPr lang="it-IT" sz="2400" dirty="0" err="1"/>
                  <a:t>axis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traverse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5"/>
                <a:stretch>
                  <a:fillRect l="-812" t="-166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8817D2-0A9B-0FAF-36DE-4A11DA6A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68EBD17-4982-87E2-3CDB-90B5380C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7B5E3-3B9D-1082-353B-3394C8D10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C47FAF3-C921-892C-9CA4-BE050B1D5E9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0188A4B1-7E67-D966-06CE-BDB22631CF37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637B16E-48F5-279D-9F6C-C63C2AAE3BFD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FE88FD1A-5454-5AA8-1606-1C9938301A25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AE15623F-17A3-2E34-83DC-B4A12FAAEE97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D617B793-7839-5993-11C5-7A31728C7F0B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A0532A15-704D-DEC0-C721-3894EE9F06A3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E1A732FF-C639-A178-1422-EF6F95A240D8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694E3CB-E4C0-FA0D-7F1C-B294C58F5FD2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8D8E68B-77D0-AA37-02A8-F4262A724A74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A77E9F3B-3C44-D66F-AB92-981082CB6719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ttangolo 10">
            <a:extLst>
              <a:ext uri="{FF2B5EF4-FFF2-40B4-BE49-F238E27FC236}">
                <a16:creationId xmlns:a16="http://schemas.microsoft.com/office/drawing/2014/main" id="{4C842739-3CDC-C45E-E714-D97D9BED5D0F}"/>
              </a:ext>
            </a:extLst>
          </p:cNvPr>
          <p:cNvSpPr/>
          <p:nvPr/>
        </p:nvSpPr>
        <p:spPr>
          <a:xfrm>
            <a:off x="7389455" y="4806951"/>
            <a:ext cx="1019175" cy="1422618"/>
          </a:xfrm>
          <a:prstGeom prst="rect">
            <a:avLst/>
          </a:prstGeom>
          <a:noFill/>
          <a:ln w="2857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/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∼0.22 </m:t>
                      </m:r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37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53500" y="1222454"/>
            <a:ext cx="2869490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89552050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3.45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18.7±0.01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18.3±0.01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17.1±0.01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6123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89552050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4938" r="-160047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4938" r="-118850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4938" r="-541" b="-46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113333" r="-41222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113333" r="-160047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113333" r="-118850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1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27778" t="-213333" r="-41222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43692" t="-213333" r="-160047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227" t="-213333" r="-118850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1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309211" r="-41222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309211" r="-16004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309211" r="-1188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09211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414667" r="-41222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414667" r="-160047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414667" r="-11885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1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514667" r="-41222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514667" r="-16004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514667" r="-118850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359CA-8F3C-F47D-9CC6-E91607D4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2777A8-0606-C7D4-DA80-2BF464625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DB9887C-8B3E-41D4-8913-D1B828B523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A33DE58-9D1F-34BC-F288-89927715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EB685B-DBEC-8BAD-37C3-14449B80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1A9967D-8A3E-D94E-494C-3C0B0D6206C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3AE14D-B9F0-5756-71D0-F0B0014BA34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D07FC42-4124-01D8-960B-1C35242C091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1073C49C-B456-2C70-0DE1-470F84418F7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30477996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3.45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18.7±0.01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18.3±0.01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3.72</m:t>
                                </m:r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6077</m:t>
                                </m:r>
                              </m:oMath>
                            </m:oMathPara>
                          </a14:m>
                          <a:endParaRPr lang="it-IT" sz="2400" i="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solidFill>
                                          <a:srgbClr val="FFC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C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17.1±0.01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6123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1073C49C-B456-2C70-0DE1-470F84418F7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30477996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4938" r="-160047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4938" r="-118850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4938" r="-541" b="-46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113333" r="-41222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113333" r="-160047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113333" r="-118850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1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27778" t="-213333" r="-41222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43692" t="-213333" r="-160047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227" t="-213333" r="-118850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1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309211" r="-41222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309211" r="-16004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309211" r="-1188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09211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414667" r="-41222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414667" r="-160047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414667" r="-11885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1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514667" r="-41222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514667" r="-16004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514667" r="-118850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2B32705D-8552-3530-4E06-5003A605D7F5}"/>
              </a:ext>
            </a:extLst>
          </p:cNvPr>
          <p:cNvSpPr txBox="1"/>
          <p:nvPr/>
        </p:nvSpPr>
        <p:spPr>
          <a:xfrm>
            <a:off x="696000" y="5210690"/>
            <a:ext cx="108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i="1" u="sng" dirty="0" err="1"/>
              <a:t>Consistent</a:t>
            </a:r>
            <a:r>
              <a:rPr lang="it-IT" sz="2400" i="1" u="sng" dirty="0"/>
              <a:t> </a:t>
            </a:r>
            <a:r>
              <a:rPr lang="it-IT" sz="2400" i="1" u="sng" dirty="0" err="1"/>
              <a:t>across</a:t>
            </a:r>
            <a:r>
              <a:rPr lang="it-IT" sz="2400" i="1" u="sng" dirty="0"/>
              <a:t> </a:t>
            </a:r>
            <a:r>
              <a:rPr lang="it-IT" sz="2400" i="1" u="sng" dirty="0" err="1"/>
              <a:t>different</a:t>
            </a:r>
            <a:r>
              <a:rPr lang="it-IT" sz="2400" i="1" u="sng" dirty="0"/>
              <a:t> </a:t>
            </a:r>
            <a:r>
              <a:rPr lang="it-IT" sz="2400" i="1" u="sng" dirty="0" err="1"/>
              <a:t>runs</a:t>
            </a:r>
            <a:r>
              <a:rPr lang="it-IT" sz="2400" i="1" u="sng" dirty="0"/>
              <a:t> for the </a:t>
            </a:r>
            <a:r>
              <a:rPr lang="it-IT" sz="2400" i="1" u="sng" dirty="0" err="1"/>
              <a:t>same</a:t>
            </a:r>
            <a:r>
              <a:rPr lang="it-IT" sz="2400" i="1" u="sng" dirty="0"/>
              <a:t> </a:t>
            </a:r>
            <a:r>
              <a:rPr lang="it-IT" sz="2400" i="1" u="sng" dirty="0" err="1"/>
              <a:t>crytsal</a:t>
            </a:r>
            <a:endParaRPr lang="it-IT" sz="2400" i="1" u="sng" dirty="0"/>
          </a:p>
        </p:txBody>
      </p:sp>
    </p:spTree>
    <p:extLst>
      <p:ext uri="{BB962C8B-B14F-4D97-AF65-F5344CB8AC3E}">
        <p14:creationId xmlns:p14="http://schemas.microsoft.com/office/powerpoint/2010/main" val="2360650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12724804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3.50 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6033 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18.1±0.01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2.90 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Run 8656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12724804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Run 8656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 2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5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3409</TotalTime>
  <Words>2101</Words>
  <Application>Microsoft Office PowerPoint</Application>
  <PresentationFormat>Widescreen</PresentationFormat>
  <Paragraphs>343</Paragraphs>
  <Slides>30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1. SCHEMATIC LAYOUT</vt:lpstr>
      <vt:lpstr> 2. PREVIOUS ANALYSIS</vt:lpstr>
      <vt:lpstr> 2. PREVIOUS ANALYSIS: ALIGNMENT</vt:lpstr>
      <vt:lpstr> BACKUP SLIDES: ALIGNMENT</vt:lpstr>
      <vt:lpstr> 2. PREVIOUS ANALYSIS: CRYSTAL EDGES</vt:lpstr>
      <vt:lpstr> 2. PREVIOUS ANALYSIS: CRYSTAL EDGES</vt:lpstr>
      <vt:lpstr> 2. PREVIOUS ANALYSIS: CRYSTAL EDGES</vt:lpstr>
      <vt:lpstr> 2. PREVIOUS ANALYSIS: CRYSTAL EDGES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4. RESULTS</vt:lpstr>
      <vt:lpstr> BACKUP SLIDES</vt:lpstr>
      <vt:lpstr> BACKUP SLIDES: SCHEMATIC LAYOUT 2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28</cp:revision>
  <dcterms:created xsi:type="dcterms:W3CDTF">2026-07-09T15:21:04Z</dcterms:created>
  <dcterms:modified xsi:type="dcterms:W3CDTF">2026-07-23T13:57:20Z</dcterms:modified>
</cp:coreProperties>
</file>