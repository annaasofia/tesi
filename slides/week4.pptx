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86" r:id="rId3"/>
    <p:sldId id="288" r:id="rId4"/>
    <p:sldId id="292" r:id="rId5"/>
    <p:sldId id="317" r:id="rId6"/>
    <p:sldId id="289" r:id="rId7"/>
    <p:sldId id="291" r:id="rId8"/>
    <p:sldId id="318" r:id="rId9"/>
    <p:sldId id="316" r:id="rId10"/>
    <p:sldId id="297" r:id="rId11"/>
    <p:sldId id="295" r:id="rId12"/>
    <p:sldId id="299" r:id="rId13"/>
    <p:sldId id="298" r:id="rId14"/>
    <p:sldId id="303" r:id="rId15"/>
    <p:sldId id="314" r:id="rId16"/>
    <p:sldId id="315" r:id="rId17"/>
    <p:sldId id="301" r:id="rId18"/>
    <p:sldId id="308" r:id="rId19"/>
    <p:sldId id="304" r:id="rId20"/>
    <p:sldId id="309" r:id="rId21"/>
    <p:sldId id="305" r:id="rId22"/>
    <p:sldId id="319" r:id="rId23"/>
    <p:sldId id="320" r:id="rId24"/>
    <p:sldId id="311" r:id="rId25"/>
    <p:sldId id="310" r:id="rId26"/>
    <p:sldId id="306" r:id="rId27"/>
    <p:sldId id="307" r:id="rId28"/>
    <p:sldId id="312" r:id="rId29"/>
    <p:sldId id="313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82493" autoAdjust="0"/>
  </p:normalViewPr>
  <p:slideViewPr>
    <p:cSldViewPr snapToGrid="0">
      <p:cViewPr>
        <p:scale>
          <a:sx n="50" d="100"/>
          <a:sy n="50" d="100"/>
        </p:scale>
        <p:origin x="115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the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subsequent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coordinates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follow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lattice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resulting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a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geometric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drift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x-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traverse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footprint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entrance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face, we must project the downstream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upstream.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3883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use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simplest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that can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data,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so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it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physics</a:t>
            </a:r>
            <a:r>
              <a:rPr lang="it-IT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dividing</a:t>
            </a:r>
            <a:r>
              <a:rPr lang="it-IT" dirty="0"/>
              <a:t> data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subsamples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particle</a:t>
            </a:r>
            <a:r>
              <a:rPr lang="it-IT" dirty="0"/>
              <a:t> impact position on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  <a:p>
            <a:r>
              <a:rPr lang="it-IT" dirty="0"/>
              <a:t>this </a:t>
            </a:r>
            <a:r>
              <a:rPr lang="it-IT" dirty="0" err="1"/>
              <a:t>allows</a:t>
            </a:r>
            <a:r>
              <a:rPr lang="it-IT" dirty="0"/>
              <a:t> </a:t>
            </a:r>
            <a:r>
              <a:rPr lang="it-IT" dirty="0" err="1"/>
              <a:t>identifying</a:t>
            </a:r>
            <a:r>
              <a:rPr lang="it-IT" dirty="0"/>
              <a:t> the </a:t>
            </a:r>
            <a:r>
              <a:rPr lang="it-IT" dirty="0" err="1"/>
              <a:t>orientation</a:t>
            </a:r>
            <a:r>
              <a:rPr lang="it-IT" dirty="0"/>
              <a:t> with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, </a:t>
            </a:r>
            <a:r>
              <a:rPr lang="it-IT" dirty="0" err="1"/>
              <a:t>corresponding</a:t>
            </a:r>
            <a:r>
              <a:rPr lang="it-IT" dirty="0"/>
              <a:t> to the </a:t>
            </a:r>
            <a:r>
              <a:rPr lang="it-IT" dirty="0" err="1"/>
              <a:t>orientation</a:t>
            </a:r>
            <a:r>
              <a:rPr lang="it-IT" dirty="0"/>
              <a:t> of the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/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1900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=0.004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86E7-1A7A-D5FF-00F7-4EA047E91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A1DB4D-1ABD-A3F3-5222-17C3D2873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EBEEF6-A28E-39F6-8449-8812EF9C3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0E214C-E59D-866B-031F-B4179AE3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8C4BE9-74D3-5C68-A715-2F5A9ED4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AE6CA7-9F2D-CE6D-06CC-5EE7AFC0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700AA9C-2368-44FD-B5A1-95604DB48E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0BA96C06-4EFC-1DB2-F6AE-9D4290B62609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64A8EB8-0B59-286A-1CA3-C6C166623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30272D5E-1964-7C54-CC85-FC6F30DE3317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ED5E50EE-9091-8029-174B-6855889A457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9318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232946" y="2156056"/>
            <a:ext cx="9493450" cy="3320716"/>
            <a:chOff x="232946" y="2040556"/>
            <a:chExt cx="9493450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232946" y="2593936"/>
              <a:ext cx="2078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IMPACT POSITION</a:t>
              </a:r>
            </a:p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419100" y="4166393"/>
              <a:ext cx="1979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C6166-FE84-CE3F-0649-4905E5866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677B0D9E-035E-F55D-8D73-D0C24D2C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0524BDA-A9F5-3129-9FB8-D3236D26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  <a:p>
                <a:r>
                  <a:rPr lang="it-IT" sz="2400" dirty="0"/>
                  <a:t>The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was </a:t>
                </a:r>
                <a:r>
                  <a:rPr lang="it-IT" sz="2400" dirty="0" err="1"/>
                  <a:t>performed</a:t>
                </a:r>
                <a:r>
                  <a:rPr lang="it-IT" sz="2400" dirty="0"/>
                  <a:t> on the 				           </a:t>
                </a:r>
                <a:r>
                  <a:rPr lang="it-IT" sz="2400" dirty="0" err="1"/>
                  <a:t>dowstream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since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show 					         more </a:t>
                </a:r>
                <a:r>
                  <a:rPr lang="it-IT" sz="2400" dirty="0" err="1"/>
                  <a:t>defined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F3708B-B74A-74C3-49C4-D47F5DCA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497987-DFD4-E644-4DD8-60504FFA6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E13CF2-BC13-751B-CA26-A5E740D35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18F4508-C177-0D85-4A4C-1321EA43B6B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ttangolo 8">
            <a:extLst>
              <a:ext uri="{FF2B5EF4-FFF2-40B4-BE49-F238E27FC236}">
                <a16:creationId xmlns:a16="http://schemas.microsoft.com/office/drawing/2014/main" id="{2E43FB0E-7D20-8032-1D71-D2711D3BD28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253F37C6-E636-81DA-4537-B44ED5F9D761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01308BBB-2F02-586A-9BDF-DA3ABB293EB1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CD8AB4A-3551-93F4-7F51-A01117EC332F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AD7CDBF-935C-69DD-5E6C-9114FEFA1CC5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13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89F9-D1FA-1576-64FD-A2EB689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8E94EB5A-4F43-6CBD-4C92-4CA9F1757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F000813B-5FBF-D20E-DACE-03AC95F539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565F3B-3ED1-0D04-5BA8-550046893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To </a:t>
                </a:r>
                <a:r>
                  <a:rPr lang="it-IT" sz="2400" dirty="0" err="1"/>
                  <a:t>define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true</a:t>
                </a:r>
                <a:r>
                  <a:rPr lang="it-IT" sz="2400" dirty="0"/>
                  <a:t> footprint </a:t>
                </a:r>
                <a:r>
                  <a:rPr lang="it-IT" sz="2400" dirty="0" err="1"/>
                  <a:t>at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entrance</a:t>
                </a:r>
                <a:r>
                  <a:rPr lang="it-IT" sz="2400" dirty="0"/>
                  <a:t> face we must project the downstream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back upstream.</a:t>
                </a:r>
              </a:p>
              <a:p>
                <a:r>
                  <a:rPr lang="it-IT" sz="2400" dirty="0"/>
                  <a:t>We </a:t>
                </a:r>
                <a:r>
                  <a:rPr lang="it-IT" sz="2400" dirty="0" err="1"/>
                  <a:t>need</a:t>
                </a:r>
                <a:r>
                  <a:rPr lang="it-IT" sz="2400" dirty="0"/>
                  <a:t> to </a:t>
                </a:r>
                <a:r>
                  <a:rPr lang="it-IT" sz="2400" dirty="0" err="1"/>
                  <a:t>subtract</a:t>
                </a:r>
                <a:r>
                  <a:rPr lang="it-IT" sz="2400" dirty="0"/>
                  <a:t> a shift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from the downstream </a:t>
                </a:r>
                <a:r>
                  <a:rPr lang="it-IT" sz="2400" dirty="0" err="1"/>
                  <a:t>edge</a:t>
                </a:r>
                <a:r>
                  <a:rPr lang="it-IT" sz="2400" dirty="0"/>
                  <a:t> position.</a:t>
                </a:r>
              </a:p>
              <a:p>
                <a:r>
                  <a:rPr lang="it-IT" sz="2400" dirty="0" err="1"/>
                  <a:t>Channeled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follow the </a:t>
                </a:r>
                <a:r>
                  <a:rPr lang="it-IT" sz="2400" dirty="0" err="1"/>
                  <a:t>bent</a:t>
                </a:r>
                <a:r>
                  <a:rPr lang="it-IT" sz="2400" dirty="0"/>
                  <a:t> lattice </a:t>
                </a:r>
                <a:r>
                  <a:rPr lang="it-IT" sz="2400" dirty="0" err="1"/>
                  <a:t>planes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resulting</a:t>
                </a:r>
                <a:r>
                  <a:rPr lang="it-IT" sz="2400" dirty="0"/>
                  <a:t> in a </a:t>
                </a:r>
                <a:r>
                  <a:rPr lang="it-IT" sz="2400" dirty="0" err="1"/>
                  <a:t>lateral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geometric</a:t>
                </a:r>
                <a:r>
                  <a:rPr lang="it-IT" sz="2400" dirty="0"/>
                  <a:t> drift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the x-</a:t>
                </a:r>
                <a:r>
                  <a:rPr lang="it-IT" sz="2400" dirty="0" err="1"/>
                  <a:t>axis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traverse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5"/>
                <a:stretch>
                  <a:fillRect l="-812" t="-166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8817D2-0A9B-0FAF-36DE-4A11DA6A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68EBD17-4982-87E2-3CDB-90B5380C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7B5E3-3B9D-1082-353B-3394C8D10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C47FAF3-C921-892C-9CA4-BE050B1D5E9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0188A4B1-7E67-D966-06CE-BDB22631CF37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637B16E-48F5-279D-9F6C-C63C2AAE3BFD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FE88FD1A-5454-5AA8-1606-1C9938301A25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AE15623F-17A3-2E34-83DC-B4A12FAAEE97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D617B793-7839-5993-11C5-7A31728C7F0B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A0532A15-704D-DEC0-C721-3894EE9F06A3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E1A732FF-C639-A178-1422-EF6F95A240D8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694E3CB-E4C0-FA0D-7F1C-B294C58F5FD2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8D8E68B-77D0-AA37-02A8-F4262A724A74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A77E9F3B-3C44-D66F-AB92-981082CB6719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ttangolo 10">
            <a:extLst>
              <a:ext uri="{FF2B5EF4-FFF2-40B4-BE49-F238E27FC236}">
                <a16:creationId xmlns:a16="http://schemas.microsoft.com/office/drawing/2014/main" id="{4C842739-3CDC-C45E-E714-D97D9BED5D0F}"/>
              </a:ext>
            </a:extLst>
          </p:cNvPr>
          <p:cNvSpPr/>
          <p:nvPr/>
        </p:nvSpPr>
        <p:spPr>
          <a:xfrm>
            <a:off x="7389455" y="4806951"/>
            <a:ext cx="1019175" cy="1422618"/>
          </a:xfrm>
          <a:prstGeom prst="rect">
            <a:avLst/>
          </a:prstGeom>
          <a:noFill/>
          <a:ln w="2857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/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∼0.22 </m:t>
                      </m:r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37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391" y="1222454"/>
            <a:ext cx="2873709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/>
                            <a:t>channeling angle </a:t>
                          </a:r>
                          <a14:m>
                            <m:oMath xmlns:m="http://schemas.openxmlformats.org/officeDocument/2006/math"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3.86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6010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18.4±0.01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3.74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6076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17.2±0.01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6129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18.0±0.01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5648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837" r="-197778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837" r="-10941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837" r="-541" b="-268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193333" r="-344695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193333" r="-197778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193333" r="-10941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9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10932" t="-293333" r="-344695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82222" t="-293333" r="-197778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24" t="-293333" r="-10941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9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388158" r="-3446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388158" r="-197778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388158" r="-10941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88158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494667" r="-344695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494667" r="-197778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494667" r="-10941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9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594667" r="-34469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94667" r="-197778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594667" r="-10941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9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3.64 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18.1±0.01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6128 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 1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357" y="1546325"/>
            <a:ext cx="8759602" cy="416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 2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5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3368</TotalTime>
  <Words>2030</Words>
  <Application>Microsoft Office PowerPoint</Application>
  <PresentationFormat>Widescreen</PresentationFormat>
  <Paragraphs>305</Paragraphs>
  <Slides>29</Slides>
  <Notes>16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2. PREVIOUS ANALYSIS</vt:lpstr>
      <vt:lpstr> 2. PREVIOUS ANALYSIS: ALIGNMENT</vt:lpstr>
      <vt:lpstr> BACKUP SLIDES: ALIGNMENT</vt:lpstr>
      <vt:lpstr> 2. PREVIOUS ANALYSIS: CRYSTAL EDGES</vt:lpstr>
      <vt:lpstr> 2. PREVIOUS ANALYSIS: CRYSTAL EDGES</vt:lpstr>
      <vt:lpstr> 2. PREVIOUS ANALYSIS: CRYSTAL EDGES</vt:lpstr>
      <vt:lpstr> 2. PREVIOUS ANALYSIS: CRYSTAL EDGES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BACKUP SLIDES</vt:lpstr>
      <vt:lpstr> BACKUP SLIDES: SCHEMATIC LAYOUT 1</vt:lpstr>
      <vt:lpstr> BACKUP SLIDES: SCHEMATIC LAYOUT 2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25</cp:revision>
  <dcterms:created xsi:type="dcterms:W3CDTF">2026-07-09T15:21:04Z</dcterms:created>
  <dcterms:modified xsi:type="dcterms:W3CDTF">2026-07-23T12:07:28Z</dcterms:modified>
</cp:coreProperties>
</file>