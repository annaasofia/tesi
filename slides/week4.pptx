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6" r:id="rId3"/>
    <p:sldId id="319" r:id="rId4"/>
    <p:sldId id="288" r:id="rId5"/>
    <p:sldId id="292" r:id="rId6"/>
    <p:sldId id="317" r:id="rId7"/>
    <p:sldId id="289" r:id="rId8"/>
    <p:sldId id="291" r:id="rId9"/>
    <p:sldId id="318" r:id="rId10"/>
    <p:sldId id="316" r:id="rId11"/>
    <p:sldId id="297" r:id="rId12"/>
    <p:sldId id="295" r:id="rId13"/>
    <p:sldId id="299" r:id="rId14"/>
    <p:sldId id="298" r:id="rId15"/>
    <p:sldId id="303" r:id="rId16"/>
    <p:sldId id="314" r:id="rId17"/>
    <p:sldId id="315" r:id="rId18"/>
    <p:sldId id="301" r:id="rId19"/>
    <p:sldId id="308" r:id="rId20"/>
    <p:sldId id="304" r:id="rId21"/>
    <p:sldId id="321" r:id="rId22"/>
    <p:sldId id="309" r:id="rId23"/>
    <p:sldId id="305" r:id="rId24"/>
    <p:sldId id="320" r:id="rId25"/>
    <p:sldId id="311" r:id="rId26"/>
    <p:sldId id="310" r:id="rId27"/>
    <p:sldId id="306" r:id="rId28"/>
    <p:sldId id="307" r:id="rId29"/>
    <p:sldId id="312" r:id="rId30"/>
    <p:sldId id="313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2493" autoAdjust="0"/>
  </p:normalViewPr>
  <p:slideViewPr>
    <p:cSldViewPr snapToGrid="0">
      <p:cViewPr>
        <p:scale>
          <a:sx n="50" d="100"/>
          <a:sy n="50" d="100"/>
        </p:scale>
        <p:origin x="115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a 2024 dataset for </a:t>
            </a:r>
            <a:r>
              <a:rPr lang="it-IT" dirty="0" err="1"/>
              <a:t>two</a:t>
            </a:r>
            <a:r>
              <a:rPr lang="it-IT" dirty="0"/>
              <a:t> long </a:t>
            </a:r>
            <a:r>
              <a:rPr lang="it-IT" dirty="0" err="1"/>
              <a:t>crystals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we </a:t>
            </a:r>
            <a:r>
              <a:rPr lang="it-IT" dirty="0" err="1"/>
              <a:t>refer</a:t>
            </a:r>
            <a:r>
              <a:rPr lang="it-IT" dirty="0"/>
              <a:t> to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1 and </a:t>
            </a:r>
            <a:r>
              <a:rPr lang="it-IT" dirty="0" err="1"/>
              <a:t>crystal</a:t>
            </a:r>
            <a:r>
              <a:rPr lang="it-IT" dirty="0"/>
              <a:t> 2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03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diving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, we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preliminary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steps. </a:t>
            </a:r>
          </a:p>
          <a:p>
            <a:r>
              <a:rPr lang="it-IT" dirty="0"/>
              <a:t>Next, </a:t>
            </a:r>
            <a:r>
              <a:rPr lang="it-IT" dirty="0" err="1"/>
              <a:t>because</a:t>
            </a:r>
            <a:r>
              <a:rPr lang="it-IT" dirty="0"/>
              <a:t> the relative </a:t>
            </a:r>
            <a:r>
              <a:rPr lang="it-IT" dirty="0" err="1"/>
              <a:t>beam</a:t>
            </a:r>
            <a:r>
              <a:rPr lang="it-IT" dirty="0"/>
              <a:t> position was </a:t>
            </a:r>
            <a:r>
              <a:rPr lang="it-IT" dirty="0" err="1"/>
              <a:t>unknown</a:t>
            </a:r>
            <a:r>
              <a:rPr lang="it-IT" dirty="0"/>
              <a:t>, we </a:t>
            </a:r>
            <a:r>
              <a:rPr lang="it-IT" dirty="0" err="1"/>
              <a:t>had</a:t>
            </a:r>
            <a:r>
              <a:rPr lang="it-IT" dirty="0"/>
              <a:t> to </a:t>
            </a:r>
            <a:r>
              <a:rPr lang="it-IT" dirty="0" err="1"/>
              <a:t>algorithmically</a:t>
            </a:r>
            <a:r>
              <a:rPr lang="it-IT" dirty="0"/>
              <a:t> </a:t>
            </a:r>
            <a:r>
              <a:rPr lang="it-IT" dirty="0" err="1"/>
              <a:t>identify</a:t>
            </a:r>
            <a:r>
              <a:rPr lang="it-IT" dirty="0"/>
              <a:t> the </a:t>
            </a:r>
            <a:r>
              <a:rPr lang="it-IT" dirty="0" err="1"/>
              <a:t>physical</a:t>
            </a:r>
            <a:r>
              <a:rPr lang="it-IT" dirty="0"/>
              <a:t> </a:t>
            </a:r>
            <a:r>
              <a:rPr lang="it-IT" dirty="0" err="1"/>
              <a:t>edges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to validate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entered</a:t>
            </a:r>
            <a:r>
              <a:rPr lang="it-IT" dirty="0"/>
              <a:t> it.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920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, the </a:t>
            </a:r>
            <a:r>
              <a:rPr lang="it-IT" dirty="0" err="1"/>
              <a:t>deviation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essentially</a:t>
            </a:r>
            <a:r>
              <a:rPr lang="it-IT" dirty="0"/>
              <a:t> zero—with an x-offset of 0.003 </a:t>
            </a:r>
            <a:r>
              <a:rPr lang="it-IT" dirty="0" err="1"/>
              <a:t>millimeters</a:t>
            </a:r>
            <a:r>
              <a:rPr lang="it-IT" dirty="0"/>
              <a:t> and a y-offset of 0.004 </a:t>
            </a:r>
            <a:r>
              <a:rPr lang="it-IT" dirty="0" err="1"/>
              <a:t>millimeters</a:t>
            </a:r>
            <a:r>
              <a:rPr lang="it-IT" dirty="0"/>
              <a:t>,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showing</a:t>
            </a:r>
            <a:r>
              <a:rPr lang="it-IT" dirty="0"/>
              <a:t> a </a:t>
            </a:r>
            <a:r>
              <a:rPr lang="it-IT" dirty="0" err="1"/>
              <a:t>skewness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 zero.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023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To </a:t>
            </a:r>
            <a:r>
              <a:rPr lang="it-IT" dirty="0" err="1"/>
              <a:t>define</a:t>
            </a:r>
            <a:r>
              <a:rPr lang="it-IT" dirty="0"/>
              <a:t> the position of the </a:t>
            </a:r>
            <a:r>
              <a:rPr lang="it-IT" dirty="0" err="1"/>
              <a:t>crystal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we </a:t>
            </a:r>
            <a:r>
              <a:rPr lang="it-IT" dirty="0" err="1"/>
              <a:t>looked</a:t>
            </a:r>
            <a:r>
              <a:rPr lang="it-IT" dirty="0"/>
              <a:t> </a:t>
            </a:r>
            <a:r>
              <a:rPr lang="it-IT" dirty="0" err="1"/>
              <a:t>specifically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  <a:p>
            <a:r>
              <a:rPr lang="it-IT" dirty="0"/>
              <a:t>The impact points of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 the </a:t>
            </a:r>
            <a:r>
              <a:rPr lang="it-IT" dirty="0" err="1"/>
              <a:t>physical</a:t>
            </a:r>
            <a:r>
              <a:rPr lang="it-IT" dirty="0"/>
              <a:t> location of the </a:t>
            </a:r>
            <a:r>
              <a:rPr lang="it-IT" dirty="0" err="1"/>
              <a:t>crystal</a:t>
            </a:r>
            <a:r>
              <a:rPr lang="it-IT" dirty="0"/>
              <a:t>, matching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expected</a:t>
            </a:r>
            <a:r>
              <a:rPr lang="it-IT" dirty="0"/>
              <a:t> </a:t>
            </a:r>
            <a:r>
              <a:rPr lang="it-IT" dirty="0" err="1"/>
              <a:t>dimensions</a:t>
            </a:r>
            <a:r>
              <a:rPr lang="it-IT" dirty="0"/>
              <a:t> of 2 by 8 </a:t>
            </a:r>
            <a:r>
              <a:rPr lang="it-IT" dirty="0" err="1"/>
              <a:t>millimeters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121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the 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downstream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distinctly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subsequent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upstream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lattice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geometric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drift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x-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traverse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footprint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face, we must project the downstream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upstream.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88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crucial</a:t>
            </a:r>
            <a:r>
              <a:rPr lang="it-IT" dirty="0"/>
              <a:t> part of this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angle </a:t>
            </a:r>
            <a:r>
              <a:rPr lang="it-IT" dirty="0" err="1"/>
              <a:t>correction</a:t>
            </a:r>
            <a:r>
              <a:rPr lang="it-IT" dirty="0"/>
              <a:t>. In long </a:t>
            </a:r>
            <a:r>
              <a:rPr lang="it-IT" dirty="0" err="1"/>
              <a:t>crystals</a:t>
            </a:r>
            <a:r>
              <a:rPr lang="it-IT" dirty="0"/>
              <a:t>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non-</a:t>
            </a:r>
            <a:r>
              <a:rPr lang="it-IT" dirty="0" err="1"/>
              <a:t>negligible</a:t>
            </a:r>
            <a:r>
              <a:rPr lang="it-IT" dirty="0"/>
              <a:t> and must be </a:t>
            </a:r>
            <a:r>
              <a:rPr lang="it-IT" dirty="0" err="1"/>
              <a:t>incorporated</a:t>
            </a:r>
            <a:r>
              <a:rPr lang="it-IT" dirty="0"/>
              <a:t>. The </a:t>
            </a:r>
            <a:r>
              <a:rPr lang="it-IT" dirty="0" err="1"/>
              <a:t>varying</a:t>
            </a:r>
            <a:r>
              <a:rPr lang="it-IT" dirty="0"/>
              <a:t> </a:t>
            </a:r>
            <a:r>
              <a:rPr lang="it-IT" dirty="0" err="1"/>
              <a:t>orientations</a:t>
            </a:r>
            <a:r>
              <a:rPr lang="it-IT" dirty="0"/>
              <a:t> of the </a:t>
            </a:r>
            <a:r>
              <a:rPr lang="it-IT" dirty="0" err="1"/>
              <a:t>crystallographic</a:t>
            </a:r>
            <a:r>
              <a:rPr lang="it-IT" dirty="0"/>
              <a:t> </a:t>
            </a:r>
            <a:r>
              <a:rPr lang="it-IT" dirty="0" err="1"/>
              <a:t>planes</a:t>
            </a:r>
            <a:r>
              <a:rPr lang="it-IT" dirty="0"/>
              <a:t> </a:t>
            </a:r>
            <a:r>
              <a:rPr lang="it-IT" dirty="0" err="1"/>
              <a:t>along</a:t>
            </a:r>
            <a:r>
              <a:rPr lang="it-IT" dirty="0"/>
              <a:t> the front </a:t>
            </a:r>
            <a:r>
              <a:rPr lang="it-IT" dirty="0" err="1"/>
              <a:t>surface</a:t>
            </a:r>
            <a:r>
              <a:rPr lang="it-IT" dirty="0"/>
              <a:t> </a:t>
            </a:r>
            <a:r>
              <a:rPr lang="it-IT" dirty="0" err="1"/>
              <a:t>influence</a:t>
            </a:r>
            <a:r>
              <a:rPr lang="it-IT" dirty="0"/>
              <a:t> the </a:t>
            </a:r>
            <a:r>
              <a:rPr lang="it-IT" dirty="0" err="1"/>
              <a:t>angular</a:t>
            </a:r>
            <a:r>
              <a:rPr lang="it-IT" dirty="0"/>
              <a:t> range in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can be </a:t>
            </a:r>
            <a:r>
              <a:rPr lang="it-IT" dirty="0" err="1"/>
              <a:t>channeled</a:t>
            </a:r>
            <a:r>
              <a:rPr lang="it-IT" dirty="0"/>
              <a:t>. To </a:t>
            </a:r>
            <a:r>
              <a:rPr lang="it-IT" dirty="0" err="1"/>
              <a:t>correct</a:t>
            </a:r>
            <a:r>
              <a:rPr lang="it-IT" dirty="0"/>
              <a:t> this, we </a:t>
            </a:r>
            <a:r>
              <a:rPr lang="it-IT" dirty="0" err="1"/>
              <a:t>couldn't</a:t>
            </a:r>
            <a:r>
              <a:rPr lang="it-IT" dirty="0"/>
              <a:t> just </a:t>
            </a:r>
            <a:r>
              <a:rPr lang="it-IT" dirty="0" err="1"/>
              <a:t>apply</a:t>
            </a:r>
            <a:r>
              <a:rPr lang="it-IT" dirty="0"/>
              <a:t> a single </a:t>
            </a:r>
            <a:r>
              <a:rPr lang="it-IT" dirty="0" err="1"/>
              <a:t>angular</a:t>
            </a:r>
            <a:r>
              <a:rPr lang="it-IT" dirty="0"/>
              <a:t> shift </a:t>
            </a:r>
            <a:r>
              <a:rPr lang="it-IT" dirty="0" err="1"/>
              <a:t>parameter</a:t>
            </a:r>
            <a:r>
              <a:rPr lang="it-IT" dirty="0"/>
              <a:t>, theta-zero. </a:t>
            </a:r>
            <a:r>
              <a:rPr lang="it-IT" dirty="0" err="1"/>
              <a:t>Instead</a:t>
            </a:r>
            <a:r>
              <a:rPr lang="it-IT" dirty="0"/>
              <a:t>, we </a:t>
            </a:r>
            <a:r>
              <a:rPr lang="it-IT" dirty="0" err="1"/>
              <a:t>performed</a:t>
            </a:r>
            <a:r>
              <a:rPr lang="it-IT" dirty="0"/>
              <a:t> a </a:t>
            </a:r>
            <a:r>
              <a:rPr lang="it-IT" dirty="0" err="1"/>
              <a:t>checkerboard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, </a:t>
            </a:r>
            <a:r>
              <a:rPr lang="it-IT" dirty="0" err="1"/>
              <a:t>dividing</a:t>
            </a:r>
            <a:r>
              <a:rPr lang="it-IT" dirty="0"/>
              <a:t> the data sample </a:t>
            </a:r>
            <a:r>
              <a:rPr lang="it-IT" dirty="0" err="1"/>
              <a:t>into</a:t>
            </a:r>
            <a:r>
              <a:rPr lang="it-IT" dirty="0"/>
              <a:t> 0.1 by 0.1 </a:t>
            </a:r>
            <a:r>
              <a:rPr lang="it-IT" dirty="0" err="1"/>
              <a:t>millimeter</a:t>
            </a:r>
            <a:r>
              <a:rPr lang="it-IT" dirty="0"/>
              <a:t> </a:t>
            </a:r>
            <a:r>
              <a:rPr lang="it-IT" dirty="0" err="1"/>
              <a:t>square</a:t>
            </a:r>
            <a:r>
              <a:rPr lang="it-IT" dirty="0"/>
              <a:t> </a:t>
            </a:r>
            <a:r>
              <a:rPr lang="it-IT" dirty="0" err="1"/>
              <a:t>bins</a:t>
            </a:r>
            <a:r>
              <a:rPr lang="it-IT" dirty="0"/>
              <a:t>. By </a:t>
            </a:r>
            <a:r>
              <a:rPr lang="it-IT" dirty="0" err="1"/>
              <a:t>varying</a:t>
            </a:r>
            <a:r>
              <a:rPr lang="it-IT" dirty="0"/>
              <a:t> the </a:t>
            </a:r>
            <a:r>
              <a:rPr lang="it-IT" dirty="0" err="1"/>
              <a:t>angular</a:t>
            </a:r>
            <a:r>
              <a:rPr lang="it-IT" dirty="0"/>
              <a:t> shift to </a:t>
            </a:r>
            <a:r>
              <a:rPr lang="it-IT" dirty="0" err="1"/>
              <a:t>find</a:t>
            </a:r>
            <a:r>
              <a:rPr lang="it-IT" dirty="0"/>
              <a:t> the maximum </a:t>
            </a:r>
            <a:r>
              <a:rPr lang="it-IT" dirty="0" err="1"/>
              <a:t>channeling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bin, we </a:t>
            </a:r>
            <a:r>
              <a:rPr lang="it-IT" dirty="0" err="1"/>
              <a:t>generated</a:t>
            </a:r>
            <a:r>
              <a:rPr lang="it-IT" dirty="0"/>
              <a:t> a 2D </a:t>
            </a:r>
            <a:r>
              <a:rPr lang="it-IT" dirty="0" err="1"/>
              <a:t>map</a:t>
            </a:r>
            <a:r>
              <a:rPr lang="it-IT" dirty="0"/>
              <a:t> of the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the </a:t>
            </a:r>
            <a:r>
              <a:rPr lang="it-IT" dirty="0" err="1"/>
              <a:t>crystal's</a:t>
            </a:r>
            <a:r>
              <a:rPr lang="it-IT" dirty="0"/>
              <a:t> </a:t>
            </a:r>
            <a:r>
              <a:rPr lang="it-IT" dirty="0" err="1"/>
              <a:t>surface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0254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1286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F93E-775B-2F74-BEF9-33B0FF0DE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971DE8F-15E4-6CE3-9DC2-6294588A6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F09B94-AEB7-2B7C-2B68-C2A03603A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ADFF1F-2340-14F4-C46D-4A88A14F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922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use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that can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so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physics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8983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26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Applying</a:t>
            </a:r>
            <a:r>
              <a:rPr lang="it-IT" dirty="0"/>
              <a:t> this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. </a:t>
            </a:r>
            <a:r>
              <a:rPr lang="it-IT" dirty="0" err="1"/>
              <a:t>When</a:t>
            </a:r>
            <a:r>
              <a:rPr lang="it-IT" dirty="0"/>
              <a:t> we plot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function of the </a:t>
            </a:r>
            <a:r>
              <a:rPr lang="it-IT" dirty="0" err="1"/>
              <a:t>torsion-corrected</a:t>
            </a:r>
            <a:r>
              <a:rPr lang="it-IT" dirty="0"/>
              <a:t> incoming angle, the </a:t>
            </a:r>
            <a:r>
              <a:rPr lang="it-IT" dirty="0" err="1"/>
              <a:t>peak</a:t>
            </a:r>
            <a:r>
              <a:rPr lang="it-IT" dirty="0"/>
              <a:t> of this curve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perfectly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in this case </a:t>
            </a:r>
            <a:r>
              <a:rPr lang="it-IT" dirty="0" err="1"/>
              <a:t>reached</a:t>
            </a:r>
            <a:r>
              <a:rPr lang="it-IT" dirty="0"/>
              <a:t> 18.8%.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989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fitting </a:t>
            </a:r>
            <a:r>
              <a:rPr lang="it-IT" dirty="0" err="1"/>
              <a:t>only</a:t>
            </a:r>
            <a:r>
              <a:rPr lang="it-IT" dirty="0"/>
              <a:t> the right side of the </a:t>
            </a:r>
            <a:r>
              <a:rPr lang="it-IT" dirty="0" err="1"/>
              <a:t>peak</a:t>
            </a:r>
            <a:r>
              <a:rPr lang="it-IT" dirty="0"/>
              <a:t>, we </a:t>
            </a:r>
            <a:r>
              <a:rPr lang="it-IT" dirty="0" err="1"/>
              <a:t>ensured</a:t>
            </a:r>
            <a:r>
              <a:rPr lang="it-IT" dirty="0"/>
              <a:t> the </a:t>
            </a:r>
            <a:r>
              <a:rPr lang="it-IT" dirty="0" err="1"/>
              <a:t>cleanest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measurement</a:t>
            </a:r>
            <a:r>
              <a:rPr lang="it-IT" dirty="0"/>
              <a:t> by </a:t>
            </a:r>
            <a:r>
              <a:rPr lang="it-IT" dirty="0" err="1"/>
              <a:t>excluding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contribution</a:t>
            </a:r>
            <a:r>
              <a:rPr lang="it-IT" dirty="0"/>
              <a:t> from </a:t>
            </a:r>
            <a:r>
              <a:rPr lang="it-IT" dirty="0" err="1"/>
              <a:t>dechanneled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551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20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ECBE-E1C4-2681-0ED2-457E1499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C63B2A-68E9-C3B2-E2B6-CBD98CF9C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4DB49C-A470-4C4A-C2FF-DBF8A0C42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0A7F6C-8E4A-1933-317C-49B56617A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560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The second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exhibited</a:t>
            </a:r>
            <a:r>
              <a:rPr lang="it-IT" dirty="0"/>
              <a:t> a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of </a:t>
            </a:r>
            <a:r>
              <a:rPr lang="it-IT" dirty="0" err="1"/>
              <a:t>about</a:t>
            </a:r>
            <a:r>
              <a:rPr lang="it-IT" dirty="0"/>
              <a:t> 2.9 </a:t>
            </a:r>
            <a:r>
              <a:rPr lang="it-IT" dirty="0" err="1"/>
              <a:t>microradians</a:t>
            </a:r>
            <a:r>
              <a:rPr lang="it-IT" dirty="0"/>
              <a:t> per </a:t>
            </a:r>
            <a:r>
              <a:rPr lang="it-IT" dirty="0" err="1"/>
              <a:t>millimeter</a:t>
            </a:r>
            <a:r>
              <a:rPr lang="it-IT" dirty="0"/>
              <a:t>, </a:t>
            </a:r>
            <a:r>
              <a:rPr lang="it-IT" dirty="0" err="1"/>
              <a:t>yielding</a:t>
            </a:r>
            <a:r>
              <a:rPr lang="it-IT" dirty="0"/>
              <a:t> an </a:t>
            </a:r>
            <a:r>
              <a:rPr lang="it-IT" dirty="0" err="1"/>
              <a:t>efficiency</a:t>
            </a:r>
            <a:r>
              <a:rPr lang="it-IT" dirty="0"/>
              <a:t> of </a:t>
            </a:r>
            <a:r>
              <a:rPr lang="it-IT" dirty="0" err="1"/>
              <a:t>roughly</a:t>
            </a:r>
            <a:r>
              <a:rPr lang="it-IT"/>
              <a:t> 17.9%.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418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840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dividing</a:t>
            </a:r>
            <a:r>
              <a:rPr lang="it-IT" dirty="0"/>
              <a:t> data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subsamples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function of the </a:t>
            </a:r>
            <a:r>
              <a:rPr lang="it-IT" dirty="0" err="1"/>
              <a:t>particle</a:t>
            </a:r>
            <a:r>
              <a:rPr lang="it-IT" dirty="0"/>
              <a:t> impact position on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surface</a:t>
            </a:r>
            <a:r>
              <a:rPr lang="it-IT" dirty="0"/>
              <a:t>.</a:t>
            </a:r>
          </a:p>
          <a:p>
            <a:r>
              <a:rPr lang="it-IT" dirty="0"/>
              <a:t>this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identifying</a:t>
            </a:r>
            <a:r>
              <a:rPr lang="it-IT" dirty="0"/>
              <a:t> the </a:t>
            </a:r>
            <a:r>
              <a:rPr lang="it-IT" dirty="0" err="1"/>
              <a:t>orientation</a:t>
            </a:r>
            <a:r>
              <a:rPr lang="it-IT" dirty="0"/>
              <a:t> with the maximum </a:t>
            </a:r>
            <a:r>
              <a:rPr lang="it-IT" dirty="0" err="1"/>
              <a:t>channeling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, </a:t>
            </a:r>
            <a:r>
              <a:rPr lang="it-IT" dirty="0" err="1"/>
              <a:t>corresponding</a:t>
            </a:r>
            <a:r>
              <a:rPr lang="it-IT" dirty="0"/>
              <a:t> to the </a:t>
            </a:r>
            <a:r>
              <a:rPr lang="it-IT" dirty="0" err="1"/>
              <a:t>orientation</a:t>
            </a:r>
            <a:r>
              <a:rPr lang="it-IT" dirty="0"/>
              <a:t> of the </a:t>
            </a:r>
            <a:r>
              <a:rPr lang="it-IT" dirty="0" err="1"/>
              <a:t>channeling</a:t>
            </a:r>
            <a:r>
              <a:rPr lang="it-IT" dirty="0"/>
              <a:t> </a:t>
            </a:r>
            <a:r>
              <a:rPr lang="it-IT" dirty="0" err="1"/>
              <a:t>planes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1900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23/07/2026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CHARACTERIZATION OF CRYSTAL EFFICIENCY:</a:t>
            </a:r>
          </a:p>
          <a:p>
            <a:r>
              <a:rPr lang="it-IT" sz="3000" b="1" dirty="0" err="1">
                <a:solidFill>
                  <a:schemeClr val="bg1"/>
                </a:solidFill>
              </a:rPr>
              <a:t>Methodology</a:t>
            </a:r>
            <a:r>
              <a:rPr lang="it-IT" sz="3000" b="1" dirty="0">
                <a:solidFill>
                  <a:schemeClr val="bg1"/>
                </a:solidFill>
              </a:rPr>
              <a:t>, </a:t>
            </a:r>
            <a:r>
              <a:rPr lang="it-IT" sz="3000" b="1" dirty="0" err="1">
                <a:solidFill>
                  <a:schemeClr val="bg1"/>
                </a:solidFill>
              </a:rPr>
              <a:t>Corrections</a:t>
            </a:r>
            <a:r>
              <a:rPr lang="it-IT" sz="3000" b="1" dirty="0">
                <a:solidFill>
                  <a:schemeClr val="bg1"/>
                </a:solidFill>
              </a:rPr>
              <a:t>, and </a:t>
            </a:r>
            <a:r>
              <a:rPr lang="it-IT" sz="3000" b="1" dirty="0" err="1">
                <a:solidFill>
                  <a:schemeClr val="bg1"/>
                </a:solidFill>
              </a:rPr>
              <a:t>Results</a:t>
            </a:r>
            <a:endParaRPr lang="it-IT" sz="3000" b="1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</a:rPr>
              <a:t>JULY 2026</a:t>
            </a:r>
          </a:p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8513-F988-C98D-D333-B6789C12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1. DATA ANALYZED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05E017-952C-14B0-9906-4510932BC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Analysis of 2024 dataset for </a:t>
            </a:r>
            <a:r>
              <a:rPr lang="it-IT" dirty="0" err="1"/>
              <a:t>two</a:t>
            </a:r>
            <a:r>
              <a:rPr lang="it-IT" dirty="0"/>
              <a:t> long </a:t>
            </a:r>
            <a:r>
              <a:rPr lang="it-IT" dirty="0" err="1"/>
              <a:t>crystals</a:t>
            </a:r>
            <a:r>
              <a:rPr lang="it-IT" dirty="0"/>
              <a:t>:</a:t>
            </a:r>
          </a:p>
          <a:p>
            <a:pPr lvl="1"/>
            <a:r>
              <a:rPr lang="it-IT" sz="2800" dirty="0"/>
              <a:t>LHCTBMCP0001-0001: </a:t>
            </a:r>
            <a:r>
              <a:rPr lang="it-IT" sz="2800" dirty="0" err="1"/>
              <a:t>runs</a:t>
            </a:r>
            <a:r>
              <a:rPr lang="it-IT" sz="2800" dirty="0"/>
              <a:t> 8430, 8431, 8650</a:t>
            </a:r>
          </a:p>
          <a:p>
            <a:pPr lvl="1"/>
            <a:r>
              <a:rPr lang="it-IT" sz="2800" dirty="0"/>
              <a:t>LHCTBMCP0001-0002: </a:t>
            </a:r>
            <a:r>
              <a:rPr lang="it-IT" sz="2800" dirty="0" err="1"/>
              <a:t>runs</a:t>
            </a:r>
            <a:r>
              <a:rPr lang="it-IT" sz="2800" dirty="0"/>
              <a:t> 8655, 8656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Configuration</a:t>
            </a:r>
            <a:r>
              <a:rPr lang="it-IT" dirty="0"/>
              <a:t>:</a:t>
            </a:r>
          </a:p>
          <a:p>
            <a:pPr lvl="1"/>
            <a:r>
              <a:rPr lang="it-IT" sz="2800" dirty="0"/>
              <a:t>Central </a:t>
            </a:r>
            <a:r>
              <a:rPr lang="it-IT" sz="2800" dirty="0" err="1"/>
              <a:t>goniometer</a:t>
            </a:r>
            <a:endParaRPr lang="it-IT" sz="2800" dirty="0"/>
          </a:p>
          <a:p>
            <a:pPr lvl="1"/>
            <a:r>
              <a:rPr lang="it-IT" sz="2800" dirty="0"/>
              <a:t>Energy 180 GeV/c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BEBE7-5AD1-2A5D-D796-FC860CF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DDE3E-B94E-09A0-E6FC-74092774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429AC5-2B17-3AA7-829E-3FADDA4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66CB6E1-F902-FACB-CE04-F0353E6FCF4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74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78-2C97-10B4-34B5-10A73494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C2323-4074-7D2D-42E4-448B5D17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1. 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05303-D450-DE41-FD4D-E965DB4B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32D726-6862-785A-B00C-19309D53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18A926-43E2-8B1A-948C-DD69E168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EB45A51-E901-915B-0293-EC5A0957C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A421A-CF34-DE89-C38E-406198ECC43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3A2D6F-A325-D7E7-DEFD-6EE799EFE07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F38F614-6004-D72E-11CB-6711FB5AB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9247" y="1546325"/>
            <a:ext cx="8757821" cy="416543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761CFF4-1AA7-7DBA-C7AD-C4C417735B36}"/>
              </a:ext>
            </a:extLst>
          </p:cNvPr>
          <p:cNvSpPr txBox="1"/>
          <p:nvPr/>
        </p:nvSpPr>
        <p:spPr>
          <a:xfrm>
            <a:off x="281940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T1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3769F19-49FA-6A86-4E43-EE9B9FCF5335}"/>
              </a:ext>
            </a:extLst>
          </p:cNvPr>
          <p:cNvSpPr txBox="1"/>
          <p:nvPr/>
        </p:nvSpPr>
        <p:spPr>
          <a:xfrm>
            <a:off x="349885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T2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613190-54C0-7766-BE53-A88A0928D029}"/>
              </a:ext>
            </a:extLst>
          </p:cNvPr>
          <p:cNvSpPr txBox="1"/>
          <p:nvPr/>
        </p:nvSpPr>
        <p:spPr>
          <a:xfrm>
            <a:off x="614680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T3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ABB6A2-0253-F61C-3A3B-B5D48ED67530}"/>
              </a:ext>
            </a:extLst>
          </p:cNvPr>
          <p:cNvSpPr txBox="1"/>
          <p:nvPr/>
        </p:nvSpPr>
        <p:spPr>
          <a:xfrm>
            <a:off x="8455025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C4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EF31BC2-B06C-C19F-8B82-234E7051B99F}"/>
              </a:ext>
            </a:extLst>
          </p:cNvPr>
          <p:cNvSpPr txBox="1"/>
          <p:nvPr/>
        </p:nvSpPr>
        <p:spPr>
          <a:xfrm>
            <a:off x="4914900" y="4911565"/>
            <a:ext cx="104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/>
              <a:t>crystal</a:t>
            </a:r>
            <a:endParaRPr lang="it-IT" sz="200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C516CBA-691F-320E-81BE-67B07E92F0CB}"/>
              </a:ext>
            </a:extLst>
          </p:cNvPr>
          <p:cNvSpPr txBox="1"/>
          <p:nvPr/>
        </p:nvSpPr>
        <p:spPr>
          <a:xfrm>
            <a:off x="10402009" y="4315824"/>
            <a:ext cx="6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[m]</a:t>
            </a:r>
          </a:p>
        </p:txBody>
      </p:sp>
    </p:spTree>
    <p:extLst>
      <p:ext uri="{BB962C8B-B14F-4D97-AF65-F5344CB8AC3E}">
        <p14:creationId xmlns:p14="http://schemas.microsoft.com/office/powerpoint/2010/main" val="187936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6C03-C17C-AEAA-D887-38CCF92B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08CAC-1F68-0C88-4244-272414C6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25536D-7111-A337-4A80-1121C3AD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E6A61F-24FB-7FB6-1293-7D66A9D4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AB8F59-E042-224D-F2F1-1DD90473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F5E83E0-5A06-1EC3-F9AB-B6890923D60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C8EAC19-DE60-A74A-0B70-C847AF0A1698}"/>
              </a:ext>
            </a:extLst>
          </p:cNvPr>
          <p:cNvSpPr/>
          <p:nvPr/>
        </p:nvSpPr>
        <p:spPr>
          <a:xfrm>
            <a:off x="696000" y="1497271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SELECT SINGLE TRACKS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it-IT" sz="2000" dirty="0" err="1">
                <a:solidFill>
                  <a:schemeClr val="tx1"/>
                </a:solidFill>
              </a:rPr>
              <a:t>Selection</a:t>
            </a:r>
            <a:r>
              <a:rPr lang="it-IT" sz="2000" dirty="0">
                <a:solidFill>
                  <a:schemeClr val="tx1"/>
                </a:solidFill>
              </a:rPr>
              <a:t> of single tracks to eliminate multi-scattering events and multi-hit events (pile-up </a:t>
            </a:r>
            <a:r>
              <a:rPr lang="it-IT" sz="2000" dirty="0" err="1">
                <a:solidFill>
                  <a:schemeClr val="tx1"/>
                </a:solidFill>
              </a:rPr>
              <a:t>effect</a:t>
            </a:r>
            <a:r>
              <a:rPr lang="it-IT" sz="2000" dirty="0">
                <a:solidFill>
                  <a:schemeClr val="tx1"/>
                </a:solidFill>
              </a:rPr>
              <a:t>) from the dataset.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736CE16-710C-E676-D6C0-9088D0D676F0}"/>
              </a:ext>
            </a:extLst>
          </p:cNvPr>
          <p:cNvSpPr/>
          <p:nvPr/>
        </p:nvSpPr>
        <p:spPr>
          <a:xfrm>
            <a:off x="4328122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PARTICLE ENTRY</a:t>
            </a:r>
          </a:p>
          <a:p>
            <a:pPr algn="ctr"/>
            <a:endParaRPr lang="it-IT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Validation of which particles successfully entered the crystal.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Since we do not know the relative beam position: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algorithmic identification of the physical crystal edges based on interaction density profiles.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F0A19BB-1D24-2DB7-870C-4A534AE82EC6}"/>
              </a:ext>
            </a:extLst>
          </p:cNvPr>
          <p:cNvSpPr/>
          <p:nvPr/>
        </p:nvSpPr>
        <p:spPr>
          <a:xfrm>
            <a:off x="7960244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DETECTOR ALIGNMENT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Ensuring precision and the alignment of the detectors.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Any misalignment between tracking planes corrupts the angular measurements, necessitating corrections.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4" name="Elemento grafico 13" descr="Cerchi con linee con riempimento a tinta unita">
            <a:extLst>
              <a:ext uri="{FF2B5EF4-FFF2-40B4-BE49-F238E27FC236}">
                <a16:creationId xmlns:a16="http://schemas.microsoft.com/office/drawing/2014/main" id="{8D389B79-1EBE-FB00-8C61-684097C83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879" y="1860574"/>
            <a:ext cx="540000" cy="540000"/>
          </a:xfrm>
          <a:prstGeom prst="rect">
            <a:avLst/>
          </a:prstGeom>
        </p:spPr>
      </p:pic>
      <p:pic>
        <p:nvPicPr>
          <p:cNvPr id="16" name="Elemento grafico 15" descr="Design dei livelli con riempimento a tinta unita">
            <a:extLst>
              <a:ext uri="{FF2B5EF4-FFF2-40B4-BE49-F238E27FC236}">
                <a16:creationId xmlns:a16="http://schemas.microsoft.com/office/drawing/2014/main" id="{5A4C15CB-93B3-50BA-8818-6D309B188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8123" y="1860574"/>
            <a:ext cx="540000" cy="540000"/>
          </a:xfrm>
          <a:prstGeom prst="rect">
            <a:avLst/>
          </a:prstGeom>
        </p:spPr>
      </p:pic>
      <p:pic>
        <p:nvPicPr>
          <p:cNvPr id="18" name="Elemento grafico 17" descr="Selezione posta in arrivo con riempimento a tinta unita">
            <a:extLst>
              <a:ext uri="{FF2B5EF4-FFF2-40B4-BE49-F238E27FC236}">
                <a16:creationId xmlns:a16="http://schemas.microsoft.com/office/drawing/2014/main" id="{5840FC33-6BD7-32E5-1BCF-20F59009E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5100" y="186057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0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1EB1-4330-C416-EE85-4C1F34C0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A8608F-2305-4200-0914-3A481128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4A602E-B4AA-6A89-A978-0A93A2C4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ensure</a:t>
            </a:r>
            <a:r>
              <a:rPr lang="it-IT" dirty="0"/>
              <a:t> that the upstream and downstream detectors are </a:t>
            </a:r>
            <a:r>
              <a:rPr lang="it-IT" dirty="0" err="1"/>
              <a:t>aligned</a:t>
            </a:r>
            <a:r>
              <a:rPr lang="it-IT" dirty="0"/>
              <a:t>, we check the </a:t>
            </a:r>
            <a:r>
              <a:rPr lang="it-IT" dirty="0" err="1"/>
              <a:t>deviation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initial</a:t>
            </a:r>
            <a:r>
              <a:rPr lang="it-IT" dirty="0"/>
              <a:t> and </a:t>
            </a:r>
            <a:r>
              <a:rPr lang="it-IT" dirty="0" err="1"/>
              <a:t>final</a:t>
            </a:r>
            <a:r>
              <a:rPr lang="it-IT" dirty="0"/>
              <a:t> positions of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definitely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not hit the </a:t>
            </a:r>
            <a:r>
              <a:rPr lang="it-IT" dirty="0" err="1"/>
              <a:t>crystal</a:t>
            </a:r>
            <a:r>
              <a:rPr lang="it-IT" dirty="0"/>
              <a:t>, </a:t>
            </a:r>
            <a:r>
              <a:rPr lang="it-IT" dirty="0" err="1"/>
              <a:t>ensuring</a:t>
            </a:r>
            <a:r>
              <a:rPr lang="it-IT" dirty="0"/>
              <a:t> that </a:t>
            </a:r>
            <a:r>
              <a:rPr lang="it-IT" dirty="0" err="1"/>
              <a:t>is</a:t>
            </a:r>
            <a:r>
              <a:rPr lang="it-IT" dirty="0"/>
              <a:t> zero.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9DD55B-70C7-5BB5-4EB3-E92B7E1E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2FF51-B9F7-EFC9-C356-6F4E91F7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7EEABA-DCFF-3382-481D-B852DF85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7A94697-0A6E-6959-1136-CC5B04A9A0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989FA1B0-5081-D834-7B01-E799986CB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970" y="2636044"/>
            <a:ext cx="7804864" cy="37200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6D9CF20B-45DC-2586-D939-EBF8EEFFF671}"/>
                  </a:ext>
                </a:extLst>
              </p:cNvPr>
              <p:cNvSpPr/>
              <p:nvPr/>
            </p:nvSpPr>
            <p:spPr>
              <a:xfrm>
                <a:off x="1339378" y="3551274"/>
                <a:ext cx="2571307" cy="711894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offset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 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skewness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6D9CF20B-45DC-2586-D939-EBF8EEFFF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78" y="3551274"/>
                <a:ext cx="2571307" cy="71189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0A327D6-BD0C-6C8D-22AB-10AAC1502C0D}"/>
                  </a:ext>
                </a:extLst>
              </p:cNvPr>
              <p:cNvSpPr/>
              <p:nvPr/>
            </p:nvSpPr>
            <p:spPr>
              <a:xfrm>
                <a:off x="1339377" y="4441711"/>
                <a:ext cx="2571307" cy="711894"/>
              </a:xfrm>
              <a:prstGeom prst="round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offset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=0.004 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skewness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0A327D6-BD0C-6C8D-22AB-10AAC1502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77" y="4441711"/>
                <a:ext cx="2571307" cy="71189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105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86E7-1A7A-D5FF-00F7-4EA047E9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A1DB4D-1ABD-A3F3-5222-17C3D287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EBEEF6-A28E-39F6-8449-8812EF9C3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 can </a:t>
            </a:r>
            <a:r>
              <a:rPr lang="it-IT" dirty="0" err="1"/>
              <a:t>also</a:t>
            </a:r>
            <a:r>
              <a:rPr lang="it-IT" dirty="0"/>
              <a:t> check the </a:t>
            </a:r>
            <a:r>
              <a:rPr lang="it-IT" dirty="0" err="1"/>
              <a:t>alignment</a:t>
            </a:r>
            <a:r>
              <a:rPr lang="it-IT" dirty="0"/>
              <a:t> by </a:t>
            </a:r>
            <a:r>
              <a:rPr lang="it-IT" dirty="0" err="1"/>
              <a:t>doing</a:t>
            </a:r>
            <a:r>
              <a:rPr lang="it-IT" dirty="0"/>
              <a:t> a linear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upstream and </a:t>
            </a:r>
            <a:r>
              <a:rPr lang="it-IT" dirty="0" err="1"/>
              <a:t>dowstream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0E214C-E59D-866B-031F-B4179AE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8C4BE9-74D3-5C68-A715-2F5A9ED4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AE6CA7-9F2D-CE6D-06CC-5EE7AFC0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700AA9C-2368-44FD-B5A1-95604DB48E9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BA96C06-4EFC-1DB2-F6AE-9D4290B62609}"/>
              </a:ext>
            </a:extLst>
          </p:cNvPr>
          <p:cNvGrpSpPr/>
          <p:nvPr/>
        </p:nvGrpSpPr>
        <p:grpSpPr>
          <a:xfrm>
            <a:off x="1978093" y="2278589"/>
            <a:ext cx="8234013" cy="3952091"/>
            <a:chOff x="851048" y="2225424"/>
            <a:chExt cx="8234013" cy="3952091"/>
          </a:xfrm>
        </p:grpSpPr>
        <p:pic>
          <p:nvPicPr>
            <p:cNvPr id="7" name="Segnaposto contenuto 7">
              <a:extLst>
                <a:ext uri="{FF2B5EF4-FFF2-40B4-BE49-F238E27FC236}">
                  <a16:creationId xmlns:a16="http://schemas.microsoft.com/office/drawing/2014/main" id="{B64A8EB8-0B59-286A-1CA3-C6C166623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048" y="2225424"/>
              <a:ext cx="8234013" cy="3952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30272D5E-1964-7C54-CC85-FC6F30DE3317}"/>
                    </a:ext>
                  </a:extLst>
                </p:cNvPr>
                <p:cNvSpPr/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=0.9954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=0.007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ADB0A287-D2E0-1E65-AFD1-D64CA7428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blipFill>
                  <a:blip r:embed="rId3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ED5E50EE-9091-8029-174B-6855889A457D}"/>
                    </a:ext>
                  </a:extLst>
                </p:cNvPr>
                <p:cNvSpPr/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=0.9990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=0.005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019F3A86-9073-643D-E16F-4ABF243FDC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318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46FA-DC91-D1E6-7C77-41DC8D02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57F4CA-D5FD-4459-489A-10A7EEB5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E1616-7B8B-98E7-3A85-9E2850913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66834" cy="47762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dirty="0"/>
              <a:t>To </a:t>
            </a:r>
            <a:r>
              <a:rPr lang="it-IT" sz="2000" dirty="0" err="1"/>
              <a:t>select</a:t>
            </a:r>
            <a:r>
              <a:rPr lang="it-IT" sz="2000" dirty="0"/>
              <a:t> the </a:t>
            </a:r>
            <a:r>
              <a:rPr lang="it-IT" sz="2000" dirty="0" err="1"/>
              <a:t>particles</a:t>
            </a:r>
            <a:r>
              <a:rPr lang="it-IT" sz="2000" dirty="0"/>
              <a:t> that </a:t>
            </a:r>
            <a:r>
              <a:rPr lang="it-IT" sz="2000" dirty="0" err="1"/>
              <a:t>actually</a:t>
            </a:r>
            <a:r>
              <a:rPr lang="it-IT" sz="2000" dirty="0"/>
              <a:t> </a:t>
            </a:r>
            <a:r>
              <a:rPr lang="it-IT" sz="2000" dirty="0" err="1"/>
              <a:t>enter</a:t>
            </a:r>
            <a:r>
              <a:rPr lang="it-IT" sz="2000" dirty="0"/>
              <a:t> the </a:t>
            </a:r>
            <a:r>
              <a:rPr lang="it-IT" sz="2000" dirty="0" err="1"/>
              <a:t>crystal</a:t>
            </a:r>
            <a:r>
              <a:rPr lang="it-IT" sz="2000" dirty="0"/>
              <a:t> we first </a:t>
            </a:r>
            <a:r>
              <a:rPr lang="it-IT" sz="2000" dirty="0" err="1"/>
              <a:t>need</a:t>
            </a:r>
            <a:r>
              <a:rPr lang="it-IT" sz="2000" dirty="0"/>
              <a:t> to know the position of the </a:t>
            </a:r>
            <a:r>
              <a:rPr lang="it-IT" sz="2000" dirty="0" err="1"/>
              <a:t>crystal</a:t>
            </a:r>
            <a:r>
              <a:rPr lang="it-IT" sz="2000" dirty="0"/>
              <a:t> with </a:t>
            </a:r>
            <a:r>
              <a:rPr lang="it-IT" sz="2000" dirty="0" err="1"/>
              <a:t>respect</a:t>
            </a:r>
            <a:r>
              <a:rPr lang="it-IT" sz="2000" dirty="0"/>
              <a:t> to the </a:t>
            </a:r>
            <a:r>
              <a:rPr lang="it-IT" sz="2000" dirty="0" err="1"/>
              <a:t>beam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We </a:t>
            </a:r>
            <a:r>
              <a:rPr lang="it-IT" sz="2000" dirty="0" err="1"/>
              <a:t>then</a:t>
            </a:r>
            <a:r>
              <a:rPr lang="it-IT" sz="2000" dirty="0"/>
              <a:t> look </a:t>
            </a:r>
            <a:r>
              <a:rPr lang="it-IT" sz="2000" dirty="0" err="1"/>
              <a:t>at</a:t>
            </a:r>
            <a:r>
              <a:rPr lang="it-IT" sz="2000" dirty="0"/>
              <a:t> </a:t>
            </a:r>
            <a:r>
              <a:rPr lang="it-IT" sz="2000" dirty="0" err="1"/>
              <a:t>channeled</a:t>
            </a:r>
            <a:r>
              <a:rPr lang="it-IT" sz="2000" dirty="0"/>
              <a:t> </a:t>
            </a:r>
            <a:r>
              <a:rPr lang="it-IT" sz="2000" dirty="0" err="1"/>
              <a:t>particles</a:t>
            </a:r>
            <a:r>
              <a:rPr lang="it-IT" sz="2000" dirty="0"/>
              <a:t> </a:t>
            </a:r>
            <a:r>
              <a:rPr lang="it-IT" sz="2000" dirty="0" err="1"/>
              <a:t>only</a:t>
            </a:r>
            <a:r>
              <a:rPr lang="it-IT" sz="2000" dirty="0"/>
              <a:t> using a </a:t>
            </a:r>
            <a:r>
              <a:rPr lang="it-IT" sz="2000" dirty="0" err="1"/>
              <a:t>preliminary</a:t>
            </a:r>
            <a:r>
              <a:rPr lang="it-IT" sz="2000" dirty="0"/>
              <a:t> </a:t>
            </a:r>
            <a:r>
              <a:rPr lang="it-IT" sz="2000" dirty="0" err="1"/>
              <a:t>deflection</a:t>
            </a:r>
            <a:r>
              <a:rPr lang="it-IT" sz="2000" dirty="0"/>
              <a:t> cut. </a:t>
            </a:r>
            <a:r>
              <a:rPr lang="it-IT" sz="2000" dirty="0" err="1"/>
              <a:t>Their</a:t>
            </a:r>
            <a:r>
              <a:rPr lang="it-IT" sz="2000" dirty="0"/>
              <a:t> impact points </a:t>
            </a:r>
            <a:r>
              <a:rPr lang="it-IT" sz="2000" dirty="0" err="1"/>
              <a:t>reveal</a:t>
            </a:r>
            <a:r>
              <a:rPr lang="it-IT" sz="2000" dirty="0"/>
              <a:t> the </a:t>
            </a:r>
            <a:r>
              <a:rPr lang="it-IT" sz="2000" dirty="0" err="1"/>
              <a:t>crystal's</a:t>
            </a:r>
            <a:r>
              <a:rPr lang="it-IT" sz="2000" dirty="0"/>
              <a:t> </a:t>
            </a:r>
            <a:r>
              <a:rPr lang="it-IT" sz="2000" dirty="0" err="1"/>
              <a:t>physical</a:t>
            </a:r>
            <a:r>
              <a:rPr lang="it-IT" sz="2000" dirty="0"/>
              <a:t> location, matching </a:t>
            </a:r>
            <a:r>
              <a:rPr lang="it-IT" sz="2000" dirty="0" err="1"/>
              <a:t>its</a:t>
            </a:r>
            <a:r>
              <a:rPr lang="it-IT" sz="2000" dirty="0"/>
              <a:t> </a:t>
            </a:r>
            <a:r>
              <a:rPr lang="it-IT" sz="2000" dirty="0" err="1"/>
              <a:t>expected</a:t>
            </a:r>
            <a:r>
              <a:rPr lang="it-IT" sz="2000" dirty="0"/>
              <a:t> </a:t>
            </a:r>
            <a:r>
              <a:rPr lang="it-IT" sz="2000" dirty="0" err="1"/>
              <a:t>dimensions</a:t>
            </a:r>
            <a:r>
              <a:rPr lang="it-IT" sz="2000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39A7DB-C620-BC97-5527-E50A35B0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CD300B-0EBD-6ABE-1FC8-EBE2164D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E12B5E-9162-22A6-B2CE-A7528195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D3F1391-657A-1CAA-5D4C-EA799D1925D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0D59DA23-F82A-E144-21AD-4751255283A5}"/>
              </a:ext>
            </a:extLst>
          </p:cNvPr>
          <p:cNvGrpSpPr/>
          <p:nvPr/>
        </p:nvGrpSpPr>
        <p:grpSpPr>
          <a:xfrm>
            <a:off x="232946" y="2156056"/>
            <a:ext cx="9493450" cy="3320716"/>
            <a:chOff x="232946" y="2040556"/>
            <a:chExt cx="9493450" cy="3320716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C4649E7F-5920-3413-5D26-2E2BEBC6E8BB}"/>
                </a:ext>
              </a:extLst>
            </p:cNvPr>
            <p:cNvSpPr txBox="1"/>
            <p:nvPr/>
          </p:nvSpPr>
          <p:spPr>
            <a:xfrm>
              <a:off x="232946" y="2593936"/>
              <a:ext cx="2078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IMPACT POSITION</a:t>
              </a:r>
            </a:p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OF ALL PARTICLES</a:t>
              </a: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C4AD72A4-DF42-AA52-22A8-E7633C4A4DC3}"/>
                </a:ext>
              </a:extLst>
            </p:cNvPr>
            <p:cNvSpPr txBox="1"/>
            <p:nvPr/>
          </p:nvSpPr>
          <p:spPr>
            <a:xfrm>
              <a:off x="419100" y="4166393"/>
              <a:ext cx="1979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OF CHANNELED PARTICLES</a:t>
              </a:r>
            </a:p>
          </p:txBody>
        </p:sp>
        <p:sp>
          <p:nvSpPr>
            <p:cNvPr id="21" name="Parentesi graffa aperta 20">
              <a:extLst>
                <a:ext uri="{FF2B5EF4-FFF2-40B4-BE49-F238E27FC236}">
                  <a16:creationId xmlns:a16="http://schemas.microsoft.com/office/drawing/2014/main" id="{DE53ED93-825D-AC7F-70D6-688AFF70BE2B}"/>
                </a:ext>
              </a:extLst>
            </p:cNvPr>
            <p:cNvSpPr/>
            <p:nvPr/>
          </p:nvSpPr>
          <p:spPr>
            <a:xfrm>
              <a:off x="2207699" y="2067292"/>
              <a:ext cx="381084" cy="1468619"/>
            </a:xfrm>
            <a:prstGeom prst="leftBrace">
              <a:avLst>
                <a:gd name="adj1" fmla="val 36529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Parentesi graffa aperta 22">
              <a:extLst>
                <a:ext uri="{FF2B5EF4-FFF2-40B4-BE49-F238E27FC236}">
                  <a16:creationId xmlns:a16="http://schemas.microsoft.com/office/drawing/2014/main" id="{2D95720A-BD41-32E8-1D6D-5D7603E6298E}"/>
                </a:ext>
              </a:extLst>
            </p:cNvPr>
            <p:cNvSpPr/>
            <p:nvPr/>
          </p:nvSpPr>
          <p:spPr>
            <a:xfrm>
              <a:off x="2202335" y="3726405"/>
              <a:ext cx="381084" cy="1468619"/>
            </a:xfrm>
            <a:prstGeom prst="leftBrace">
              <a:avLst>
                <a:gd name="adj1" fmla="val 36529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AFD15A83-2207-4DE2-BC78-72230903C480}"/>
                </a:ext>
              </a:extLst>
            </p:cNvPr>
            <p:cNvGrpSpPr/>
            <p:nvPr/>
          </p:nvGrpSpPr>
          <p:grpSpPr>
            <a:xfrm>
              <a:off x="2463803" y="2040556"/>
              <a:ext cx="7262593" cy="3320716"/>
              <a:chOff x="1111250" y="1222745"/>
              <a:chExt cx="10210800" cy="5582366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F3846541-9936-BE45-AAC0-A4FAA0F14F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2" b="-302"/>
              <a:stretch>
                <a:fillRect/>
              </a:stretch>
            </p:blipFill>
            <p:spPr>
              <a:xfrm>
                <a:off x="1111250" y="1222745"/>
                <a:ext cx="10210800" cy="5582366"/>
              </a:xfrm>
              <a:prstGeom prst="rect">
                <a:avLst/>
              </a:prstGeom>
            </p:spPr>
          </p:pic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72104B99-B76D-1B5A-2481-411B645C88F2}"/>
                  </a:ext>
                </a:extLst>
              </p:cNvPr>
              <p:cNvSpPr/>
              <p:nvPr/>
            </p:nvSpPr>
            <p:spPr>
              <a:xfrm>
                <a:off x="2740025" y="2292350"/>
                <a:ext cx="527050" cy="5365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54E3362A-00F6-7F8F-94C1-5935DA3388E8}"/>
                  </a:ext>
                </a:extLst>
              </p:cNvPr>
              <p:cNvSpPr/>
              <p:nvPr/>
            </p:nvSpPr>
            <p:spPr>
              <a:xfrm>
                <a:off x="7850299" y="2292350"/>
                <a:ext cx="527050" cy="5365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4" name="Connettore diritto 13">
                <a:extLst>
                  <a:ext uri="{FF2B5EF4-FFF2-40B4-BE49-F238E27FC236}">
                    <a16:creationId xmlns:a16="http://schemas.microsoft.com/office/drawing/2014/main" id="{E20FEB9B-0259-DEE6-5B4B-66D2E68CCC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8150" y="2828925"/>
                <a:ext cx="1038225" cy="14986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>
                <a:extLst>
                  <a:ext uri="{FF2B5EF4-FFF2-40B4-BE49-F238E27FC236}">
                    <a16:creationId xmlns:a16="http://schemas.microsoft.com/office/drawing/2014/main" id="{7862B18A-E334-1F11-7B6F-EE12798260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2074" y="2828925"/>
                <a:ext cx="1038225" cy="14986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diritto 15">
                <a:extLst>
                  <a:ext uri="{FF2B5EF4-FFF2-40B4-BE49-F238E27FC236}">
                    <a16:creationId xmlns:a16="http://schemas.microsoft.com/office/drawing/2014/main" id="{E74CB15A-2238-C0D7-9D61-AAC36C7C5D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67075" y="2823793"/>
                <a:ext cx="2343262" cy="150373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diritto 16">
                <a:extLst>
                  <a:ext uri="{FF2B5EF4-FFF2-40B4-BE49-F238E27FC236}">
                    <a16:creationId xmlns:a16="http://schemas.microsoft.com/office/drawing/2014/main" id="{189F36E2-03E7-17E7-185F-9E7068416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86080" y="2823793"/>
                <a:ext cx="2343262" cy="150373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9727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FA93-8E2E-1C9F-8219-407C9632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D9366BB9-EA5C-69F9-6B86-BF1EE1769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67" y="3241606"/>
            <a:ext cx="3918670" cy="3420000"/>
          </a:xfrm>
          <a:prstGeom prst="rect">
            <a:avLst/>
          </a:prstGeom>
        </p:spPr>
      </p:pic>
      <p:pic>
        <p:nvPicPr>
          <p:cNvPr id="28" name="Segnaposto contenuto 13">
            <a:extLst>
              <a:ext uri="{FF2B5EF4-FFF2-40B4-BE49-F238E27FC236}">
                <a16:creationId xmlns:a16="http://schemas.microsoft.com/office/drawing/2014/main" id="{A96E174C-4D16-737A-EEFE-FC48760ED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066" y="3241606"/>
            <a:ext cx="3918667" cy="342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8F46AA1-A41C-E935-60A8-188E79C9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3B1C5B-6364-2BF9-A14D-96F3D0EA6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The impact points of </a:t>
                </a:r>
                <a:r>
                  <a:rPr lang="it-IT" sz="2400" dirty="0" err="1"/>
                  <a:t>these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revealed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physical</a:t>
                </a:r>
                <a:r>
                  <a:rPr lang="it-IT" sz="2400" dirty="0"/>
                  <a:t> location of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, matching </a:t>
                </a:r>
                <a:r>
                  <a:rPr lang="it-IT" sz="2400" dirty="0" err="1"/>
                  <a:t>its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expected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dimensions</a:t>
                </a:r>
                <a:r>
                  <a:rPr lang="it-IT" sz="2400" dirty="0"/>
                  <a:t> of 2 by 8 </a:t>
                </a:r>
                <a:r>
                  <a:rPr lang="it-IT" sz="2400" dirty="0" err="1"/>
                  <a:t>millimeters</a:t>
                </a:r>
                <a:r>
                  <a:rPr lang="it-IT" sz="2400" dirty="0"/>
                  <a:t>.</a:t>
                </a:r>
              </a:p>
              <a:p>
                <a:r>
                  <a:rPr lang="it-IT" sz="2400" dirty="0"/>
                  <a:t>To </a:t>
                </a:r>
                <a:r>
                  <a:rPr lang="it-IT" sz="2400" dirty="0" err="1"/>
                  <a:t>find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(that </a:t>
                </a:r>
                <a:r>
                  <a:rPr lang="it-IT" sz="2400" dirty="0" err="1"/>
                  <a:t>have</a:t>
                </a:r>
                <a:r>
                  <a:rPr lang="it-IT" sz="2400" dirty="0"/>
                  <a:t> an </a:t>
                </a:r>
                <a:r>
                  <a:rPr lang="it-IT" sz="2400" dirty="0" err="1"/>
                  <a:t>asymmetrical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distribution</a:t>
                </a:r>
                <a:r>
                  <a:rPr lang="it-IT" sz="2400" dirty="0"/>
                  <a:t>) we </a:t>
                </a:r>
                <a:r>
                  <a:rPr lang="it-IT" sz="2400" dirty="0" err="1"/>
                  <a:t>perform</a:t>
                </a:r>
                <a:r>
                  <a:rPr lang="it-IT" sz="2400" dirty="0"/>
                  <a:t> a «sliding window»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fixed</a:t>
                </a:r>
                <a:r>
                  <a:rPr lang="it-IT" sz="2400" dirty="0"/>
                  <a:t> width &amp; </a:t>
                </a:r>
                <a:r>
                  <a:rPr lang="it-IT" sz="2400" dirty="0" err="1"/>
                  <a:t>precision</a:t>
                </a:r>
                <a:r>
                  <a:rPr lang="it-IT" sz="2400" dirty="0"/>
                  <a:t> of 0.01mm), </a:t>
                </a:r>
                <a:r>
                  <a:rPr lang="it-IT" sz="2400" dirty="0" err="1"/>
                  <a:t>aiming</a:t>
                </a:r>
                <a:r>
                  <a:rPr lang="it-IT" sz="2400" dirty="0"/>
                  <a:t> for the position that </a:t>
                </a:r>
                <a:r>
                  <a:rPr lang="it-IT" sz="2400" dirty="0" err="1"/>
                  <a:t>maximize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number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inside.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3B1C5B-6364-2BF9-A14D-96F3D0EA6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4"/>
                <a:stretch>
                  <a:fillRect l="-812" t="-1660" r="-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4B681B-C0B1-80E0-7387-4B95E291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592F47-28AC-BA86-BCC8-F10BEF85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031187-543E-B81F-CA1C-DBA0444C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CF6C941-522B-F4EA-03DB-282BB1038AD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4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C6166-FE84-CE3F-0649-4905E586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>
            <a:extLst>
              <a:ext uri="{FF2B5EF4-FFF2-40B4-BE49-F238E27FC236}">
                <a16:creationId xmlns:a16="http://schemas.microsoft.com/office/drawing/2014/main" id="{677B0D9E-035E-F55D-8D73-D0C24D2CC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67" y="3241606"/>
            <a:ext cx="3918670" cy="342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0524BDA-A9F5-3129-9FB8-D3236D26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5D9949E-736C-0832-8EBF-9F079CFB34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The impact points of </a:t>
                </a:r>
                <a:r>
                  <a:rPr lang="it-IT" sz="2400" dirty="0" err="1"/>
                  <a:t>these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revealed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physical</a:t>
                </a:r>
                <a:r>
                  <a:rPr lang="it-IT" sz="2400" dirty="0"/>
                  <a:t> location of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, matching </a:t>
                </a:r>
                <a:r>
                  <a:rPr lang="it-IT" sz="2400" dirty="0" err="1"/>
                  <a:t>its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expected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dimensions</a:t>
                </a:r>
                <a:r>
                  <a:rPr lang="it-IT" sz="2400" dirty="0"/>
                  <a:t> of 2 by 8 </a:t>
                </a:r>
                <a:r>
                  <a:rPr lang="it-IT" sz="2400" dirty="0" err="1"/>
                  <a:t>millimeters</a:t>
                </a:r>
                <a:r>
                  <a:rPr lang="it-IT" sz="2400" dirty="0"/>
                  <a:t>.</a:t>
                </a:r>
              </a:p>
              <a:p>
                <a:r>
                  <a:rPr lang="it-IT" sz="2400" dirty="0"/>
                  <a:t>To </a:t>
                </a:r>
                <a:r>
                  <a:rPr lang="it-IT" sz="2400" dirty="0" err="1"/>
                  <a:t>find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(that </a:t>
                </a:r>
                <a:r>
                  <a:rPr lang="it-IT" sz="2400" dirty="0" err="1"/>
                  <a:t>have</a:t>
                </a:r>
                <a:r>
                  <a:rPr lang="it-IT" sz="2400" dirty="0"/>
                  <a:t> an </a:t>
                </a:r>
                <a:r>
                  <a:rPr lang="it-IT" sz="2400" dirty="0" err="1"/>
                  <a:t>asymmetrical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distribution</a:t>
                </a:r>
                <a:r>
                  <a:rPr lang="it-IT" sz="2400" dirty="0"/>
                  <a:t>) we </a:t>
                </a:r>
                <a:r>
                  <a:rPr lang="it-IT" sz="2400" dirty="0" err="1"/>
                  <a:t>perform</a:t>
                </a:r>
                <a:r>
                  <a:rPr lang="it-IT" sz="2400" dirty="0"/>
                  <a:t> a «sliding window»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fixed</a:t>
                </a:r>
                <a:r>
                  <a:rPr lang="it-IT" sz="2400" dirty="0"/>
                  <a:t> width &amp; </a:t>
                </a:r>
                <a:r>
                  <a:rPr lang="it-IT" sz="2400" dirty="0" err="1"/>
                  <a:t>precision</a:t>
                </a:r>
                <a:r>
                  <a:rPr lang="it-IT" sz="2400" dirty="0"/>
                  <a:t> of 0.01mm), </a:t>
                </a:r>
                <a:r>
                  <a:rPr lang="it-IT" sz="2400" dirty="0" err="1"/>
                  <a:t>aiming</a:t>
                </a:r>
                <a:r>
                  <a:rPr lang="it-IT" sz="2400" dirty="0"/>
                  <a:t> for the position that </a:t>
                </a:r>
                <a:r>
                  <a:rPr lang="it-IT" sz="2400" dirty="0" err="1"/>
                  <a:t>maximize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number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inside.</a:t>
                </a:r>
              </a:p>
              <a:p>
                <a:r>
                  <a:rPr lang="it-IT" sz="2400" dirty="0"/>
                  <a:t>The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was </a:t>
                </a:r>
                <a:r>
                  <a:rPr lang="it-IT" sz="2400" dirty="0" err="1"/>
                  <a:t>performed</a:t>
                </a:r>
                <a:r>
                  <a:rPr lang="it-IT" sz="2400" dirty="0"/>
                  <a:t> on the 				           </a:t>
                </a:r>
                <a:r>
                  <a:rPr lang="it-IT" sz="2400" dirty="0" err="1"/>
                  <a:t>dowstream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, </a:t>
                </a:r>
                <a:r>
                  <a:rPr lang="it-IT" sz="2400" dirty="0" err="1"/>
                  <a:t>since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they</a:t>
                </a:r>
                <a:r>
                  <a:rPr lang="it-IT" sz="2400" dirty="0"/>
                  <a:t> show 					         more </a:t>
                </a:r>
                <a:r>
                  <a:rPr lang="it-IT" sz="2400" dirty="0" err="1"/>
                  <a:t>defined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.</a:t>
                </a:r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5D9949E-736C-0832-8EBF-9F079CFB3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812" t="-1660" r="-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F3708B-B74A-74C3-49C4-D47F5DCA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497987-DFD4-E644-4DD8-60504FFA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E13CF2-BC13-751B-CA26-A5E740D3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18F4508-C177-0D85-4A4C-1321EA43B6B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2E43FB0E-7D20-8032-1D71-D2711D3BD285}"/>
              </a:ext>
            </a:extLst>
          </p:cNvPr>
          <p:cNvSpPr/>
          <p:nvPr/>
        </p:nvSpPr>
        <p:spPr>
          <a:xfrm>
            <a:off x="7468317" y="4806951"/>
            <a:ext cx="1019175" cy="14226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253F37C6-E636-81DA-4537-B44ED5F9D761}"/>
              </a:ext>
            </a:extLst>
          </p:cNvPr>
          <p:cNvCxnSpPr>
            <a:cxnSpLocks/>
          </p:cNvCxnSpPr>
          <p:nvPr/>
        </p:nvCxnSpPr>
        <p:spPr>
          <a:xfrm>
            <a:off x="7474220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01308BBB-2F02-586A-9BDF-DA3ABB293EB1}"/>
              </a:ext>
            </a:extLst>
          </p:cNvPr>
          <p:cNvCxnSpPr>
            <a:cxnSpLocks/>
          </p:cNvCxnSpPr>
          <p:nvPr/>
        </p:nvCxnSpPr>
        <p:spPr>
          <a:xfrm>
            <a:off x="8487492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CD8AB4A-3551-93F4-7F51-A01117EC332F}"/>
              </a:ext>
            </a:extLst>
          </p:cNvPr>
          <p:cNvCxnSpPr>
            <a:cxnSpLocks/>
          </p:cNvCxnSpPr>
          <p:nvPr/>
        </p:nvCxnSpPr>
        <p:spPr>
          <a:xfrm flipH="1">
            <a:off x="9164637" y="4806952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CAD7CDBF-935C-69DD-5E6C-9114FEFA1CC5}"/>
              </a:ext>
            </a:extLst>
          </p:cNvPr>
          <p:cNvCxnSpPr>
            <a:cxnSpLocks/>
          </p:cNvCxnSpPr>
          <p:nvPr/>
        </p:nvCxnSpPr>
        <p:spPr>
          <a:xfrm flipH="1">
            <a:off x="9164637" y="6229569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11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89F9-D1FA-1576-64FD-A2EB689B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>
            <a:extLst>
              <a:ext uri="{FF2B5EF4-FFF2-40B4-BE49-F238E27FC236}">
                <a16:creationId xmlns:a16="http://schemas.microsoft.com/office/drawing/2014/main" id="{8E94EB5A-4F43-6CBD-4C92-4CA9F1757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67" y="3241606"/>
            <a:ext cx="3918670" cy="3420000"/>
          </a:xfrm>
          <a:prstGeom prst="rect">
            <a:avLst/>
          </a:prstGeom>
        </p:spPr>
      </p:pic>
      <p:pic>
        <p:nvPicPr>
          <p:cNvPr id="28" name="Segnaposto contenuto 13">
            <a:extLst>
              <a:ext uri="{FF2B5EF4-FFF2-40B4-BE49-F238E27FC236}">
                <a16:creationId xmlns:a16="http://schemas.microsoft.com/office/drawing/2014/main" id="{F000813B-5FBF-D20E-DACE-03AC95F53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6" y="3241642"/>
            <a:ext cx="3918667" cy="341992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4565F3B-3ED1-0D04-5BA8-55004689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EEC9D3-1E73-78F7-9E6A-5F7C3C212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To </a:t>
                </a:r>
                <a:r>
                  <a:rPr lang="it-IT" sz="2400" dirty="0" err="1"/>
                  <a:t>define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true</a:t>
                </a:r>
                <a:r>
                  <a:rPr lang="it-IT" sz="2400" dirty="0"/>
                  <a:t> footprint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entrance</a:t>
                </a:r>
                <a:r>
                  <a:rPr lang="it-IT" sz="2400" dirty="0"/>
                  <a:t> face we must project the downstream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back upstream.</a:t>
                </a:r>
              </a:p>
              <a:p>
                <a:r>
                  <a:rPr lang="it-IT" sz="2400" dirty="0"/>
                  <a:t>We </a:t>
                </a:r>
                <a:r>
                  <a:rPr lang="it-IT" sz="2400" dirty="0" err="1"/>
                  <a:t>need</a:t>
                </a:r>
                <a:r>
                  <a:rPr lang="it-IT" sz="2400" dirty="0"/>
                  <a:t> to </a:t>
                </a:r>
                <a:r>
                  <a:rPr lang="it-IT" sz="2400" dirty="0" err="1"/>
                  <a:t>subtract</a:t>
                </a:r>
                <a:r>
                  <a:rPr lang="it-IT" sz="2400" dirty="0"/>
                  <a:t> a shift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from the downstream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position.</a:t>
                </a:r>
              </a:p>
              <a:p>
                <a:r>
                  <a:rPr lang="it-IT" sz="2400" dirty="0" err="1"/>
                  <a:t>Channeled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follow the </a:t>
                </a:r>
                <a:r>
                  <a:rPr lang="it-IT" sz="2400" dirty="0" err="1"/>
                  <a:t>bent</a:t>
                </a:r>
                <a:r>
                  <a:rPr lang="it-IT" sz="2400" dirty="0"/>
                  <a:t> lattice </a:t>
                </a:r>
                <a:r>
                  <a:rPr lang="it-IT" sz="2400" dirty="0" err="1"/>
                  <a:t>planes</a:t>
                </a:r>
                <a:r>
                  <a:rPr lang="it-IT" sz="2400" dirty="0"/>
                  <a:t>, </a:t>
                </a:r>
                <a:r>
                  <a:rPr lang="it-IT" sz="2400" dirty="0" err="1"/>
                  <a:t>resulting</a:t>
                </a:r>
                <a:r>
                  <a:rPr lang="it-IT" sz="2400" dirty="0"/>
                  <a:t> in a </a:t>
                </a:r>
                <a:r>
                  <a:rPr lang="it-IT" sz="2400" dirty="0" err="1"/>
                  <a:t>lateral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geometric</a:t>
                </a:r>
                <a:r>
                  <a:rPr lang="it-IT" sz="2400" dirty="0"/>
                  <a:t> drift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the x-</a:t>
                </a:r>
                <a:r>
                  <a:rPr lang="it-IT" sz="2400" dirty="0" err="1"/>
                  <a:t>axis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they</a:t>
                </a:r>
                <a:r>
                  <a:rPr lang="it-IT" sz="2400" dirty="0"/>
                  <a:t> traverse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EEC9D3-1E73-78F7-9E6A-5F7C3C212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5"/>
                <a:stretch>
                  <a:fillRect l="-812" t="-16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8817D2-0A9B-0FAF-36DE-4A11DA6A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8EBD17-4982-87E2-3CDB-90B5380C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07B5E3-3B9D-1082-353B-3394C8D1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C47FAF3-C921-892C-9CA4-BE050B1D5E9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188A4B1-7E67-D966-06CE-BDB22631CF37}"/>
              </a:ext>
            </a:extLst>
          </p:cNvPr>
          <p:cNvSpPr/>
          <p:nvPr/>
        </p:nvSpPr>
        <p:spPr>
          <a:xfrm>
            <a:off x="2324100" y="4806951"/>
            <a:ext cx="1019175" cy="14226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637B16E-48F5-279D-9F6C-C63C2AAE3BFD}"/>
              </a:ext>
            </a:extLst>
          </p:cNvPr>
          <p:cNvSpPr/>
          <p:nvPr/>
        </p:nvSpPr>
        <p:spPr>
          <a:xfrm>
            <a:off x="7468317" y="4806951"/>
            <a:ext cx="1019175" cy="14226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FE88FD1A-5454-5AA8-1606-1C9938301A25}"/>
              </a:ext>
            </a:extLst>
          </p:cNvPr>
          <p:cNvCxnSpPr>
            <a:cxnSpLocks/>
          </p:cNvCxnSpPr>
          <p:nvPr/>
        </p:nvCxnSpPr>
        <p:spPr>
          <a:xfrm>
            <a:off x="2315634" y="3429000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AE15623F-17A3-2E34-83DC-B4A12FAAEE97}"/>
              </a:ext>
            </a:extLst>
          </p:cNvPr>
          <p:cNvCxnSpPr>
            <a:cxnSpLocks/>
          </p:cNvCxnSpPr>
          <p:nvPr/>
        </p:nvCxnSpPr>
        <p:spPr>
          <a:xfrm>
            <a:off x="3343275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D617B793-7839-5993-11C5-7A31728C7F0B}"/>
              </a:ext>
            </a:extLst>
          </p:cNvPr>
          <p:cNvCxnSpPr>
            <a:cxnSpLocks/>
          </p:cNvCxnSpPr>
          <p:nvPr/>
        </p:nvCxnSpPr>
        <p:spPr>
          <a:xfrm>
            <a:off x="7474220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A0532A15-704D-DEC0-C721-3894EE9F06A3}"/>
              </a:ext>
            </a:extLst>
          </p:cNvPr>
          <p:cNvCxnSpPr>
            <a:cxnSpLocks/>
          </p:cNvCxnSpPr>
          <p:nvPr/>
        </p:nvCxnSpPr>
        <p:spPr>
          <a:xfrm>
            <a:off x="8487492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E1A732FF-C639-A178-1422-EF6F95A240D8}"/>
              </a:ext>
            </a:extLst>
          </p:cNvPr>
          <p:cNvCxnSpPr>
            <a:cxnSpLocks/>
          </p:cNvCxnSpPr>
          <p:nvPr/>
        </p:nvCxnSpPr>
        <p:spPr>
          <a:xfrm flipH="1">
            <a:off x="4138613" y="4806951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694E3CB-E4C0-FA0D-7F1C-B294C58F5FD2}"/>
              </a:ext>
            </a:extLst>
          </p:cNvPr>
          <p:cNvCxnSpPr>
            <a:cxnSpLocks/>
          </p:cNvCxnSpPr>
          <p:nvPr/>
        </p:nvCxnSpPr>
        <p:spPr>
          <a:xfrm flipH="1">
            <a:off x="4138613" y="6229569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18D8E68B-77D0-AA37-02A8-F4262A724A74}"/>
              </a:ext>
            </a:extLst>
          </p:cNvPr>
          <p:cNvCxnSpPr>
            <a:cxnSpLocks/>
          </p:cNvCxnSpPr>
          <p:nvPr/>
        </p:nvCxnSpPr>
        <p:spPr>
          <a:xfrm flipH="1">
            <a:off x="9164637" y="4806952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A77E9F3B-3C44-D66F-AB92-981082CB6719}"/>
              </a:ext>
            </a:extLst>
          </p:cNvPr>
          <p:cNvCxnSpPr>
            <a:cxnSpLocks/>
          </p:cNvCxnSpPr>
          <p:nvPr/>
        </p:nvCxnSpPr>
        <p:spPr>
          <a:xfrm flipH="1">
            <a:off x="9164637" y="6229569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4C842739-3CDC-C45E-E714-D97D9BED5D0F}"/>
              </a:ext>
            </a:extLst>
          </p:cNvPr>
          <p:cNvSpPr/>
          <p:nvPr/>
        </p:nvSpPr>
        <p:spPr>
          <a:xfrm>
            <a:off x="7389455" y="4806951"/>
            <a:ext cx="1019175" cy="1422618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80D6D794-BEF0-5EB5-B731-DADE666780B1}"/>
                  </a:ext>
                </a:extLst>
              </p:cNvPr>
              <p:cNvSpPr/>
              <p:nvPr/>
            </p:nvSpPr>
            <p:spPr>
              <a:xfrm>
                <a:off x="9164638" y="3332747"/>
                <a:ext cx="2331362" cy="1134475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∼0.22 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80D6D794-BEF0-5EB5-B731-DADE66678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638" y="3332747"/>
                <a:ext cx="2331362" cy="113447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93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4D7E-7DE7-B775-85D3-73D2E901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451934-8EF2-6E9C-3CB0-0B03D113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ANGLE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9098CD7-031D-A0CB-F06B-6F1F2C9F5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The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orientations</a:t>
                </a:r>
                <a:r>
                  <a:rPr lang="it-IT" dirty="0"/>
                  <a:t> of the </a:t>
                </a:r>
                <a:r>
                  <a:rPr lang="it-IT" dirty="0" err="1"/>
                  <a:t>crystallographic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front </a:t>
                </a:r>
                <a:r>
                  <a:rPr lang="it-IT" dirty="0" err="1"/>
                  <a:t>surface</a:t>
                </a:r>
                <a:r>
                  <a:rPr lang="it-IT" dirty="0"/>
                  <a:t> </a:t>
                </a:r>
                <a:r>
                  <a:rPr lang="it-IT" dirty="0" err="1"/>
                  <a:t>influence</a:t>
                </a:r>
                <a:r>
                  <a:rPr lang="it-IT" dirty="0"/>
                  <a:t> the </a:t>
                </a:r>
                <a:r>
                  <a:rPr lang="it-IT" dirty="0" err="1"/>
                  <a:t>angular</a:t>
                </a:r>
                <a:r>
                  <a:rPr lang="it-IT" dirty="0"/>
                  <a:t> range in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particles</a:t>
                </a:r>
                <a:r>
                  <a:rPr lang="it-IT" dirty="0"/>
                  <a:t> can be </a:t>
                </a:r>
                <a:r>
                  <a:rPr lang="it-IT" dirty="0" err="1"/>
                  <a:t>channelled</a:t>
                </a:r>
                <a:r>
                  <a:rPr lang="it-IT" dirty="0"/>
                  <a:t>.</a:t>
                </a:r>
              </a:p>
              <a:p>
                <a:r>
                  <a:rPr lang="it-IT" dirty="0" err="1"/>
                  <a:t>Before</a:t>
                </a:r>
                <a:r>
                  <a:rPr lang="it-IT" dirty="0"/>
                  <a:t> </a:t>
                </a:r>
                <a:r>
                  <a:rPr lang="it-IT" dirty="0" err="1"/>
                  <a:t>selecting</a:t>
                </a:r>
                <a:r>
                  <a:rPr lang="it-IT" dirty="0"/>
                  <a:t>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entered</a:t>
                </a:r>
                <a:r>
                  <a:rPr lang="it-IT" dirty="0"/>
                  <a:t> with the right angle (</a:t>
                </a:r>
                <a:r>
                  <a:rPr lang="it-IT" dirty="0" err="1"/>
                  <a:t>within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/>
                  <a:t>) we </a:t>
                </a:r>
                <a:r>
                  <a:rPr lang="it-IT" dirty="0" err="1"/>
                  <a:t>need</a:t>
                </a:r>
                <a:r>
                  <a:rPr lang="it-IT" dirty="0"/>
                  <a:t> to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correction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because</a:t>
                </a:r>
                <a:r>
                  <a:rPr lang="it-IT" dirty="0"/>
                  <a:t> the cut </a:t>
                </a:r>
                <a:r>
                  <a:rPr lang="it-IT" dirty="0" err="1"/>
                  <a:t>may</a:t>
                </a:r>
                <a:r>
                  <a:rPr lang="it-IT" dirty="0"/>
                  <a:t> not be </a:t>
                </a:r>
                <a:r>
                  <a:rPr lang="it-IT" dirty="0" err="1"/>
                  <a:t>centered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zero.</a:t>
                </a:r>
              </a:p>
              <a:p>
                <a:r>
                  <a:rPr lang="it-IT" dirty="0"/>
                  <a:t>We do not </a:t>
                </a:r>
                <a:r>
                  <a:rPr lang="it-IT" dirty="0" err="1"/>
                  <a:t>choose</a:t>
                </a:r>
                <a:r>
                  <a:rPr lang="it-IT" dirty="0"/>
                  <a:t> a single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</a:t>
                </a:r>
                <a:r>
                  <a:rPr lang="it-IT" dirty="0" err="1"/>
                  <a:t>but</a:t>
                </a:r>
                <a:r>
                  <a:rPr lang="it-IT" dirty="0"/>
                  <a:t> </a:t>
                </a:r>
                <a:r>
                  <a:rPr lang="it-IT" dirty="0" err="1"/>
                  <a:t>rather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in </a:t>
                </a:r>
                <a:r>
                  <a:rPr lang="it-IT" dirty="0" err="1"/>
                  <a:t>order</a:t>
                </a:r>
                <a:r>
                  <a:rPr lang="it-IT" dirty="0"/>
                  <a:t> to </a:t>
                </a:r>
                <a:r>
                  <a:rPr lang="it-IT" dirty="0" err="1"/>
                  <a:t>also</a:t>
                </a:r>
                <a:r>
                  <a:rPr lang="it-IT" dirty="0"/>
                  <a:t>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not </a:t>
                </a:r>
                <a:r>
                  <a:rPr lang="it-IT" dirty="0" err="1"/>
                  <a:t>negligible</a:t>
                </a:r>
                <a:r>
                  <a:rPr lang="it-IT" dirty="0"/>
                  <a:t> in the long </a:t>
                </a:r>
                <a:r>
                  <a:rPr lang="it-IT" dirty="0" err="1"/>
                  <a:t>crystals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9098CD7-031D-A0CB-F06B-6F1F2C9F5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043" t="-2299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70566A-0B1B-92EF-B9C3-5BCA77D2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DC0B6D-8361-A639-969F-A9F34E9F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A964AF-743A-C13A-EC7C-59C1FF56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AB248FE-6E78-ED64-88F1-D93A1B55514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C2C33AA-FAAF-88A9-0DB6-98A5DF683B2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4CC81D-AE29-47B5-8915-DC89A636B54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983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6D01-217C-59DD-756C-C159F3DD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6224C-472C-0BFC-A1A7-3DC5DCDA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36D42AD-3DE8-BB3A-DB3E-573D0B4E7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i="1" dirty="0" err="1"/>
                  <a:t>Torsion</a:t>
                </a:r>
                <a:r>
                  <a:rPr lang="it-IT" i="1" dirty="0"/>
                  <a:t> </a:t>
                </a:r>
                <a:r>
                  <a:rPr lang="it-IT" i="1" dirty="0" err="1"/>
                  <a:t>effect</a:t>
                </a:r>
                <a:r>
                  <a:rPr lang="it-IT" i="1" dirty="0"/>
                  <a:t>:</a:t>
                </a:r>
                <a:r>
                  <a:rPr lang="it-IT" dirty="0"/>
                  <a:t> in long </a:t>
                </a:r>
                <a:r>
                  <a:rPr lang="it-IT" dirty="0" err="1"/>
                  <a:t>crystals</a:t>
                </a:r>
                <a:r>
                  <a:rPr lang="it-IT" dirty="0"/>
                  <a:t> (&gt;1 cm), </a:t>
                </a:r>
                <a:r>
                  <a:rPr lang="it-IT" dirty="0" err="1"/>
                  <a:t>structural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non-</a:t>
                </a:r>
                <a:r>
                  <a:rPr lang="it-IT" dirty="0" err="1"/>
                  <a:t>negligible</a:t>
                </a:r>
                <a:r>
                  <a:rPr lang="it-IT" dirty="0"/>
                  <a:t> and </a:t>
                </a:r>
                <a:r>
                  <a:rPr lang="en-US" dirty="0"/>
                  <a:t>must be incorporated into the analysis.</a:t>
                </a:r>
              </a:p>
              <a:p>
                <a:r>
                  <a:rPr lang="en-US" dirty="0"/>
                  <a:t>The effect of the torsion can be corrected by doing a checkerboard analysis: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800" dirty="0"/>
                  <a:t>Dividing the data sample into square bins (for example 0.1 mm x 0.1 mm) as a function of the impact position on the crystal surface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800" dirty="0"/>
                  <a:t>The angular shift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is then varied to find the maximum channeling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en-US" sz="2800" dirty="0"/>
                  <a:t> for each bin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800" dirty="0"/>
                  <a:t>We obtain a 2D map of torsion variation across the crystal surface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36D42AD-3DE8-BB3A-DB3E-573D0B4E7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217" t="-2299" r="-1739" b="-6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4B76F-2B5A-A365-1DB2-E0630758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2672AC-E987-DC85-7818-4A23BEB3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23CF9B-73B6-496F-F418-16CC8B34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893F73-D8A8-FA7B-CF8A-27F6A5D42D5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B42D59-8988-FF51-91B5-95ADA046BA2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13B42E-6FEF-6243-0FD1-23423BD1D80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2A55CC9-B254-F7E0-BA4B-E6798570C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5466" y="69651"/>
            <a:ext cx="2154418" cy="1148742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57D110E-CCDE-7140-11DB-AB1EC9B0675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7E35FD3-526F-767A-3541-C3577FD9AA1D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6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9772-CA0F-72A5-01E5-0569343B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91C66B-8C54-FF25-4713-D7FD4D2A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7D5E5C-DAB3-124E-E9ED-FCC68D06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701879-238A-489C-0B19-AE8043D1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BD9DF1-AD57-9A42-98DA-0063D175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28A93C-6AAB-1BE9-4552-1A0897742DD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6D49B2E-529F-54C2-7285-883664F7004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37BC7A6-7125-2715-D652-38A841F06D2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79C971D-3CEE-476D-C8E9-35183FB0B47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A95D7DC-772C-F2D0-7F6E-7B637FABB5C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6E9D8EB2-3A37-43F7-1C5F-7B4FDF8A6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309"/>
            <a:ext cx="6263248" cy="4680000"/>
          </a:xfrm>
          <a:prstGeom prst="rect">
            <a:avLst/>
          </a:prstGeom>
        </p:spPr>
      </p:pic>
      <p:pic>
        <p:nvPicPr>
          <p:cNvPr id="9" name="Segnaposto contenuto 9">
            <a:extLst>
              <a:ext uri="{FF2B5EF4-FFF2-40B4-BE49-F238E27FC236}">
                <a16:creationId xmlns:a16="http://schemas.microsoft.com/office/drawing/2014/main" id="{6CA9BF4D-ECEB-7FC8-53BE-361DAA9E1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792" y="1568309"/>
            <a:ext cx="626324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5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7A05-5581-2507-2271-32772C04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B6FC3-5C80-9455-E161-DA75CFAF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0CB520-A067-8FE3-9BD0-6B5C105BF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0CB520-A067-8FE3-9BD0-6B5C105BF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217" t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C96FC0-7D82-4607-B5AD-15E8A147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6DC3C0-2087-08BF-083B-29C5E3AE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07D8D7-A2A0-4815-E3B2-8CA47A7C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8AD835D-015D-C803-CA98-A43D0F0AEC6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39CB041-5340-4E95-7D40-AEADA351C4A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43E1EF5-379F-B22C-48CE-2CF97B803AC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2E148E6-13EB-2C99-6BD7-6C050970A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360" y="2297718"/>
            <a:ext cx="5431280" cy="40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98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99CC-8B86-B2EE-64BF-98C6CD9A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CB4FE-C26E-1D5A-A916-88AE81A4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en-US" dirty="0"/>
                  <a:t>Now we correct the effect of torsion using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for each bin.</a:t>
                </a:r>
              </a:p>
              <a:p>
                <a:pPr marL="0" indent="0" algn="ctr">
                  <a:buNone/>
                </a:pPr>
                <a:r>
                  <a:rPr lang="en-US" dirty="0"/>
                  <a:t>instead of the Lindhard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|≤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we will use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217" t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A471C-F0EE-5F04-A29E-E0CB002E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ABB026-FA86-A760-183A-FE10D53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FD25C1-5937-F4CD-E5E1-898A885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2A6038D-432C-2F4A-7030-A075D3CF4C2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ECE314-D833-6651-B033-28F4F1798FA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B96A90-5280-D2F9-54F4-EC33C69AA8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C05D9D2-6401-CFA4-DD1B-5D090E52A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391" y="1222454"/>
            <a:ext cx="2873709" cy="21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9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7CD9-9B46-75B5-98FC-4741511B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F2EC4C-C175-8469-9876-DC6FE74E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FIT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214BAE-EEDC-8210-8550-44C6BB96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5B57DB-25E8-F6FC-7054-82768A96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6298A0-CBCB-D3B7-B119-DAC2939E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BF20B3-79F2-AE6F-29E8-77BA43A3E80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C5DF32F-680C-15DC-0F15-FAACF6D8503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DC0AA42-0B63-417E-776A-C75234B5BB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0EEC406-2634-D2D7-4C73-AF8B01A7272E}"/>
              </a:ext>
            </a:extLst>
          </p:cNvPr>
          <p:cNvSpPr/>
          <p:nvPr/>
        </p:nvSpPr>
        <p:spPr>
          <a:xfrm>
            <a:off x="7708477" y="1774499"/>
            <a:ext cx="2814320" cy="1229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577974F-522E-8494-1BB7-3C97ECD7F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100" y="1814690"/>
            <a:ext cx="5580000" cy="416672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5DEA55C-6BBD-BEDC-E7D4-9B39969B3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133" y="1774499"/>
            <a:ext cx="5577573" cy="416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1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96DB-8D5D-03C7-3FA3-2580E743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B6C1CD1E-43F2-2E63-AEC6-105AF05F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Crystal </a:t>
            </a:r>
            <a:r>
              <a:rPr lang="it-IT" sz="2400" dirty="0" err="1"/>
              <a:t>efficiency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function of the incoming angle, after </a:t>
            </a:r>
            <a:r>
              <a:rPr lang="it-IT" sz="2400" dirty="0" err="1"/>
              <a:t>application</a:t>
            </a:r>
            <a:r>
              <a:rPr lang="it-IT" sz="2400" dirty="0"/>
              <a:t> of the </a:t>
            </a:r>
            <a:r>
              <a:rPr lang="it-IT" sz="2400" dirty="0" err="1"/>
              <a:t>torsion</a:t>
            </a:r>
            <a:r>
              <a:rPr lang="it-IT" sz="2400" dirty="0"/>
              <a:t> </a:t>
            </a:r>
            <a:r>
              <a:rPr lang="it-IT" sz="2400" dirty="0" err="1"/>
              <a:t>correction</a:t>
            </a:r>
            <a:r>
              <a:rPr lang="it-IT" sz="2400" dirty="0"/>
              <a:t>. The </a:t>
            </a:r>
            <a:r>
              <a:rPr lang="it-IT" sz="2400" dirty="0" err="1"/>
              <a:t>value</a:t>
            </a:r>
            <a:r>
              <a:rPr lang="it-IT" sz="2400" dirty="0"/>
              <a:t> of the </a:t>
            </a:r>
            <a:r>
              <a:rPr lang="it-IT" sz="2400" dirty="0" err="1"/>
              <a:t>peak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efficiency</a:t>
            </a:r>
            <a:r>
              <a:rPr lang="it-IT" sz="2400" dirty="0"/>
              <a:t> of the </a:t>
            </a:r>
            <a:r>
              <a:rPr lang="it-IT" sz="2400" dirty="0" err="1"/>
              <a:t>crystal</a:t>
            </a:r>
            <a:r>
              <a:rPr lang="it-IT" sz="2400" dirty="0"/>
              <a:t> </a:t>
            </a:r>
            <a:r>
              <a:rPr lang="it-IT" sz="2400" dirty="0" err="1"/>
              <a:t>when</a:t>
            </a:r>
            <a:r>
              <a:rPr lang="it-IT" sz="2400" dirty="0"/>
              <a:t> 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perfectly</a:t>
            </a:r>
            <a:r>
              <a:rPr lang="it-IT" sz="2400" dirty="0"/>
              <a:t> </a:t>
            </a:r>
            <a:r>
              <a:rPr lang="it-IT" sz="2400" dirty="0" err="1"/>
              <a:t>aligned</a:t>
            </a:r>
            <a:r>
              <a:rPr lang="it-IT" sz="2400" dirty="0"/>
              <a:t> to the </a:t>
            </a:r>
            <a:r>
              <a:rPr lang="it-IT" sz="2400" dirty="0" err="1"/>
              <a:t>beam</a:t>
            </a:r>
            <a:r>
              <a:rPr lang="it-IT" sz="2400" dirty="0"/>
              <a:t>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41F033-41FF-9EC2-CD18-6C1065E7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EFFICIENCY CURVE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05E3A4-151D-9A1F-8186-E743AE2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ABE22A-648C-CB6A-CB96-BA087002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ED4E80-CE57-A7C6-53FF-A878B0C1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2604C5D-7C9A-C092-C1C1-6CF4E44DA8A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503126-5228-0AF4-215B-A7729A20AE8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2E0088-D7C6-1059-05D7-BD2076C40D2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13A8E72-F1F7-0929-4122-8EF64E4A4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/>
          <a:stretch>
            <a:fillRect/>
          </a:stretch>
        </p:blipFill>
        <p:spPr>
          <a:xfrm>
            <a:off x="2992774" y="2452841"/>
            <a:ext cx="6204651" cy="404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94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5160-53F5-0D96-6732-BE65EFCB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BBFA8-148B-A6EE-D5B0-34321889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0CBF39-6A49-8BC7-6425-C33F0B2E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 can </a:t>
            </a:r>
            <a:r>
              <a:rPr lang="it-IT" dirty="0" err="1"/>
              <a:t>now</a:t>
            </a:r>
            <a:r>
              <a:rPr lang="it-IT" dirty="0"/>
              <a:t> compute the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ratio of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to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incident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E0AFA0-61E3-D8A9-56A7-DC0F946D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8B57960-238D-1446-8231-5A6EAEC972B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50B2FFE-00F1-2BC4-EC60-0131B113B70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77C4D9B-5566-E01F-9A9E-00516CA43C4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3163043-DF86-E4CC-C083-AD992BCE1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8" r="6027"/>
          <a:stretch>
            <a:fillRect/>
          </a:stretch>
        </p:blipFill>
        <p:spPr>
          <a:xfrm>
            <a:off x="696000" y="2310232"/>
            <a:ext cx="6887111" cy="4234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8FC6E12E-5C3E-72F7-980E-E93CD9556588}"/>
                  </a:ext>
                </a:extLst>
              </p:cNvPr>
              <p:cNvSpPr/>
              <p:nvPr/>
            </p:nvSpPr>
            <p:spPr>
              <a:xfrm>
                <a:off x="7700576" y="2310232"/>
                <a:ext cx="3535758" cy="4030359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3200" b="1" dirty="0">
                    <a:solidFill>
                      <a:srgbClr val="002060"/>
                    </a:solidFill>
                  </a:rPr>
                  <a:t>CHANNELING EFFICIENCY</a:t>
                </a:r>
              </a:p>
              <a:p>
                <a:pPr algn="ctr"/>
                <a:endParaRPr lang="it-IT" sz="3200" b="1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𝒄𝒉</m:t>
                          </m:r>
                        </m:sub>
                      </m:sSub>
                      <m:r>
                        <a:rPr lang="it-IT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𝒄𝒉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8FC6E12E-5C3E-72F7-980E-E93CD9556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576" y="2310232"/>
                <a:ext cx="3535758" cy="403035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0AF69-2D03-0DD4-090C-8C15F1AB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682348-A51C-8908-4A7A-D6D6AF8C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0677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E354-B03F-BD18-F01A-A41D4893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D704B-3434-5030-BB5F-2FDD6B8F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0B74F6-27D2-7C8C-E165-33A2F029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r>
              <a:rPr lang="it-IT" sz="2400" dirty="0"/>
              <a:t>A </a:t>
            </a:r>
            <a:r>
              <a:rPr lang="it-IT" sz="2400" dirty="0" err="1"/>
              <a:t>Gaussian</a:t>
            </a:r>
            <a:r>
              <a:rPr lang="it-IT" sz="2400" dirty="0"/>
              <a:t> </a:t>
            </a:r>
            <a:r>
              <a:rPr lang="it-IT" sz="2400" dirty="0" err="1"/>
              <a:t>fit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performed</a:t>
            </a:r>
            <a:r>
              <a:rPr lang="it-IT" sz="2400" dirty="0"/>
              <a:t> on the </a:t>
            </a:r>
            <a:r>
              <a:rPr lang="it-IT" sz="2400" dirty="0" err="1"/>
              <a:t>deflection</a:t>
            </a:r>
            <a:r>
              <a:rPr lang="it-IT" sz="2400" dirty="0"/>
              <a:t> </a:t>
            </a:r>
            <a:r>
              <a:rPr lang="it-IT" sz="2400" dirty="0" err="1"/>
              <a:t>peak</a:t>
            </a:r>
            <a:r>
              <a:rPr lang="it-IT" sz="2400" dirty="0"/>
              <a:t>.</a:t>
            </a:r>
          </a:p>
          <a:p>
            <a:r>
              <a:rPr lang="it-IT" sz="2400" dirty="0"/>
              <a:t>We </a:t>
            </a:r>
            <a:r>
              <a:rPr lang="it-IT" sz="2400" dirty="0" err="1"/>
              <a:t>fit</a:t>
            </a:r>
            <a:r>
              <a:rPr lang="it-IT" sz="2400" dirty="0"/>
              <a:t> the right side of the </a:t>
            </a:r>
            <a:r>
              <a:rPr lang="it-IT" sz="2400" dirty="0" err="1"/>
              <a:t>peak</a:t>
            </a:r>
            <a:r>
              <a:rPr lang="it-IT" sz="2400" dirty="0"/>
              <a:t> to </a:t>
            </a:r>
            <a:r>
              <a:rPr lang="it-IT" sz="2400" dirty="0" err="1"/>
              <a:t>ensure</a:t>
            </a:r>
            <a:r>
              <a:rPr lang="it-IT" sz="2400" dirty="0"/>
              <a:t> the </a:t>
            </a:r>
            <a:r>
              <a:rPr lang="it-IT" sz="2400" dirty="0" err="1"/>
              <a:t>cleanest</a:t>
            </a:r>
            <a:r>
              <a:rPr lang="it-IT" sz="2400" dirty="0"/>
              <a:t> </a:t>
            </a:r>
            <a:r>
              <a:rPr lang="it-IT" sz="2400" dirty="0" err="1"/>
              <a:t>measurement</a:t>
            </a:r>
            <a:r>
              <a:rPr lang="it-IT" sz="2400" dirty="0"/>
              <a:t> (no </a:t>
            </a:r>
            <a:r>
              <a:rPr lang="it-IT" sz="2400" dirty="0" err="1"/>
              <a:t>dechanneled</a:t>
            </a:r>
            <a:r>
              <a:rPr lang="it-IT" sz="2400" dirty="0"/>
              <a:t> </a:t>
            </a:r>
            <a:r>
              <a:rPr lang="it-IT" sz="2400" dirty="0" err="1"/>
              <a:t>particles</a:t>
            </a:r>
            <a:r>
              <a:rPr lang="it-IT" sz="2400" dirty="0"/>
              <a:t> </a:t>
            </a:r>
            <a:r>
              <a:rPr lang="it-IT" sz="2400" dirty="0" err="1"/>
              <a:t>contribution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163C9A-DA38-D8AD-1517-2D1F552F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B72CDD-1B29-A1B1-AE7F-C338BFAB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9682B3-4B3D-15C8-A998-726454F8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91A779A-7270-7A98-408A-1444357C9E35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DBD5622-AE76-F3F2-E78E-A7E2566D28B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ACA1D1-0026-540C-70E3-FEA431668F6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9FE3799-AA56-96B5-61CD-52ADB4695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9" b="311"/>
          <a:stretch>
            <a:fillRect/>
          </a:stretch>
        </p:blipFill>
        <p:spPr>
          <a:xfrm>
            <a:off x="5446277" y="2604974"/>
            <a:ext cx="6705823" cy="384485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369F6DF-241B-FC05-FB2C-74DFB0379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8" r="6027"/>
          <a:stretch>
            <a:fillRect/>
          </a:stretch>
        </p:blipFill>
        <p:spPr>
          <a:xfrm>
            <a:off x="206168" y="2846354"/>
            <a:ext cx="5240109" cy="3221665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5C2CDB7F-4798-849A-B362-05F16E54F49C}"/>
              </a:ext>
            </a:extLst>
          </p:cNvPr>
          <p:cNvSpPr/>
          <p:nvPr/>
        </p:nvSpPr>
        <p:spPr>
          <a:xfrm>
            <a:off x="3794967" y="2984577"/>
            <a:ext cx="1286540" cy="29452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219D7ECA-BCC6-3278-8C9C-03F146B36666}"/>
              </a:ext>
            </a:extLst>
          </p:cNvPr>
          <p:cNvSpPr/>
          <p:nvPr/>
        </p:nvSpPr>
        <p:spPr>
          <a:xfrm rot="18171475">
            <a:off x="5124294" y="2234943"/>
            <a:ext cx="2827745" cy="3968027"/>
          </a:xfrm>
          <a:prstGeom prst="arc">
            <a:avLst>
              <a:gd name="adj1" fmla="val 15945701"/>
              <a:gd name="adj2" fmla="val 1052481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5FB51C5-E6E6-4E41-99C1-ACAD81F796A0}"/>
              </a:ext>
            </a:extLst>
          </p:cNvPr>
          <p:cNvCxnSpPr>
            <a:cxnSpLocks/>
          </p:cNvCxnSpPr>
          <p:nvPr/>
        </p:nvCxnSpPr>
        <p:spPr>
          <a:xfrm>
            <a:off x="8504767" y="5331487"/>
            <a:ext cx="0" cy="668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782FBE4-B7CD-5D20-0D70-213BC119BA8F}"/>
                  </a:ext>
                </a:extLst>
              </p:cNvPr>
              <p:cNvSpPr txBox="1"/>
              <p:nvPr/>
            </p:nvSpPr>
            <p:spPr>
              <a:xfrm>
                <a:off x="2355837" y="3072809"/>
                <a:ext cx="12865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it-IT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782FBE4-B7CD-5D20-0D70-213BC119B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37" y="3072809"/>
                <a:ext cx="12865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B695AC5-A004-5B7A-AA21-F7DDCB3AF5BB}"/>
                  </a:ext>
                </a:extLst>
              </p:cNvPr>
              <p:cNvSpPr txBox="1"/>
              <p:nvPr/>
            </p:nvSpPr>
            <p:spPr>
              <a:xfrm>
                <a:off x="8960645" y="4167213"/>
                <a:ext cx="12865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</m:t>
                          </m:r>
                        </m:sub>
                      </m:sSub>
                    </m:oMath>
                  </m:oMathPara>
                </a14:m>
                <a:endParaRPr lang="it-IT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B695AC5-A004-5B7A-AA21-F7DDCB3A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645" y="4167213"/>
                <a:ext cx="128654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12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D1461-C75C-7E30-7CB1-94EE05E4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FD112F-A6F5-EDE0-3EF1-FE53FF0D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C8395F-5A29-CBE5-2F17-8C5F1B0F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8632CE-25AA-0A1B-BC06-2686BE58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B70B37-5218-F84D-2646-2A877AFD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0A2B7C-B5A1-D2BC-41BE-0AFDF9DAB6A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C5574AB-0B0B-8361-1ED1-AA4582A18A6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F7B6111-24ED-E494-D339-85B73CFCBE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71DF83D9-FF00-8DC4-EF2F-A708B15EC92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9552050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610852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1906783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3.45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6011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18.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3.33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6011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18.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3.72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6077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17.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6124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17.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8656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2.83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6123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71DF83D9-FF00-8DC4-EF2F-A708B15EC92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9552050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610852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1906783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4938" r="-160047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4938" r="-118850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4938" r="-541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113333" r="-412222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43692" t="-113333" r="-160047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33227" t="-113333" r="-118850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113333" r="-541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213333" r="-412222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43692" t="-213333" r="-160047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227" t="-213333" r="-118850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366486" t="-213333" r="-541" b="-3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309211" r="-4122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309211" r="-16004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309211" r="-118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309211" r="-54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414667" r="-41222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43692" t="-414667" r="-160047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33227" t="-414667" r="-11885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414667" r="-541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514667" r="-4122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514667" r="-16004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514667" r="-118850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14667" r="-54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3233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59CA-8F3C-F47D-9CC6-E91607D4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2777A8-0606-C7D4-DA80-2BF46462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B9887C-8B3E-41D4-8913-D1B828B5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33DE58-9D1F-34BC-F288-89927715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EB685B-DBEC-8BAD-37C3-14449B80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1A9967D-8A3E-D94E-494C-3C0B0D6206C7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B3AE14D-B9F0-5756-71D0-F0B0014BA34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D07FC42-4124-01D8-960B-1C35242C091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1073C49C-B456-2C70-0DE1-470F84418F7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30477996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610852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1906783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3.45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6011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18.7±0.01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3.33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6011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18.3±0.01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8650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3.72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6077</m:t>
                                </m:r>
                              </m:oMath>
                            </m:oMathPara>
                          </a14:m>
                          <a:endParaRPr lang="it-IT" sz="2400" i="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17.1±0.01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2.97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6124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17.9±0.01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8656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2.83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6123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17.8±0.01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1073C49C-B456-2C70-0DE1-470F84418F7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30477996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610852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1906783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4938" r="-160047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4938" r="-118850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4938" r="-541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113333" r="-412222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43692" t="-113333" r="-160047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33227" t="-113333" r="-118850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113333" r="-541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213333" r="-412222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43692" t="-213333" r="-160047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227" t="-213333" r="-118850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366486" t="-213333" r="-541" b="-3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309211" r="-4122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309211" r="-16004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309211" r="-1188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309211" r="-54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414667" r="-41222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43692" t="-414667" r="-160047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33227" t="-414667" r="-11885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414667" r="-541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514667" r="-4122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692" t="-514667" r="-16004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3227" t="-514667" r="-118850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14667" r="-54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2B32705D-8552-3530-4E06-5003A605D7F5}"/>
              </a:ext>
            </a:extLst>
          </p:cNvPr>
          <p:cNvSpPr txBox="1"/>
          <p:nvPr/>
        </p:nvSpPr>
        <p:spPr>
          <a:xfrm>
            <a:off x="696000" y="5210690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i="1" u="sng" dirty="0" err="1"/>
              <a:t>Consistent</a:t>
            </a:r>
            <a:r>
              <a:rPr lang="it-IT" sz="2400" i="1" u="sng" dirty="0"/>
              <a:t> </a:t>
            </a:r>
            <a:r>
              <a:rPr lang="it-IT" sz="2400" i="1" u="sng" dirty="0" err="1"/>
              <a:t>across</a:t>
            </a:r>
            <a:r>
              <a:rPr lang="it-IT" sz="2400" i="1" u="sng" dirty="0"/>
              <a:t> </a:t>
            </a:r>
            <a:r>
              <a:rPr lang="it-IT" sz="2400" i="1" u="sng" dirty="0" err="1"/>
              <a:t>different</a:t>
            </a:r>
            <a:r>
              <a:rPr lang="it-IT" sz="2400" i="1" u="sng" dirty="0"/>
              <a:t> </a:t>
            </a:r>
            <a:r>
              <a:rPr lang="it-IT" sz="2400" i="1" u="sng" dirty="0" err="1"/>
              <a:t>runs</a:t>
            </a:r>
            <a:r>
              <a:rPr lang="it-IT" sz="2400" i="1" u="sng" dirty="0"/>
              <a:t> for the </a:t>
            </a:r>
            <a:r>
              <a:rPr lang="it-IT" sz="2400" i="1" u="sng" dirty="0" err="1"/>
              <a:t>same</a:t>
            </a:r>
            <a:r>
              <a:rPr lang="it-IT" sz="2400" i="1" u="sng" dirty="0"/>
              <a:t> </a:t>
            </a:r>
            <a:r>
              <a:rPr lang="it-IT" sz="2400" i="1" u="sng" dirty="0" err="1"/>
              <a:t>crytsal</a:t>
            </a:r>
            <a:endParaRPr lang="it-IT" sz="2400" i="1" u="sng" dirty="0"/>
          </a:p>
        </p:txBody>
      </p:sp>
    </p:spTree>
    <p:extLst>
      <p:ext uri="{BB962C8B-B14F-4D97-AF65-F5344CB8AC3E}">
        <p14:creationId xmlns:p14="http://schemas.microsoft.com/office/powerpoint/2010/main" val="2360650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DB86-1A06-E67F-D6B5-604B493F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4F57A-A476-06A8-3296-C52CEF58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2ADC0B-CAB7-7320-CA9B-D1D8835C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EB561D-3854-2AB4-7D37-9DC0C476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CE6B9B-7F24-7482-D8BE-32E9F5CD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D327EE2-44F7-55B4-3660-D6FE908C189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CA9C10-E1B7-C666-7976-6CA283547D70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C487424-DA65-FF08-5C72-216F462ABA0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F108D77F-1AE6-6F8E-2727-51353181988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12724804"/>
                  </p:ext>
                </p:extLst>
              </p:nvPr>
            </p:nvGraphicFramePr>
            <p:xfrm>
              <a:off x="838200" y="2059186"/>
              <a:ext cx="10515600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893147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192866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074334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/>
                            <a:t>channeling angle</a:t>
                          </a:r>
                          <a:endParaRPr lang="it-IT" sz="2400" b="1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Long crystal 1</a:t>
                          </a:r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8430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3.50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400" b="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6033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</m:oMath>
                            </m:oMathPara>
                          </a14:m>
                          <a:endParaRPr lang="it-IT" sz="2400" b="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18.1±0.01</m:t>
                                    </m:r>
                                  </m:e>
                                </m:d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8431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8650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Long crystal 2</a:t>
                          </a:r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8655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2.90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400" b="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6124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4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2400" b="0" i="1" smtClean="0">
                                        <a:latin typeface="Cambria Math" panose="02040503050406030204" pitchFamily="18" charset="0"/>
                                      </a:rPr>
                                      <m:t>17.9±0.01</m:t>
                                    </m:r>
                                  </m:e>
                                </m:d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Run 8656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sz="2400" i="0" dirty="0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F108D77F-1AE6-6F8E-2727-51353181988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12724804"/>
                  </p:ext>
                </p:extLst>
              </p:nvPr>
            </p:nvGraphicFramePr>
            <p:xfrm>
              <a:off x="838200" y="2059186"/>
              <a:ext cx="10515600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893147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192866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074334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222" t="-5185" r="-197778" b="-29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/>
                            <a:t>channeling angle</a:t>
                          </a:r>
                          <a:endParaRPr lang="it-IT" sz="2400" b="1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185" r="-541" b="-29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Long crystal 1</a:t>
                          </a:r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8430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222" t="-62832" r="-197778" b="-7654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824" t="-62832" r="-109412" b="-76549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62832" r="-541" b="-76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8431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8650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Long crystal 2</a:t>
                          </a:r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/>
                            <a:t>Run 8655</a:t>
                          </a:r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2222" t="-245333" r="-197778" b="-15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824" t="-245333" r="-109412" b="-15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245333" r="-541" b="-1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Run 8656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sz="2400" i="0" dirty="0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2796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EFF-B9B4-605B-23DF-EDC01FF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97431-BBE5-CB25-093B-D04D3DF2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987156-1AA3-606D-F960-F5521BB0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76CE-2672-8B5F-17F8-C7FABE69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8D8F0-CFAD-5A22-0C45-35621E72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9CCD89B-D23E-B601-CB0F-35F735A548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68D235-E176-E7CA-EEBD-17788382E36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B2D0B5E-0AD3-1AC2-900A-351764AC43C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478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18D0-178A-C93A-FF92-79CB2388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89A4B7-4387-2BB7-3C48-46DB1951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SCHEMATIC LAYOUT 2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DBFB0E-FB82-3C32-FE20-89DEF342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DDD74D-1EB9-2D22-F8E3-99411AEA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F57EDD-504C-8703-B373-775040D9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A8C001C-29B0-3295-646E-77D6416186F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E83A5A8-9F52-79AB-6097-3ED9E0DA104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D0E9B7-7CD4-2769-C5D2-C454E014F2E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D1CB2A6-1166-CF2E-28FE-9AF384B5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9" y="1545256"/>
            <a:ext cx="11303581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1A8EF-5B56-16D2-91C1-E41CF7EC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B22AB5-730F-6D2A-B39F-6CE4A4F7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155DF5-1F95-3672-297A-0D16189D6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 can </a:t>
            </a:r>
            <a:r>
              <a:rPr lang="it-IT" dirty="0" err="1"/>
              <a:t>also</a:t>
            </a:r>
            <a:r>
              <a:rPr lang="it-IT" dirty="0"/>
              <a:t> check the </a:t>
            </a:r>
            <a:r>
              <a:rPr lang="it-IT" dirty="0" err="1"/>
              <a:t>alignment</a:t>
            </a:r>
            <a:r>
              <a:rPr lang="it-IT" dirty="0"/>
              <a:t> by </a:t>
            </a:r>
            <a:r>
              <a:rPr lang="it-IT" dirty="0" err="1"/>
              <a:t>doing</a:t>
            </a:r>
            <a:r>
              <a:rPr lang="it-IT" dirty="0"/>
              <a:t> a linear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upstream and </a:t>
            </a:r>
            <a:r>
              <a:rPr lang="it-IT" dirty="0" err="1"/>
              <a:t>dowstream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561888-E92B-61C2-66F6-B5FA7385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6650CE-7546-8981-9E5B-AA12BDEC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6501D8-781C-B5B6-AF49-EF4A5D20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05A6826-EC71-D482-2547-395039A45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C81B1BAE-047D-DA9A-8B6E-76B19CDD24B7}"/>
              </a:ext>
            </a:extLst>
          </p:cNvPr>
          <p:cNvGrpSpPr/>
          <p:nvPr/>
        </p:nvGrpSpPr>
        <p:grpSpPr>
          <a:xfrm>
            <a:off x="1978093" y="2278589"/>
            <a:ext cx="8234013" cy="3952091"/>
            <a:chOff x="851048" y="2225424"/>
            <a:chExt cx="8234013" cy="3952091"/>
          </a:xfrm>
        </p:grpSpPr>
        <p:pic>
          <p:nvPicPr>
            <p:cNvPr id="7" name="Segnaposto contenuto 7">
              <a:extLst>
                <a:ext uri="{FF2B5EF4-FFF2-40B4-BE49-F238E27FC236}">
                  <a16:creationId xmlns:a16="http://schemas.microsoft.com/office/drawing/2014/main" id="{B9CBC619-70B2-1196-6539-C4C0C18E3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048" y="2225424"/>
              <a:ext cx="8234013" cy="3952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ADB0A287-D2E0-1E65-AFD1-D64CA74287AD}"/>
                    </a:ext>
                  </a:extLst>
                </p:cNvPr>
                <p:cNvSpPr/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=0.9954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=0.007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ADB0A287-D2E0-1E65-AFD1-D64CA7428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blipFill>
                  <a:blip r:embed="rId3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019F3A86-9073-643D-E16F-4ABF243FDC6D}"/>
                    </a:ext>
                  </a:extLst>
                </p:cNvPr>
                <p:cNvSpPr/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=0.9990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=0.005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019F3A86-9073-643D-E16F-4ABF243FDC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31068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868C-48AA-624D-FC8E-B8A0F7FD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81BE3F-761B-C031-718C-B937798D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3A6044-8191-1821-ADA3-B644EAE1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0F2C72-5ABE-0EBA-2479-43E5859B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06C0F3-F1DF-3C2C-B4EF-0115636B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9F4022D-EA7D-42B8-B590-F13E113B437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037BDD-8530-1C71-AC3D-B5E42866C85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6BFC361-AD21-8A45-4798-C3D7486AEAE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D788910-F3D0-9CC6-0AAB-A1C89CE3D485}"/>
              </a:ext>
            </a:extLst>
          </p:cNvPr>
          <p:cNvGrpSpPr/>
          <p:nvPr/>
        </p:nvGrpSpPr>
        <p:grpSpPr>
          <a:xfrm>
            <a:off x="2629724" y="1358900"/>
            <a:ext cx="6932552" cy="4818615"/>
            <a:chOff x="3357897" y="2667753"/>
            <a:chExt cx="5476207" cy="3688596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3B885F0C-3A52-E818-1FFE-79CA8492B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56"/>
            <a:stretch>
              <a:fillRect/>
            </a:stretch>
          </p:blipFill>
          <p:spPr>
            <a:xfrm>
              <a:off x="3357897" y="2667753"/>
              <a:ext cx="5476207" cy="3688596"/>
            </a:xfrm>
            <a:prstGeom prst="rect">
              <a:avLst/>
            </a:prstGeom>
          </p:spPr>
        </p:pic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171A131D-410B-0265-ADB7-86EA3B4EFF2F}"/>
                </a:ext>
              </a:extLst>
            </p:cNvPr>
            <p:cNvSpPr/>
            <p:nvPr/>
          </p:nvSpPr>
          <p:spPr>
            <a:xfrm>
              <a:off x="5196417" y="3958170"/>
              <a:ext cx="302683" cy="6307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544340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9A26-B793-2D85-3CAD-E2D796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88687-BF13-F647-4364-E442CA10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385FB3-6561-5C04-3B4A-79D0186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AACA59-250E-7219-30FF-8FCF7919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50E125-E034-E05A-7A7B-63CD2B3E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DCFE4DC-AED6-5073-176B-DAA7D9E6B25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766DD3B-A09B-2B03-760F-4FD2350D74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CB820BB-33C0-FD49-8310-C67C15646B1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BF9FFD-F79D-AA1B-DF5A-87466EEE6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750" y="1222745"/>
            <a:ext cx="8432572" cy="5253769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33CB32C7-0FCA-E3A2-3F6E-CA232C9F465D}"/>
              </a:ext>
            </a:extLst>
          </p:cNvPr>
          <p:cNvGrpSpPr/>
          <p:nvPr/>
        </p:nvGrpSpPr>
        <p:grpSpPr>
          <a:xfrm>
            <a:off x="5650030" y="1568918"/>
            <a:ext cx="1822739" cy="567891"/>
            <a:chOff x="4340994" y="1588168"/>
            <a:chExt cx="1822739" cy="567891"/>
          </a:xfrm>
        </p:grpSpPr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D8CF927E-5FAC-04F9-9C12-62E9DAC2A3CC}"/>
                </a:ext>
              </a:extLst>
            </p:cNvPr>
            <p:cNvCxnSpPr/>
            <p:nvPr/>
          </p:nvCxnSpPr>
          <p:spPr>
            <a:xfrm flipH="1">
              <a:off x="4340994" y="1876926"/>
              <a:ext cx="625642" cy="1925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BB4D091A-960D-5AFF-1B6D-37F1F84E8EA1}"/>
                    </a:ext>
                  </a:extLst>
                </p:cNvPr>
                <p:cNvSpPr/>
                <p:nvPr/>
              </p:nvSpPr>
              <p:spPr>
                <a:xfrm>
                  <a:off x="4966636" y="1588168"/>
                  <a:ext cx="1197097" cy="567891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r>
                    <a:rPr lang="it-IT" dirty="0">
                      <a:solidFill>
                        <a:schemeClr val="tx1"/>
                      </a:solidFill>
                    </a:rPr>
                    <a:t> cut</a:t>
                  </a:r>
                </a:p>
              </p:txBody>
            </p:sp>
          </mc:Choice>
          <mc:Fallback xmlns="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BB4D091A-960D-5AFF-1B6D-37F1F84E8E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6636" y="1588168"/>
                  <a:ext cx="1197097" cy="567891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/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/>
                  <a:t>For </a:t>
                </a:r>
                <a:r>
                  <a:rPr lang="it-IT" sz="2000" dirty="0" err="1"/>
                  <a:t>each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square</a:t>
                </a:r>
                <a:r>
                  <a:rPr lang="it-IT" sz="2000" dirty="0"/>
                  <a:t> bin:</a:t>
                </a:r>
              </a:p>
              <a:p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</a:t>
                </a:r>
                <a:r>
                  <a:rPr lang="it-IT" sz="2000" dirty="0" err="1"/>
                  <a:t>maximizes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blipFill>
                <a:blip r:embed="rId5"/>
                <a:stretch>
                  <a:fillRect l="-2342" t="-924" b="-24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ABD559CF-BD2C-1502-6F8B-FB36F8027603}"/>
              </a:ext>
            </a:extLst>
          </p:cNvPr>
          <p:cNvCxnSpPr>
            <a:cxnSpLocks/>
          </p:cNvCxnSpPr>
          <p:nvPr/>
        </p:nvCxnSpPr>
        <p:spPr>
          <a:xfrm>
            <a:off x="5393267" y="1764543"/>
            <a:ext cx="0" cy="417905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643DCC27-ABDA-24AC-98A5-A793CC17F949}"/>
              </a:ext>
            </a:extLst>
          </p:cNvPr>
          <p:cNvCxnSpPr>
            <a:cxnSpLocks/>
          </p:cNvCxnSpPr>
          <p:nvPr/>
        </p:nvCxnSpPr>
        <p:spPr>
          <a:xfrm>
            <a:off x="5590762" y="1764543"/>
            <a:ext cx="0" cy="417905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B1A2FFA3-AE10-BF56-E55F-8018EA1DA0E5}"/>
              </a:ext>
            </a:extLst>
          </p:cNvPr>
          <p:cNvCxnSpPr>
            <a:cxnSpLocks/>
          </p:cNvCxnSpPr>
          <p:nvPr/>
        </p:nvCxnSpPr>
        <p:spPr>
          <a:xfrm>
            <a:off x="5590762" y="3660685"/>
            <a:ext cx="46502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84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EFCC-47DC-1162-54F2-1B8DF657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6BC2B-5C4B-CD38-A1A5-363F4108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4AF170-F176-9150-4073-05668559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9DEB46-A533-2AC7-392E-2F4478CB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27A459-8A5B-60AF-EF50-B5495304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7D3CE6C-5AA2-896F-F7AB-61E7C827AFD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BF332A9-23E4-43A9-2288-004948EB3BD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37B5CC6-6908-1CBA-19DF-AD28984B32C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84D201-A301-E833-2DD3-94A7118EF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1809" y="1222745"/>
            <a:ext cx="7826453" cy="5253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284AF226-3491-ED5E-32BB-BC47BA62E462}"/>
                  </a:ext>
                </a:extLst>
              </p:cNvPr>
              <p:cNvSpPr txBox="1"/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/>
                  <a:t>For </a:t>
                </a:r>
                <a:r>
                  <a:rPr lang="it-IT" sz="2000" dirty="0" err="1"/>
                  <a:t>each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square</a:t>
                </a:r>
                <a:r>
                  <a:rPr lang="it-IT" sz="2000" dirty="0"/>
                  <a:t> bin:</a:t>
                </a:r>
              </a:p>
              <a:p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</a:t>
                </a:r>
                <a:r>
                  <a:rPr lang="it-IT" sz="2000" dirty="0" err="1"/>
                  <a:t>maximizes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284AF226-3491-ED5E-32BB-BC47BA62E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blipFill>
                <a:blip r:embed="rId3"/>
                <a:stretch>
                  <a:fillRect l="-2342" t="-924" b="-24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2">
            <a:extLst>
              <a:ext uri="{FF2B5EF4-FFF2-40B4-BE49-F238E27FC236}">
                <a16:creationId xmlns:a16="http://schemas.microsoft.com/office/drawing/2014/main" id="{125C8486-5386-1A71-D52D-81CFE52FC7BC}"/>
              </a:ext>
            </a:extLst>
          </p:cNvPr>
          <p:cNvSpPr/>
          <p:nvPr/>
        </p:nvSpPr>
        <p:spPr>
          <a:xfrm>
            <a:off x="7708477" y="1774499"/>
            <a:ext cx="2814320" cy="1229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070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BDE0-9A4C-ABCA-01C9-7988C25D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BD10DC-EC4D-98AB-719C-6095CCE9E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TORSION FIT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F30A1B-8846-D57A-6DE7-942D8D23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2875B2-A575-3706-95CC-1FE0122A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E1C7E8-7F11-8516-768E-7D16E675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BE7E191-B831-828F-0AA7-B2407B503C3F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64DF11-A629-1C99-F77E-8CDCA846E20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76FFD91-9F6F-E5B3-4686-EF6D66C0B10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550C9EC-649A-8699-5F8B-63E2C3150238}"/>
              </a:ext>
            </a:extLst>
          </p:cNvPr>
          <p:cNvSpPr/>
          <p:nvPr/>
        </p:nvSpPr>
        <p:spPr>
          <a:xfrm>
            <a:off x="7708477" y="1774499"/>
            <a:ext cx="2814320" cy="1229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9E58BD3-F24A-2D3A-7718-203594E40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100" y="1813319"/>
            <a:ext cx="5580000" cy="416946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0928946-4D21-E6D2-D16E-FC5952691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20" y="1774499"/>
            <a:ext cx="5580000" cy="416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9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12F6-63F5-4141-FD72-E8BA7788C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F355B4B0-5F18-7546-B2F3-A9AB5CC3E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Crystal </a:t>
            </a:r>
            <a:r>
              <a:rPr lang="it-IT" sz="2400" dirty="0" err="1"/>
              <a:t>efficiency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function of the incoming angle, after </a:t>
            </a:r>
            <a:r>
              <a:rPr lang="it-IT" sz="2400" dirty="0" err="1"/>
              <a:t>application</a:t>
            </a:r>
            <a:r>
              <a:rPr lang="it-IT" sz="2400" dirty="0"/>
              <a:t> of the </a:t>
            </a:r>
            <a:r>
              <a:rPr lang="it-IT" sz="2400" dirty="0" err="1"/>
              <a:t>torsion</a:t>
            </a:r>
            <a:r>
              <a:rPr lang="it-IT" sz="2400" dirty="0"/>
              <a:t> </a:t>
            </a:r>
            <a:r>
              <a:rPr lang="it-IT" sz="2400" dirty="0" err="1"/>
              <a:t>correction</a:t>
            </a:r>
            <a:r>
              <a:rPr lang="it-IT" sz="2400" dirty="0"/>
              <a:t>. The </a:t>
            </a:r>
            <a:r>
              <a:rPr lang="it-IT" sz="2400" dirty="0" err="1"/>
              <a:t>value</a:t>
            </a:r>
            <a:r>
              <a:rPr lang="it-IT" sz="2400" dirty="0"/>
              <a:t> of the </a:t>
            </a:r>
            <a:r>
              <a:rPr lang="it-IT" sz="2400" dirty="0" err="1"/>
              <a:t>peak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efficiency</a:t>
            </a:r>
            <a:r>
              <a:rPr lang="it-IT" sz="2400" dirty="0"/>
              <a:t> of the </a:t>
            </a:r>
            <a:r>
              <a:rPr lang="it-IT" sz="2400" dirty="0" err="1"/>
              <a:t>crystal</a:t>
            </a:r>
            <a:r>
              <a:rPr lang="it-IT" sz="2400" dirty="0"/>
              <a:t> </a:t>
            </a:r>
            <a:r>
              <a:rPr lang="it-IT" sz="2400" dirty="0" err="1"/>
              <a:t>when</a:t>
            </a:r>
            <a:r>
              <a:rPr lang="it-IT" sz="2400" dirty="0"/>
              <a:t> 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perfectly</a:t>
            </a:r>
            <a:r>
              <a:rPr lang="it-IT" sz="2400" dirty="0"/>
              <a:t> </a:t>
            </a:r>
            <a:r>
              <a:rPr lang="it-IT" sz="2400" dirty="0" err="1"/>
              <a:t>aligned</a:t>
            </a:r>
            <a:r>
              <a:rPr lang="it-IT" sz="2400" dirty="0"/>
              <a:t> to the </a:t>
            </a:r>
            <a:r>
              <a:rPr lang="it-IT" sz="2400" dirty="0" err="1"/>
              <a:t>beam</a:t>
            </a:r>
            <a:r>
              <a:rPr lang="it-IT" sz="2400" dirty="0"/>
              <a:t>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F469B1-7566-166A-8479-6314C99F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EFFICIENCY CURVE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83523E-687A-096F-F0E0-118DC344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17B485-6E4A-9B39-EEAB-ABA6041D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62C731-132C-A9A8-2350-36FC9CFA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C685B70-5D44-D30F-3E62-A4E44D8EE7F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C20D92-3260-EA78-C284-63C98AB6F2E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329E853-9158-26DE-0F14-F840A68094E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BB7F94A-BA6E-D8B0-4B00-6462F0911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/>
          <a:stretch>
            <a:fillRect/>
          </a:stretch>
        </p:blipFill>
        <p:spPr>
          <a:xfrm>
            <a:off x="2992774" y="2452841"/>
            <a:ext cx="6204651" cy="404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44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2101</Words>
  <Application>Microsoft Office PowerPoint</Application>
  <PresentationFormat>Widescreen</PresentationFormat>
  <Paragraphs>343</Paragraphs>
  <Slides>30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Tema di Office</vt:lpstr>
      <vt:lpstr>Presentazione standard di PowerPoint</vt:lpstr>
      <vt:lpstr> 1. DATA ANALYZED</vt:lpstr>
      <vt:lpstr> 1. SCHEMATIC LAYOUT</vt:lpstr>
      <vt:lpstr> 2. PREVIOUS ANALYSIS</vt:lpstr>
      <vt:lpstr> 2. PREVIOUS ANALYSIS: ALIGNMENT</vt:lpstr>
      <vt:lpstr> BACKUP SLIDES: ALIGNMENT</vt:lpstr>
      <vt:lpstr> 2. PREVIOUS ANALYSIS: CRYSTAL EDGES</vt:lpstr>
      <vt:lpstr> 2. PREVIOUS ANALYSIS: CRYSTAL EDGES</vt:lpstr>
      <vt:lpstr> 2. PREVIOUS ANALYSIS: CRYSTAL EDGES</vt:lpstr>
      <vt:lpstr> 2. PREVIOUS ANALYSIS: CRYSTAL EDGES</vt:lpstr>
      <vt:lpstr> 3. ANALYSIS: ANGLE CORRECTION</vt:lpstr>
      <vt:lpstr> 3. ANALYSIS: TORSION EFFECT</vt:lpstr>
      <vt:lpstr> 3. ANALYSIS: TORSION EFFECT</vt:lpstr>
      <vt:lpstr> 3. ANALYSIS: TORSION FIT</vt:lpstr>
      <vt:lpstr> 3. ANALYSIS: TORSION EFFECT</vt:lpstr>
      <vt:lpstr> 3. ANALYSIS: TORSION FIT</vt:lpstr>
      <vt:lpstr> 3. ANALYSIS: EFFICIENCY CURVE</vt:lpstr>
      <vt:lpstr> 3. ANALYSIS</vt:lpstr>
      <vt:lpstr> 3. ANALYSIS</vt:lpstr>
      <vt:lpstr> 4. RESULTS</vt:lpstr>
      <vt:lpstr> 4. RESULTS</vt:lpstr>
      <vt:lpstr> 4. RESULTS</vt:lpstr>
      <vt:lpstr> BACKUP SLIDES</vt:lpstr>
      <vt:lpstr> BACKUP SLIDES: SCHEMATIC LAYOUT 2</vt:lpstr>
      <vt:lpstr> BACKUP SLIDES: ALIGNMENT</vt:lpstr>
      <vt:lpstr> BACKUP SLIDES: SPATIAL CUT</vt:lpstr>
      <vt:lpstr> BACKUP SLIDES: ANGLE SELECTION</vt:lpstr>
      <vt:lpstr> BACKUP SLIDES: ANGLE SELECTION</vt:lpstr>
      <vt:lpstr> BACKUP SLIDES: TORSION FIT</vt:lpstr>
      <vt:lpstr> BACKUP SLIDES: EFFICIENCY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27</cp:revision>
  <dcterms:created xsi:type="dcterms:W3CDTF">2026-07-09T15:21:04Z</dcterms:created>
  <dcterms:modified xsi:type="dcterms:W3CDTF">2026-07-23T13:54:03Z</dcterms:modified>
</cp:coreProperties>
</file>