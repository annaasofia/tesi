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88" r:id="rId4"/>
    <p:sldId id="289" r:id="rId5"/>
    <p:sldId id="291" r:id="rId6"/>
    <p:sldId id="293" r:id="rId7"/>
    <p:sldId id="292" r:id="rId8"/>
    <p:sldId id="297" r:id="rId9"/>
    <p:sldId id="295" r:id="rId10"/>
    <p:sldId id="299" r:id="rId11"/>
    <p:sldId id="298" r:id="rId12"/>
    <p:sldId id="303" r:id="rId13"/>
    <p:sldId id="314" r:id="rId14"/>
    <p:sldId id="315" r:id="rId15"/>
    <p:sldId id="301" r:id="rId16"/>
    <p:sldId id="308" r:id="rId17"/>
    <p:sldId id="304" r:id="rId18"/>
    <p:sldId id="309" r:id="rId19"/>
    <p:sldId id="305" r:id="rId20"/>
    <p:sldId id="311" r:id="rId21"/>
    <p:sldId id="310" r:id="rId22"/>
    <p:sldId id="306" r:id="rId23"/>
    <p:sldId id="307" r:id="rId24"/>
    <p:sldId id="312" r:id="rId25"/>
    <p:sldId id="313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2493" autoAdjust="0"/>
  </p:normalViewPr>
  <p:slideViewPr>
    <p:cSldViewPr snapToGrid="0">
      <p:cViewPr varScale="1">
        <p:scale>
          <a:sx n="53" d="100"/>
          <a:sy n="53" d="100"/>
        </p:scale>
        <p:origin x="105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a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we </a:t>
            </a:r>
            <a:r>
              <a:rPr lang="it-IT" dirty="0" err="1"/>
              <a:t>refer</a:t>
            </a:r>
            <a:r>
              <a:rPr lang="it-IT" dirty="0"/>
              <a:t> to </a:t>
            </a:r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1 and </a:t>
            </a:r>
            <a:r>
              <a:rPr lang="it-IT" dirty="0" err="1"/>
              <a:t>crystal</a:t>
            </a:r>
            <a:r>
              <a:rPr lang="it-IT" dirty="0"/>
              <a:t> 2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Before</a:t>
            </a:r>
            <a:r>
              <a:rPr lang="it-IT" dirty="0"/>
              <a:t> </a:t>
            </a:r>
            <a:r>
              <a:rPr lang="it-IT" dirty="0" err="1"/>
              <a:t>diving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</a:t>
            </a:r>
            <a:r>
              <a:rPr lang="it-IT" dirty="0" err="1"/>
              <a:t>several</a:t>
            </a:r>
            <a:r>
              <a:rPr lang="it-IT" dirty="0"/>
              <a:t>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steps. </a:t>
            </a:r>
          </a:p>
          <a:p>
            <a:r>
              <a:rPr lang="it-IT" dirty="0"/>
              <a:t>Next, </a:t>
            </a:r>
            <a:r>
              <a:rPr lang="it-IT" dirty="0" err="1"/>
              <a:t>because</a:t>
            </a:r>
            <a:r>
              <a:rPr lang="it-IT" dirty="0"/>
              <a:t> the relative </a:t>
            </a:r>
            <a:r>
              <a:rPr lang="it-IT" dirty="0" err="1"/>
              <a:t>beam</a:t>
            </a:r>
            <a:r>
              <a:rPr lang="it-IT" dirty="0"/>
              <a:t> position was </a:t>
            </a:r>
            <a:r>
              <a:rPr lang="it-IT" dirty="0" err="1"/>
              <a:t>unknown</a:t>
            </a:r>
            <a:r>
              <a:rPr lang="it-IT" dirty="0"/>
              <a:t>, we </a:t>
            </a:r>
            <a:r>
              <a:rPr lang="it-IT" dirty="0" err="1"/>
              <a:t>had</a:t>
            </a:r>
            <a:r>
              <a:rPr lang="it-IT" dirty="0"/>
              <a:t> to </a:t>
            </a:r>
            <a:r>
              <a:rPr lang="it-IT" dirty="0" err="1"/>
              <a:t>algorithmically</a:t>
            </a:r>
            <a:r>
              <a:rPr lang="it-IT" dirty="0"/>
              <a:t> </a:t>
            </a:r>
            <a:r>
              <a:rPr lang="it-IT" dirty="0" err="1"/>
              <a:t>identify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</a:t>
            </a:r>
            <a:r>
              <a:rPr lang="it-IT" dirty="0" err="1"/>
              <a:t>edges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to validate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entered</a:t>
            </a:r>
            <a:r>
              <a:rPr lang="it-IT" dirty="0"/>
              <a:t> it. 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99207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To </a:t>
            </a:r>
            <a:r>
              <a:rPr lang="it-IT" dirty="0" err="1"/>
              <a:t>define</a:t>
            </a:r>
            <a:r>
              <a:rPr lang="it-IT" dirty="0"/>
              <a:t>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we </a:t>
            </a:r>
            <a:r>
              <a:rPr lang="it-IT" dirty="0" err="1"/>
              <a:t>looked</a:t>
            </a:r>
            <a:r>
              <a:rPr lang="it-IT" dirty="0"/>
              <a:t> </a:t>
            </a:r>
            <a:r>
              <a:rPr lang="it-IT" dirty="0" err="1"/>
              <a:t>specifically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r>
              <a:rPr lang="it-IT" dirty="0"/>
              <a:t>The impact points of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revealed</a:t>
            </a:r>
            <a:r>
              <a:rPr lang="it-IT" dirty="0"/>
              <a:t> the </a:t>
            </a:r>
            <a:r>
              <a:rPr lang="it-IT" dirty="0" err="1"/>
              <a:t>physical</a:t>
            </a:r>
            <a:r>
              <a:rPr lang="it-IT" dirty="0"/>
              <a:t> location of the </a:t>
            </a:r>
            <a:r>
              <a:rPr lang="it-IT" dirty="0" err="1"/>
              <a:t>crystal</a:t>
            </a:r>
            <a:r>
              <a:rPr lang="it-IT" dirty="0"/>
              <a:t>, matching </a:t>
            </a:r>
            <a:r>
              <a:rPr lang="it-IT" dirty="0" err="1"/>
              <a:t>its</a:t>
            </a:r>
            <a:r>
              <a:rPr lang="it-IT" dirty="0"/>
              <a:t> </a:t>
            </a:r>
            <a:r>
              <a:rPr lang="it-IT" dirty="0" err="1"/>
              <a:t>expected</a:t>
            </a:r>
            <a:r>
              <a:rPr lang="it-IT" dirty="0"/>
              <a:t> </a:t>
            </a:r>
            <a:r>
              <a:rPr lang="it-IT" dirty="0" err="1"/>
              <a:t>dimensions</a:t>
            </a:r>
            <a:r>
              <a:rPr lang="it-IT" dirty="0"/>
              <a:t> of 2 by 8 </a:t>
            </a:r>
            <a:r>
              <a:rPr lang="it-IT" dirty="0" err="1"/>
              <a:t>millimeters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1211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As</a:t>
            </a:r>
            <a:r>
              <a:rPr lang="it-IT" dirty="0"/>
              <a:t> </a:t>
            </a:r>
            <a:r>
              <a:rPr lang="it-IT" dirty="0" err="1"/>
              <a:t>you</a:t>
            </a:r>
            <a:r>
              <a:rPr lang="it-IT" dirty="0"/>
              <a:t> can </a:t>
            </a:r>
            <a:r>
              <a:rPr lang="it-IT" dirty="0" err="1"/>
              <a:t>see</a:t>
            </a:r>
            <a:r>
              <a:rPr lang="it-IT" dirty="0"/>
              <a:t>,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essentially</a:t>
            </a:r>
            <a:r>
              <a:rPr lang="it-IT" dirty="0"/>
              <a:t> zero—with an x-offset of 0.003 </a:t>
            </a:r>
            <a:r>
              <a:rPr lang="it-IT" dirty="0" err="1"/>
              <a:t>millimeters</a:t>
            </a:r>
            <a:r>
              <a:rPr lang="it-IT" dirty="0"/>
              <a:t> and a y-offset of 0.004 </a:t>
            </a:r>
            <a:r>
              <a:rPr lang="it-IT" dirty="0" err="1"/>
              <a:t>millimeters</a:t>
            </a:r>
            <a:r>
              <a:rPr lang="it-IT" dirty="0"/>
              <a:t>,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dirty="0" err="1"/>
              <a:t>showing</a:t>
            </a:r>
            <a:r>
              <a:rPr lang="it-IT" dirty="0"/>
              <a:t> a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near</a:t>
            </a:r>
            <a:r>
              <a:rPr lang="it-IT" dirty="0"/>
              <a:t> zero.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0237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crucial</a:t>
            </a:r>
            <a:r>
              <a:rPr lang="it-IT" dirty="0"/>
              <a:t> part of this </a:t>
            </a:r>
            <a:r>
              <a:rPr lang="it-IT" dirty="0" err="1"/>
              <a:t>analysis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angle </a:t>
            </a:r>
            <a:r>
              <a:rPr lang="it-IT" dirty="0" err="1"/>
              <a:t>correction</a:t>
            </a:r>
            <a:r>
              <a:rPr lang="it-IT" dirty="0"/>
              <a:t>. In long </a:t>
            </a:r>
            <a:r>
              <a:rPr lang="it-IT" dirty="0" err="1"/>
              <a:t>crystals</a:t>
            </a:r>
            <a:r>
              <a:rPr lang="it-IT" dirty="0"/>
              <a:t> </a:t>
            </a:r>
            <a:r>
              <a:rPr lang="it-IT" dirty="0" err="1"/>
              <a:t>structural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non-</a:t>
            </a:r>
            <a:r>
              <a:rPr lang="it-IT" dirty="0" err="1"/>
              <a:t>negligible</a:t>
            </a:r>
            <a:r>
              <a:rPr lang="it-IT" dirty="0"/>
              <a:t> and must be </a:t>
            </a:r>
            <a:r>
              <a:rPr lang="it-IT" dirty="0" err="1"/>
              <a:t>incorporated</a:t>
            </a:r>
            <a:r>
              <a:rPr lang="it-IT" dirty="0"/>
              <a:t>. The </a:t>
            </a:r>
            <a:r>
              <a:rPr lang="it-IT" dirty="0" err="1"/>
              <a:t>varying</a:t>
            </a:r>
            <a:r>
              <a:rPr lang="it-IT" dirty="0"/>
              <a:t> </a:t>
            </a:r>
            <a:r>
              <a:rPr lang="it-IT" dirty="0" err="1"/>
              <a:t>orientations</a:t>
            </a:r>
            <a:r>
              <a:rPr lang="it-IT" dirty="0"/>
              <a:t> of the </a:t>
            </a:r>
            <a:r>
              <a:rPr lang="it-IT" dirty="0" err="1"/>
              <a:t>crystallographic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</a:t>
            </a:r>
            <a:r>
              <a:rPr lang="it-IT" dirty="0" err="1"/>
              <a:t>along</a:t>
            </a:r>
            <a:r>
              <a:rPr lang="it-IT" dirty="0"/>
              <a:t> the front </a:t>
            </a:r>
            <a:r>
              <a:rPr lang="it-IT" dirty="0" err="1"/>
              <a:t>surface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range in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can be </a:t>
            </a:r>
            <a:r>
              <a:rPr lang="it-IT" dirty="0" err="1"/>
              <a:t>channeled</a:t>
            </a:r>
            <a:r>
              <a:rPr lang="it-IT" dirty="0"/>
              <a:t>. To </a:t>
            </a:r>
            <a:r>
              <a:rPr lang="it-IT" dirty="0" err="1"/>
              <a:t>correct</a:t>
            </a:r>
            <a:r>
              <a:rPr lang="it-IT" dirty="0"/>
              <a:t> this, we </a:t>
            </a:r>
            <a:r>
              <a:rPr lang="it-IT" dirty="0" err="1"/>
              <a:t>couldn't</a:t>
            </a:r>
            <a:r>
              <a:rPr lang="it-IT" dirty="0"/>
              <a:t> just </a:t>
            </a:r>
            <a:r>
              <a:rPr lang="it-IT" dirty="0" err="1"/>
              <a:t>apply</a:t>
            </a:r>
            <a:r>
              <a:rPr lang="it-IT" dirty="0"/>
              <a:t> a single </a:t>
            </a:r>
            <a:r>
              <a:rPr lang="it-IT" dirty="0" err="1"/>
              <a:t>angular</a:t>
            </a:r>
            <a:r>
              <a:rPr lang="it-IT" dirty="0"/>
              <a:t> shift </a:t>
            </a:r>
            <a:r>
              <a:rPr lang="it-IT" dirty="0" err="1"/>
              <a:t>parameter</a:t>
            </a:r>
            <a:r>
              <a:rPr lang="it-IT" dirty="0"/>
              <a:t>, theta-zero. </a:t>
            </a:r>
            <a:r>
              <a:rPr lang="it-IT" dirty="0" err="1"/>
              <a:t>Instead</a:t>
            </a:r>
            <a:r>
              <a:rPr lang="it-IT" dirty="0"/>
              <a:t>, we </a:t>
            </a:r>
            <a:r>
              <a:rPr lang="it-IT" dirty="0" err="1"/>
              <a:t>performed</a:t>
            </a:r>
            <a:r>
              <a:rPr lang="it-IT" dirty="0"/>
              <a:t> a </a:t>
            </a:r>
            <a:r>
              <a:rPr lang="it-IT" dirty="0" err="1"/>
              <a:t>checkerboard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dividing</a:t>
            </a:r>
            <a:r>
              <a:rPr lang="it-IT" dirty="0"/>
              <a:t> the data sample </a:t>
            </a:r>
            <a:r>
              <a:rPr lang="it-IT" dirty="0" err="1"/>
              <a:t>into</a:t>
            </a:r>
            <a:r>
              <a:rPr lang="it-IT" dirty="0"/>
              <a:t> 0.1 by 0.1 </a:t>
            </a:r>
            <a:r>
              <a:rPr lang="it-IT" dirty="0" err="1"/>
              <a:t>millimeter</a:t>
            </a:r>
            <a:r>
              <a:rPr lang="it-IT" dirty="0"/>
              <a:t> </a:t>
            </a:r>
            <a:r>
              <a:rPr lang="it-IT" dirty="0" err="1"/>
              <a:t>square</a:t>
            </a:r>
            <a:r>
              <a:rPr lang="it-IT" dirty="0"/>
              <a:t> </a:t>
            </a:r>
            <a:r>
              <a:rPr lang="it-IT" dirty="0" err="1"/>
              <a:t>bins</a:t>
            </a:r>
            <a:r>
              <a:rPr lang="it-IT" dirty="0"/>
              <a:t>. By </a:t>
            </a:r>
            <a:r>
              <a:rPr lang="it-IT" dirty="0" err="1"/>
              <a:t>varying</a:t>
            </a:r>
            <a:r>
              <a:rPr lang="it-IT" dirty="0"/>
              <a:t> the </a:t>
            </a:r>
            <a:r>
              <a:rPr lang="it-IT" dirty="0" err="1"/>
              <a:t>angular</a:t>
            </a:r>
            <a:r>
              <a:rPr lang="it-IT" dirty="0"/>
              <a:t> shift to </a:t>
            </a:r>
            <a:r>
              <a:rPr lang="it-IT" dirty="0" err="1"/>
              <a:t>find</a:t>
            </a:r>
            <a:r>
              <a:rPr lang="it-IT" dirty="0"/>
              <a:t>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bin, we </a:t>
            </a:r>
            <a:r>
              <a:rPr lang="it-IT" dirty="0" err="1"/>
              <a:t>generated</a:t>
            </a:r>
            <a:r>
              <a:rPr lang="it-IT" dirty="0"/>
              <a:t> a 2D </a:t>
            </a:r>
            <a:r>
              <a:rPr lang="it-IT" dirty="0" err="1"/>
              <a:t>map</a:t>
            </a:r>
            <a:r>
              <a:rPr lang="it-IT" dirty="0"/>
              <a:t> of the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across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02540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12868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F93E-775B-2F74-BEF9-33B0FF0DE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71DE8F-15E4-6CE3-9DC2-6294588A6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EF09B94-AEB7-2B7C-2B68-C2A03603A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BADFF1F-2340-14F4-C46D-4A88A14F8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92216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want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use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simplest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 that can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accurately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data,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so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that it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hides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actual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physics</a:t>
            </a:r>
            <a:r>
              <a:rPr lang="it-IT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8983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326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</a:t>
            </a:r>
            <a:r>
              <a:rPr lang="it-IT" dirty="0" err="1"/>
              <a:t>only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, we </a:t>
            </a:r>
            <a:r>
              <a:rPr lang="it-IT" dirty="0" err="1"/>
              <a:t>ensured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possible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 by </a:t>
            </a:r>
            <a:r>
              <a:rPr lang="it-IT" dirty="0" err="1"/>
              <a:t>excluding</a:t>
            </a:r>
            <a:r>
              <a:rPr lang="it-IT" dirty="0"/>
              <a:t> </a:t>
            </a:r>
            <a:r>
              <a:rPr lang="it-IT" dirty="0" err="1"/>
              <a:t>any</a:t>
            </a:r>
            <a:r>
              <a:rPr lang="it-IT" dirty="0"/>
              <a:t> </a:t>
            </a:r>
            <a:r>
              <a:rPr lang="it-IT" dirty="0" err="1"/>
              <a:t>contribution</a:t>
            </a:r>
            <a:r>
              <a:rPr lang="it-IT" dirty="0"/>
              <a:t> from </a:t>
            </a:r>
            <a:r>
              <a:rPr lang="it-IT" dirty="0" err="1"/>
              <a:t>dechanneled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1551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CONSISTENT ACROSS DIFFERENT RUNS FOR THE SAME CRYSTALS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920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The second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exhibited</a:t>
            </a:r>
            <a:r>
              <a:rPr lang="it-IT" dirty="0"/>
              <a:t> a </a:t>
            </a:r>
            <a:r>
              <a:rPr lang="it-IT" dirty="0" err="1"/>
              <a:t>slightly</a:t>
            </a:r>
            <a:r>
              <a:rPr lang="it-IT" dirty="0"/>
              <a:t> </a:t>
            </a:r>
            <a:r>
              <a:rPr lang="it-IT" dirty="0" err="1"/>
              <a:t>lower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parameter</a:t>
            </a:r>
            <a:r>
              <a:rPr lang="it-IT" dirty="0"/>
              <a:t> of </a:t>
            </a:r>
            <a:r>
              <a:rPr lang="it-IT" dirty="0" err="1"/>
              <a:t>about</a:t>
            </a:r>
            <a:r>
              <a:rPr lang="it-IT" dirty="0"/>
              <a:t> 2.9 </a:t>
            </a:r>
            <a:r>
              <a:rPr lang="it-IT" dirty="0" err="1"/>
              <a:t>microradians</a:t>
            </a:r>
            <a:r>
              <a:rPr lang="it-IT" dirty="0"/>
              <a:t> per </a:t>
            </a:r>
            <a:r>
              <a:rPr lang="it-IT" dirty="0" err="1"/>
              <a:t>millimeter</a:t>
            </a:r>
            <a:r>
              <a:rPr lang="it-IT" dirty="0"/>
              <a:t>, </a:t>
            </a:r>
            <a:r>
              <a:rPr lang="it-IT" dirty="0" err="1"/>
              <a:t>yielding</a:t>
            </a:r>
            <a:r>
              <a:rPr lang="it-IT" dirty="0"/>
              <a:t> an </a:t>
            </a:r>
            <a:r>
              <a:rPr lang="it-IT" dirty="0" err="1"/>
              <a:t>efficiency</a:t>
            </a:r>
            <a:r>
              <a:rPr lang="it-IT" dirty="0"/>
              <a:t> of </a:t>
            </a:r>
            <a:r>
              <a:rPr lang="it-IT" dirty="0" err="1"/>
              <a:t>roughly</a:t>
            </a:r>
            <a:r>
              <a:rPr lang="it-IT"/>
              <a:t> 17.9%.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8418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dividing</a:t>
            </a:r>
            <a:r>
              <a:rPr lang="it-IT" dirty="0"/>
              <a:t> data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subsamples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particle</a:t>
            </a:r>
            <a:r>
              <a:rPr lang="it-IT" dirty="0"/>
              <a:t> impact position on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surface</a:t>
            </a:r>
            <a:r>
              <a:rPr lang="it-IT" dirty="0"/>
              <a:t>.</a:t>
            </a:r>
          </a:p>
          <a:p>
            <a:r>
              <a:rPr lang="it-IT" dirty="0"/>
              <a:t>this </a:t>
            </a:r>
            <a:r>
              <a:rPr lang="it-IT" dirty="0" err="1"/>
              <a:t>allows</a:t>
            </a:r>
            <a:r>
              <a:rPr lang="it-IT" dirty="0"/>
              <a:t> </a:t>
            </a:r>
            <a:r>
              <a:rPr lang="it-IT" dirty="0" err="1"/>
              <a:t>identifying</a:t>
            </a:r>
            <a:r>
              <a:rPr lang="it-IT" dirty="0"/>
              <a:t> the </a:t>
            </a:r>
            <a:r>
              <a:rPr lang="it-IT" dirty="0" err="1"/>
              <a:t>orientation</a:t>
            </a:r>
            <a:r>
              <a:rPr lang="it-IT" dirty="0"/>
              <a:t> with the maximum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, </a:t>
            </a:r>
            <a:r>
              <a:rPr lang="it-IT" dirty="0" err="1"/>
              <a:t>corresponding</a:t>
            </a:r>
            <a:r>
              <a:rPr lang="it-IT" dirty="0"/>
              <a:t> to the </a:t>
            </a:r>
            <a:r>
              <a:rPr lang="it-IT" dirty="0" err="1"/>
              <a:t>orientation</a:t>
            </a:r>
            <a:r>
              <a:rPr lang="it-IT" dirty="0"/>
              <a:t> of the </a:t>
            </a:r>
            <a:r>
              <a:rPr lang="it-IT" dirty="0" err="1"/>
              <a:t>channeling</a:t>
            </a:r>
            <a:r>
              <a:rPr lang="it-IT" dirty="0"/>
              <a:t> </a:t>
            </a:r>
            <a:r>
              <a:rPr lang="it-IT" dirty="0" err="1"/>
              <a:t>planes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/>
              <a:t>.</a:t>
            </a:r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1900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r>
              <a:rPr lang="it-IT" sz="3000" b="1" dirty="0" err="1">
                <a:solidFill>
                  <a:schemeClr val="bg1"/>
                </a:solidFill>
              </a:rPr>
              <a:t>Methodology</a:t>
            </a:r>
            <a:r>
              <a:rPr lang="it-IT" sz="3000" b="1" dirty="0">
                <a:solidFill>
                  <a:schemeClr val="bg1"/>
                </a:solidFill>
              </a:rPr>
              <a:t>, </a:t>
            </a:r>
            <a:r>
              <a:rPr lang="it-IT" sz="3000" b="1" dirty="0" err="1">
                <a:solidFill>
                  <a:schemeClr val="bg1"/>
                </a:solidFill>
              </a:rPr>
              <a:t>Corrections</a:t>
            </a:r>
            <a:r>
              <a:rPr lang="it-IT" sz="3000" b="1" dirty="0">
                <a:solidFill>
                  <a:schemeClr val="bg1"/>
                </a:solidFill>
              </a:rPr>
              <a:t>, and </a:t>
            </a:r>
            <a:r>
              <a:rPr lang="it-IT" sz="3000" b="1" dirty="0" err="1">
                <a:solidFill>
                  <a:schemeClr val="bg1"/>
                </a:solidFill>
              </a:rPr>
              <a:t>Results</a:t>
            </a:r>
            <a:endParaRPr lang="it-IT" sz="3000" b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5842337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1. DATA ANALYZED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Analysis of 2024 dataset for </a:t>
            </a:r>
            <a:r>
              <a:rPr lang="it-IT" dirty="0" err="1"/>
              <a:t>two</a:t>
            </a:r>
            <a:r>
              <a:rPr lang="it-IT" dirty="0"/>
              <a:t> long </a:t>
            </a:r>
            <a:r>
              <a:rPr lang="it-IT" dirty="0" err="1"/>
              <a:t>crystals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LHCTBMCP0001-0001: </a:t>
            </a:r>
            <a:r>
              <a:rPr lang="it-IT" sz="2800" dirty="0" err="1"/>
              <a:t>runs</a:t>
            </a:r>
            <a:r>
              <a:rPr lang="it-IT" sz="2800" dirty="0"/>
              <a:t> 8430, 8431, 8650</a:t>
            </a:r>
          </a:p>
          <a:p>
            <a:pPr lvl="1"/>
            <a:r>
              <a:rPr lang="it-IT" sz="2800" dirty="0"/>
              <a:t>LHCTBMCP0001-0002: </a:t>
            </a:r>
            <a:r>
              <a:rPr lang="it-IT" sz="2800" dirty="0" err="1"/>
              <a:t>runs</a:t>
            </a:r>
            <a:r>
              <a:rPr lang="it-IT" sz="2800" dirty="0"/>
              <a:t> 8655, 8656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 err="1"/>
              <a:t>Configuration</a:t>
            </a:r>
            <a:r>
              <a:rPr lang="it-IT" dirty="0"/>
              <a:t>:</a:t>
            </a:r>
          </a:p>
          <a:p>
            <a:pPr lvl="1"/>
            <a:r>
              <a:rPr lang="it-IT" sz="2800" dirty="0"/>
              <a:t>Central </a:t>
            </a:r>
            <a:r>
              <a:rPr lang="it-IT" sz="2800" dirty="0" err="1"/>
              <a:t>goniometer</a:t>
            </a:r>
            <a:endParaRPr lang="it-IT" sz="2800" dirty="0"/>
          </a:p>
          <a:p>
            <a:pPr lvl="1"/>
            <a:r>
              <a:rPr lang="it-IT" sz="2800" dirty="0"/>
              <a:t>Energy 180 GeV/c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46C03-C17C-AEAA-D887-38CCF92B8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608CAC-1F68-0C88-4244-272414C6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A25536D-7111-A337-4A80-1121C3ADFC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E6A61F-24FB-7FB6-1293-7D66A9D4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AB8F59-E042-224D-F2F1-1DD90473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5E83E0-5A06-1EC3-F9AB-B6890923D60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7C8EAC19-DE60-A74A-0B70-C847AF0A1698}"/>
              </a:ext>
            </a:extLst>
          </p:cNvPr>
          <p:cNvSpPr/>
          <p:nvPr/>
        </p:nvSpPr>
        <p:spPr>
          <a:xfrm>
            <a:off x="696000" y="1497271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SELECT SINGLE TRACKS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 err="1">
                <a:solidFill>
                  <a:schemeClr val="tx1"/>
                </a:solidFill>
              </a:rPr>
              <a:t>Selection</a:t>
            </a:r>
            <a:r>
              <a:rPr lang="it-IT" sz="2000" dirty="0">
                <a:solidFill>
                  <a:schemeClr val="tx1"/>
                </a:solidFill>
              </a:rPr>
              <a:t> of single tracks to eliminate multi-scattering events and multi-hit events (pile-up </a:t>
            </a:r>
            <a:r>
              <a:rPr lang="it-IT" sz="2000" dirty="0" err="1">
                <a:solidFill>
                  <a:schemeClr val="tx1"/>
                </a:solidFill>
              </a:rPr>
              <a:t>effect</a:t>
            </a:r>
            <a:r>
              <a:rPr lang="it-IT" sz="2000" dirty="0">
                <a:solidFill>
                  <a:schemeClr val="tx1"/>
                </a:solidFill>
              </a:rPr>
              <a:t>) from the dataset.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736CE16-710C-E676-D6C0-9088D0D676F0}"/>
              </a:ext>
            </a:extLst>
          </p:cNvPr>
          <p:cNvSpPr/>
          <p:nvPr/>
        </p:nvSpPr>
        <p:spPr>
          <a:xfrm>
            <a:off x="4328122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PARTICLE ENTRY</a:t>
            </a:r>
          </a:p>
          <a:p>
            <a:pPr algn="ctr"/>
            <a:endParaRPr lang="it-IT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Validation of which particles successfully entered the crystal.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Since we do not know the relative beam position: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algorithmic identification of the physical crystal edges based on interaction density profiles.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F0A19BB-1D24-2DB7-870C-4A534AE82EC6}"/>
              </a:ext>
            </a:extLst>
          </p:cNvPr>
          <p:cNvSpPr/>
          <p:nvPr/>
        </p:nvSpPr>
        <p:spPr>
          <a:xfrm>
            <a:off x="7960244" y="1497270"/>
            <a:ext cx="3535758" cy="4791701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DETECTOR ALIGNMENT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Ensuring precision and the alignment of the detectors.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Any misalignment between tracking planes corrupts the angular measurements, necessitating corrections.</a:t>
            </a:r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4" name="Elemento grafico 13" descr="Cerchi con linee con riempimento a tinta unita">
            <a:extLst>
              <a:ext uri="{FF2B5EF4-FFF2-40B4-BE49-F238E27FC236}">
                <a16:creationId xmlns:a16="http://schemas.microsoft.com/office/drawing/2014/main" id="{8D389B79-1EBE-FB00-8C61-684097C83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3879" y="1860574"/>
            <a:ext cx="540000" cy="540000"/>
          </a:xfrm>
          <a:prstGeom prst="rect">
            <a:avLst/>
          </a:prstGeom>
        </p:spPr>
      </p:pic>
      <p:pic>
        <p:nvPicPr>
          <p:cNvPr id="16" name="Elemento grafico 15" descr="Design dei livelli con riempimento a tinta unita">
            <a:extLst>
              <a:ext uri="{FF2B5EF4-FFF2-40B4-BE49-F238E27FC236}">
                <a16:creationId xmlns:a16="http://schemas.microsoft.com/office/drawing/2014/main" id="{5A4C15CB-93B3-50BA-8818-6D309B188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58123" y="1860574"/>
            <a:ext cx="540000" cy="540000"/>
          </a:xfrm>
          <a:prstGeom prst="rect">
            <a:avLst/>
          </a:prstGeom>
        </p:spPr>
      </p:pic>
      <p:pic>
        <p:nvPicPr>
          <p:cNvPr id="18" name="Elemento grafico 17" descr="Selezione posta in arrivo con riempimento a tinta unita">
            <a:extLst>
              <a:ext uri="{FF2B5EF4-FFF2-40B4-BE49-F238E27FC236}">
                <a16:creationId xmlns:a16="http://schemas.microsoft.com/office/drawing/2014/main" id="{5840FC33-6BD7-32E5-1BCF-20F59009E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25100" y="186057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46FA-DC91-D1E6-7C77-41DC8D02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57F4CA-D5FD-4459-489A-10A7EEB52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3E1616-7B8B-98E7-3A85-9E285091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66834" cy="47762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000" dirty="0"/>
              <a:t>To </a:t>
            </a:r>
            <a:r>
              <a:rPr lang="it-IT" sz="2000" dirty="0" err="1"/>
              <a:t>select</a:t>
            </a:r>
            <a:r>
              <a:rPr lang="it-IT" sz="2000" dirty="0"/>
              <a:t> the </a:t>
            </a:r>
            <a:r>
              <a:rPr lang="it-IT" sz="2000" dirty="0" err="1"/>
              <a:t>particles</a:t>
            </a:r>
            <a:r>
              <a:rPr lang="it-IT" sz="2000" dirty="0"/>
              <a:t> that </a:t>
            </a:r>
            <a:r>
              <a:rPr lang="it-IT" sz="2000" dirty="0" err="1"/>
              <a:t>actually</a:t>
            </a:r>
            <a:r>
              <a:rPr lang="it-IT" sz="2000" dirty="0"/>
              <a:t> </a:t>
            </a:r>
            <a:r>
              <a:rPr lang="it-IT" sz="2000" dirty="0" err="1"/>
              <a:t>enter</a:t>
            </a:r>
            <a:r>
              <a:rPr lang="it-IT" sz="2000" dirty="0"/>
              <a:t> the </a:t>
            </a:r>
            <a:r>
              <a:rPr lang="it-IT" sz="2000" dirty="0" err="1"/>
              <a:t>crystal</a:t>
            </a:r>
            <a:r>
              <a:rPr lang="it-IT" sz="2000" dirty="0"/>
              <a:t> we first </a:t>
            </a:r>
            <a:r>
              <a:rPr lang="it-IT" sz="2000" dirty="0" err="1"/>
              <a:t>need</a:t>
            </a:r>
            <a:r>
              <a:rPr lang="it-IT" sz="2000" dirty="0"/>
              <a:t> to know the position of the </a:t>
            </a:r>
            <a:r>
              <a:rPr lang="it-IT" sz="2000" dirty="0" err="1"/>
              <a:t>crystal</a:t>
            </a:r>
            <a:r>
              <a:rPr lang="it-IT" sz="2000" dirty="0"/>
              <a:t> with </a:t>
            </a:r>
            <a:r>
              <a:rPr lang="it-IT" sz="2000" dirty="0" err="1"/>
              <a:t>respect</a:t>
            </a:r>
            <a:r>
              <a:rPr lang="it-IT" sz="2000" dirty="0"/>
              <a:t> to the </a:t>
            </a:r>
            <a:r>
              <a:rPr lang="it-IT" sz="2000" dirty="0" err="1"/>
              <a:t>beam</a:t>
            </a:r>
            <a:r>
              <a:rPr lang="it-IT" sz="2000" dirty="0"/>
              <a:t>.</a:t>
            </a:r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1600" dirty="0"/>
          </a:p>
          <a:p>
            <a:pPr marL="0" indent="0">
              <a:buNone/>
            </a:pPr>
            <a:endParaRPr lang="it-IT" sz="2000" dirty="0"/>
          </a:p>
          <a:p>
            <a:pPr marL="0" indent="0">
              <a:buNone/>
            </a:pPr>
            <a:r>
              <a:rPr lang="it-IT" sz="2000" dirty="0"/>
              <a:t>We </a:t>
            </a:r>
            <a:r>
              <a:rPr lang="it-IT" sz="2000" dirty="0" err="1"/>
              <a:t>then</a:t>
            </a:r>
            <a:r>
              <a:rPr lang="it-IT" sz="2000" dirty="0"/>
              <a:t> look </a:t>
            </a:r>
            <a:r>
              <a:rPr lang="it-IT" sz="2000" dirty="0" err="1"/>
              <a:t>at</a:t>
            </a:r>
            <a:r>
              <a:rPr lang="it-IT" sz="2000" dirty="0"/>
              <a:t> </a:t>
            </a:r>
            <a:r>
              <a:rPr lang="it-IT" sz="2000" dirty="0" err="1"/>
              <a:t>channeled</a:t>
            </a:r>
            <a:r>
              <a:rPr lang="it-IT" sz="2000" dirty="0"/>
              <a:t> </a:t>
            </a:r>
            <a:r>
              <a:rPr lang="it-IT" sz="2000" dirty="0" err="1"/>
              <a:t>particles</a:t>
            </a:r>
            <a:r>
              <a:rPr lang="it-IT" sz="2000" dirty="0"/>
              <a:t> </a:t>
            </a:r>
            <a:r>
              <a:rPr lang="it-IT" sz="2000" dirty="0" err="1"/>
              <a:t>only</a:t>
            </a:r>
            <a:r>
              <a:rPr lang="it-IT" sz="2000" dirty="0"/>
              <a:t> using a </a:t>
            </a:r>
            <a:r>
              <a:rPr lang="it-IT" sz="2000" dirty="0" err="1"/>
              <a:t>preliminary</a:t>
            </a:r>
            <a:r>
              <a:rPr lang="it-IT" sz="2000" dirty="0"/>
              <a:t> </a:t>
            </a:r>
            <a:r>
              <a:rPr lang="it-IT" sz="2000" dirty="0" err="1"/>
              <a:t>deflection</a:t>
            </a:r>
            <a:r>
              <a:rPr lang="it-IT" sz="2000" dirty="0"/>
              <a:t> cut. </a:t>
            </a:r>
            <a:r>
              <a:rPr lang="it-IT" sz="2000" dirty="0" err="1"/>
              <a:t>Their</a:t>
            </a:r>
            <a:r>
              <a:rPr lang="it-IT" sz="2000" dirty="0"/>
              <a:t> impact points </a:t>
            </a:r>
            <a:r>
              <a:rPr lang="it-IT" sz="2000" dirty="0" err="1"/>
              <a:t>reveal</a:t>
            </a:r>
            <a:r>
              <a:rPr lang="it-IT" sz="2000" dirty="0"/>
              <a:t> the </a:t>
            </a:r>
            <a:r>
              <a:rPr lang="it-IT" sz="2000" dirty="0" err="1"/>
              <a:t>crystal's</a:t>
            </a:r>
            <a:r>
              <a:rPr lang="it-IT" sz="2000" dirty="0"/>
              <a:t> </a:t>
            </a:r>
            <a:r>
              <a:rPr lang="it-IT" sz="2000" dirty="0" err="1"/>
              <a:t>physical</a:t>
            </a:r>
            <a:r>
              <a:rPr lang="it-IT" sz="2000" dirty="0"/>
              <a:t> location, matching </a:t>
            </a:r>
            <a:r>
              <a:rPr lang="it-IT" sz="2000" dirty="0" err="1"/>
              <a:t>its</a:t>
            </a:r>
            <a:r>
              <a:rPr lang="it-IT" sz="2000" dirty="0"/>
              <a:t> </a:t>
            </a:r>
            <a:r>
              <a:rPr lang="it-IT" sz="2000" dirty="0" err="1"/>
              <a:t>expected</a:t>
            </a:r>
            <a:r>
              <a:rPr lang="it-IT" sz="2000" dirty="0"/>
              <a:t> </a:t>
            </a:r>
            <a:r>
              <a:rPr lang="it-IT" sz="2000" dirty="0" err="1"/>
              <a:t>dimensions</a:t>
            </a:r>
            <a:r>
              <a:rPr lang="it-IT" sz="2000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E39A7DB-C620-BC97-5527-E50A35B09E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CD300B-0EBD-6ABE-1FC8-EBE2164DC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1E12B5E-9162-22A6-B2CE-A7528195A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D3F1391-657A-1CAA-5D4C-EA799D1925D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0D59DA23-F82A-E144-21AD-4751255283A5}"/>
              </a:ext>
            </a:extLst>
          </p:cNvPr>
          <p:cNvGrpSpPr/>
          <p:nvPr/>
        </p:nvGrpSpPr>
        <p:grpSpPr>
          <a:xfrm>
            <a:off x="440250" y="2156056"/>
            <a:ext cx="9286146" cy="3320716"/>
            <a:chOff x="440250" y="2040556"/>
            <a:chExt cx="9286146" cy="3320716"/>
          </a:xfrm>
        </p:grpSpPr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C4649E7F-5920-3413-5D26-2E2BEBC6E8BB}"/>
                </a:ext>
              </a:extLst>
            </p:cNvPr>
            <p:cNvSpPr txBox="1"/>
            <p:nvPr/>
          </p:nvSpPr>
          <p:spPr>
            <a:xfrm>
              <a:off x="440250" y="2657064"/>
              <a:ext cx="18112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ALL PARTICLES</a:t>
              </a: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C4AD72A4-DF42-AA52-22A8-E7633C4A4DC3}"/>
                </a:ext>
              </a:extLst>
            </p:cNvPr>
            <p:cNvSpPr txBox="1"/>
            <p:nvPr/>
          </p:nvSpPr>
          <p:spPr>
            <a:xfrm>
              <a:off x="586966" y="4166393"/>
              <a:ext cx="181127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i="1" dirty="0">
                  <a:solidFill>
                    <a:srgbClr val="002060"/>
                  </a:solidFill>
                </a:rPr>
                <a:t>CHANNELED PARTICLES</a:t>
              </a:r>
            </a:p>
          </p:txBody>
        </p:sp>
        <p:sp>
          <p:nvSpPr>
            <p:cNvPr id="21" name="Parentesi graffa aperta 20">
              <a:extLst>
                <a:ext uri="{FF2B5EF4-FFF2-40B4-BE49-F238E27FC236}">
                  <a16:creationId xmlns:a16="http://schemas.microsoft.com/office/drawing/2014/main" id="{DE53ED93-825D-AC7F-70D6-688AFF70BE2B}"/>
                </a:ext>
              </a:extLst>
            </p:cNvPr>
            <p:cNvSpPr/>
            <p:nvPr/>
          </p:nvSpPr>
          <p:spPr>
            <a:xfrm>
              <a:off x="2207699" y="2067292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Parentesi graffa aperta 22">
              <a:extLst>
                <a:ext uri="{FF2B5EF4-FFF2-40B4-BE49-F238E27FC236}">
                  <a16:creationId xmlns:a16="http://schemas.microsoft.com/office/drawing/2014/main" id="{2D95720A-BD41-32E8-1D6D-5D7603E6298E}"/>
                </a:ext>
              </a:extLst>
            </p:cNvPr>
            <p:cNvSpPr/>
            <p:nvPr/>
          </p:nvSpPr>
          <p:spPr>
            <a:xfrm>
              <a:off x="2202335" y="3726405"/>
              <a:ext cx="381084" cy="1468619"/>
            </a:xfrm>
            <a:prstGeom prst="leftBrace">
              <a:avLst>
                <a:gd name="adj1" fmla="val 36529"/>
                <a:gd name="adj2" fmla="val 50000"/>
              </a:avLst>
            </a:prstGeom>
            <a:ln w="38100">
              <a:solidFill>
                <a:srgbClr val="00206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AFD15A83-2207-4DE2-BC78-72230903C480}"/>
                </a:ext>
              </a:extLst>
            </p:cNvPr>
            <p:cNvGrpSpPr/>
            <p:nvPr/>
          </p:nvGrpSpPr>
          <p:grpSpPr>
            <a:xfrm>
              <a:off x="2463803" y="2040556"/>
              <a:ext cx="7262593" cy="3320716"/>
              <a:chOff x="1111250" y="1222745"/>
              <a:chExt cx="10210800" cy="5582366"/>
            </a:xfrm>
          </p:grpSpPr>
          <p:pic>
            <p:nvPicPr>
              <p:cNvPr id="11" name="Immagine 10">
                <a:extLst>
                  <a:ext uri="{FF2B5EF4-FFF2-40B4-BE49-F238E27FC236}">
                    <a16:creationId xmlns:a16="http://schemas.microsoft.com/office/drawing/2014/main" id="{F3846541-9936-BE45-AAC0-A4FAA0F14F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-2" b="-302"/>
              <a:stretch>
                <a:fillRect/>
              </a:stretch>
            </p:blipFill>
            <p:spPr>
              <a:xfrm>
                <a:off x="1111250" y="1222745"/>
                <a:ext cx="10210800" cy="5582366"/>
              </a:xfrm>
              <a:prstGeom prst="rect">
                <a:avLst/>
              </a:prstGeom>
            </p:spPr>
          </p:pic>
          <p:sp>
            <p:nvSpPr>
              <p:cNvPr id="12" name="Rettangolo 11">
                <a:extLst>
                  <a:ext uri="{FF2B5EF4-FFF2-40B4-BE49-F238E27FC236}">
                    <a16:creationId xmlns:a16="http://schemas.microsoft.com/office/drawing/2014/main" id="{72104B99-B76D-1B5A-2481-411B645C88F2}"/>
                  </a:ext>
                </a:extLst>
              </p:cNvPr>
              <p:cNvSpPr/>
              <p:nvPr/>
            </p:nvSpPr>
            <p:spPr>
              <a:xfrm>
                <a:off x="2740025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sp>
            <p:nvSpPr>
              <p:cNvPr id="13" name="Rettangolo 12">
                <a:extLst>
                  <a:ext uri="{FF2B5EF4-FFF2-40B4-BE49-F238E27FC236}">
                    <a16:creationId xmlns:a16="http://schemas.microsoft.com/office/drawing/2014/main" id="{54E3362A-00F6-7F8F-94C1-5935DA3388E8}"/>
                  </a:ext>
                </a:extLst>
              </p:cNvPr>
              <p:cNvSpPr/>
              <p:nvPr/>
            </p:nvSpPr>
            <p:spPr>
              <a:xfrm>
                <a:off x="7850299" y="2292350"/>
                <a:ext cx="527050" cy="53657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14" name="Connettore diritto 13">
                <a:extLst>
                  <a:ext uri="{FF2B5EF4-FFF2-40B4-BE49-F238E27FC236}">
                    <a16:creationId xmlns:a16="http://schemas.microsoft.com/office/drawing/2014/main" id="{E20FEB9B-0259-DEE6-5B4B-66D2E68CCC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08150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Connettore diritto 14">
                <a:extLst>
                  <a:ext uri="{FF2B5EF4-FFF2-40B4-BE49-F238E27FC236}">
                    <a16:creationId xmlns:a16="http://schemas.microsoft.com/office/drawing/2014/main" id="{7862B18A-E334-1F11-7B6F-EE12798260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12074" y="2828925"/>
                <a:ext cx="1038225" cy="14986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Connettore diritto 15">
                <a:extLst>
                  <a:ext uri="{FF2B5EF4-FFF2-40B4-BE49-F238E27FC236}">
                    <a16:creationId xmlns:a16="http://schemas.microsoft.com/office/drawing/2014/main" id="{E74CB15A-2238-C0D7-9D61-AAC36C7C5D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267075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nettore diritto 16">
                <a:extLst>
                  <a:ext uri="{FF2B5EF4-FFF2-40B4-BE49-F238E27FC236}">
                    <a16:creationId xmlns:a16="http://schemas.microsoft.com/office/drawing/2014/main" id="{189F36E2-03E7-17E7-185F-9E70684166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386080" y="2823793"/>
                <a:ext cx="2343262" cy="1503732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197274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3FA93-8E2E-1C9F-8219-407C9632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magine 26">
            <a:extLst>
              <a:ext uri="{FF2B5EF4-FFF2-40B4-BE49-F238E27FC236}">
                <a16:creationId xmlns:a16="http://schemas.microsoft.com/office/drawing/2014/main" id="{D9366BB9-EA5C-69F9-6B86-BF1EE1769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A96E174C-4D16-737A-EEFE-FC48760ED8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2066" y="3241606"/>
            <a:ext cx="3918667" cy="342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8F46AA1-A41C-E935-60A8-188E79C9F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213B1C5B-6364-2BF9-A14D-96F3D0EA6F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4B681B-C0B1-80E0-7387-4B95E29142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592F47-28AC-BA86-BCC8-F10BEF85C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031187-543E-B81F-CA1C-DBA0444C8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CF6C941-522B-F4EA-03DB-282BB1038ADA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435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31336-DCEE-F497-5D47-92B789D3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magine 25">
            <a:extLst>
              <a:ext uri="{FF2B5EF4-FFF2-40B4-BE49-F238E27FC236}">
                <a16:creationId xmlns:a16="http://schemas.microsoft.com/office/drawing/2014/main" id="{2443FA10-0844-9C43-AE75-85975EDBA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1267" y="3241606"/>
            <a:ext cx="3918670" cy="3420000"/>
          </a:xfrm>
          <a:prstGeom prst="rect">
            <a:avLst/>
          </a:prstGeom>
        </p:spPr>
      </p:pic>
      <p:pic>
        <p:nvPicPr>
          <p:cNvPr id="28" name="Segnaposto contenuto 13">
            <a:extLst>
              <a:ext uri="{FF2B5EF4-FFF2-40B4-BE49-F238E27FC236}">
                <a16:creationId xmlns:a16="http://schemas.microsoft.com/office/drawing/2014/main" id="{E833E0BC-F78F-9C74-D0ED-DFE7BDD79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22066" y="3241642"/>
            <a:ext cx="3918667" cy="3419927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A60F2E70-65E7-5BD8-0B99-40DFB5040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CRYSTAL EDGES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The impact points of </a:t>
                </a:r>
                <a:r>
                  <a:rPr lang="it-IT" sz="2400" dirty="0" err="1"/>
                  <a:t>these</a:t>
                </a:r>
                <a:r>
                  <a:rPr lang="it-IT" sz="2400" dirty="0"/>
                  <a:t>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revealed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physical</a:t>
                </a:r>
                <a:r>
                  <a:rPr lang="it-IT" sz="2400" dirty="0"/>
                  <a:t> location of the </a:t>
                </a:r>
                <a:r>
                  <a:rPr lang="it-IT" sz="2400" dirty="0" err="1"/>
                  <a:t>crystal</a:t>
                </a:r>
                <a:r>
                  <a:rPr lang="it-IT" sz="2400" dirty="0"/>
                  <a:t>, matching </a:t>
                </a:r>
                <a:r>
                  <a:rPr lang="it-IT" sz="2400" dirty="0" err="1"/>
                  <a:t>its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expected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dimensions</a:t>
                </a:r>
                <a:r>
                  <a:rPr lang="it-IT" sz="2400" dirty="0"/>
                  <a:t> of 2 by 8 </a:t>
                </a:r>
                <a:r>
                  <a:rPr lang="it-IT" sz="2400" dirty="0" err="1"/>
                  <a:t>millimeters</a:t>
                </a:r>
                <a:r>
                  <a:rPr lang="it-IT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To </a:t>
                </a:r>
                <a:r>
                  <a:rPr lang="it-IT" sz="2400" dirty="0" err="1"/>
                  <a:t>find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edges</a:t>
                </a:r>
                <a:r>
                  <a:rPr lang="it-IT" sz="2400" dirty="0"/>
                  <a:t> </a:t>
                </a:r>
                <a:r>
                  <a:rPr lang="it-IT" sz="2400" dirty="0" err="1"/>
                  <a:t>along</a:t>
                </a:r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400" dirty="0"/>
                  <a:t> (that </a:t>
                </a:r>
                <a:r>
                  <a:rPr lang="it-IT" sz="2400" dirty="0" err="1"/>
                  <a:t>have</a:t>
                </a:r>
                <a:r>
                  <a:rPr lang="it-IT" sz="2400" dirty="0"/>
                  <a:t> an </a:t>
                </a:r>
                <a:r>
                  <a:rPr lang="it-IT" sz="2400" dirty="0" err="1"/>
                  <a:t>asymmetrical</a:t>
                </a:r>
                <a:r>
                  <a:rPr lang="it-IT" sz="2400" dirty="0"/>
                  <a:t> </a:t>
                </a:r>
                <a:r>
                  <a:rPr lang="it-IT" sz="2400" dirty="0" err="1"/>
                  <a:t>distribution</a:t>
                </a:r>
                <a:r>
                  <a:rPr lang="it-IT" sz="2400" dirty="0"/>
                  <a:t>) we </a:t>
                </a:r>
                <a:r>
                  <a:rPr lang="it-IT" sz="2400" dirty="0" err="1"/>
                  <a:t>perform</a:t>
                </a:r>
                <a:r>
                  <a:rPr lang="it-IT" sz="2400" dirty="0"/>
                  <a:t> a «sliding window» </a:t>
                </a:r>
                <a:r>
                  <a:rPr lang="it-IT" sz="2400" dirty="0" err="1"/>
                  <a:t>method</a:t>
                </a:r>
                <a:r>
                  <a:rPr lang="it-IT" sz="2400" dirty="0"/>
                  <a:t> (</a:t>
                </a:r>
                <a:r>
                  <a:rPr lang="it-IT" sz="2400" dirty="0" err="1"/>
                  <a:t>fixed</a:t>
                </a:r>
                <a:r>
                  <a:rPr lang="it-IT" sz="2400" dirty="0"/>
                  <a:t> width &amp; </a:t>
                </a:r>
                <a:r>
                  <a:rPr lang="it-IT" sz="2400" dirty="0" err="1"/>
                  <a:t>precision</a:t>
                </a:r>
                <a:r>
                  <a:rPr lang="it-IT" sz="2400" dirty="0"/>
                  <a:t> of 0.01mm), </a:t>
                </a:r>
                <a:r>
                  <a:rPr lang="it-IT" sz="2400" dirty="0" err="1"/>
                  <a:t>aiming</a:t>
                </a:r>
                <a:r>
                  <a:rPr lang="it-IT" sz="2400" dirty="0"/>
                  <a:t> for the position that </a:t>
                </a:r>
                <a:r>
                  <a:rPr lang="it-IT" sz="2400" dirty="0" err="1"/>
                  <a:t>maximize</a:t>
                </a:r>
                <a:r>
                  <a:rPr lang="it-IT" sz="2400" dirty="0"/>
                  <a:t> the </a:t>
                </a:r>
                <a:r>
                  <a:rPr lang="it-IT" sz="2400" dirty="0" err="1"/>
                  <a:t>number</a:t>
                </a:r>
                <a:r>
                  <a:rPr lang="it-IT" sz="2400" dirty="0"/>
                  <a:t> of </a:t>
                </a:r>
                <a:r>
                  <a:rPr lang="it-IT" sz="2400" dirty="0" err="1"/>
                  <a:t>particles</a:t>
                </a:r>
                <a:r>
                  <a:rPr lang="it-IT" sz="24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DCA577-EC97-DBC2-4782-03EF16D202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4"/>
                <a:stretch>
                  <a:fillRect l="-928" t="-1660" r="-81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4AA54E-388F-7D21-65B2-8913AF62A0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75CE79-8E4E-B22A-445C-4ED604EA4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A9240BA-D341-9D98-75DE-F737C37A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10CDC6D-8B35-E019-47EC-652E621A19F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ttangolo 6">
            <a:extLst>
              <a:ext uri="{FF2B5EF4-FFF2-40B4-BE49-F238E27FC236}">
                <a16:creationId xmlns:a16="http://schemas.microsoft.com/office/drawing/2014/main" id="{42CD451E-9070-1DDC-4888-4D32209AE958}"/>
              </a:ext>
            </a:extLst>
          </p:cNvPr>
          <p:cNvSpPr/>
          <p:nvPr/>
        </p:nvSpPr>
        <p:spPr>
          <a:xfrm>
            <a:off x="2324100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8FABD66-AB6D-6E0F-549B-9635E0592B75}"/>
              </a:ext>
            </a:extLst>
          </p:cNvPr>
          <p:cNvSpPr/>
          <p:nvPr/>
        </p:nvSpPr>
        <p:spPr>
          <a:xfrm>
            <a:off x="7468317" y="4806951"/>
            <a:ext cx="1019175" cy="14226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6340953-89BB-94BB-7A8C-5496B213648E}"/>
              </a:ext>
            </a:extLst>
          </p:cNvPr>
          <p:cNvCxnSpPr>
            <a:cxnSpLocks/>
          </p:cNvCxnSpPr>
          <p:nvPr/>
        </p:nvCxnSpPr>
        <p:spPr>
          <a:xfrm>
            <a:off x="2315634" y="3429000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3C0D6754-75BB-413D-4231-3E81A2DE2BB8}"/>
              </a:ext>
            </a:extLst>
          </p:cNvPr>
          <p:cNvCxnSpPr>
            <a:cxnSpLocks/>
          </p:cNvCxnSpPr>
          <p:nvPr/>
        </p:nvCxnSpPr>
        <p:spPr>
          <a:xfrm>
            <a:off x="3343275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727FA367-5A69-4D86-5988-7C5B112012B3}"/>
              </a:ext>
            </a:extLst>
          </p:cNvPr>
          <p:cNvCxnSpPr>
            <a:cxnSpLocks/>
          </p:cNvCxnSpPr>
          <p:nvPr/>
        </p:nvCxnSpPr>
        <p:spPr>
          <a:xfrm>
            <a:off x="7474220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diritto 16">
            <a:extLst>
              <a:ext uri="{FF2B5EF4-FFF2-40B4-BE49-F238E27FC236}">
                <a16:creationId xmlns:a16="http://schemas.microsoft.com/office/drawing/2014/main" id="{FCA25C69-46F7-CA73-8566-EBB95C107058}"/>
              </a:ext>
            </a:extLst>
          </p:cNvPr>
          <p:cNvCxnSpPr>
            <a:cxnSpLocks/>
          </p:cNvCxnSpPr>
          <p:nvPr/>
        </p:nvCxnSpPr>
        <p:spPr>
          <a:xfrm>
            <a:off x="8487492" y="3440113"/>
            <a:ext cx="0" cy="1038225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2EAF453A-553F-422F-CE04-D7DF200F9FA0}"/>
              </a:ext>
            </a:extLst>
          </p:cNvPr>
          <p:cNvCxnSpPr>
            <a:cxnSpLocks/>
          </p:cNvCxnSpPr>
          <p:nvPr/>
        </p:nvCxnSpPr>
        <p:spPr>
          <a:xfrm flipH="1">
            <a:off x="4138613" y="4806951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E3FEAEF7-D809-0B7F-986C-F963BF4DB73F}"/>
              </a:ext>
            </a:extLst>
          </p:cNvPr>
          <p:cNvCxnSpPr>
            <a:cxnSpLocks/>
          </p:cNvCxnSpPr>
          <p:nvPr/>
        </p:nvCxnSpPr>
        <p:spPr>
          <a:xfrm flipH="1">
            <a:off x="4138613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C1EB249-4B2C-BB56-A14F-1FD1581735F7}"/>
              </a:ext>
            </a:extLst>
          </p:cNvPr>
          <p:cNvCxnSpPr>
            <a:cxnSpLocks/>
          </p:cNvCxnSpPr>
          <p:nvPr/>
        </p:nvCxnSpPr>
        <p:spPr>
          <a:xfrm flipH="1">
            <a:off x="9164637" y="4806952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EA67A89D-EFAF-8106-A737-40E5818E98A8}"/>
              </a:ext>
            </a:extLst>
          </p:cNvPr>
          <p:cNvCxnSpPr>
            <a:cxnSpLocks/>
          </p:cNvCxnSpPr>
          <p:nvPr/>
        </p:nvCxnSpPr>
        <p:spPr>
          <a:xfrm flipH="1">
            <a:off x="9164637" y="6229569"/>
            <a:ext cx="1203325" cy="0"/>
          </a:xfrm>
          <a:prstGeom prst="line">
            <a:avLst/>
          </a:prstGeom>
          <a:ln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38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11EB1-4330-C416-EE85-4C1F34C07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CA8608F-2305-4200-0914-3A481128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2. PREVIOUS ANALYSIS: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04A602E-B4AA-6A89-A978-0A93A2C4C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ensure</a:t>
            </a:r>
            <a:r>
              <a:rPr lang="it-IT" dirty="0"/>
              <a:t> that the upstream and downstream detectors are </a:t>
            </a:r>
            <a:r>
              <a:rPr lang="it-IT" dirty="0" err="1"/>
              <a:t>aligned</a:t>
            </a:r>
            <a:r>
              <a:rPr lang="it-IT" dirty="0"/>
              <a:t>, we check the </a:t>
            </a:r>
            <a:r>
              <a:rPr lang="it-IT" dirty="0" err="1"/>
              <a:t>deviation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</a:t>
            </a:r>
            <a:r>
              <a:rPr lang="it-IT" dirty="0" err="1"/>
              <a:t>initial</a:t>
            </a:r>
            <a:r>
              <a:rPr lang="it-IT" dirty="0"/>
              <a:t> and </a:t>
            </a:r>
            <a:r>
              <a:rPr lang="it-IT" dirty="0" err="1"/>
              <a:t>final</a:t>
            </a:r>
            <a:r>
              <a:rPr lang="it-IT" dirty="0"/>
              <a:t> positions of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definitely</a:t>
            </a:r>
            <a:r>
              <a:rPr lang="it-IT" dirty="0"/>
              <a:t> </a:t>
            </a:r>
            <a:r>
              <a:rPr lang="it-IT" dirty="0" err="1"/>
              <a:t>did</a:t>
            </a:r>
            <a:r>
              <a:rPr lang="it-IT" dirty="0"/>
              <a:t> not hit the </a:t>
            </a:r>
            <a:r>
              <a:rPr lang="it-IT" dirty="0" err="1"/>
              <a:t>crystal</a:t>
            </a:r>
            <a:r>
              <a:rPr lang="it-IT" dirty="0"/>
              <a:t>, </a:t>
            </a:r>
            <a:r>
              <a:rPr lang="it-IT" dirty="0" err="1"/>
              <a:t>ensuring</a:t>
            </a:r>
            <a:r>
              <a:rPr lang="it-IT" dirty="0"/>
              <a:t> that </a:t>
            </a:r>
            <a:r>
              <a:rPr lang="it-IT" dirty="0" err="1"/>
              <a:t>is</a:t>
            </a:r>
            <a:r>
              <a:rPr lang="it-IT" dirty="0"/>
              <a:t> zero.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19DD55B-70C7-5BB5-4EB3-E92B7E1E11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2FF51-B9F7-EFC9-C356-6F4E91F79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D7EEABA-DCFF-3382-481D-B852DF855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7A94697-0A6E-6959-1136-CC5B04A9A0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Immagine 7">
            <a:extLst>
              <a:ext uri="{FF2B5EF4-FFF2-40B4-BE49-F238E27FC236}">
                <a16:creationId xmlns:a16="http://schemas.microsoft.com/office/drawing/2014/main" id="{989FA1B0-5081-D834-7B01-E799986CB3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970" y="2636044"/>
            <a:ext cx="7804864" cy="37200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/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=0.003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6D9CF20B-45DC-2586-D939-EBF8EEFFF6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8" y="3551274"/>
                <a:ext cx="2571307" cy="71189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/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it-IT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offset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=0.004 </m:t>
                      </m:r>
                      <m:r>
                        <m:rPr>
                          <m:sty m:val="p"/>
                        </m:rP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skewness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∼0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ttangolo con angoli arrotondati 12">
                <a:extLst>
                  <a:ext uri="{FF2B5EF4-FFF2-40B4-BE49-F238E27FC236}">
                    <a16:creationId xmlns:a16="http://schemas.microsoft.com/office/drawing/2014/main" id="{30A327D6-BD0C-6C8D-22AB-10AAC1502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377" y="4441711"/>
                <a:ext cx="2571307" cy="71189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105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4D7E-7DE7-B775-85D3-73D2E9011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451934-8EF2-6E9C-3CB0-0B03D113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ANGLE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</a:t>
                </a:r>
                <a:r>
                  <a:rPr lang="it-IT" dirty="0" err="1"/>
                  <a:t>channelled</a:t>
                </a:r>
                <a:r>
                  <a:rPr lang="it-IT" dirty="0"/>
                  <a:t>.</a:t>
                </a:r>
              </a:p>
              <a:p>
                <a:r>
                  <a:rPr lang="it-IT" dirty="0" err="1"/>
                  <a:t>Before</a:t>
                </a:r>
                <a:r>
                  <a:rPr lang="it-IT" dirty="0"/>
                  <a:t> </a:t>
                </a:r>
                <a:r>
                  <a:rPr lang="it-IT" dirty="0" err="1"/>
                  <a:t>selecting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 (</a:t>
                </a:r>
                <a:r>
                  <a:rPr lang="it-IT" dirty="0" err="1"/>
                  <a:t>within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) 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zero.</a:t>
                </a:r>
              </a:p>
              <a:p>
                <a:r>
                  <a:rPr lang="it-IT" dirty="0"/>
                  <a:t>We do not </a:t>
                </a:r>
                <a:r>
                  <a:rPr lang="it-IT" dirty="0" err="1"/>
                  <a:t>choose</a:t>
                </a:r>
                <a:r>
                  <a:rPr lang="it-IT" dirty="0"/>
                  <a:t>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</a:t>
                </a:r>
                <a:r>
                  <a:rPr lang="it-IT" dirty="0" err="1"/>
                  <a:t>but</a:t>
                </a:r>
                <a:r>
                  <a:rPr lang="it-IT" dirty="0"/>
                  <a:t> </a:t>
                </a:r>
                <a:r>
                  <a:rPr lang="it-IT" dirty="0" err="1"/>
                  <a:t>rather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59098CD7-031D-A0CB-F06B-6F1F2C9F5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043" t="-2299" r="-6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0566A-0B1B-92EF-B9C3-5BCA77D29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DDC0B6D-8361-A639-969F-A9F34E9F2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A964AF-743A-C13A-EC7C-59C1FF56B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AB248FE-6E78-ED64-88F1-D93A1B5551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C2C33AA-FAAF-88A9-0DB6-98A5DF683B2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04CC81D-AE29-47B5-8915-DC89A636B54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9835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76D01-217C-59DD-756C-C159F3DD3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6224C-472C-0BFC-A1A7-3DC5DCDAA7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i="1" dirty="0" err="1"/>
                  <a:t>Torsion</a:t>
                </a:r>
                <a:r>
                  <a:rPr lang="it-IT" i="1" dirty="0"/>
                  <a:t> </a:t>
                </a:r>
                <a:r>
                  <a:rPr lang="it-IT" i="1" dirty="0" err="1"/>
                  <a:t>effect</a:t>
                </a:r>
                <a:r>
                  <a:rPr lang="it-IT" i="1" dirty="0"/>
                  <a:t>:</a:t>
                </a:r>
                <a:r>
                  <a:rPr lang="it-IT" dirty="0"/>
                  <a:t> in long </a:t>
                </a:r>
                <a:r>
                  <a:rPr lang="it-IT" dirty="0" err="1"/>
                  <a:t>crystals</a:t>
                </a:r>
                <a:r>
                  <a:rPr lang="it-IT" dirty="0"/>
                  <a:t> (&gt;1 cm), </a:t>
                </a:r>
                <a:r>
                  <a:rPr lang="it-IT" dirty="0" err="1"/>
                  <a:t>structural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non-</a:t>
                </a:r>
                <a:r>
                  <a:rPr lang="it-IT" dirty="0" err="1"/>
                  <a:t>negligible</a:t>
                </a:r>
                <a:r>
                  <a:rPr lang="it-IT" dirty="0"/>
                  <a:t> and </a:t>
                </a:r>
                <a:r>
                  <a:rPr lang="en-US" dirty="0"/>
                  <a:t>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Dividing the data sample into square bins (for example 0.1 mm x 0.1 mm) as a function of the impact position on the crystal surface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sz="2800" dirty="0"/>
                  <a:t>We obtain a 2D map of torsion variation across the crystal surface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36D42AD-3DE8-BB3A-DB3E-573D0B4E7A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76F-2B5A-A365-1DB2-E0630758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92672AC-E987-DC85-7818-4A23BEB34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23CF9B-73B6-496F-F418-16CC8B346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F893F73-D8A8-FA7B-CF8A-27F6A5D42D5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BB42D59-8988-FF51-91B5-95ADA046BA2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413B42E-6FEF-6243-0FD1-23423BD1D80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2A55CC9-B254-F7E0-BA4B-E6798570C0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05466" y="69651"/>
            <a:ext cx="2154418" cy="1148742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57D110E-CCDE-7140-11DB-AB1EC9B0675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7E35FD3-526F-767A-3541-C3577FD9AA1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606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9772-CA0F-72A5-01E5-0569343B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91C66B-8C54-FF25-4713-D7FD4D2A5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E7D5E5C-DAB3-124E-E9ED-FCC68D06EB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D701879-238A-489C-0B19-AE8043D1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CBD9DF1-AD57-9A42-98DA-0063D175F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828A93C-6AAB-1BE9-4552-1A0897742DD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66D49B2E-529F-54C2-7285-883664F70043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37BC7A6-7125-2715-D652-38A841F06D2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79C971D-3CEE-476D-C8E9-35183FB0B47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A95D7DC-772C-F2D0-7F6E-7B637FABB5C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6E9D8EB2-3A37-43F7-1C5F-7B4FDF8A62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pic>
        <p:nvPicPr>
          <p:cNvPr id="9" name="Segnaposto contenuto 9">
            <a:extLst>
              <a:ext uri="{FF2B5EF4-FFF2-40B4-BE49-F238E27FC236}">
                <a16:creationId xmlns:a16="http://schemas.microsoft.com/office/drawing/2014/main" id="{6CA9BF4D-ECEB-7FC8-53BE-361DAA9E17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25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57A05-5581-2507-2271-32772C049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CB6FC3-5C80-9455-E161-DA75CFAF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D0CB520-A067-8FE3-9BD0-6B5C105BFE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5C96FC0-7D82-4607-B5AD-15E8A1471A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6DC3C0-2087-08BF-083B-29C5E3AE8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07D8D7-A2A0-4815-E3B2-8CA47A7CB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8AD835D-015D-C803-CA98-A43D0F0AEC6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39CB041-5340-4E95-7D40-AEADA351C4A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43E1EF5-379F-B22C-48CE-2CF97B803AC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2E148E6-13EB-2C99-6BD7-6C050970A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0360" y="2297718"/>
            <a:ext cx="5431280" cy="40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98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3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C05D9D2-6401-CFA4-DD1B-5D090E52A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1391" y="1222454"/>
            <a:ext cx="2873709" cy="214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97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7CD9-9B46-75B5-98FC-4741511B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2EC4C-C175-8469-9876-DC6FE74EC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214BAE-EEDC-8210-8550-44C6BB969E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5B57DB-25E8-F6FC-7054-82768A96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6298A0-CBCB-D3B7-B119-DAC2939E1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BF20B3-79F2-AE6F-29E8-77BA43A3E80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C5DF32F-680C-15DC-0F15-FAACF6D8503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DC0AA42-0B63-417E-776A-C75234B5BB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0EEC406-2634-D2D7-4C73-AF8B01A7272E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577974F-522E-8494-1BB7-3C97ECD7F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100" y="1814690"/>
            <a:ext cx="5580000" cy="4166724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85DEA55C-6BBD-BEDC-E7D4-9B39969B36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6133" y="1774499"/>
            <a:ext cx="5577573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7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A5160-53F5-0D96-6732-BE65EFCB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6BBFA8-148B-A6EE-D5B0-34321889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0CBF39-6A49-8BC7-6425-C33F0B2E9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now</a:t>
            </a:r>
            <a:r>
              <a:rPr lang="it-IT" dirty="0"/>
              <a:t> compute the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ratio of </a:t>
            </a:r>
            <a:r>
              <a:rPr lang="it-IT" dirty="0" err="1"/>
              <a:t>successfully</a:t>
            </a:r>
            <a:r>
              <a:rPr lang="it-IT" dirty="0"/>
              <a:t> 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to the </a:t>
            </a:r>
            <a:r>
              <a:rPr lang="it-IT" dirty="0" err="1"/>
              <a:t>total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incident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3E0AFA0-61E3-D8A9-56A7-DC0F946D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8B57960-238D-1446-8231-5A6EAEC972B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50B2FFE-00F1-2BC4-EC60-0131B113B70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777C4D9B-5566-E01F-9A9E-00516CA43C48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3163043-DF86-E4CC-C083-AD992BCE1F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696000" y="2310232"/>
            <a:ext cx="6887111" cy="4234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/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3200" b="1" dirty="0">
                    <a:solidFill>
                      <a:srgbClr val="002060"/>
                    </a:solidFill>
                  </a:rPr>
                  <a:t>CHANNELING EFFICIENCY</a:t>
                </a:r>
              </a:p>
              <a:p>
                <a:pPr algn="ctr"/>
                <a:endParaRPr lang="it-IT" sz="3200" b="1" dirty="0">
                  <a:solidFill>
                    <a:srgbClr val="00206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3200" b="1" i="1" smtClean="0">
                          <a:solidFill>
                            <a:srgbClr val="00206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3200" b="1" i="1" smtClean="0">
                              <a:solidFill>
                                <a:srgbClr val="00206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3200" b="1" i="1" smtClean="0">
                                  <a:solidFill>
                                    <a:srgbClr val="00206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3200" b="1" dirty="0">
                  <a:solidFill>
                    <a:srgbClr val="002060"/>
                  </a:solidFill>
                </a:endParaRPr>
              </a:p>
            </p:txBody>
          </p:sp>
        </mc:Choice>
        <mc:Fallback xmlns="">
          <p:sp>
            <p:nvSpPr>
              <p:cNvPr id="26" name="Rettangolo con angoli arrotondati 25">
                <a:extLst>
                  <a:ext uri="{FF2B5EF4-FFF2-40B4-BE49-F238E27FC236}">
                    <a16:creationId xmlns:a16="http://schemas.microsoft.com/office/drawing/2014/main" id="{8FC6E12E-5C3E-72F7-980E-E93CD9556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576" y="2310232"/>
                <a:ext cx="3535758" cy="403035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0AF69-2D03-0DD4-090C-8C15F1AB9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682348-A51C-8908-4A7A-D6D6AF8C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</p:spTree>
    <p:extLst>
      <p:ext uri="{BB962C8B-B14F-4D97-AF65-F5344CB8AC3E}">
        <p14:creationId xmlns:p14="http://schemas.microsoft.com/office/powerpoint/2010/main" val="30677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E354-B03F-BD18-F01A-A41D48938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D704B-3434-5030-BB5F-2FDD6B8F4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3.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0B74F6-27D2-7C8C-E165-33A2F0292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r>
              <a:rPr lang="it-IT" sz="2400" dirty="0"/>
              <a:t>A </a:t>
            </a:r>
            <a:r>
              <a:rPr lang="it-IT" sz="2400" dirty="0" err="1"/>
              <a:t>Gaussian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performed</a:t>
            </a:r>
            <a:r>
              <a:rPr lang="it-IT" sz="2400" dirty="0"/>
              <a:t> on the </a:t>
            </a:r>
            <a:r>
              <a:rPr lang="it-IT" sz="2400" dirty="0" err="1"/>
              <a:t>deflection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r>
              <a:rPr lang="it-IT" sz="2400" dirty="0"/>
              <a:t>.</a:t>
            </a:r>
          </a:p>
          <a:p>
            <a:r>
              <a:rPr lang="it-IT" sz="2400" dirty="0"/>
              <a:t>We </a:t>
            </a:r>
            <a:r>
              <a:rPr lang="it-IT" sz="2400" dirty="0" err="1"/>
              <a:t>fit</a:t>
            </a:r>
            <a:r>
              <a:rPr lang="it-IT" sz="2400" dirty="0"/>
              <a:t> the right side of the </a:t>
            </a:r>
            <a:r>
              <a:rPr lang="it-IT" sz="2400" dirty="0" err="1"/>
              <a:t>peak</a:t>
            </a:r>
            <a:r>
              <a:rPr lang="it-IT" sz="2400" dirty="0"/>
              <a:t> to </a:t>
            </a:r>
            <a:r>
              <a:rPr lang="it-IT" sz="2400" dirty="0" err="1"/>
              <a:t>ensure</a:t>
            </a:r>
            <a:r>
              <a:rPr lang="it-IT" sz="2400" dirty="0"/>
              <a:t> the </a:t>
            </a:r>
            <a:r>
              <a:rPr lang="it-IT" sz="2400" dirty="0" err="1"/>
              <a:t>cleanest</a:t>
            </a:r>
            <a:r>
              <a:rPr lang="it-IT" sz="2400" dirty="0"/>
              <a:t> </a:t>
            </a:r>
            <a:r>
              <a:rPr lang="it-IT" sz="2400" dirty="0" err="1"/>
              <a:t>measurement</a:t>
            </a:r>
            <a:r>
              <a:rPr lang="it-IT" sz="2400" dirty="0"/>
              <a:t> (no </a:t>
            </a:r>
            <a:r>
              <a:rPr lang="it-IT" sz="2400" dirty="0" err="1"/>
              <a:t>dechanneled</a:t>
            </a:r>
            <a:r>
              <a:rPr lang="it-IT" sz="2400" dirty="0"/>
              <a:t> </a:t>
            </a:r>
            <a:r>
              <a:rPr lang="it-IT" sz="2400" dirty="0" err="1"/>
              <a:t>particles</a:t>
            </a:r>
            <a:r>
              <a:rPr lang="it-IT" sz="2400" dirty="0"/>
              <a:t> </a:t>
            </a:r>
            <a:r>
              <a:rPr lang="it-IT" sz="2400" dirty="0" err="1"/>
              <a:t>contribution</a:t>
            </a:r>
            <a:r>
              <a:rPr lang="it-IT" sz="2400" dirty="0"/>
              <a:t>).</a:t>
            </a:r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2163C9A-DA38-D8AD-1517-2D1F552FBF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0B72CDD-1B29-A1B1-AE7F-C338BFAB6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99682B3-4B3D-15C8-A998-726454F8F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91A779A-7270-7A98-408A-1444357C9E35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BD5622-AE76-F3F2-E78E-A7E2566D28BA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4ACA1D1-0026-540C-70E3-FEA431668F6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9FE3799-AA56-96B5-61CD-52ADB4695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311"/>
          <a:stretch>
            <a:fillRect/>
          </a:stretch>
        </p:blipFill>
        <p:spPr>
          <a:xfrm>
            <a:off x="5446277" y="2604974"/>
            <a:ext cx="6705823" cy="384485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369F6DF-241B-FC05-FB2C-74DFB0379E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4" name="Ovale 13">
            <a:extLst>
              <a:ext uri="{FF2B5EF4-FFF2-40B4-BE49-F238E27FC236}">
                <a16:creationId xmlns:a16="http://schemas.microsoft.com/office/drawing/2014/main" id="{5C2CDB7F-4798-849A-B362-05F16E54F49C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Arco 16">
            <a:extLst>
              <a:ext uri="{FF2B5EF4-FFF2-40B4-BE49-F238E27FC236}">
                <a16:creationId xmlns:a16="http://schemas.microsoft.com/office/drawing/2014/main" id="{219D7ECA-BCC6-3278-8C9C-03F146B36666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A5FB51C5-E6E6-4E41-99C1-ACAD81F796A0}"/>
              </a:ext>
            </a:extLst>
          </p:cNvPr>
          <p:cNvCxnSpPr>
            <a:cxnSpLocks/>
          </p:cNvCxnSpPr>
          <p:nvPr/>
        </p:nvCxnSpPr>
        <p:spPr>
          <a:xfrm>
            <a:off x="8504767" y="5331487"/>
            <a:ext cx="0" cy="66839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/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9782FBE4-B7CD-5D20-0D70-213BC119B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5837" y="3072809"/>
                <a:ext cx="1286540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/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it-IT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</m:oMath>
                  </m:oMathPara>
                </a14:m>
                <a:endParaRPr lang="it-IT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8B695AC5-A004-5B7A-AA21-F7DDCB3AF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0645" y="4167213"/>
                <a:ext cx="128654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125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D1461-C75C-7E30-7CB1-94EE05E41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FD112F-A6F5-EDE0-3EF1-FE53FF0D0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8C8395F-5A29-CBE5-2F17-8C5F1B0FB5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C8632CE-25AA-0A1B-BC06-2686BE5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EB70B37-5218-F84D-2646-2A877AFD5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D0A2B7C-B5A1-D2BC-41BE-0AFDF9DAB6A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C5574AB-0B0B-8361-1ED1-AA4582A18A6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8F7B6111-24ED-E494-D339-85B73CFCBE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𝝁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𝐫𝐚𝐝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it-IT" sz="2400" b="1" i="0" smtClean="0">
                                    <a:latin typeface="Cambria Math" panose="02040503050406030204" pitchFamily="18" charset="0"/>
                                  </a:rPr>
                                  <m:t>𝐦𝐦</m:t>
                                </m:r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/>
                            <a:t>channeling angle </a:t>
                          </a:r>
                          <a14:m>
                            <m:oMath xmlns:m="http://schemas.openxmlformats.org/officeDocument/2006/math"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  <m:r>
                                <a:rPr lang="it-IT" sz="2400" b="1" i="0" smtClean="0">
                                  <a:latin typeface="Cambria Math" panose="02040503050406030204" pitchFamily="18" charset="0"/>
                                </a:rPr>
                                <m:t>𝐫𝐚𝐝</m:t>
                              </m:r>
                              <m:r>
                                <a:rPr lang="it-IT" sz="2400" b="1" i="1" smtClean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oMath>
                          </a14:m>
                          <a:r>
                            <a:rPr lang="it-IT" sz="2400" b="1" dirty="0"/>
                            <a:t> </a:t>
                          </a:r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  <m:r>
                                  <a:rPr lang="it-IT" sz="2400" b="1" i="1" smtClean="0">
                                    <a:latin typeface="Cambria Math" panose="02040503050406030204" pitchFamily="18" charset="0"/>
                                  </a:rPr>
                                  <m:t> [%]</m:t>
                                </m:r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3.86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6010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8431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3.32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6011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18.4±0.01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8650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3.74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6076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17.2±0.01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8655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2.87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6129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17.8±0.01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i="1" dirty="0" smtClean="0">
                                    <a:latin typeface="Cambria Math" panose="02040503050406030204" pitchFamily="18" charset="0"/>
                                  </a:rPr>
                                  <m:t>8656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2.91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6127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18.0±0.01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71DF83D9-FF00-8DC4-EF2F-A708B15EC92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837215706"/>
                  </p:ext>
                </p:extLst>
              </p:nvPr>
            </p:nvGraphicFramePr>
            <p:xfrm>
              <a:off x="838200" y="2059186"/>
              <a:ext cx="10515600" cy="3142488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56488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 dirty="0" err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837" r="-197778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837" r="-10941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837" r="-541" b="-2680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1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193333" r="-344695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193333" r="-197778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193333" r="-109412" b="-4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193333" r="-541" b="-4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110932" t="-293333" r="-344695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82222" t="-293333" r="-197778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24" t="-293333" r="-109412" b="-3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3"/>
                          <a:stretch>
                            <a:fillRect l="-366486" t="-293333" r="-541" b="-3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388158" r="-34469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388158" r="-197778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388158" r="-10941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388158" r="-541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 dirty="0"/>
                            <a:t>Long </a:t>
                          </a:r>
                          <a:r>
                            <a:rPr lang="it-IT" sz="2400" dirty="0" err="1"/>
                            <a:t>crystal</a:t>
                          </a:r>
                          <a:r>
                            <a:rPr lang="it-IT" sz="2400" dirty="0"/>
                            <a:t> 2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10932" t="-494667" r="-344695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182222" t="-494667" r="-197778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298824" t="-494667" r="-109412" b="-10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blipFill>
                          <a:blip r:embed="rId3"/>
                          <a:stretch>
                            <a:fillRect l="-366486" t="-494667" r="-541" b="-10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0932" t="-594667" r="-344695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94667" r="-197778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594667" r="-109412" b="-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94667" r="-541" b="-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3233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EDB86-1A06-E67F-D6B5-604B493FB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64F57A-A476-06A8-3296-C52CEF58A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4. RESULTS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2ADC0B-CAB7-7320-CA9B-D1D8835CC3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AEB561D-3854-2AB4-7D37-9DC0C4763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CE6B9B-7F24-7482-D8BE-32E9F5CD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D327EE2-44F7-55B4-3660-D6FE908C189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0CA9C10-E1B7-C666-7976-6CA283547D70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C487424-DA65-FF08-5C72-216F462ABA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𝝉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𝝐</m:t>
                                    </m:r>
                                  </m:e>
                                  <m:sub>
                                    <m:r>
                                      <a:rPr lang="it-IT" sz="2400" b="1" i="1" smtClean="0">
                                        <a:latin typeface="Cambria Math" panose="02040503050406030204" pitchFamily="18" charset="0"/>
                                      </a:rPr>
                                      <m:t>𝒄𝒉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400" b="1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37084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3.64 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6039 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b="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3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18.1±0.01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37084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2.89 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400" b="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6128 </m:t>
                                </m:r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it-IT" sz="24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</m:oMath>
                            </m:oMathPara>
                          </a14:m>
                          <a:endParaRPr lang="it-IT" sz="2400" i="0" dirty="0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sz="2400" b="0" i="1" smtClean="0">
                                        <a:latin typeface="Cambria Math" panose="02040503050406030204" pitchFamily="18" charset="0"/>
                                      </a:rPr>
                                      <m:t>17.9±0.01</m:t>
                                    </m:r>
                                  </m:e>
                                </m:d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37084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Segnaposto contenuto 10">
                <a:extLst>
                  <a:ext uri="{FF2B5EF4-FFF2-40B4-BE49-F238E27FC236}">
                    <a16:creationId xmlns:a16="http://schemas.microsoft.com/office/drawing/2014/main" id="{F108D77F-1AE6-6F8E-2727-51353181988A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886627778"/>
                  </p:ext>
                </p:extLst>
              </p:nvPr>
            </p:nvGraphicFramePr>
            <p:xfrm>
              <a:off x="838200" y="2059186"/>
              <a:ext cx="10515600" cy="31089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103120">
                      <a:extLst>
                        <a:ext uri="{9D8B030D-6E8A-4147-A177-3AD203B41FA5}">
                          <a16:colId xmlns:a16="http://schemas.microsoft.com/office/drawing/2014/main" val="3834650750"/>
                        </a:ext>
                      </a:extLst>
                    </a:gridCol>
                    <a:gridCol w="1893147">
                      <a:extLst>
                        <a:ext uri="{9D8B030D-6E8A-4147-A177-3AD203B41FA5}">
                          <a16:colId xmlns:a16="http://schemas.microsoft.com/office/drawing/2014/main" val="1666825536"/>
                        </a:ext>
                      </a:extLst>
                    </a:gridCol>
                    <a:gridCol w="2192866">
                      <a:extLst>
                        <a:ext uri="{9D8B030D-6E8A-4147-A177-3AD203B41FA5}">
                          <a16:colId xmlns:a16="http://schemas.microsoft.com/office/drawing/2014/main" val="1022820918"/>
                        </a:ext>
                      </a:extLst>
                    </a:gridCol>
                    <a:gridCol w="2074334">
                      <a:extLst>
                        <a:ext uri="{9D8B030D-6E8A-4147-A177-3AD203B41FA5}">
                          <a16:colId xmlns:a16="http://schemas.microsoft.com/office/drawing/2014/main" val="2020566626"/>
                        </a:ext>
                      </a:extLst>
                    </a:gridCol>
                    <a:gridCol w="2252133">
                      <a:extLst>
                        <a:ext uri="{9D8B030D-6E8A-4147-A177-3AD203B41FA5}">
                          <a16:colId xmlns:a16="http://schemas.microsoft.com/office/drawing/2014/main" val="199116097"/>
                        </a:ext>
                      </a:extLst>
                    </a:gridCol>
                  </a:tblGrid>
                  <a:tr h="822960">
                    <a:tc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run</a:t>
                          </a:r>
                          <a:endParaRPr lang="it-IT" sz="2400" b="1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5185" r="-197778" b="-29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 b="1"/>
                            <a:t>channeling angle</a:t>
                          </a:r>
                          <a:endParaRPr lang="it-IT" sz="2400" b="1" dirty="0"/>
                        </a:p>
                      </a:txBody>
                      <a:tcPr anchor="ctr"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5185" r="-541" b="-29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6405646"/>
                      </a:ext>
                    </a:extLst>
                  </a:tr>
                  <a:tr h="457200">
                    <a:tc rowSpan="3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1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62832" r="-197778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62832" r="-109412" b="-76549"/>
                          </a:stretch>
                        </a:blipFill>
                      </a:tcPr>
                    </a:tc>
                    <a:tc rowSpan="3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62832" r="-541" b="-765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9356210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8431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/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extLst>
                      <a:ext uri="{0D108BD9-81ED-4DB2-BD59-A6C34878D82A}">
                        <a16:rowId xmlns:a16="http://schemas.microsoft.com/office/drawing/2014/main" val="34801095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8650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053670846"/>
                      </a:ext>
                    </a:extLst>
                  </a:tr>
                  <a:tr h="45720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Long crystal 2</a:t>
                          </a:r>
                          <a:endParaRPr lang="it-IT" sz="2400" dirty="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8655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2222" t="-245333" r="-197778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8824" t="-245333" r="-109412" b="-15333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66486" t="-245333" r="-541" b="-15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4524089"/>
                      </a:ext>
                    </a:extLst>
                  </a:tr>
                  <a:tr h="457200">
                    <a:tc vMerge="1">
                      <a:txBody>
                        <a:bodyPr/>
                        <a:lstStyle/>
                        <a:p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2400"/>
                            <a:t>Run 8656</a:t>
                          </a:r>
                          <a:endParaRPr lang="it-IT" sz="2400"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lnL w="285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it-IT" sz="2400" i="0" dirty="0"/>
                        </a:p>
                      </a:txBody>
                      <a:tcPr anchor="ctr"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it-IT" sz="2400" dirty="0"/>
                        </a:p>
                      </a:txBody>
                      <a:tcPr anchor="ctr"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427381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53279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CCD89B-D23E-B601-CB0F-35F735A548A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B2D0B5E-0AD3-1AC2-900A-351764AC43C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1A8EF-5B56-16D2-91C1-E41CF7EC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B22AB5-730F-6D2A-B39F-6CE4A4F74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155DF5-1F95-3672-297A-0D16189D6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We can </a:t>
            </a:r>
            <a:r>
              <a:rPr lang="it-IT" dirty="0" err="1"/>
              <a:t>also</a:t>
            </a:r>
            <a:r>
              <a:rPr lang="it-IT" dirty="0"/>
              <a:t> check the </a:t>
            </a:r>
            <a:r>
              <a:rPr lang="it-IT" dirty="0" err="1"/>
              <a:t>alignment</a:t>
            </a:r>
            <a:r>
              <a:rPr lang="it-IT" dirty="0"/>
              <a:t> by </a:t>
            </a:r>
            <a:r>
              <a:rPr lang="it-IT" dirty="0" err="1"/>
              <a:t>doing</a:t>
            </a:r>
            <a:r>
              <a:rPr lang="it-IT" dirty="0"/>
              <a:t> a linear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the upstream and </a:t>
            </a:r>
            <a:r>
              <a:rPr lang="it-IT" dirty="0" err="1"/>
              <a:t>dowstream</a:t>
            </a:r>
            <a:r>
              <a:rPr lang="it-IT" dirty="0"/>
              <a:t> </a:t>
            </a:r>
            <a:r>
              <a:rPr lang="it-IT" dirty="0" err="1"/>
              <a:t>profiles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561888-E92B-61C2-66F6-B5FA73858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650CE-7546-8981-9E5B-AA12BDEC5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86501D8-781C-B5B6-AF49-EF4A5D20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05A6826-EC71-D482-2547-395039A45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C81B1BAE-047D-DA9A-8B6E-76B19CDD24B7}"/>
              </a:ext>
            </a:extLst>
          </p:cNvPr>
          <p:cNvGrpSpPr/>
          <p:nvPr/>
        </p:nvGrpSpPr>
        <p:grpSpPr>
          <a:xfrm>
            <a:off x="1978093" y="2278589"/>
            <a:ext cx="8234013" cy="3952091"/>
            <a:chOff x="851048" y="2225424"/>
            <a:chExt cx="8234013" cy="3952091"/>
          </a:xfrm>
        </p:grpSpPr>
        <p:pic>
          <p:nvPicPr>
            <p:cNvPr id="7" name="Segnaposto contenuto 7">
              <a:extLst>
                <a:ext uri="{FF2B5EF4-FFF2-40B4-BE49-F238E27FC236}">
                  <a16:creationId xmlns:a16="http://schemas.microsoft.com/office/drawing/2014/main" id="{B9CBC619-70B2-1196-6539-C4C0C18E3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1048" y="2225424"/>
              <a:ext cx="823401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=0.9954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ADB0A287-D2E0-1E65-AFD1-D64CA74287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3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=0.9990</m:t>
                        </m:r>
                      </m:oMath>
                    </m:oMathPara>
                  </a14:m>
                  <a:endParaRPr lang="it-IT" sz="2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=0.005</m:t>
                        </m:r>
                      </m:oMath>
                    </m:oMathPara>
                  </a14:m>
                  <a:endParaRPr lang="it-IT" sz="2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019F3A86-9073-643D-E16F-4ABF243FD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106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0868C-48AA-624D-FC8E-B8A0F7FD8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81BE3F-761B-C031-718C-B937798DE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83A6044-8191-1821-ADA3-B644EAE1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0F2C72-5ABE-0EBA-2479-43E5859BB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06C0F3-F1DF-3C2C-B4EF-0115636B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9F4022D-EA7D-42B8-B590-F13E113B437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9037BDD-8530-1C71-AC3D-B5E42866C85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D6BFC361-AD21-8A45-4798-C3D7486AEAE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D788910-F3D0-9CC6-0AAB-A1C89CE3D485}"/>
              </a:ext>
            </a:extLst>
          </p:cNvPr>
          <p:cNvGrpSpPr/>
          <p:nvPr/>
        </p:nvGrpSpPr>
        <p:grpSpPr>
          <a:xfrm>
            <a:off x="2629724" y="1358900"/>
            <a:ext cx="6932552" cy="4818615"/>
            <a:chOff x="3357897" y="2667753"/>
            <a:chExt cx="5476207" cy="368859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3B885F0C-3A52-E818-1FFE-79CA8492B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56"/>
            <a:stretch>
              <a:fillRect/>
            </a:stretch>
          </p:blipFill>
          <p:spPr>
            <a:xfrm>
              <a:off x="3357897" y="2667753"/>
              <a:ext cx="5476207" cy="3688596"/>
            </a:xfrm>
            <a:prstGeom prst="rect">
              <a:avLst/>
            </a:prstGeom>
          </p:spPr>
        </p:pic>
        <p:sp>
          <p:nvSpPr>
            <p:cNvPr id="9" name="Rettangolo 8">
              <a:extLst>
                <a:ext uri="{FF2B5EF4-FFF2-40B4-BE49-F238E27FC236}">
                  <a16:creationId xmlns:a16="http://schemas.microsoft.com/office/drawing/2014/main" id="{171A131D-410B-0265-ADB7-86EA3B4EFF2F}"/>
                </a:ext>
              </a:extLst>
            </p:cNvPr>
            <p:cNvSpPr/>
            <p:nvPr/>
          </p:nvSpPr>
          <p:spPr>
            <a:xfrm>
              <a:off x="5196417" y="3958170"/>
              <a:ext cx="302683" cy="6307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1544340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BBF9FFD-F79D-AA1B-DF5A-87466EEE6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750" y="1222745"/>
            <a:ext cx="8432572" cy="5253769"/>
          </a:xfrm>
          <a:prstGeom prst="rect">
            <a:avLst/>
          </a:prstGeom>
        </p:spPr>
      </p:pic>
      <p:grpSp>
        <p:nvGrpSpPr>
          <p:cNvPr id="8" name="Gruppo 7">
            <a:extLst>
              <a:ext uri="{FF2B5EF4-FFF2-40B4-BE49-F238E27FC236}">
                <a16:creationId xmlns:a16="http://schemas.microsoft.com/office/drawing/2014/main" id="{33CB32C7-0FCA-E3A2-3F6E-CA232C9F465D}"/>
              </a:ext>
            </a:extLst>
          </p:cNvPr>
          <p:cNvGrpSpPr/>
          <p:nvPr/>
        </p:nvGrpSpPr>
        <p:grpSpPr>
          <a:xfrm>
            <a:off x="5650030" y="1568918"/>
            <a:ext cx="1822739" cy="567891"/>
            <a:chOff x="4340994" y="1588168"/>
            <a:chExt cx="1822739" cy="567891"/>
          </a:xfrm>
        </p:grpSpPr>
        <p:cxnSp>
          <p:nvCxnSpPr>
            <p:cNvPr id="9" name="Connettore 2 8">
              <a:extLst>
                <a:ext uri="{FF2B5EF4-FFF2-40B4-BE49-F238E27FC236}">
                  <a16:creationId xmlns:a16="http://schemas.microsoft.com/office/drawing/2014/main" id="{D8CF927E-5FAC-04F9-9C12-62E9DAC2A3CC}"/>
                </a:ext>
              </a:extLst>
            </p:cNvPr>
            <p:cNvCxnSpPr/>
            <p:nvPr/>
          </p:nvCxnSpPr>
          <p:spPr>
            <a:xfrm flipH="1">
              <a:off x="4340994" y="1876926"/>
              <a:ext cx="625642" cy="192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/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it-IT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f>
                        <m:f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a14:m>
                  <a:r>
                    <a:rPr lang="it-IT" dirty="0">
                      <a:solidFill>
                        <a:schemeClr val="tx1"/>
                      </a:solidFill>
                    </a:rPr>
                    <a:t> cut</a:t>
                  </a:r>
                </a:p>
              </p:txBody>
            </p:sp>
          </mc:Choice>
          <mc:Fallback xmlns="">
            <p:sp>
              <p:nvSpPr>
                <p:cNvPr id="11" name="Rettangolo con angoli arrotondati 10">
                  <a:extLst>
                    <a:ext uri="{FF2B5EF4-FFF2-40B4-BE49-F238E27FC236}">
                      <a16:creationId xmlns:a16="http://schemas.microsoft.com/office/drawing/2014/main" id="{BB4D091A-960D-5AFF-1B6D-37F1F84E8E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6636" y="1588168"/>
                  <a:ext cx="1197097" cy="567891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5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ABD559CF-BD2C-1502-6F8B-FB36F8027603}"/>
              </a:ext>
            </a:extLst>
          </p:cNvPr>
          <p:cNvCxnSpPr>
            <a:cxnSpLocks/>
          </p:cNvCxnSpPr>
          <p:nvPr/>
        </p:nvCxnSpPr>
        <p:spPr>
          <a:xfrm>
            <a:off x="5393267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43DCC27-ABDA-24AC-98A5-A793CC17F949}"/>
              </a:ext>
            </a:extLst>
          </p:cNvPr>
          <p:cNvCxnSpPr>
            <a:cxnSpLocks/>
          </p:cNvCxnSpPr>
          <p:nvPr/>
        </p:nvCxnSpPr>
        <p:spPr>
          <a:xfrm>
            <a:off x="5590762" y="1764543"/>
            <a:ext cx="0" cy="417905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B1A2FFA3-AE10-BF56-E55F-8018EA1DA0E5}"/>
              </a:ext>
            </a:extLst>
          </p:cNvPr>
          <p:cNvCxnSpPr>
            <a:cxnSpLocks/>
          </p:cNvCxnSpPr>
          <p:nvPr/>
        </p:nvCxnSpPr>
        <p:spPr>
          <a:xfrm>
            <a:off x="5590762" y="3660685"/>
            <a:ext cx="46502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2EFCC-47DC-1162-54F2-1B8DF6575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6BC2B-5C4B-CD38-A1A5-363F4108D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14AF170-F176-9150-4073-0566855964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9DEB46-A533-2AC7-392E-2F4478CBB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227A459-8A5B-60AF-EF50-B5495304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7D3CE6C-5AA2-896F-F7AB-61E7C827AFD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BF332A9-23E4-43A9-2288-004948EB3BD1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37B5CC6-6908-1CBA-19DF-AD28984B32C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DC84D201-A301-E833-2DD3-94A7118EF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91809" y="1222745"/>
            <a:ext cx="7826453" cy="5253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/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dirty="0"/>
                  <a:t>For </a:t>
                </a:r>
                <a:r>
                  <a:rPr lang="it-IT" sz="2000" dirty="0" err="1"/>
                  <a:t>each</a:t>
                </a:r>
                <a:r>
                  <a:rPr lang="it-IT" sz="2000" dirty="0"/>
                  <a:t> </a:t>
                </a:r>
                <a:r>
                  <a:rPr lang="it-IT" sz="2000" dirty="0" err="1"/>
                  <a:t>square</a:t>
                </a:r>
                <a:r>
                  <a:rPr lang="it-IT" sz="2000" dirty="0"/>
                  <a:t> bin:</a:t>
                </a:r>
              </a:p>
              <a:p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</a:t>
                </a:r>
                <a:r>
                  <a:rPr lang="it-IT" sz="2000" dirty="0" err="1"/>
                  <a:t>maximizes</a:t>
                </a:r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284AF226-3491-ED5E-32BB-BC47BA62E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2269944"/>
                <a:ext cx="2601609" cy="3296928"/>
              </a:xfrm>
              <a:prstGeom prst="rect">
                <a:avLst/>
              </a:prstGeom>
              <a:blipFill>
                <a:blip r:embed="rId3"/>
                <a:stretch>
                  <a:fillRect l="-2342" t="-924" b="-240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tangolo 2">
            <a:extLst>
              <a:ext uri="{FF2B5EF4-FFF2-40B4-BE49-F238E27FC236}">
                <a16:creationId xmlns:a16="http://schemas.microsoft.com/office/drawing/2014/main" id="{125C8486-5386-1A71-D52D-81CFE52FC7BC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2070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BBDE0-9A4C-ABCA-01C9-7988C25D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BD10DC-EC4D-98AB-719C-6095CCE9E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TORSION FIT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FF30A1B-8846-D57A-6DE7-942D8D233F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2875B2-A575-3706-95CC-1FE0122A0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E1C7E8-7F11-8516-768E-7D16E6757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EBE7E191-B831-828F-0AA7-B2407B503C3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A64DF11-A629-1C99-F77E-8CDCA846E204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76FFD91-9F6F-E5B3-4686-EF6D66C0B10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550C9EC-649A-8699-5F8B-63E2C3150238}"/>
              </a:ext>
            </a:extLst>
          </p:cNvPr>
          <p:cNvSpPr/>
          <p:nvPr/>
        </p:nvSpPr>
        <p:spPr>
          <a:xfrm>
            <a:off x="7708477" y="1774499"/>
            <a:ext cx="2814320" cy="12293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9E58BD3-F24A-2D3A-7718-203594E40E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813319"/>
            <a:ext cx="5580000" cy="416946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0928946-4D21-E6D2-D16E-FC59526918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920" y="1774499"/>
            <a:ext cx="5580000" cy="4169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79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12F6-63F5-4141-FD72-E8BA7788C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F355B4B0-5F18-7546-B2F3-A9AB5CC3E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F469B1-7566-166A-8479-6314C99F3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b="1" dirty="0">
                <a:solidFill>
                  <a:srgbClr val="002060"/>
                </a:solidFill>
              </a:rPr>
              <a:t>	BACKUP SLIDES: 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483523E-687A-096F-F0E0-118DC344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B17B485-6E4A-9B39-EEAB-ABA6041D5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2C731-132C-A9A8-2350-36FC9CFA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C685B70-5D44-D30F-3E62-A4E44D8EE7F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4C20D92-3260-EA78-C284-63C98AB6F2E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329E853-9158-26DE-0F14-F840A68094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BB7F94A-BA6E-D8B0-4B00-6462F0911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447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3340</TotalTime>
  <Words>1784</Words>
  <Application>Microsoft Office PowerPoint</Application>
  <PresentationFormat>Widescreen</PresentationFormat>
  <Paragraphs>275</Paragraphs>
  <Slides>25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 1. DATA ANALYZED</vt:lpstr>
      <vt:lpstr> 2. PREVIOUS ANALYSIS</vt:lpstr>
      <vt:lpstr> 2. PREVIOUS ANALYSIS: CRYSTAL EDGES</vt:lpstr>
      <vt:lpstr> 2. PREVIOUS ANALYSIS: CRYSTAL EDGES</vt:lpstr>
      <vt:lpstr> 2. PREVIOUS ANALYSIS: CRYSTAL EDGES</vt:lpstr>
      <vt:lpstr> 2. PREVIOUS ANALYSIS: ALIGNMENT</vt:lpstr>
      <vt:lpstr> 3. ANALYSIS: ANGLE CORRECTION</vt:lpstr>
      <vt:lpstr> 3. ANALYSIS: TORSION EFFECT</vt:lpstr>
      <vt:lpstr> 3. ANALYSIS: TORSION EFFECT</vt:lpstr>
      <vt:lpstr> 3. ANALYSIS: TORSION FIT</vt:lpstr>
      <vt:lpstr> 3. ANALYSIS: TORSION EFFECT</vt:lpstr>
      <vt:lpstr> 3. ANALYSIS: TORSION FIT</vt:lpstr>
      <vt:lpstr> 3. ANALYSIS: EFFICIENCY CURVE</vt:lpstr>
      <vt:lpstr> 3. ANALYSIS</vt:lpstr>
      <vt:lpstr> 3. ANALYSIS</vt:lpstr>
      <vt:lpstr> 4. RESULTS</vt:lpstr>
      <vt:lpstr> 4. RESULTS</vt:lpstr>
      <vt:lpstr> BACKUP SLIDES</vt:lpstr>
      <vt:lpstr> BACKUP SLIDES: ALIGNMENT</vt:lpstr>
      <vt:lpstr> BACKUP SLIDES: SPATIAL CUT</vt:lpstr>
      <vt:lpstr> BACKUP SLIDES: ANGLE SELECTION</vt:lpstr>
      <vt:lpstr> BACKUP SLIDES: ANGLE SELECTION</vt:lpstr>
      <vt:lpstr> BACKUP SLIDES: TORSION FIT</vt:lpstr>
      <vt:lpstr> BACKUP SLIDES: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24</cp:revision>
  <dcterms:created xsi:type="dcterms:W3CDTF">2026-07-09T15:21:04Z</dcterms:created>
  <dcterms:modified xsi:type="dcterms:W3CDTF">2026-07-22T16:43:15Z</dcterms:modified>
</cp:coreProperties>
</file>