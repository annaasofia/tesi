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86" r:id="rId3"/>
    <p:sldId id="329" r:id="rId4"/>
    <p:sldId id="330" r:id="rId5"/>
    <p:sldId id="332" r:id="rId6"/>
    <p:sldId id="336" r:id="rId7"/>
    <p:sldId id="337" r:id="rId8"/>
    <p:sldId id="338" r:id="rId9"/>
    <p:sldId id="347" r:id="rId10"/>
    <p:sldId id="339" r:id="rId11"/>
    <p:sldId id="341" r:id="rId12"/>
    <p:sldId id="342" r:id="rId13"/>
    <p:sldId id="344" r:id="rId14"/>
    <p:sldId id="343" r:id="rId15"/>
    <p:sldId id="346" r:id="rId16"/>
    <p:sldId id="316" r:id="rId17"/>
    <p:sldId id="295" r:id="rId18"/>
    <p:sldId id="324" r:id="rId19"/>
    <p:sldId id="305" r:id="rId20"/>
    <p:sldId id="335" r:id="rId21"/>
    <p:sldId id="319" r:id="rId22"/>
    <p:sldId id="310" r:id="rId23"/>
    <p:sldId id="303" r:id="rId24"/>
    <p:sldId id="345" r:id="rId25"/>
    <p:sldId id="306" r:id="rId26"/>
    <p:sldId id="307" r:id="rId27"/>
    <p:sldId id="315" r:id="rId28"/>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3366FF"/>
    <a:srgbClr val="FFB2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essuno stile, nessuna grigli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essuno stile, griglia tabel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309" autoAdjust="0"/>
    <p:restoredTop sz="93447" autoAdjust="0"/>
  </p:normalViewPr>
  <p:slideViewPr>
    <p:cSldViewPr snapToGrid="0">
      <p:cViewPr varScale="1">
        <p:scale>
          <a:sx n="59" d="100"/>
          <a:sy n="59" d="100"/>
        </p:scale>
        <p:origin x="68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tockChart>
        <c:ser>
          <c:idx val="0"/>
          <c:order val="0"/>
          <c:tx>
            <c:strRef>
              <c:f>Sheet1!$B$1</c:f>
              <c:strCache>
                <c:ptCount val="1"/>
                <c:pt idx="0">
                  <c:v>High</c:v>
                </c:pt>
              </c:strCache>
            </c:strRef>
          </c:tx>
          <c:spPr>
            <a:ln w="38100" cap="rnd">
              <a:noFill/>
              <a:round/>
            </a:ln>
            <a:effectLst/>
          </c:spPr>
          <c:marker>
            <c:symbol val="none"/>
          </c:marker>
          <c:cat>
            <c:strRef>
              <c:f>Sheet1!$A$2:$A$6</c:f>
              <c:strCache>
                <c:ptCount val="5"/>
                <c:pt idx="0">
                  <c:v>run 8430</c:v>
                </c:pt>
                <c:pt idx="1">
                  <c:v>run 8431</c:v>
                </c:pt>
                <c:pt idx="2">
                  <c:v>run 8650</c:v>
                </c:pt>
                <c:pt idx="3">
                  <c:v>run 8655</c:v>
                </c:pt>
                <c:pt idx="4">
                  <c:v>run 8656</c:v>
                </c:pt>
              </c:strCache>
            </c:strRef>
          </c:cat>
          <c:val>
            <c:numRef>
              <c:f>Sheet1!$B$2:$B$6</c:f>
              <c:numCache>
                <c:formatCode>General</c:formatCode>
                <c:ptCount val="5"/>
                <c:pt idx="0">
                  <c:v>19.8</c:v>
                </c:pt>
                <c:pt idx="1">
                  <c:v>19.399999999999999</c:v>
                </c:pt>
                <c:pt idx="2">
                  <c:v>17.3</c:v>
                </c:pt>
                <c:pt idx="3">
                  <c:v>18.2</c:v>
                </c:pt>
                <c:pt idx="4">
                  <c:v>18.2</c:v>
                </c:pt>
              </c:numCache>
            </c:numRef>
          </c:val>
          <c:smooth val="0"/>
          <c:extLst>
            <c:ext xmlns:c16="http://schemas.microsoft.com/office/drawing/2014/chart" uri="{C3380CC4-5D6E-409C-BE32-E72D297353CC}">
              <c16:uniqueId val="{00000000-8255-4237-B053-069DE094C4E8}"/>
            </c:ext>
          </c:extLst>
        </c:ser>
        <c:ser>
          <c:idx val="1"/>
          <c:order val="1"/>
          <c:tx>
            <c:strRef>
              <c:f>Sheet1!$C$1</c:f>
              <c:strCache>
                <c:ptCount val="1"/>
                <c:pt idx="0">
                  <c:v>Low</c:v>
                </c:pt>
              </c:strCache>
            </c:strRef>
          </c:tx>
          <c:spPr>
            <a:ln w="38100" cap="rnd">
              <a:noFill/>
              <a:round/>
            </a:ln>
            <a:effectLst/>
          </c:spPr>
          <c:marker>
            <c:symbol val="none"/>
          </c:marker>
          <c:cat>
            <c:strRef>
              <c:f>Sheet1!$A$2:$A$6</c:f>
              <c:strCache>
                <c:ptCount val="5"/>
                <c:pt idx="0">
                  <c:v>run 8430</c:v>
                </c:pt>
                <c:pt idx="1">
                  <c:v>run 8431</c:v>
                </c:pt>
                <c:pt idx="2">
                  <c:v>run 8650</c:v>
                </c:pt>
                <c:pt idx="3">
                  <c:v>run 8655</c:v>
                </c:pt>
                <c:pt idx="4">
                  <c:v>run 8656</c:v>
                </c:pt>
              </c:strCache>
            </c:strRef>
          </c:cat>
          <c:val>
            <c:numRef>
              <c:f>Sheet1!$C$2:$C$6</c:f>
              <c:numCache>
                <c:formatCode>General</c:formatCode>
                <c:ptCount val="5"/>
                <c:pt idx="0">
                  <c:v>19.399999999999999</c:v>
                </c:pt>
                <c:pt idx="1">
                  <c:v>19</c:v>
                </c:pt>
                <c:pt idx="2">
                  <c:v>16.899999999999999</c:v>
                </c:pt>
                <c:pt idx="3">
                  <c:v>17.8</c:v>
                </c:pt>
                <c:pt idx="4">
                  <c:v>17.8</c:v>
                </c:pt>
              </c:numCache>
            </c:numRef>
          </c:val>
          <c:smooth val="0"/>
          <c:extLst>
            <c:ext xmlns:c16="http://schemas.microsoft.com/office/drawing/2014/chart" uri="{C3380CC4-5D6E-409C-BE32-E72D297353CC}">
              <c16:uniqueId val="{00000001-8255-4237-B053-069DE094C4E8}"/>
            </c:ext>
          </c:extLst>
        </c:ser>
        <c:ser>
          <c:idx val="2"/>
          <c:order val="2"/>
          <c:tx>
            <c:strRef>
              <c:f>Sheet1!$D$1</c:f>
              <c:strCache>
                <c:ptCount val="1"/>
                <c:pt idx="0">
                  <c:v>Close</c:v>
                </c:pt>
              </c:strCache>
            </c:strRef>
          </c:tx>
          <c:spPr>
            <a:ln w="38100" cap="rnd">
              <a:noFill/>
              <a:round/>
            </a:ln>
            <a:effectLst>
              <a:outerShdw dist="50800" sx="1000" sy="1000" algn="ctr" rotWithShape="0">
                <a:srgbClr val="000000"/>
              </a:outerShdw>
            </a:effectLst>
          </c:spPr>
          <c:marker>
            <c:symbol val="circle"/>
            <c:size val="15"/>
            <c:spPr>
              <a:solidFill>
                <a:srgbClr val="002060"/>
              </a:solidFill>
              <a:ln w="9525">
                <a:solidFill>
                  <a:srgbClr val="002060"/>
                </a:solidFill>
              </a:ln>
              <a:effectLst>
                <a:outerShdw dist="50800" sx="1000" sy="1000" algn="ctr" rotWithShape="0">
                  <a:srgbClr val="000000"/>
                </a:outerShdw>
              </a:effectLst>
            </c:spPr>
          </c:marker>
          <c:dPt>
            <c:idx val="0"/>
            <c:marker>
              <c:symbol val="circle"/>
              <c:size val="15"/>
              <c:spPr>
                <a:solidFill>
                  <a:srgbClr val="002060"/>
                </a:solidFill>
                <a:ln w="9525">
                  <a:solidFill>
                    <a:srgbClr val="002060"/>
                  </a:solidFill>
                </a:ln>
                <a:effectLst>
                  <a:outerShdw dist="50800" sx="1000" sy="1000" algn="ctr" rotWithShape="0">
                    <a:srgbClr val="000000"/>
                  </a:outerShdw>
                </a:effectLst>
              </c:spPr>
            </c:marker>
            <c:bubble3D val="0"/>
            <c:spPr>
              <a:ln w="38100" cap="rnd">
                <a:noFill/>
                <a:round/>
              </a:ln>
              <a:effectLst>
                <a:outerShdw dist="50800" sx="1000" sy="1000" algn="ctr" rotWithShape="0">
                  <a:srgbClr val="000000"/>
                </a:outerShdw>
              </a:effectLst>
            </c:spPr>
            <c:extLst>
              <c:ext xmlns:c16="http://schemas.microsoft.com/office/drawing/2014/chart" uri="{C3380CC4-5D6E-409C-BE32-E72D297353CC}">
                <c16:uniqueId val="{00000007-8255-4237-B053-069DE094C4E8}"/>
              </c:ext>
            </c:extLst>
          </c:dPt>
          <c:cat>
            <c:strRef>
              <c:f>Sheet1!$A$2:$A$6</c:f>
              <c:strCache>
                <c:ptCount val="5"/>
                <c:pt idx="0">
                  <c:v>run 8430</c:v>
                </c:pt>
                <c:pt idx="1">
                  <c:v>run 8431</c:v>
                </c:pt>
                <c:pt idx="2">
                  <c:v>run 8650</c:v>
                </c:pt>
                <c:pt idx="3">
                  <c:v>run 8655</c:v>
                </c:pt>
                <c:pt idx="4">
                  <c:v>run 8656</c:v>
                </c:pt>
              </c:strCache>
            </c:strRef>
          </c:cat>
          <c:val>
            <c:numRef>
              <c:f>Sheet1!$D$2:$D$6</c:f>
              <c:numCache>
                <c:formatCode>General</c:formatCode>
                <c:ptCount val="5"/>
                <c:pt idx="0">
                  <c:v>19.600000000000001</c:v>
                </c:pt>
                <c:pt idx="1">
                  <c:v>19.2</c:v>
                </c:pt>
                <c:pt idx="2">
                  <c:v>17.100000000000001</c:v>
                </c:pt>
                <c:pt idx="3">
                  <c:v>18</c:v>
                </c:pt>
                <c:pt idx="4">
                  <c:v>18</c:v>
                </c:pt>
              </c:numCache>
            </c:numRef>
          </c:val>
          <c:smooth val="0"/>
          <c:extLst>
            <c:ext xmlns:c16="http://schemas.microsoft.com/office/drawing/2014/chart" uri="{C3380CC4-5D6E-409C-BE32-E72D297353CC}">
              <c16:uniqueId val="{00000002-8255-4237-B053-069DE094C4E8}"/>
            </c:ext>
          </c:extLst>
        </c:ser>
        <c:dLbls>
          <c:showLegendKey val="0"/>
          <c:showVal val="0"/>
          <c:showCatName val="0"/>
          <c:showSerName val="0"/>
          <c:showPercent val="0"/>
          <c:showBubbleSize val="0"/>
        </c:dLbls>
        <c:hiLowLines>
          <c:spPr>
            <a:ln w="38100" cap="flat" cmpd="sng" algn="ctr">
              <a:solidFill>
                <a:srgbClr val="002060"/>
              </a:solidFill>
              <a:round/>
            </a:ln>
            <a:effectLst>
              <a:outerShdw sx="1000" sy="1000" algn="ctr" rotWithShape="0">
                <a:srgbClr val="000000"/>
              </a:outerShdw>
            </a:effectLst>
          </c:spPr>
        </c:hiLowLines>
        <c:axId val="1563414319"/>
        <c:axId val="1581784111"/>
      </c:stockChart>
      <c:catAx>
        <c:axId val="1563414319"/>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rgbClr val="002060"/>
                </a:solidFill>
                <a:latin typeface="+mn-lt"/>
                <a:ea typeface="+mn-ea"/>
                <a:cs typeface="+mn-cs"/>
              </a:defRPr>
            </a:pPr>
            <a:endParaRPr lang="it-IT"/>
          </a:p>
        </c:txPr>
        <c:crossAx val="1581784111"/>
        <c:crosses val="autoZero"/>
        <c:auto val="1"/>
        <c:lblAlgn val="ctr"/>
        <c:lblOffset val="100"/>
        <c:noMultiLvlLbl val="0"/>
      </c:catAx>
      <c:valAx>
        <c:axId val="1581784111"/>
        <c:scaling>
          <c:orientation val="minMax"/>
          <c:min val="16.5"/>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it-IT" b="1" dirty="0">
                    <a:solidFill>
                      <a:srgbClr val="002060"/>
                    </a:solidFill>
                  </a:rPr>
                  <a:t>Channeling efficiency [%]</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it-IT"/>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crossAx val="156341431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it-IT"/>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A422DF-4847-4D6E-BB97-9B75D56F5D74}" type="datetimeFigureOut">
              <a:rPr lang="it-IT" smtClean="0"/>
              <a:t>19/08/2026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05392F-55BF-4B8E-AF01-45F81C88C286}" type="slidenum">
              <a:rPr lang="it-IT" smtClean="0"/>
              <a:t>‹#›</a:t>
            </a:fld>
            <a:endParaRPr lang="it-IT"/>
          </a:p>
        </p:txBody>
      </p:sp>
    </p:spTree>
    <p:extLst>
      <p:ext uri="{BB962C8B-B14F-4D97-AF65-F5344CB8AC3E}">
        <p14:creationId xmlns:p14="http://schemas.microsoft.com/office/powerpoint/2010/main" val="19707561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indent="0">
              <a:buNone/>
            </a:pPr>
            <a:r>
              <a:rPr lang="it-IT" sz="1200" dirty="0"/>
              <a:t>Inside a crystal, atoms are arranged in regular planes. If a charged particle enters nearly parallel to these planes, it can become trapped and guided along their curvature, “locked” to the lattice instead of crossing it in a straight line.</a:t>
            </a:r>
          </a:p>
          <a:p>
            <a:pPr marL="0" indent="0">
              <a:buNone/>
            </a:pPr>
            <a:endParaRPr lang="it-IT" sz="1200" dirty="0"/>
          </a:p>
          <a:p>
            <a:pPr marL="0" indent="0">
              <a:buNone/>
            </a:pPr>
            <a:r>
              <a:rPr lang="it-IT" sz="1200" dirty="0"/>
              <a:t>When the crystal is bent, the channeled beam is deflected along with the grating: the crystal acts as a guide, offering a compact alternative to traditional magnets for deflecting or extracting a </a:t>
            </a:r>
            <a:r>
              <a:rPr lang="it-IT" sz="1200" i="1" dirty="0"/>
              <a:t>particle</a:t>
            </a:r>
            <a:r>
              <a:rPr lang="it-IT" sz="1200" dirty="0"/>
              <a:t> beam.</a:t>
            </a:r>
          </a:p>
          <a:p>
            <a:endParaRPr lang="it-IT" dirty="0"/>
          </a:p>
        </p:txBody>
      </p:sp>
      <p:sp>
        <p:nvSpPr>
          <p:cNvPr id="4" name="Segnaposto numero diapositiva 3"/>
          <p:cNvSpPr>
            <a:spLocks noGrp="1"/>
          </p:cNvSpPr>
          <p:nvPr>
            <p:ph type="sldNum" sz="quarter" idx="5"/>
          </p:nvPr>
        </p:nvSpPr>
        <p:spPr/>
        <p:txBody>
          <a:bodyPr/>
          <a:lstStyle/>
          <a:p>
            <a:fld id="{C205392F-55BF-4B8E-AF01-45F81C88C286}" type="slidenum">
              <a:rPr lang="it-IT" smtClean="0"/>
              <a:t>2</a:t>
            </a:fld>
            <a:endParaRPr lang="it-IT"/>
          </a:p>
        </p:txBody>
      </p:sp>
    </p:spTree>
    <p:extLst>
      <p:ext uri="{BB962C8B-B14F-4D97-AF65-F5344CB8AC3E}">
        <p14:creationId xmlns:p14="http://schemas.microsoft.com/office/powerpoint/2010/main" val="4234037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3B66E-326D-AD04-5FCA-205BF81AABFD}"/>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7EB9839-9517-6898-FE86-3B43CDF0FB30}"/>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6B41770D-457C-C243-E408-0872EE012A2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A6CEA48B-8F5E-2B22-0223-AF2CD15BFE7B}"/>
              </a:ext>
            </a:extLst>
          </p:cNvPr>
          <p:cNvSpPr>
            <a:spLocks noGrp="1"/>
          </p:cNvSpPr>
          <p:nvPr>
            <p:ph type="sldNum" sz="quarter" idx="5"/>
          </p:nvPr>
        </p:nvSpPr>
        <p:spPr/>
        <p:txBody>
          <a:bodyPr/>
          <a:lstStyle/>
          <a:p>
            <a:fld id="{C205392F-55BF-4B8E-AF01-45F81C88C286}" type="slidenum">
              <a:rPr lang="it-IT" smtClean="0"/>
              <a:t>3</a:t>
            </a:fld>
            <a:endParaRPr lang="it-IT"/>
          </a:p>
        </p:txBody>
      </p:sp>
    </p:spTree>
    <p:extLst>
      <p:ext uri="{BB962C8B-B14F-4D97-AF65-F5344CB8AC3E}">
        <p14:creationId xmlns:p14="http://schemas.microsoft.com/office/powerpoint/2010/main" val="14028074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99611-5A3C-561F-B26E-3823D4E0CD7C}"/>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8A75BB9-E712-75E6-D470-2CD344D292FC}"/>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BE429AC5-F0C7-CC11-618D-0017723CB1D0}"/>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D4C4EB7C-05E4-3671-01DB-9B5DA46E6762}"/>
              </a:ext>
            </a:extLst>
          </p:cNvPr>
          <p:cNvSpPr>
            <a:spLocks noGrp="1"/>
          </p:cNvSpPr>
          <p:nvPr>
            <p:ph type="sldNum" sz="quarter" idx="5"/>
          </p:nvPr>
        </p:nvSpPr>
        <p:spPr/>
        <p:txBody>
          <a:bodyPr/>
          <a:lstStyle/>
          <a:p>
            <a:fld id="{C205392F-55BF-4B8E-AF01-45F81C88C286}" type="slidenum">
              <a:rPr lang="it-IT" smtClean="0"/>
              <a:t>4</a:t>
            </a:fld>
            <a:endParaRPr lang="it-IT"/>
          </a:p>
        </p:txBody>
      </p:sp>
    </p:spTree>
    <p:extLst>
      <p:ext uri="{BB962C8B-B14F-4D97-AF65-F5344CB8AC3E}">
        <p14:creationId xmlns:p14="http://schemas.microsoft.com/office/powerpoint/2010/main" val="2236913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EF183-8FB4-A481-12DD-D064142CC20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25E31ED-EA35-1028-F14F-50117AAB798F}"/>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0DC09ABD-62A6-0180-C849-0D6D9416C776}"/>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D6F503A9-8AF6-A7A9-DD99-6E890C368A56}"/>
              </a:ext>
            </a:extLst>
          </p:cNvPr>
          <p:cNvSpPr>
            <a:spLocks noGrp="1"/>
          </p:cNvSpPr>
          <p:nvPr>
            <p:ph type="sldNum" sz="quarter" idx="5"/>
          </p:nvPr>
        </p:nvSpPr>
        <p:spPr/>
        <p:txBody>
          <a:bodyPr/>
          <a:lstStyle/>
          <a:p>
            <a:fld id="{C205392F-55BF-4B8E-AF01-45F81C88C286}" type="slidenum">
              <a:rPr lang="it-IT" smtClean="0"/>
              <a:t>5</a:t>
            </a:fld>
            <a:endParaRPr lang="it-IT"/>
          </a:p>
        </p:txBody>
      </p:sp>
    </p:spTree>
    <p:extLst>
      <p:ext uri="{BB962C8B-B14F-4D97-AF65-F5344CB8AC3E}">
        <p14:creationId xmlns:p14="http://schemas.microsoft.com/office/powerpoint/2010/main" val="8867419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E3706-CCF1-F1BD-7FF5-37E9E1364C6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FD50039-F4EC-91B6-2FEF-FAC16B0FDDD1}"/>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F5C03E5C-A0B9-D650-2BC9-3D64A36000FF}"/>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94F019EE-DF93-EF47-CE0E-F0B6177A47E9}"/>
              </a:ext>
            </a:extLst>
          </p:cNvPr>
          <p:cNvSpPr>
            <a:spLocks noGrp="1"/>
          </p:cNvSpPr>
          <p:nvPr>
            <p:ph type="sldNum" sz="quarter" idx="5"/>
          </p:nvPr>
        </p:nvSpPr>
        <p:spPr/>
        <p:txBody>
          <a:bodyPr/>
          <a:lstStyle/>
          <a:p>
            <a:fld id="{C205392F-55BF-4B8E-AF01-45F81C88C286}" type="slidenum">
              <a:rPr lang="it-IT" smtClean="0"/>
              <a:t>6</a:t>
            </a:fld>
            <a:endParaRPr lang="it-IT"/>
          </a:p>
        </p:txBody>
      </p:sp>
    </p:spTree>
    <p:extLst>
      <p:ext uri="{BB962C8B-B14F-4D97-AF65-F5344CB8AC3E}">
        <p14:creationId xmlns:p14="http://schemas.microsoft.com/office/powerpoint/2010/main" val="1576062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2ECF2-F2F7-02D8-41B8-C5989399C1A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31141CC-29EC-B25A-5A25-454EAAFF7843}"/>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351A456D-EBE7-4B50-82A5-179690F493C3}"/>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DAFEA273-B27C-17EC-E01F-AB1F8C496038}"/>
              </a:ext>
            </a:extLst>
          </p:cNvPr>
          <p:cNvSpPr>
            <a:spLocks noGrp="1"/>
          </p:cNvSpPr>
          <p:nvPr>
            <p:ph type="sldNum" sz="quarter" idx="5"/>
          </p:nvPr>
        </p:nvSpPr>
        <p:spPr/>
        <p:txBody>
          <a:bodyPr/>
          <a:lstStyle/>
          <a:p>
            <a:fld id="{C205392F-55BF-4B8E-AF01-45F81C88C286}" type="slidenum">
              <a:rPr lang="it-IT" smtClean="0"/>
              <a:t>7</a:t>
            </a:fld>
            <a:endParaRPr lang="it-IT"/>
          </a:p>
        </p:txBody>
      </p:sp>
    </p:spTree>
    <p:extLst>
      <p:ext uri="{BB962C8B-B14F-4D97-AF65-F5344CB8AC3E}">
        <p14:creationId xmlns:p14="http://schemas.microsoft.com/office/powerpoint/2010/main" val="18958377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4D496-77A0-606B-AC87-B3878B9C9F0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D876FAE5-6FA4-1578-CD47-EDDD37896BA2}"/>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3DC3D6FB-6C6D-3695-D9C3-1038FE3DA92A}"/>
              </a:ext>
            </a:extLst>
          </p:cNvPr>
          <p:cNvSpPr>
            <a:spLocks noGrp="1"/>
          </p:cNvSpPr>
          <p:nvPr>
            <p:ph type="body" idx="1"/>
          </p:nvPr>
        </p:nvSpPr>
        <p:spPr/>
        <p:txBody>
          <a:bodyPr/>
          <a:lstStyle/>
          <a:p>
            <a:r>
              <a:rPr lang="en-US" dirty="0"/>
              <a:t>Results: the two methods agree on a width of 2 mm in x, in y the scattering method shows a narrower effective window due to the clamps, consistent with the torsion analysis, which already excludes the poorly-illuminated edges</a:t>
            </a:r>
            <a:endParaRPr lang="it-IT" dirty="0"/>
          </a:p>
        </p:txBody>
      </p:sp>
      <p:sp>
        <p:nvSpPr>
          <p:cNvPr id="4" name="Segnaposto numero diapositiva 3">
            <a:extLst>
              <a:ext uri="{FF2B5EF4-FFF2-40B4-BE49-F238E27FC236}">
                <a16:creationId xmlns:a16="http://schemas.microsoft.com/office/drawing/2014/main" id="{18B00306-1722-D589-8ADA-1F3C0AAAFECB}"/>
              </a:ext>
            </a:extLst>
          </p:cNvPr>
          <p:cNvSpPr>
            <a:spLocks noGrp="1"/>
          </p:cNvSpPr>
          <p:nvPr>
            <p:ph type="sldNum" sz="quarter" idx="5"/>
          </p:nvPr>
        </p:nvSpPr>
        <p:spPr/>
        <p:txBody>
          <a:bodyPr/>
          <a:lstStyle/>
          <a:p>
            <a:fld id="{C205392F-55BF-4B8E-AF01-45F81C88C286}" type="slidenum">
              <a:rPr lang="it-IT" smtClean="0"/>
              <a:t>8</a:t>
            </a:fld>
            <a:endParaRPr lang="it-IT"/>
          </a:p>
        </p:txBody>
      </p:sp>
    </p:spTree>
    <p:extLst>
      <p:ext uri="{BB962C8B-B14F-4D97-AF65-F5344CB8AC3E}">
        <p14:creationId xmlns:p14="http://schemas.microsoft.com/office/powerpoint/2010/main" val="35688842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21E15-F745-FB34-4D2F-D8A72984F1F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8BCCAB2C-A1A6-4A94-AD9A-2B6F5591F3BF}"/>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3F5EB30D-4E8C-195A-B6DA-BE626A29BBAF}"/>
              </a:ext>
            </a:extLst>
          </p:cNvPr>
          <p:cNvSpPr>
            <a:spLocks noGrp="1"/>
          </p:cNvSpPr>
          <p:nvPr>
            <p:ph type="body" idx="1"/>
          </p:nvPr>
        </p:nvSpPr>
        <p:spPr/>
        <p:txBody>
          <a:bodyPr/>
          <a:lstStyle/>
          <a:p>
            <a:r>
              <a:rPr lang="en-US" dirty="0"/>
              <a:t>Results: the two methods agree on a width of 2 mm in x, in y the scattering method shows a narrower effective window due to the clamps, consistent with the torsion analysis, which already excludes the poorly-illuminated edges</a:t>
            </a:r>
            <a:endParaRPr lang="it-IT" dirty="0"/>
          </a:p>
        </p:txBody>
      </p:sp>
      <p:sp>
        <p:nvSpPr>
          <p:cNvPr id="4" name="Segnaposto numero diapositiva 3">
            <a:extLst>
              <a:ext uri="{FF2B5EF4-FFF2-40B4-BE49-F238E27FC236}">
                <a16:creationId xmlns:a16="http://schemas.microsoft.com/office/drawing/2014/main" id="{A6203A5A-0E08-281C-8596-35D0BF1BE459}"/>
              </a:ext>
            </a:extLst>
          </p:cNvPr>
          <p:cNvSpPr>
            <a:spLocks noGrp="1"/>
          </p:cNvSpPr>
          <p:nvPr>
            <p:ph type="sldNum" sz="quarter" idx="5"/>
          </p:nvPr>
        </p:nvSpPr>
        <p:spPr/>
        <p:txBody>
          <a:bodyPr/>
          <a:lstStyle/>
          <a:p>
            <a:fld id="{C205392F-55BF-4B8E-AF01-45F81C88C286}" type="slidenum">
              <a:rPr lang="it-IT" smtClean="0"/>
              <a:t>9</a:t>
            </a:fld>
            <a:endParaRPr lang="it-IT"/>
          </a:p>
        </p:txBody>
      </p:sp>
    </p:spTree>
    <p:extLst>
      <p:ext uri="{BB962C8B-B14F-4D97-AF65-F5344CB8AC3E}">
        <p14:creationId xmlns:p14="http://schemas.microsoft.com/office/powerpoint/2010/main" val="3857828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C9400-DEB2-5D10-7269-08DB51F9D2C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7947CD2-8F23-B8DE-0F21-DF19D58685E7}"/>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E13C93F0-6750-8A3D-09A2-897DA29AD412}"/>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EEFF5685-94FB-C0AE-9BF6-C064656648A7}"/>
              </a:ext>
            </a:extLst>
          </p:cNvPr>
          <p:cNvSpPr>
            <a:spLocks noGrp="1"/>
          </p:cNvSpPr>
          <p:nvPr>
            <p:ph type="sldNum" sz="quarter" idx="5"/>
          </p:nvPr>
        </p:nvSpPr>
        <p:spPr/>
        <p:txBody>
          <a:bodyPr/>
          <a:lstStyle/>
          <a:p>
            <a:fld id="{C205392F-55BF-4B8E-AF01-45F81C88C286}" type="slidenum">
              <a:rPr lang="it-IT" smtClean="0"/>
              <a:t>10</a:t>
            </a:fld>
            <a:endParaRPr lang="it-IT"/>
          </a:p>
        </p:txBody>
      </p:sp>
    </p:spTree>
    <p:extLst>
      <p:ext uri="{BB962C8B-B14F-4D97-AF65-F5344CB8AC3E}">
        <p14:creationId xmlns:p14="http://schemas.microsoft.com/office/powerpoint/2010/main" val="2971110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069AC-C0F4-9DF5-3133-C070CBA74889}"/>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48D768A-1A6D-DA22-7B99-12ECCF6EB192}"/>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8A7300D3-5F27-C2F7-2B9F-C02C4ED2CFC5}"/>
              </a:ext>
            </a:extLst>
          </p:cNvPr>
          <p:cNvSpPr>
            <a:spLocks noGrp="1"/>
          </p:cNvSpPr>
          <p:nvPr>
            <p:ph type="body" idx="1"/>
          </p:nvPr>
        </p:nvSpPr>
        <p:spPr/>
        <p:txBody>
          <a:bodyPr/>
          <a:lstStyle/>
          <a:p>
            <a:r>
              <a:rPr lang="it-IT" dirty="0"/>
              <a:t>By fitting only the right side of the peak, we ensured the cleanest possible measurement by excluding any contribution from dechanneled particles.</a:t>
            </a:r>
          </a:p>
        </p:txBody>
      </p:sp>
      <p:sp>
        <p:nvSpPr>
          <p:cNvPr id="4" name="Segnaposto numero diapositiva 3">
            <a:extLst>
              <a:ext uri="{FF2B5EF4-FFF2-40B4-BE49-F238E27FC236}">
                <a16:creationId xmlns:a16="http://schemas.microsoft.com/office/drawing/2014/main" id="{70120958-256A-04CF-E0E5-4E7AD313BAC1}"/>
              </a:ext>
            </a:extLst>
          </p:cNvPr>
          <p:cNvSpPr>
            <a:spLocks noGrp="1"/>
          </p:cNvSpPr>
          <p:nvPr>
            <p:ph type="sldNum" sz="quarter" idx="5"/>
          </p:nvPr>
        </p:nvSpPr>
        <p:spPr/>
        <p:txBody>
          <a:bodyPr/>
          <a:lstStyle/>
          <a:p>
            <a:fld id="{C205392F-55BF-4B8E-AF01-45F81C88C286}" type="slidenum">
              <a:rPr lang="it-IT" smtClean="0"/>
              <a:t>11</a:t>
            </a:fld>
            <a:endParaRPr lang="it-IT"/>
          </a:p>
        </p:txBody>
      </p:sp>
    </p:spTree>
    <p:extLst>
      <p:ext uri="{BB962C8B-B14F-4D97-AF65-F5344CB8AC3E}">
        <p14:creationId xmlns:p14="http://schemas.microsoft.com/office/powerpoint/2010/main" val="22412118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7FF38-6110-E691-E954-8CA2D6DF77A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3D5CD043-3771-B268-CA45-A6B135CFFD87}"/>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1CBEFAFD-CAAF-A8A9-D347-1844E594355A}"/>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3F760FF8-5C83-B626-0AF0-3DBC72BE7C7A}"/>
              </a:ext>
            </a:extLst>
          </p:cNvPr>
          <p:cNvSpPr>
            <a:spLocks noGrp="1"/>
          </p:cNvSpPr>
          <p:nvPr>
            <p:ph type="sldNum" sz="quarter" idx="5"/>
          </p:nvPr>
        </p:nvSpPr>
        <p:spPr/>
        <p:txBody>
          <a:bodyPr/>
          <a:lstStyle/>
          <a:p>
            <a:fld id="{C205392F-55BF-4B8E-AF01-45F81C88C286}" type="slidenum">
              <a:rPr lang="it-IT" smtClean="0"/>
              <a:t>12</a:t>
            </a:fld>
            <a:endParaRPr lang="it-IT"/>
          </a:p>
        </p:txBody>
      </p:sp>
    </p:spTree>
    <p:extLst>
      <p:ext uri="{BB962C8B-B14F-4D97-AF65-F5344CB8AC3E}">
        <p14:creationId xmlns:p14="http://schemas.microsoft.com/office/powerpoint/2010/main" val="2163049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FF417-4B37-D8F8-73B5-51E79B60008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C1CE670-076C-0E06-6FE9-19263C76EE57}"/>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01BBA2E8-2F57-9C7D-D559-F8E04BEA15E0}"/>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9313E2C5-B2E1-60B4-E470-18A17536EDC8}"/>
              </a:ext>
            </a:extLst>
          </p:cNvPr>
          <p:cNvSpPr>
            <a:spLocks noGrp="1"/>
          </p:cNvSpPr>
          <p:nvPr>
            <p:ph type="sldNum" sz="quarter" idx="5"/>
          </p:nvPr>
        </p:nvSpPr>
        <p:spPr/>
        <p:txBody>
          <a:bodyPr/>
          <a:lstStyle/>
          <a:p>
            <a:fld id="{C205392F-55BF-4B8E-AF01-45F81C88C286}" type="slidenum">
              <a:rPr lang="it-IT" smtClean="0"/>
              <a:t>13</a:t>
            </a:fld>
            <a:endParaRPr lang="it-IT"/>
          </a:p>
        </p:txBody>
      </p:sp>
    </p:spTree>
    <p:extLst>
      <p:ext uri="{BB962C8B-B14F-4D97-AF65-F5344CB8AC3E}">
        <p14:creationId xmlns:p14="http://schemas.microsoft.com/office/powerpoint/2010/main" val="32293973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933A4-9723-7E72-92F4-DE91094D43D4}"/>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8F22CB9-1126-ED59-F3F7-75DDF3EE097D}"/>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4E429418-7BC2-7E35-9974-48B4BDAE9590}"/>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6A32CC1B-B648-0473-81E9-D37C91484A98}"/>
              </a:ext>
            </a:extLst>
          </p:cNvPr>
          <p:cNvSpPr>
            <a:spLocks noGrp="1"/>
          </p:cNvSpPr>
          <p:nvPr>
            <p:ph type="sldNum" sz="quarter" idx="5"/>
          </p:nvPr>
        </p:nvSpPr>
        <p:spPr/>
        <p:txBody>
          <a:bodyPr/>
          <a:lstStyle/>
          <a:p>
            <a:fld id="{C205392F-55BF-4B8E-AF01-45F81C88C286}" type="slidenum">
              <a:rPr lang="it-IT" smtClean="0"/>
              <a:t>14</a:t>
            </a:fld>
            <a:endParaRPr lang="it-IT"/>
          </a:p>
        </p:txBody>
      </p:sp>
    </p:spTree>
    <p:extLst>
      <p:ext uri="{BB962C8B-B14F-4D97-AF65-F5344CB8AC3E}">
        <p14:creationId xmlns:p14="http://schemas.microsoft.com/office/powerpoint/2010/main" val="41037780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C5A5F-2DCA-FD80-A1A3-3EED1437F30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31DAC1A3-72A5-1E7A-8AD6-D7B44F1494C0}"/>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EC541364-86EC-4689-C23C-2F63AA5E4941}"/>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39F01E55-F1DE-4E39-46DE-21171D7A6E9E}"/>
              </a:ext>
            </a:extLst>
          </p:cNvPr>
          <p:cNvSpPr>
            <a:spLocks noGrp="1"/>
          </p:cNvSpPr>
          <p:nvPr>
            <p:ph type="sldNum" sz="quarter" idx="5"/>
          </p:nvPr>
        </p:nvSpPr>
        <p:spPr/>
        <p:txBody>
          <a:bodyPr/>
          <a:lstStyle/>
          <a:p>
            <a:fld id="{C205392F-55BF-4B8E-AF01-45F81C88C286}" type="slidenum">
              <a:rPr lang="it-IT" smtClean="0"/>
              <a:t>15</a:t>
            </a:fld>
            <a:endParaRPr lang="it-IT"/>
          </a:p>
        </p:txBody>
      </p:sp>
    </p:spTree>
    <p:extLst>
      <p:ext uri="{BB962C8B-B14F-4D97-AF65-F5344CB8AC3E}">
        <p14:creationId xmlns:p14="http://schemas.microsoft.com/office/powerpoint/2010/main" val="35032811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200" b="0" i="0" kern="1200" dirty="0">
                <a:solidFill>
                  <a:schemeClr val="tx1"/>
                </a:solidFill>
                <a:effectLst/>
                <a:latin typeface="+mn-lt"/>
                <a:ea typeface="+mn-ea"/>
                <a:cs typeface="+mn-cs"/>
              </a:rPr>
              <a:t>While the </a:t>
            </a:r>
            <a:r>
              <a:rPr lang="it-IT" sz="1200" b="0" i="0" kern="1200" dirty="0" err="1">
                <a:solidFill>
                  <a:schemeClr val="tx1"/>
                </a:solidFill>
                <a:effectLst/>
                <a:latin typeface="+mn-lt"/>
                <a:ea typeface="+mn-ea"/>
                <a:cs typeface="+mn-cs"/>
              </a:rPr>
              <a:t>crystal</a:t>
            </a:r>
            <a:r>
              <a:rPr lang="it-IT" sz="1200" b="0" i="0" kern="1200" dirty="0">
                <a:solidFill>
                  <a:schemeClr val="tx1"/>
                </a:solidFill>
                <a:effectLst/>
                <a:latin typeface="+mn-lt"/>
                <a:ea typeface="+mn-ea"/>
                <a:cs typeface="+mn-cs"/>
              </a:rPr>
              <a:t> </a:t>
            </a:r>
            <a:r>
              <a:rPr lang="it-IT" sz="1200" b="0" i="0" kern="1200" dirty="0" err="1">
                <a:solidFill>
                  <a:schemeClr val="tx1"/>
                </a:solidFill>
                <a:effectLst/>
                <a:latin typeface="+mn-lt"/>
                <a:ea typeface="+mn-ea"/>
                <a:cs typeface="+mn-cs"/>
              </a:rPr>
              <a:t>edges</a:t>
            </a:r>
            <a:r>
              <a:rPr lang="it-IT" sz="1200" b="0" i="0" kern="1200" dirty="0">
                <a:solidFill>
                  <a:schemeClr val="tx1"/>
                </a:solidFill>
                <a:effectLst/>
                <a:latin typeface="+mn-lt"/>
                <a:ea typeface="+mn-ea"/>
                <a:cs typeface="+mn-cs"/>
              </a:rPr>
              <a:t> are </a:t>
            </a:r>
            <a:r>
              <a:rPr lang="it-IT" sz="1200" b="0" i="0" kern="1200" dirty="0" err="1">
                <a:solidFill>
                  <a:schemeClr val="tx1"/>
                </a:solidFill>
                <a:effectLst/>
                <a:latin typeface="+mn-lt"/>
                <a:ea typeface="+mn-ea"/>
                <a:cs typeface="+mn-cs"/>
              </a:rPr>
              <a:t>identified</a:t>
            </a:r>
            <a:r>
              <a:rPr lang="it-IT" sz="1200" b="0" i="0" kern="1200" dirty="0">
                <a:solidFill>
                  <a:schemeClr val="tx1"/>
                </a:solidFill>
                <a:effectLst/>
                <a:latin typeface="+mn-lt"/>
                <a:ea typeface="+mn-ea"/>
                <a:cs typeface="+mn-cs"/>
              </a:rPr>
              <a:t> using the </a:t>
            </a:r>
            <a:r>
              <a:rPr lang="it-IT" sz="1200" b="0" i="1" kern="1200" dirty="0">
                <a:solidFill>
                  <a:schemeClr val="tx1"/>
                </a:solidFill>
                <a:effectLst/>
                <a:latin typeface="+mn-lt"/>
                <a:ea typeface="+mn-ea"/>
                <a:cs typeface="+mn-cs"/>
              </a:rPr>
              <a:t>downstream</a:t>
            </a:r>
            <a:r>
              <a:rPr lang="it-IT" sz="1200" b="0" i="0" kern="1200" dirty="0">
                <a:solidFill>
                  <a:schemeClr val="tx1"/>
                </a:solidFill>
                <a:effectLst/>
                <a:latin typeface="+mn-lt"/>
                <a:ea typeface="+mn-ea"/>
                <a:cs typeface="+mn-cs"/>
              </a:rPr>
              <a:t> </a:t>
            </a:r>
            <a:r>
              <a:rPr lang="it-IT" sz="1200" b="0" i="0" kern="1200" dirty="0" err="1">
                <a:solidFill>
                  <a:schemeClr val="tx1"/>
                </a:solidFill>
                <a:effectLst/>
                <a:latin typeface="+mn-lt"/>
                <a:ea typeface="+mn-ea"/>
                <a:cs typeface="+mn-cs"/>
              </a:rPr>
              <a:t>particle</a:t>
            </a:r>
            <a:r>
              <a:rPr lang="it-IT" sz="1200" b="0" i="0" kern="1200" dirty="0">
                <a:solidFill>
                  <a:schemeClr val="tx1"/>
                </a:solidFill>
                <a:effectLst/>
                <a:latin typeface="+mn-lt"/>
                <a:ea typeface="+mn-ea"/>
                <a:cs typeface="+mn-cs"/>
              </a:rPr>
              <a:t> </a:t>
            </a:r>
            <a:r>
              <a:rPr lang="it-IT" sz="1200" b="0" i="0" kern="1200" dirty="0" err="1">
                <a:solidFill>
                  <a:schemeClr val="tx1"/>
                </a:solidFill>
                <a:effectLst/>
                <a:latin typeface="+mn-lt"/>
                <a:ea typeface="+mn-ea"/>
                <a:cs typeface="+mn-cs"/>
              </a:rPr>
              <a:t>profiles</a:t>
            </a:r>
            <a:r>
              <a:rPr lang="it-IT" sz="1200" b="0" i="0" kern="1200" dirty="0">
                <a:solidFill>
                  <a:schemeClr val="tx1"/>
                </a:solidFill>
                <a:effectLst/>
                <a:latin typeface="+mn-lt"/>
                <a:ea typeface="+mn-ea"/>
                <a:cs typeface="+mn-cs"/>
              </a:rPr>
              <a:t> (</a:t>
            </a:r>
            <a:r>
              <a:rPr lang="it-IT" sz="1200" b="0" i="0" kern="1200" dirty="0" err="1">
                <a:solidFill>
                  <a:schemeClr val="tx1"/>
                </a:solidFill>
                <a:effectLst/>
                <a:latin typeface="+mn-lt"/>
                <a:ea typeface="+mn-ea"/>
                <a:cs typeface="+mn-cs"/>
              </a:rPr>
              <a:t>where</a:t>
            </a:r>
            <a:r>
              <a:rPr lang="it-IT" sz="1200" b="0" i="0" kern="1200" dirty="0">
                <a:solidFill>
                  <a:schemeClr val="tx1"/>
                </a:solidFill>
                <a:effectLst/>
                <a:latin typeface="+mn-lt"/>
                <a:ea typeface="+mn-ea"/>
                <a:cs typeface="+mn-cs"/>
              </a:rPr>
              <a:t> </a:t>
            </a:r>
            <a:r>
              <a:rPr lang="it-IT" sz="1200" b="0" i="0" kern="1200" dirty="0" err="1">
                <a:solidFill>
                  <a:schemeClr val="tx1"/>
                </a:solidFill>
                <a:effectLst/>
                <a:latin typeface="+mn-lt"/>
                <a:ea typeface="+mn-ea"/>
                <a:cs typeface="+mn-cs"/>
              </a:rPr>
              <a:t>channeled</a:t>
            </a:r>
            <a:r>
              <a:rPr lang="it-IT" sz="1200" b="0" i="0" kern="1200" dirty="0">
                <a:solidFill>
                  <a:schemeClr val="tx1"/>
                </a:solidFill>
                <a:effectLst/>
                <a:latin typeface="+mn-lt"/>
                <a:ea typeface="+mn-ea"/>
                <a:cs typeface="+mn-cs"/>
              </a:rPr>
              <a:t> </a:t>
            </a:r>
            <a:r>
              <a:rPr lang="it-IT" sz="1200" b="0" i="0" kern="1200" dirty="0" err="1">
                <a:solidFill>
                  <a:schemeClr val="tx1"/>
                </a:solidFill>
                <a:effectLst/>
                <a:latin typeface="+mn-lt"/>
                <a:ea typeface="+mn-ea"/>
                <a:cs typeface="+mn-cs"/>
              </a:rPr>
              <a:t>particles</a:t>
            </a:r>
            <a:r>
              <a:rPr lang="it-IT" sz="1200" b="0" i="0" kern="1200" dirty="0">
                <a:solidFill>
                  <a:schemeClr val="tx1"/>
                </a:solidFill>
                <a:effectLst/>
                <a:latin typeface="+mn-lt"/>
                <a:ea typeface="+mn-ea"/>
                <a:cs typeface="+mn-cs"/>
              </a:rPr>
              <a:t> are </a:t>
            </a:r>
            <a:r>
              <a:rPr lang="it-IT" sz="1200" b="0" i="0" kern="1200" dirty="0" err="1">
                <a:solidFill>
                  <a:schemeClr val="tx1"/>
                </a:solidFill>
                <a:effectLst/>
                <a:latin typeface="+mn-lt"/>
                <a:ea typeface="+mn-ea"/>
                <a:cs typeface="+mn-cs"/>
              </a:rPr>
              <a:t>distinctly</a:t>
            </a:r>
            <a:r>
              <a:rPr lang="it-IT" sz="1200" b="0" i="0" kern="1200" dirty="0">
                <a:solidFill>
                  <a:schemeClr val="tx1"/>
                </a:solidFill>
                <a:effectLst/>
                <a:latin typeface="+mn-lt"/>
                <a:ea typeface="+mn-ea"/>
                <a:cs typeface="+mn-cs"/>
              </a:rPr>
              <a:t> </a:t>
            </a:r>
            <a:r>
              <a:rPr lang="it-IT" sz="1200" b="0" i="0" kern="1200" dirty="0" err="1">
                <a:solidFill>
                  <a:schemeClr val="tx1"/>
                </a:solidFill>
                <a:effectLst/>
                <a:latin typeface="+mn-lt"/>
                <a:ea typeface="+mn-ea"/>
                <a:cs typeface="+mn-cs"/>
              </a:rPr>
              <a:t>separated</a:t>
            </a:r>
            <a:r>
              <a:rPr lang="it-IT" sz="1200" b="0" i="0" kern="1200" dirty="0">
                <a:solidFill>
                  <a:schemeClr val="tx1"/>
                </a:solidFill>
                <a:effectLst/>
                <a:latin typeface="+mn-lt"/>
                <a:ea typeface="+mn-ea"/>
                <a:cs typeface="+mn-cs"/>
              </a:rPr>
              <a:t>), </a:t>
            </a:r>
            <a:r>
              <a:rPr lang="it-IT" sz="1200" b="0" i="0" kern="1200" dirty="0" err="1">
                <a:solidFill>
                  <a:schemeClr val="tx1"/>
                </a:solidFill>
                <a:effectLst/>
                <a:latin typeface="+mn-lt"/>
                <a:ea typeface="+mn-ea"/>
                <a:cs typeface="+mn-cs"/>
              </a:rPr>
              <a:t>our</a:t>
            </a:r>
            <a:r>
              <a:rPr lang="it-IT" sz="1200" b="0" i="0" kern="1200" dirty="0">
                <a:solidFill>
                  <a:schemeClr val="tx1"/>
                </a:solidFill>
                <a:effectLst/>
                <a:latin typeface="+mn-lt"/>
                <a:ea typeface="+mn-ea"/>
                <a:cs typeface="+mn-cs"/>
              </a:rPr>
              <a:t> </a:t>
            </a:r>
            <a:r>
              <a:rPr lang="it-IT" sz="1200" b="0" i="0" kern="1200" dirty="0" err="1">
                <a:solidFill>
                  <a:schemeClr val="tx1"/>
                </a:solidFill>
                <a:effectLst/>
                <a:latin typeface="+mn-lt"/>
                <a:ea typeface="+mn-ea"/>
                <a:cs typeface="+mn-cs"/>
              </a:rPr>
              <a:t>subsequent</a:t>
            </a:r>
            <a:r>
              <a:rPr lang="it-IT" sz="1200" b="0" i="0" kern="1200" dirty="0">
                <a:solidFill>
                  <a:schemeClr val="tx1"/>
                </a:solidFill>
                <a:effectLst/>
                <a:latin typeface="+mn-lt"/>
                <a:ea typeface="+mn-ea"/>
                <a:cs typeface="+mn-cs"/>
              </a:rPr>
              <a:t> </a:t>
            </a:r>
            <a:r>
              <a:rPr lang="it-IT" sz="1200" b="0" i="0" kern="1200" dirty="0" err="1">
                <a:solidFill>
                  <a:schemeClr val="tx1"/>
                </a:solidFill>
                <a:effectLst/>
                <a:latin typeface="+mn-lt"/>
                <a:ea typeface="+mn-ea"/>
                <a:cs typeface="+mn-cs"/>
              </a:rPr>
              <a:t>analysis</a:t>
            </a:r>
            <a:r>
              <a:rPr lang="it-IT" sz="1200" b="0" i="0" kern="1200" dirty="0">
                <a:solidFill>
                  <a:schemeClr val="tx1"/>
                </a:solidFill>
                <a:effectLst/>
                <a:latin typeface="+mn-lt"/>
                <a:ea typeface="+mn-ea"/>
                <a:cs typeface="+mn-cs"/>
              </a:rPr>
              <a:t> </a:t>
            </a:r>
            <a:r>
              <a:rPr lang="it-IT" sz="1200" b="0" i="0" kern="1200" dirty="0" err="1">
                <a:solidFill>
                  <a:schemeClr val="tx1"/>
                </a:solidFill>
                <a:effectLst/>
                <a:latin typeface="+mn-lt"/>
                <a:ea typeface="+mn-ea"/>
                <a:cs typeface="+mn-cs"/>
              </a:rPr>
              <a:t>strictly</a:t>
            </a:r>
            <a:r>
              <a:rPr lang="it-IT" sz="1200" b="0" i="0" kern="1200" dirty="0">
                <a:solidFill>
                  <a:schemeClr val="tx1"/>
                </a:solidFill>
                <a:effectLst/>
                <a:latin typeface="+mn-lt"/>
                <a:ea typeface="+mn-ea"/>
                <a:cs typeface="+mn-cs"/>
              </a:rPr>
              <a:t> </a:t>
            </a:r>
            <a:r>
              <a:rPr lang="it-IT" sz="1200" b="0" i="0" kern="1200" dirty="0" err="1">
                <a:solidFill>
                  <a:schemeClr val="tx1"/>
                </a:solidFill>
                <a:effectLst/>
                <a:latin typeface="+mn-lt"/>
                <a:ea typeface="+mn-ea"/>
                <a:cs typeface="+mn-cs"/>
              </a:rPr>
              <a:t>requires</a:t>
            </a:r>
            <a:r>
              <a:rPr lang="it-IT" sz="1200" b="0" i="0" kern="1200" dirty="0">
                <a:solidFill>
                  <a:schemeClr val="tx1"/>
                </a:solidFill>
                <a:effectLst/>
                <a:latin typeface="+mn-lt"/>
                <a:ea typeface="+mn-ea"/>
                <a:cs typeface="+mn-cs"/>
              </a:rPr>
              <a:t> </a:t>
            </a:r>
            <a:r>
              <a:rPr lang="it-IT" sz="1200" b="0" i="1" kern="1200" dirty="0">
                <a:solidFill>
                  <a:schemeClr val="tx1"/>
                </a:solidFill>
                <a:effectLst/>
                <a:latin typeface="+mn-lt"/>
                <a:ea typeface="+mn-ea"/>
                <a:cs typeface="+mn-cs"/>
              </a:rPr>
              <a:t>upstream</a:t>
            </a:r>
            <a:r>
              <a:rPr lang="it-IT" sz="1200" b="0" i="0" kern="1200" dirty="0">
                <a:solidFill>
                  <a:schemeClr val="tx1"/>
                </a:solidFill>
                <a:effectLst/>
                <a:latin typeface="+mn-lt"/>
                <a:ea typeface="+mn-ea"/>
                <a:cs typeface="+mn-cs"/>
              </a:rPr>
              <a:t> </a:t>
            </a:r>
            <a:r>
              <a:rPr lang="it-IT" sz="1200" b="0" i="0" kern="1200" dirty="0" err="1">
                <a:solidFill>
                  <a:schemeClr val="tx1"/>
                </a:solidFill>
                <a:effectLst/>
                <a:latin typeface="+mn-lt"/>
                <a:ea typeface="+mn-ea"/>
                <a:cs typeface="+mn-cs"/>
              </a:rPr>
              <a:t>coordinates</a:t>
            </a:r>
            <a:r>
              <a:rPr lang="it-IT" sz="1200" b="0" i="0" kern="1200" dirty="0">
                <a:solidFill>
                  <a:schemeClr val="tx1"/>
                </a:solidFill>
                <a:effectLst/>
                <a:latin typeface="+mn-lt"/>
                <a:ea typeface="+mn-ea"/>
                <a:cs typeface="+mn-cs"/>
              </a:rPr>
              <a:t>.</a:t>
            </a:r>
          </a:p>
          <a:p>
            <a:r>
              <a:rPr lang="it-IT" sz="1200" b="0" i="0" kern="1200" dirty="0">
                <a:solidFill>
                  <a:schemeClr val="tx1"/>
                </a:solidFill>
                <a:effectLst/>
                <a:latin typeface="+mn-lt"/>
                <a:ea typeface="+mn-ea"/>
                <a:cs typeface="+mn-cs"/>
              </a:rPr>
              <a:t> </a:t>
            </a:r>
            <a:r>
              <a:rPr lang="it-IT" sz="1200" b="0" i="0" kern="1200" dirty="0" err="1">
                <a:solidFill>
                  <a:schemeClr val="tx1"/>
                </a:solidFill>
                <a:effectLst/>
                <a:latin typeface="+mn-lt"/>
                <a:ea typeface="+mn-ea"/>
                <a:cs typeface="+mn-cs"/>
              </a:rPr>
              <a:t>Channeled</a:t>
            </a:r>
            <a:r>
              <a:rPr lang="it-IT" sz="1200" b="0" i="0" kern="1200" dirty="0">
                <a:solidFill>
                  <a:schemeClr val="tx1"/>
                </a:solidFill>
                <a:effectLst/>
                <a:latin typeface="+mn-lt"/>
                <a:ea typeface="+mn-ea"/>
                <a:cs typeface="+mn-cs"/>
              </a:rPr>
              <a:t> </a:t>
            </a:r>
            <a:r>
              <a:rPr lang="it-IT" sz="1200" b="0" i="0" kern="1200" dirty="0" err="1">
                <a:solidFill>
                  <a:schemeClr val="tx1"/>
                </a:solidFill>
                <a:effectLst/>
                <a:latin typeface="+mn-lt"/>
                <a:ea typeface="+mn-ea"/>
                <a:cs typeface="+mn-cs"/>
              </a:rPr>
              <a:t>particles</a:t>
            </a:r>
            <a:r>
              <a:rPr lang="it-IT" sz="1200" b="0" i="0" kern="1200" dirty="0">
                <a:solidFill>
                  <a:schemeClr val="tx1"/>
                </a:solidFill>
                <a:effectLst/>
                <a:latin typeface="+mn-lt"/>
                <a:ea typeface="+mn-ea"/>
                <a:cs typeface="+mn-cs"/>
              </a:rPr>
              <a:t> follow the </a:t>
            </a:r>
            <a:r>
              <a:rPr lang="it-IT" sz="1200" b="0" i="0" kern="1200" dirty="0" err="1">
                <a:solidFill>
                  <a:schemeClr val="tx1"/>
                </a:solidFill>
                <a:effectLst/>
                <a:latin typeface="+mn-lt"/>
                <a:ea typeface="+mn-ea"/>
                <a:cs typeface="+mn-cs"/>
              </a:rPr>
              <a:t>bent</a:t>
            </a:r>
            <a:r>
              <a:rPr lang="it-IT" sz="1200" b="0" i="0" kern="1200" dirty="0">
                <a:solidFill>
                  <a:schemeClr val="tx1"/>
                </a:solidFill>
                <a:effectLst/>
                <a:latin typeface="+mn-lt"/>
                <a:ea typeface="+mn-ea"/>
                <a:cs typeface="+mn-cs"/>
              </a:rPr>
              <a:t> lattice </a:t>
            </a:r>
            <a:r>
              <a:rPr lang="it-IT" sz="1200" b="0" i="0" kern="1200" dirty="0" err="1">
                <a:solidFill>
                  <a:schemeClr val="tx1"/>
                </a:solidFill>
                <a:effectLst/>
                <a:latin typeface="+mn-lt"/>
                <a:ea typeface="+mn-ea"/>
                <a:cs typeface="+mn-cs"/>
              </a:rPr>
              <a:t>planes</a:t>
            </a:r>
            <a:r>
              <a:rPr lang="it-IT" sz="1200" b="0" i="0" kern="1200" dirty="0">
                <a:solidFill>
                  <a:schemeClr val="tx1"/>
                </a:solidFill>
                <a:effectLst/>
                <a:latin typeface="+mn-lt"/>
                <a:ea typeface="+mn-ea"/>
                <a:cs typeface="+mn-cs"/>
              </a:rPr>
              <a:t>, </a:t>
            </a:r>
            <a:r>
              <a:rPr lang="it-IT" sz="1200" b="0" i="0" kern="1200" dirty="0" err="1">
                <a:solidFill>
                  <a:schemeClr val="tx1"/>
                </a:solidFill>
                <a:effectLst/>
                <a:latin typeface="+mn-lt"/>
                <a:ea typeface="+mn-ea"/>
                <a:cs typeface="+mn-cs"/>
              </a:rPr>
              <a:t>resulting</a:t>
            </a:r>
            <a:r>
              <a:rPr lang="it-IT" sz="1200" b="0" i="0" kern="1200" dirty="0">
                <a:solidFill>
                  <a:schemeClr val="tx1"/>
                </a:solidFill>
                <a:effectLst/>
                <a:latin typeface="+mn-lt"/>
                <a:ea typeface="+mn-ea"/>
                <a:cs typeface="+mn-cs"/>
              </a:rPr>
              <a:t> in a </a:t>
            </a:r>
            <a:r>
              <a:rPr lang="it-IT" sz="1200" b="0" i="0" kern="1200" dirty="0" err="1">
                <a:solidFill>
                  <a:schemeClr val="tx1"/>
                </a:solidFill>
                <a:effectLst/>
                <a:latin typeface="+mn-lt"/>
                <a:ea typeface="+mn-ea"/>
                <a:cs typeface="+mn-cs"/>
              </a:rPr>
              <a:t>lateral</a:t>
            </a:r>
            <a:r>
              <a:rPr lang="it-IT" sz="1200" b="0" i="0" kern="1200" dirty="0">
                <a:solidFill>
                  <a:schemeClr val="tx1"/>
                </a:solidFill>
                <a:effectLst/>
                <a:latin typeface="+mn-lt"/>
                <a:ea typeface="+mn-ea"/>
                <a:cs typeface="+mn-cs"/>
              </a:rPr>
              <a:t> </a:t>
            </a:r>
            <a:r>
              <a:rPr lang="it-IT" sz="1200" b="0" i="0" kern="1200" dirty="0" err="1">
                <a:solidFill>
                  <a:schemeClr val="tx1"/>
                </a:solidFill>
                <a:effectLst/>
                <a:latin typeface="+mn-lt"/>
                <a:ea typeface="+mn-ea"/>
                <a:cs typeface="+mn-cs"/>
              </a:rPr>
              <a:t>geometric</a:t>
            </a:r>
            <a:r>
              <a:rPr lang="it-IT" sz="1200" b="0" i="0" kern="1200" dirty="0">
                <a:solidFill>
                  <a:schemeClr val="tx1"/>
                </a:solidFill>
                <a:effectLst/>
                <a:latin typeface="+mn-lt"/>
                <a:ea typeface="+mn-ea"/>
                <a:cs typeface="+mn-cs"/>
              </a:rPr>
              <a:t> drift </a:t>
            </a:r>
            <a:r>
              <a:rPr lang="it-IT" sz="1200" b="0" i="0" kern="1200" dirty="0" err="1">
                <a:solidFill>
                  <a:schemeClr val="tx1"/>
                </a:solidFill>
                <a:effectLst/>
                <a:latin typeface="+mn-lt"/>
                <a:ea typeface="+mn-ea"/>
                <a:cs typeface="+mn-cs"/>
              </a:rPr>
              <a:t>along</a:t>
            </a:r>
            <a:r>
              <a:rPr lang="it-IT" sz="1200" b="0" i="0" kern="1200" dirty="0">
                <a:solidFill>
                  <a:schemeClr val="tx1"/>
                </a:solidFill>
                <a:effectLst/>
                <a:latin typeface="+mn-lt"/>
                <a:ea typeface="+mn-ea"/>
                <a:cs typeface="+mn-cs"/>
              </a:rPr>
              <a:t> the x-</a:t>
            </a:r>
            <a:r>
              <a:rPr lang="it-IT" sz="1200" b="0" i="0" kern="1200" dirty="0" err="1">
                <a:solidFill>
                  <a:schemeClr val="tx1"/>
                </a:solidFill>
                <a:effectLst/>
                <a:latin typeface="+mn-lt"/>
                <a:ea typeface="+mn-ea"/>
                <a:cs typeface="+mn-cs"/>
              </a:rPr>
              <a:t>axis</a:t>
            </a:r>
            <a:r>
              <a:rPr lang="it-IT" sz="1200" b="0" i="0" kern="1200" dirty="0">
                <a:solidFill>
                  <a:schemeClr val="tx1"/>
                </a:solidFill>
                <a:effectLst/>
                <a:latin typeface="+mn-lt"/>
                <a:ea typeface="+mn-ea"/>
                <a:cs typeface="+mn-cs"/>
              </a:rPr>
              <a:t> </a:t>
            </a:r>
            <a:r>
              <a:rPr lang="it-IT" sz="1200" b="0" i="0" kern="1200" dirty="0" err="1">
                <a:solidFill>
                  <a:schemeClr val="tx1"/>
                </a:solidFill>
                <a:effectLst/>
                <a:latin typeface="+mn-lt"/>
                <a:ea typeface="+mn-ea"/>
                <a:cs typeface="+mn-cs"/>
              </a:rPr>
              <a:t>as</a:t>
            </a:r>
            <a:r>
              <a:rPr lang="it-IT" sz="1200" b="0" i="0" kern="1200" dirty="0">
                <a:solidFill>
                  <a:schemeClr val="tx1"/>
                </a:solidFill>
                <a:effectLst/>
                <a:latin typeface="+mn-lt"/>
                <a:ea typeface="+mn-ea"/>
                <a:cs typeface="+mn-cs"/>
              </a:rPr>
              <a:t> </a:t>
            </a:r>
            <a:r>
              <a:rPr lang="it-IT" sz="1200" b="0" i="0" kern="1200" dirty="0" err="1">
                <a:solidFill>
                  <a:schemeClr val="tx1"/>
                </a:solidFill>
                <a:effectLst/>
                <a:latin typeface="+mn-lt"/>
                <a:ea typeface="+mn-ea"/>
                <a:cs typeface="+mn-cs"/>
              </a:rPr>
              <a:t>they</a:t>
            </a:r>
            <a:r>
              <a:rPr lang="it-IT" sz="1200" b="0" i="0" kern="1200" dirty="0">
                <a:solidFill>
                  <a:schemeClr val="tx1"/>
                </a:solidFill>
                <a:effectLst/>
                <a:latin typeface="+mn-lt"/>
                <a:ea typeface="+mn-ea"/>
                <a:cs typeface="+mn-cs"/>
              </a:rPr>
              <a:t> traverse the </a:t>
            </a:r>
            <a:r>
              <a:rPr lang="it-IT" sz="1200" b="0" i="0" kern="1200" dirty="0" err="1">
                <a:solidFill>
                  <a:schemeClr val="tx1"/>
                </a:solidFill>
                <a:effectLst/>
                <a:latin typeface="+mn-lt"/>
                <a:ea typeface="+mn-ea"/>
                <a:cs typeface="+mn-cs"/>
              </a:rPr>
              <a:t>crystal</a:t>
            </a:r>
            <a:r>
              <a:rPr lang="it-IT" sz="1200" b="0" i="0" kern="1200" dirty="0">
                <a:solidFill>
                  <a:schemeClr val="tx1"/>
                </a:solidFill>
                <a:effectLst/>
                <a:latin typeface="+mn-lt"/>
                <a:ea typeface="+mn-ea"/>
                <a:cs typeface="+mn-cs"/>
              </a:rPr>
              <a:t>. To </a:t>
            </a:r>
            <a:r>
              <a:rPr lang="it-IT" sz="1200" b="0" i="0" kern="1200" dirty="0" err="1">
                <a:solidFill>
                  <a:schemeClr val="tx1"/>
                </a:solidFill>
                <a:effectLst/>
                <a:latin typeface="+mn-lt"/>
                <a:ea typeface="+mn-ea"/>
                <a:cs typeface="+mn-cs"/>
              </a:rPr>
              <a:t>define</a:t>
            </a:r>
            <a:r>
              <a:rPr lang="it-IT" sz="1200" b="0" i="0" kern="1200" dirty="0">
                <a:solidFill>
                  <a:schemeClr val="tx1"/>
                </a:solidFill>
                <a:effectLst/>
                <a:latin typeface="+mn-lt"/>
                <a:ea typeface="+mn-ea"/>
                <a:cs typeface="+mn-cs"/>
              </a:rPr>
              <a:t> the </a:t>
            </a:r>
            <a:r>
              <a:rPr lang="it-IT" sz="1200" b="0" i="0" kern="1200" dirty="0" err="1">
                <a:solidFill>
                  <a:schemeClr val="tx1"/>
                </a:solidFill>
                <a:effectLst/>
                <a:latin typeface="+mn-lt"/>
                <a:ea typeface="+mn-ea"/>
                <a:cs typeface="+mn-cs"/>
              </a:rPr>
              <a:t>true</a:t>
            </a:r>
            <a:r>
              <a:rPr lang="it-IT" sz="1200" b="0" i="0" kern="1200" dirty="0">
                <a:solidFill>
                  <a:schemeClr val="tx1"/>
                </a:solidFill>
                <a:effectLst/>
                <a:latin typeface="+mn-lt"/>
                <a:ea typeface="+mn-ea"/>
                <a:cs typeface="+mn-cs"/>
              </a:rPr>
              <a:t> </a:t>
            </a:r>
            <a:r>
              <a:rPr lang="it-IT" sz="1200" b="0" i="0" kern="1200" dirty="0" err="1">
                <a:solidFill>
                  <a:schemeClr val="tx1"/>
                </a:solidFill>
                <a:effectLst/>
                <a:latin typeface="+mn-lt"/>
                <a:ea typeface="+mn-ea"/>
                <a:cs typeface="+mn-cs"/>
              </a:rPr>
              <a:t>physical</a:t>
            </a:r>
            <a:r>
              <a:rPr lang="it-IT" sz="1200" b="0" i="0" kern="1200" dirty="0">
                <a:solidFill>
                  <a:schemeClr val="tx1"/>
                </a:solidFill>
                <a:effectLst/>
                <a:latin typeface="+mn-lt"/>
                <a:ea typeface="+mn-ea"/>
                <a:cs typeface="+mn-cs"/>
              </a:rPr>
              <a:t> footprint </a:t>
            </a:r>
            <a:r>
              <a:rPr lang="it-IT" sz="1200" b="0" i="0" kern="1200" dirty="0" err="1">
                <a:solidFill>
                  <a:schemeClr val="tx1"/>
                </a:solidFill>
                <a:effectLst/>
                <a:latin typeface="+mn-lt"/>
                <a:ea typeface="+mn-ea"/>
                <a:cs typeface="+mn-cs"/>
              </a:rPr>
              <a:t>at</a:t>
            </a:r>
            <a:r>
              <a:rPr lang="it-IT" sz="1200" b="0" i="0" kern="1200" dirty="0">
                <a:solidFill>
                  <a:schemeClr val="tx1"/>
                </a:solidFill>
                <a:effectLst/>
                <a:latin typeface="+mn-lt"/>
                <a:ea typeface="+mn-ea"/>
                <a:cs typeface="+mn-cs"/>
              </a:rPr>
              <a:t> the </a:t>
            </a:r>
            <a:r>
              <a:rPr lang="it-IT" sz="1200" b="0" i="0" kern="1200" dirty="0" err="1">
                <a:solidFill>
                  <a:schemeClr val="tx1"/>
                </a:solidFill>
                <a:effectLst/>
                <a:latin typeface="+mn-lt"/>
                <a:ea typeface="+mn-ea"/>
                <a:cs typeface="+mn-cs"/>
              </a:rPr>
              <a:t>entrance</a:t>
            </a:r>
            <a:r>
              <a:rPr lang="it-IT" sz="1200" b="0" i="0" kern="1200" dirty="0">
                <a:solidFill>
                  <a:schemeClr val="tx1"/>
                </a:solidFill>
                <a:effectLst/>
                <a:latin typeface="+mn-lt"/>
                <a:ea typeface="+mn-ea"/>
                <a:cs typeface="+mn-cs"/>
              </a:rPr>
              <a:t> face, we must project the downstream </a:t>
            </a:r>
            <a:r>
              <a:rPr lang="it-IT" sz="1200" b="0" i="0" kern="1200" dirty="0" err="1">
                <a:solidFill>
                  <a:schemeClr val="tx1"/>
                </a:solidFill>
                <a:effectLst/>
                <a:latin typeface="+mn-lt"/>
                <a:ea typeface="+mn-ea"/>
                <a:cs typeface="+mn-cs"/>
              </a:rPr>
              <a:t>edges</a:t>
            </a:r>
            <a:r>
              <a:rPr lang="it-IT" sz="1200" b="0" i="0" kern="1200" dirty="0">
                <a:solidFill>
                  <a:schemeClr val="tx1"/>
                </a:solidFill>
                <a:effectLst/>
                <a:latin typeface="+mn-lt"/>
                <a:ea typeface="+mn-ea"/>
                <a:cs typeface="+mn-cs"/>
              </a:rPr>
              <a:t> back upstream.</a:t>
            </a:r>
            <a:endParaRPr lang="it-IT" dirty="0"/>
          </a:p>
        </p:txBody>
      </p:sp>
      <p:sp>
        <p:nvSpPr>
          <p:cNvPr id="4" name="Segnaposto numero diapositiva 3"/>
          <p:cNvSpPr>
            <a:spLocks noGrp="1"/>
          </p:cNvSpPr>
          <p:nvPr>
            <p:ph type="sldNum" sz="quarter" idx="5"/>
          </p:nvPr>
        </p:nvSpPr>
        <p:spPr/>
        <p:txBody>
          <a:bodyPr/>
          <a:lstStyle/>
          <a:p>
            <a:fld id="{C205392F-55BF-4B8E-AF01-45F81C88C286}" type="slidenum">
              <a:rPr lang="it-IT" smtClean="0"/>
              <a:t>16</a:t>
            </a:fld>
            <a:endParaRPr lang="it-IT"/>
          </a:p>
        </p:txBody>
      </p:sp>
    </p:spTree>
    <p:extLst>
      <p:ext uri="{BB962C8B-B14F-4D97-AF65-F5344CB8AC3E}">
        <p14:creationId xmlns:p14="http://schemas.microsoft.com/office/powerpoint/2010/main" val="32538831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b="0" i="0" dirty="0" err="1">
                    <a:latin typeface="+mj-lt"/>
                  </a:rPr>
                  <a:t>torsion</a:t>
                </a:r>
                <a:r>
                  <a:rPr lang="it-IT" b="0" i="0" dirty="0">
                    <a:latin typeface="+mj-lt"/>
                  </a:rPr>
                  <a:t> </a:t>
                </a:r>
                <a:r>
                  <a:rPr lang="it-IT" b="0" i="0" dirty="0" err="1">
                    <a:latin typeface="+mj-lt"/>
                  </a:rPr>
                  <a:t>is</a:t>
                </a:r>
                <a:r>
                  <a:rPr lang="it-IT" b="0" i="0" dirty="0">
                    <a:latin typeface="+mj-lt"/>
                  </a:rPr>
                  <a:t> the </a:t>
                </a:r>
                <a:r>
                  <a:rPr lang="it-IT" b="0" i="0" dirty="0" err="1">
                    <a:latin typeface="+mj-lt"/>
                  </a:rPr>
                  <a:t>variation</a:t>
                </a:r>
                <a:r>
                  <a:rPr lang="it-IT" b="0" i="0" dirty="0">
                    <a:latin typeface="+mj-lt"/>
                  </a:rPr>
                  <a:t> of the </a:t>
                </a:r>
                <a:r>
                  <a:rPr lang="it-IT" b="0" i="0" dirty="0" err="1">
                    <a:latin typeface="+mj-lt"/>
                  </a:rPr>
                  <a:t>crystalline</a:t>
                </a:r>
                <a:r>
                  <a:rPr lang="it-IT" b="0" i="0" dirty="0">
                    <a:latin typeface="+mj-lt"/>
                  </a:rPr>
                  <a:t> </a:t>
                </a:r>
                <a:r>
                  <a:rPr lang="it-IT" b="0" i="0" dirty="0" err="1">
                    <a:latin typeface="+mj-lt"/>
                  </a:rPr>
                  <a:t>plane</a:t>
                </a:r>
                <a:r>
                  <a:rPr lang="it-IT" b="0" i="0" dirty="0">
                    <a:latin typeface="+mj-lt"/>
                  </a:rPr>
                  <a:t> </a:t>
                </a:r>
                <a:r>
                  <a:rPr lang="it-IT" b="0" i="0" dirty="0" err="1">
                    <a:latin typeface="+mj-lt"/>
                  </a:rPr>
                  <a:t>orientation</a:t>
                </a:r>
                <a:r>
                  <a:rPr lang="it-IT" b="0" i="0" dirty="0">
                    <a:latin typeface="+mj-lt"/>
                  </a:rPr>
                  <a:t> </a:t>
                </a:r>
                <a:r>
                  <a:rPr lang="it-IT" b="0" i="0" dirty="0" err="1">
                    <a:latin typeface="+mj-lt"/>
                  </a:rPr>
                  <a:t>along</a:t>
                </a:r>
                <a:r>
                  <a:rPr lang="it-IT" b="0" i="0" dirty="0">
                    <a:latin typeface="+mj-lt"/>
                  </a:rPr>
                  <a:t> the y </a:t>
                </a:r>
                <a:r>
                  <a:rPr lang="it-IT" b="0" i="0" dirty="0" err="1">
                    <a:latin typeface="+mj-lt"/>
                  </a:rPr>
                  <a:t>direction</a:t>
                </a:r>
                <a:r>
                  <a:rPr lang="it-IT" b="0" i="0" dirty="0">
                    <a:latin typeface="+mj-lt"/>
                  </a:rPr>
                  <a:t> </a:t>
                </a:r>
                <a:r>
                  <a:rPr lang="it-IT" b="0" i="0" dirty="0" err="1">
                    <a:latin typeface="+mj-lt"/>
                  </a:rPr>
                  <a:t>perpendicular</a:t>
                </a:r>
                <a:r>
                  <a:rPr lang="it-IT" b="0" i="0" dirty="0">
                    <a:latin typeface="+mj-lt"/>
                  </a:rPr>
                  <a:t> to the bending </a:t>
                </a:r>
                <a:r>
                  <a:rPr lang="it-IT" b="0" i="0" dirty="0" err="1">
                    <a:latin typeface="+mj-lt"/>
                  </a:rPr>
                  <a:t>plane</a:t>
                </a:r>
                <a:endParaRPr lang="it-IT" b="0" i="0" dirty="0">
                  <a:latin typeface="+mj-lt"/>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𝜃</m:t>
                        </m:r>
                      </m:e>
                      <m:sub>
                        <m:r>
                          <a:rPr lang="it-IT" b="0" i="1" smtClean="0">
                            <a:latin typeface="Cambria Math" panose="02040503050406030204" pitchFamily="18" charset="0"/>
                          </a:rPr>
                          <m:t>0</m:t>
                        </m:r>
                      </m:sub>
                    </m:sSub>
                  </m:oMath>
                </a14:m>
                <a:r>
                  <a:rPr lang="it-IT" dirty="0"/>
                  <a:t>: the angle </a:t>
                </a:r>
                <a:r>
                  <a:rPr lang="it-IT" dirty="0" err="1"/>
                  <a:t>where</a:t>
                </a:r>
                <a:r>
                  <a:rPr lang="it-IT" dirty="0"/>
                  <a:t> the </a:t>
                </a:r>
                <a:r>
                  <a:rPr lang="it-IT" dirty="0" err="1"/>
                  <a:t>crystal</a:t>
                </a:r>
                <a:r>
                  <a:rPr lang="it-IT" dirty="0"/>
                  <a:t> </a:t>
                </a:r>
                <a:r>
                  <a:rPr lang="it-IT" dirty="0" err="1"/>
                  <a:t>planes</a:t>
                </a:r>
                <a:r>
                  <a:rPr lang="it-IT" dirty="0"/>
                  <a:t> are </a:t>
                </a:r>
                <a:r>
                  <a:rPr lang="it-IT" dirty="0" err="1"/>
                  <a:t>perfectly</a:t>
                </a:r>
                <a:r>
                  <a:rPr lang="it-IT" dirty="0"/>
                  <a:t> </a:t>
                </a:r>
                <a:r>
                  <a:rPr lang="it-IT" dirty="0" err="1"/>
                  <a:t>aligned</a:t>
                </a:r>
                <a:r>
                  <a:rPr lang="it-IT" dirty="0"/>
                  <a:t> with the </a:t>
                </a:r>
                <a:r>
                  <a:rPr lang="it-IT" dirty="0" err="1"/>
                  <a:t>beam</a:t>
                </a:r>
                <a:r>
                  <a:rPr lang="it-IT" dirty="0"/>
                  <a:t>.</a:t>
                </a:r>
              </a:p>
            </p:txBody>
          </p:sp>
        </mc:Choice>
        <mc:Fallback xmlns="">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b="0" i="0">
                    <a:latin typeface="Cambria Math" panose="02040503050406030204" pitchFamily="18" charset="0"/>
                  </a:rPr>
                  <a:t>𝜃_0</a:t>
                </a:r>
                <a:r>
                  <a:rPr lang="it-IT" dirty="0"/>
                  <a:t>: the angle </a:t>
                </a:r>
                <a:r>
                  <a:rPr lang="it-IT" dirty="0" err="1"/>
                  <a:t>where</a:t>
                </a:r>
                <a:r>
                  <a:rPr lang="it-IT" dirty="0"/>
                  <a:t> the </a:t>
                </a:r>
                <a:r>
                  <a:rPr lang="it-IT" dirty="0" err="1"/>
                  <a:t>crystal</a:t>
                </a:r>
                <a:r>
                  <a:rPr lang="it-IT" dirty="0"/>
                  <a:t> </a:t>
                </a:r>
                <a:r>
                  <a:rPr lang="it-IT" dirty="0" err="1"/>
                  <a:t>planes</a:t>
                </a:r>
                <a:r>
                  <a:rPr lang="it-IT" dirty="0"/>
                  <a:t> are </a:t>
                </a:r>
                <a:r>
                  <a:rPr lang="it-IT" dirty="0" err="1"/>
                  <a:t>perfectly</a:t>
                </a:r>
                <a:r>
                  <a:rPr lang="it-IT" dirty="0"/>
                  <a:t> </a:t>
                </a:r>
                <a:r>
                  <a:rPr lang="it-IT" dirty="0" err="1"/>
                  <a:t>aligned</a:t>
                </a:r>
                <a:r>
                  <a:rPr lang="it-IT" dirty="0"/>
                  <a:t> with the </a:t>
                </a:r>
                <a:r>
                  <a:rPr lang="it-IT" dirty="0" err="1"/>
                  <a:t>beam</a:t>
                </a:r>
                <a:r>
                  <a:rPr lang="it-IT" dirty="0"/>
                  <a:t>.</a:t>
                </a:r>
              </a:p>
            </p:txBody>
          </p:sp>
        </mc:Fallback>
      </mc:AlternateContent>
      <p:sp>
        <p:nvSpPr>
          <p:cNvPr id="4" name="Segnaposto numero diapositiva 3"/>
          <p:cNvSpPr>
            <a:spLocks noGrp="1"/>
          </p:cNvSpPr>
          <p:nvPr>
            <p:ph type="sldNum" sz="quarter" idx="5"/>
          </p:nvPr>
        </p:nvSpPr>
        <p:spPr/>
        <p:txBody>
          <a:bodyPr/>
          <a:lstStyle/>
          <a:p>
            <a:fld id="{C205392F-55BF-4B8E-AF01-45F81C88C286}" type="slidenum">
              <a:rPr lang="it-IT" smtClean="0"/>
              <a:t>17</a:t>
            </a:fld>
            <a:endParaRPr lang="it-IT"/>
          </a:p>
        </p:txBody>
      </p:sp>
    </p:spTree>
    <p:extLst>
      <p:ext uri="{BB962C8B-B14F-4D97-AF65-F5344CB8AC3E}">
        <p14:creationId xmlns:p14="http://schemas.microsoft.com/office/powerpoint/2010/main" val="10912868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3A338-DA96-94A6-1231-7139DAC0C6F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0C59848-D54F-11C9-63E0-F6D9296FEEB4}"/>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20E91691-AC07-FEE1-A622-8D7C44357A3B}"/>
              </a:ext>
            </a:extLst>
          </p:cNvPr>
          <p:cNvSpPr>
            <a:spLocks noGrp="1"/>
          </p:cNvSpPr>
          <p:nvPr>
            <p:ph type="body" idx="1"/>
          </p:nvPr>
        </p:nvSpPr>
        <p:spPr/>
        <p:txBody>
          <a:bodyPr/>
          <a:lstStyle/>
          <a:p>
            <a:r>
              <a:rPr lang="it-IT" dirty="0"/>
              <a:t>CONSISTENT ACROSS DIFFERENT RUNS FOR THE SAME CRYSTALS</a:t>
            </a:r>
          </a:p>
        </p:txBody>
      </p:sp>
      <p:sp>
        <p:nvSpPr>
          <p:cNvPr id="4" name="Segnaposto numero diapositiva 3">
            <a:extLst>
              <a:ext uri="{FF2B5EF4-FFF2-40B4-BE49-F238E27FC236}">
                <a16:creationId xmlns:a16="http://schemas.microsoft.com/office/drawing/2014/main" id="{51341F72-31BB-22BB-4057-13EF4B93FF9A}"/>
              </a:ext>
            </a:extLst>
          </p:cNvPr>
          <p:cNvSpPr>
            <a:spLocks noGrp="1"/>
          </p:cNvSpPr>
          <p:nvPr>
            <p:ph type="sldNum" sz="quarter" idx="5"/>
          </p:nvPr>
        </p:nvSpPr>
        <p:spPr/>
        <p:txBody>
          <a:bodyPr/>
          <a:lstStyle/>
          <a:p>
            <a:fld id="{C205392F-55BF-4B8E-AF01-45F81C88C286}" type="slidenum">
              <a:rPr lang="it-IT" smtClean="0"/>
              <a:t>18</a:t>
            </a:fld>
            <a:endParaRPr lang="it-IT"/>
          </a:p>
        </p:txBody>
      </p:sp>
    </p:spTree>
    <p:extLst>
      <p:ext uri="{BB962C8B-B14F-4D97-AF65-F5344CB8AC3E}">
        <p14:creationId xmlns:p14="http://schemas.microsoft.com/office/powerpoint/2010/main" val="39068475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This </a:t>
            </a:r>
            <a:r>
              <a:rPr lang="it-IT" dirty="0" err="1"/>
              <a:t>allowed</a:t>
            </a:r>
            <a:r>
              <a:rPr lang="it-IT" dirty="0"/>
              <a:t> </a:t>
            </a:r>
            <a:r>
              <a:rPr lang="it-IT" dirty="0" err="1"/>
              <a:t>us</a:t>
            </a:r>
            <a:r>
              <a:rPr lang="it-IT" dirty="0"/>
              <a:t> to </a:t>
            </a:r>
            <a:r>
              <a:rPr lang="it-IT" dirty="0" err="1"/>
              <a:t>apply</a:t>
            </a:r>
            <a:r>
              <a:rPr lang="it-IT" dirty="0"/>
              <a:t> a </a:t>
            </a:r>
            <a:r>
              <a:rPr lang="it-IT" dirty="0" err="1"/>
              <a:t>continuous</a:t>
            </a:r>
            <a:r>
              <a:rPr lang="it-IT" dirty="0"/>
              <a:t> </a:t>
            </a:r>
            <a:r>
              <a:rPr lang="it-IT" dirty="0" err="1"/>
              <a:t>torsion</a:t>
            </a:r>
            <a:r>
              <a:rPr lang="it-IT" dirty="0"/>
              <a:t> </a:t>
            </a:r>
            <a:r>
              <a:rPr lang="it-IT" dirty="0" err="1"/>
              <a:t>correction</a:t>
            </a:r>
            <a:r>
              <a:rPr lang="it-IT" dirty="0"/>
              <a:t>. So, </a:t>
            </a:r>
            <a:r>
              <a:rPr lang="it-IT" dirty="0" err="1"/>
              <a:t>instead</a:t>
            </a:r>
            <a:r>
              <a:rPr lang="it-IT" dirty="0"/>
              <a:t> of using a standard Lindhard cut </a:t>
            </a:r>
            <a:r>
              <a:rPr lang="it-IT" dirty="0" err="1"/>
              <a:t>centered</a:t>
            </a:r>
            <a:r>
              <a:rPr lang="it-IT" dirty="0"/>
              <a:t> </a:t>
            </a:r>
            <a:r>
              <a:rPr lang="it-IT" dirty="0" err="1"/>
              <a:t>at</a:t>
            </a:r>
            <a:r>
              <a:rPr lang="it-IT" dirty="0"/>
              <a:t> zero, we </a:t>
            </a:r>
            <a:r>
              <a:rPr lang="it-IT" dirty="0" err="1"/>
              <a:t>corrected</a:t>
            </a:r>
            <a:r>
              <a:rPr lang="it-IT" dirty="0"/>
              <a:t> the incoming angle using the </a:t>
            </a:r>
            <a:r>
              <a:rPr lang="it-IT" dirty="0" err="1"/>
              <a:t>fitted</a:t>
            </a:r>
            <a:r>
              <a:rPr lang="it-IT" dirty="0"/>
              <a:t> </a:t>
            </a:r>
            <a:r>
              <a:rPr lang="it-IT" dirty="0" err="1"/>
              <a:t>parameters</a:t>
            </a:r>
            <a:r>
              <a:rPr lang="it-IT" dirty="0"/>
              <a:t> </a:t>
            </a:r>
            <a:r>
              <a:rPr lang="it-IT" dirty="0" err="1"/>
              <a:t>found</a:t>
            </a:r>
            <a:r>
              <a:rPr lang="it-IT" dirty="0"/>
              <a:t> for </a:t>
            </a:r>
            <a:r>
              <a:rPr lang="it-IT" dirty="0" err="1"/>
              <a:t>each</a:t>
            </a:r>
            <a:r>
              <a:rPr lang="it-IT" dirty="0"/>
              <a:t> </a:t>
            </a:r>
            <a:r>
              <a:rPr lang="it-IT" dirty="0" err="1"/>
              <a:t>spatial</a:t>
            </a:r>
            <a:r>
              <a:rPr lang="it-IT" dirty="0"/>
              <a:t> bin.</a:t>
            </a:r>
          </a:p>
        </p:txBody>
      </p:sp>
      <p:sp>
        <p:nvSpPr>
          <p:cNvPr id="4" name="Segnaposto numero diapositiva 3"/>
          <p:cNvSpPr>
            <a:spLocks noGrp="1"/>
          </p:cNvSpPr>
          <p:nvPr>
            <p:ph type="sldNum" sz="quarter" idx="5"/>
          </p:nvPr>
        </p:nvSpPr>
        <p:spPr/>
        <p:txBody>
          <a:bodyPr/>
          <a:lstStyle/>
          <a:p>
            <a:fld id="{C205392F-55BF-4B8E-AF01-45F81C88C286}" type="slidenum">
              <a:rPr lang="it-IT" smtClean="0"/>
              <a:t>23</a:t>
            </a:fld>
            <a:endParaRPr lang="it-IT"/>
          </a:p>
        </p:txBody>
      </p:sp>
    </p:spTree>
    <p:extLst>
      <p:ext uri="{BB962C8B-B14F-4D97-AF65-F5344CB8AC3E}">
        <p14:creationId xmlns:p14="http://schemas.microsoft.com/office/powerpoint/2010/main" val="2681198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EFDFC-0F26-4E10-AEB0-B00203DF454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88ACB513-4EF1-C424-A186-EDD8DEFF2B99}"/>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87666235-1F35-8358-8CF3-F778664128C5}"/>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0B478F53-4FE7-41EB-8DC5-CC2D701B7B52}"/>
              </a:ext>
            </a:extLst>
          </p:cNvPr>
          <p:cNvSpPr>
            <a:spLocks noGrp="1"/>
          </p:cNvSpPr>
          <p:nvPr>
            <p:ph type="sldNum" sz="quarter" idx="5"/>
          </p:nvPr>
        </p:nvSpPr>
        <p:spPr/>
        <p:txBody>
          <a:bodyPr/>
          <a:lstStyle/>
          <a:p>
            <a:fld id="{C205392F-55BF-4B8E-AF01-45F81C88C286}" type="slidenum">
              <a:rPr lang="it-IT" smtClean="0"/>
              <a:t>24</a:t>
            </a:fld>
            <a:endParaRPr lang="it-IT"/>
          </a:p>
        </p:txBody>
      </p:sp>
    </p:spTree>
    <p:extLst>
      <p:ext uri="{BB962C8B-B14F-4D97-AF65-F5344CB8AC3E}">
        <p14:creationId xmlns:p14="http://schemas.microsoft.com/office/powerpoint/2010/main" val="36853760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Segnaposto note 2"/>
              <p:cNvSpPr>
                <a:spLocks noGrp="1"/>
              </p:cNvSpPr>
              <p:nvPr>
                <p:ph type="body" idx="1"/>
              </p:nvPr>
            </p:nvSpPr>
            <p:spPr/>
            <p:txBody>
              <a:bodyPr/>
              <a:lstStyle/>
              <a:p>
                <a:r>
                  <a:rPr lang="it-IT" dirty="0"/>
                  <a:t>If not </a:t>
                </a:r>
                <a:r>
                  <a:rPr lang="it-IT" dirty="0" err="1"/>
                  <a:t>considering</a:t>
                </a:r>
                <a:r>
                  <a:rPr lang="it-IT" dirty="0"/>
                  <a:t> </a:t>
                </a:r>
                <a:r>
                  <a:rPr lang="it-IT" dirty="0" err="1"/>
                  <a:t>any</a:t>
                </a:r>
                <a:r>
                  <a:rPr lang="it-IT" dirty="0"/>
                  <a:t> </a:t>
                </a:r>
                <a:r>
                  <a:rPr lang="it-IT" dirty="0" err="1"/>
                  <a:t>torsion</a:t>
                </a:r>
                <a:r>
                  <a:rPr lang="it-IT" dirty="0"/>
                  <a:t> </a:t>
                </a:r>
                <a:r>
                  <a:rPr lang="it-IT" dirty="0" err="1"/>
                  <a:t>correction</a:t>
                </a:r>
                <a:r>
                  <a:rPr lang="it-IT" dirty="0"/>
                  <a:t>: we </a:t>
                </a:r>
                <a:r>
                  <a:rPr lang="it-IT" dirty="0" err="1"/>
                  <a:t>would</a:t>
                </a:r>
                <a:r>
                  <a:rPr lang="it-IT" dirty="0"/>
                  <a:t> just </a:t>
                </a:r>
                <a:r>
                  <a:rPr lang="it-IT" dirty="0" err="1"/>
                  <a:t>calculate</a:t>
                </a:r>
                <a:r>
                  <a:rPr lang="it-IT" dirty="0"/>
                  <a:t> the </a:t>
                </a:r>
                <a:r>
                  <a:rPr lang="it-IT" dirty="0" err="1"/>
                  <a:t>channeling</a:t>
                </a:r>
                <a:r>
                  <a:rPr lang="it-IT" dirty="0"/>
                  <a:t> </a:t>
                </a:r>
                <a:r>
                  <a:rPr lang="it-IT" dirty="0" err="1"/>
                  <a:t>efficiency</a:t>
                </a:r>
                <a:r>
                  <a:rPr lang="it-IT" dirty="0"/>
                  <a:t> </a:t>
                </a:r>
                <a:r>
                  <a:rPr lang="it-IT" dirty="0" err="1"/>
                  <a:t>through</a:t>
                </a:r>
                <a:r>
                  <a:rPr lang="it-IT" dirty="0"/>
                  <a:t> </a:t>
                </a:r>
                <a:r>
                  <a:rPr lang="it-IT" dirty="0" err="1"/>
                  <a:t>several</a:t>
                </a:r>
                <a:r>
                  <a:rPr lang="it-IT" dirty="0"/>
                  <a:t> </a:t>
                </a:r>
                <a:r>
                  <a:rPr lang="it-IT" dirty="0" err="1"/>
                  <a:t>iterations</a:t>
                </a:r>
                <a:r>
                  <a:rPr lang="it-IT" dirty="0"/>
                  <a:t> </a:t>
                </a:r>
                <a:r>
                  <a:rPr lang="it-IT" dirty="0" err="1"/>
                  <a:t>varying</a:t>
                </a:r>
                <a:r>
                  <a:rPr lang="it-IT" dirty="0"/>
                  <a:t> </a:t>
                </a: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𝜃</m:t>
                        </m:r>
                      </m:e>
                      <m:sub>
                        <m:r>
                          <a:rPr lang="it-IT" b="0" i="1" smtClean="0">
                            <a:latin typeface="Cambria Math" panose="02040503050406030204" pitchFamily="18" charset="0"/>
                          </a:rPr>
                          <m:t>0</m:t>
                        </m:r>
                      </m:sub>
                    </m:sSub>
                  </m:oMath>
                </a14:m>
                <a:r>
                  <a:rPr lang="it-IT" dirty="0"/>
                  <a:t> </a:t>
                </a:r>
                <a:r>
                  <a:rPr lang="it-IT" dirty="0" err="1"/>
                  <a:t>until</a:t>
                </a:r>
                <a:r>
                  <a:rPr lang="it-IT" dirty="0"/>
                  <a:t> the </a:t>
                </a:r>
                <a:r>
                  <a:rPr lang="it-IT" dirty="0" err="1"/>
                  <a:t>highest</a:t>
                </a:r>
                <a:r>
                  <a:rPr lang="it-IT" baseline="0" dirty="0"/>
                  <a:t> </a:t>
                </a:r>
                <a:r>
                  <a:rPr lang="it-IT" baseline="0" dirty="0" err="1"/>
                  <a:t>efficiency</a:t>
                </a:r>
                <a:r>
                  <a:rPr lang="it-IT" baseline="0" dirty="0"/>
                  <a:t> </a:t>
                </a:r>
                <a:r>
                  <a:rPr lang="it-IT" baseline="0" dirty="0" err="1"/>
                  <a:t>is</a:t>
                </a:r>
                <a:r>
                  <a:rPr lang="it-IT" baseline="0" dirty="0"/>
                  <a:t> </a:t>
                </a:r>
                <a:r>
                  <a:rPr lang="it-IT" baseline="0" dirty="0" err="1"/>
                  <a:t>found</a:t>
                </a:r>
                <a:r>
                  <a:rPr lang="it-IT" baseline="0" dirty="0"/>
                  <a:t>, </a:t>
                </a:r>
                <a:r>
                  <a:rPr lang="it-IT" baseline="0" dirty="0" err="1"/>
                  <a:t>representing</a:t>
                </a:r>
                <a:r>
                  <a:rPr lang="it-IT" baseline="0" dirty="0"/>
                  <a:t> the best </a:t>
                </a:r>
                <a:r>
                  <a:rPr lang="it-IT" baseline="0" dirty="0" err="1"/>
                  <a:t>alignment</a:t>
                </a:r>
                <a:r>
                  <a:rPr lang="it-IT" baseline="0" dirty="0"/>
                  <a:t> of incoming </a:t>
                </a:r>
                <a:r>
                  <a:rPr lang="it-IT" baseline="0" dirty="0" err="1"/>
                  <a:t>particles</a:t>
                </a:r>
                <a:r>
                  <a:rPr lang="it-IT" baseline="0" dirty="0"/>
                  <a:t> with the </a:t>
                </a:r>
                <a:r>
                  <a:rPr lang="it-IT" baseline="0" dirty="0" err="1"/>
                  <a:t>crystalline</a:t>
                </a:r>
                <a:r>
                  <a:rPr lang="it-IT" baseline="0" dirty="0"/>
                  <a:t> </a:t>
                </a:r>
                <a:r>
                  <a:rPr lang="it-IT" baseline="0" dirty="0" err="1"/>
                  <a:t>planes</a:t>
                </a:r>
                <a:endParaRPr lang="it-IT" dirty="0"/>
              </a:p>
            </p:txBody>
          </p:sp>
        </mc:Choice>
        <mc:Fallback xmlns="">
          <p:sp>
            <p:nvSpPr>
              <p:cNvPr id="3" name="Segnaposto note 2"/>
              <p:cNvSpPr>
                <a:spLocks noGrp="1"/>
              </p:cNvSpPr>
              <p:nvPr>
                <p:ph type="body" idx="1"/>
              </p:nvPr>
            </p:nvSpPr>
            <p:spPr/>
            <p:txBody>
              <a:bodyPr/>
              <a:lstStyle/>
              <a:p>
                <a:r>
                  <a:rPr lang="it-IT" dirty="0"/>
                  <a:t>If not </a:t>
                </a:r>
                <a:r>
                  <a:rPr lang="it-IT" dirty="0" err="1"/>
                  <a:t>considering</a:t>
                </a:r>
                <a:r>
                  <a:rPr lang="it-IT" dirty="0"/>
                  <a:t> </a:t>
                </a:r>
                <a:r>
                  <a:rPr lang="it-IT" dirty="0" err="1"/>
                  <a:t>any</a:t>
                </a:r>
                <a:r>
                  <a:rPr lang="it-IT" dirty="0"/>
                  <a:t> </a:t>
                </a:r>
                <a:r>
                  <a:rPr lang="it-IT" dirty="0" err="1"/>
                  <a:t>torsion</a:t>
                </a:r>
                <a:r>
                  <a:rPr lang="it-IT" dirty="0"/>
                  <a:t> </a:t>
                </a:r>
                <a:r>
                  <a:rPr lang="it-IT" dirty="0" err="1"/>
                  <a:t>correction</a:t>
                </a:r>
                <a:r>
                  <a:rPr lang="it-IT" dirty="0"/>
                  <a:t>: we </a:t>
                </a:r>
                <a:r>
                  <a:rPr lang="it-IT" dirty="0" err="1"/>
                  <a:t>would</a:t>
                </a:r>
                <a:r>
                  <a:rPr lang="it-IT" dirty="0"/>
                  <a:t> just </a:t>
                </a:r>
                <a:r>
                  <a:rPr lang="it-IT" dirty="0" err="1"/>
                  <a:t>calculate</a:t>
                </a:r>
                <a:r>
                  <a:rPr lang="it-IT" dirty="0"/>
                  <a:t> the </a:t>
                </a:r>
                <a:r>
                  <a:rPr lang="it-IT" dirty="0" err="1"/>
                  <a:t>channeling</a:t>
                </a:r>
                <a:r>
                  <a:rPr lang="it-IT" dirty="0"/>
                  <a:t> </a:t>
                </a:r>
                <a:r>
                  <a:rPr lang="it-IT" dirty="0" err="1"/>
                  <a:t>efficiency</a:t>
                </a:r>
                <a:r>
                  <a:rPr lang="it-IT" dirty="0"/>
                  <a:t> </a:t>
                </a:r>
                <a:r>
                  <a:rPr lang="it-IT" dirty="0" err="1"/>
                  <a:t>through</a:t>
                </a:r>
                <a:r>
                  <a:rPr lang="it-IT" dirty="0"/>
                  <a:t> </a:t>
                </a:r>
                <a:r>
                  <a:rPr lang="it-IT" dirty="0" err="1"/>
                  <a:t>several</a:t>
                </a:r>
                <a:r>
                  <a:rPr lang="it-IT" dirty="0"/>
                  <a:t> </a:t>
                </a:r>
                <a:r>
                  <a:rPr lang="it-IT" dirty="0" err="1"/>
                  <a:t>iterations</a:t>
                </a:r>
                <a:r>
                  <a:rPr lang="it-IT" dirty="0"/>
                  <a:t> </a:t>
                </a:r>
                <a:r>
                  <a:rPr lang="it-IT" dirty="0" err="1"/>
                  <a:t>varying</a:t>
                </a:r>
                <a:r>
                  <a:rPr lang="it-IT" dirty="0"/>
                  <a:t> </a:t>
                </a:r>
                <a:r>
                  <a:rPr lang="it-IT" b="0" i="0">
                    <a:latin typeface="Cambria Math" panose="02040503050406030204" pitchFamily="18" charset="0"/>
                  </a:rPr>
                  <a:t>𝜃_0</a:t>
                </a:r>
                <a:r>
                  <a:rPr lang="it-IT" dirty="0"/>
                  <a:t> </a:t>
                </a:r>
                <a:r>
                  <a:rPr lang="it-IT" dirty="0" err="1"/>
                  <a:t>until</a:t>
                </a:r>
                <a:r>
                  <a:rPr lang="it-IT" dirty="0"/>
                  <a:t> the </a:t>
                </a:r>
                <a:r>
                  <a:rPr lang="it-IT" dirty="0" err="1"/>
                  <a:t>highest</a:t>
                </a:r>
                <a:r>
                  <a:rPr lang="it-IT" baseline="0" dirty="0"/>
                  <a:t> </a:t>
                </a:r>
                <a:r>
                  <a:rPr lang="it-IT" baseline="0" dirty="0" err="1"/>
                  <a:t>efficiency</a:t>
                </a:r>
                <a:r>
                  <a:rPr lang="it-IT" baseline="0" dirty="0"/>
                  <a:t> </a:t>
                </a:r>
                <a:r>
                  <a:rPr lang="it-IT" baseline="0" dirty="0" err="1"/>
                  <a:t>is</a:t>
                </a:r>
                <a:r>
                  <a:rPr lang="it-IT" baseline="0" dirty="0"/>
                  <a:t> </a:t>
                </a:r>
                <a:r>
                  <a:rPr lang="it-IT" baseline="0" dirty="0" err="1"/>
                  <a:t>found</a:t>
                </a:r>
                <a:r>
                  <a:rPr lang="it-IT" baseline="0" dirty="0"/>
                  <a:t>, </a:t>
                </a:r>
                <a:r>
                  <a:rPr lang="it-IT" baseline="0" dirty="0" err="1"/>
                  <a:t>representing</a:t>
                </a:r>
                <a:r>
                  <a:rPr lang="it-IT" baseline="0" dirty="0"/>
                  <a:t> the best </a:t>
                </a:r>
                <a:r>
                  <a:rPr lang="it-IT" baseline="0" dirty="0" err="1"/>
                  <a:t>alignment</a:t>
                </a:r>
                <a:r>
                  <a:rPr lang="it-IT" baseline="0" dirty="0"/>
                  <a:t> of incoming </a:t>
                </a:r>
                <a:r>
                  <a:rPr lang="it-IT" baseline="0" dirty="0" err="1"/>
                  <a:t>particles</a:t>
                </a:r>
                <a:r>
                  <a:rPr lang="it-IT" baseline="0" dirty="0"/>
                  <a:t> with the </a:t>
                </a:r>
                <a:r>
                  <a:rPr lang="it-IT" baseline="0" dirty="0" err="1"/>
                  <a:t>crystalline</a:t>
                </a:r>
                <a:r>
                  <a:rPr lang="it-IT" baseline="0" dirty="0"/>
                  <a:t> </a:t>
                </a:r>
                <a:r>
                  <a:rPr lang="it-IT" baseline="0" dirty="0" err="1"/>
                  <a:t>planes</a:t>
                </a:r>
                <a:endParaRPr lang="it-IT" dirty="0"/>
              </a:p>
            </p:txBody>
          </p:sp>
        </mc:Fallback>
      </mc:AlternateContent>
      <p:sp>
        <p:nvSpPr>
          <p:cNvPr id="4" name="Segnaposto numero diapositiva 3"/>
          <p:cNvSpPr>
            <a:spLocks noGrp="1"/>
          </p:cNvSpPr>
          <p:nvPr>
            <p:ph type="sldNum" sz="quarter" idx="5"/>
          </p:nvPr>
        </p:nvSpPr>
        <p:spPr/>
        <p:txBody>
          <a:bodyPr/>
          <a:lstStyle/>
          <a:p>
            <a:fld id="{C205392F-55BF-4B8E-AF01-45F81C88C286}" type="slidenum">
              <a:rPr lang="it-IT" smtClean="0"/>
              <a:t>25</a:t>
            </a:fld>
            <a:endParaRPr lang="it-IT"/>
          </a:p>
        </p:txBody>
      </p:sp>
    </p:spTree>
    <p:extLst>
      <p:ext uri="{BB962C8B-B14F-4D97-AF65-F5344CB8AC3E}">
        <p14:creationId xmlns:p14="http://schemas.microsoft.com/office/powerpoint/2010/main" val="31338403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err="1"/>
              <a:t>Applying</a:t>
            </a:r>
            <a:r>
              <a:rPr lang="it-IT" dirty="0"/>
              <a:t> this </a:t>
            </a:r>
            <a:r>
              <a:rPr lang="it-IT" dirty="0" err="1"/>
              <a:t>torsion</a:t>
            </a:r>
            <a:r>
              <a:rPr lang="it-IT" dirty="0"/>
              <a:t> </a:t>
            </a:r>
            <a:r>
              <a:rPr lang="it-IT" dirty="0" err="1"/>
              <a:t>correction</a:t>
            </a:r>
            <a:r>
              <a:rPr lang="it-IT" dirty="0"/>
              <a:t> </a:t>
            </a:r>
            <a:r>
              <a:rPr lang="it-IT" dirty="0" err="1"/>
              <a:t>significantly</a:t>
            </a:r>
            <a:r>
              <a:rPr lang="it-IT" dirty="0"/>
              <a:t> </a:t>
            </a:r>
            <a:r>
              <a:rPr lang="it-IT" dirty="0" err="1"/>
              <a:t>improves</a:t>
            </a:r>
            <a:r>
              <a:rPr lang="it-IT" dirty="0"/>
              <a:t> </a:t>
            </a:r>
            <a:r>
              <a:rPr lang="it-IT" dirty="0" err="1"/>
              <a:t>our</a:t>
            </a:r>
            <a:r>
              <a:rPr lang="it-IT" dirty="0"/>
              <a:t> </a:t>
            </a:r>
            <a:r>
              <a:rPr lang="it-IT" dirty="0" err="1"/>
              <a:t>analysis</a:t>
            </a:r>
            <a:r>
              <a:rPr lang="it-IT" dirty="0"/>
              <a:t>. </a:t>
            </a:r>
            <a:r>
              <a:rPr lang="it-IT" dirty="0" err="1"/>
              <a:t>When</a:t>
            </a:r>
            <a:r>
              <a:rPr lang="it-IT" dirty="0"/>
              <a:t> we plot the </a:t>
            </a:r>
            <a:r>
              <a:rPr lang="it-IT" dirty="0" err="1"/>
              <a:t>crystal</a:t>
            </a:r>
            <a:r>
              <a:rPr lang="it-IT" dirty="0"/>
              <a:t> </a:t>
            </a:r>
            <a:r>
              <a:rPr lang="it-IT" dirty="0" err="1"/>
              <a:t>efficiency</a:t>
            </a:r>
            <a:r>
              <a:rPr lang="it-IT" dirty="0"/>
              <a:t> </a:t>
            </a:r>
            <a:r>
              <a:rPr lang="it-IT" dirty="0" err="1"/>
              <a:t>as</a:t>
            </a:r>
            <a:r>
              <a:rPr lang="it-IT" dirty="0"/>
              <a:t> a function of the </a:t>
            </a:r>
            <a:r>
              <a:rPr lang="it-IT" dirty="0" err="1"/>
              <a:t>torsion-corrected</a:t>
            </a:r>
            <a:r>
              <a:rPr lang="it-IT" dirty="0"/>
              <a:t> incoming angle, the </a:t>
            </a:r>
            <a:r>
              <a:rPr lang="it-IT" dirty="0" err="1"/>
              <a:t>peak</a:t>
            </a:r>
            <a:r>
              <a:rPr lang="it-IT" dirty="0"/>
              <a:t> of this curve </a:t>
            </a:r>
            <a:r>
              <a:rPr lang="it-IT" dirty="0" err="1"/>
              <a:t>represents</a:t>
            </a:r>
            <a:r>
              <a:rPr lang="it-IT" dirty="0"/>
              <a:t> the </a:t>
            </a:r>
            <a:r>
              <a:rPr lang="it-IT" dirty="0" err="1"/>
              <a:t>efficiency</a:t>
            </a:r>
            <a:r>
              <a:rPr lang="it-IT" dirty="0"/>
              <a:t> of the </a:t>
            </a:r>
            <a:r>
              <a:rPr lang="it-IT" dirty="0" err="1"/>
              <a:t>crystal</a:t>
            </a:r>
            <a:r>
              <a:rPr lang="it-IT" dirty="0"/>
              <a:t> </a:t>
            </a:r>
            <a:r>
              <a:rPr lang="it-IT" dirty="0" err="1"/>
              <a:t>when</a:t>
            </a:r>
            <a:r>
              <a:rPr lang="it-IT" dirty="0"/>
              <a:t> it </a:t>
            </a:r>
            <a:r>
              <a:rPr lang="it-IT" dirty="0" err="1"/>
              <a:t>is</a:t>
            </a:r>
            <a:r>
              <a:rPr lang="it-IT" dirty="0"/>
              <a:t> </a:t>
            </a:r>
            <a:r>
              <a:rPr lang="it-IT" dirty="0" err="1"/>
              <a:t>perfectly</a:t>
            </a:r>
            <a:r>
              <a:rPr lang="it-IT" dirty="0"/>
              <a:t> </a:t>
            </a:r>
            <a:r>
              <a:rPr lang="it-IT" dirty="0" err="1"/>
              <a:t>aligned</a:t>
            </a:r>
            <a:r>
              <a:rPr lang="it-IT" dirty="0"/>
              <a:t> to the </a:t>
            </a:r>
            <a:r>
              <a:rPr lang="it-IT" dirty="0" err="1"/>
              <a:t>beam</a:t>
            </a:r>
            <a:r>
              <a:rPr lang="it-IT" dirty="0"/>
              <a:t>, </a:t>
            </a:r>
            <a:r>
              <a:rPr lang="it-IT" dirty="0" err="1"/>
              <a:t>which</a:t>
            </a:r>
            <a:r>
              <a:rPr lang="it-IT" dirty="0"/>
              <a:t> in this case </a:t>
            </a:r>
            <a:r>
              <a:rPr lang="it-IT" dirty="0" err="1"/>
              <a:t>reached</a:t>
            </a:r>
            <a:r>
              <a:rPr lang="it-IT" dirty="0"/>
              <a:t> 18.8%.</a:t>
            </a:r>
          </a:p>
        </p:txBody>
      </p:sp>
      <p:sp>
        <p:nvSpPr>
          <p:cNvPr id="4" name="Segnaposto numero diapositiva 3"/>
          <p:cNvSpPr>
            <a:spLocks noGrp="1"/>
          </p:cNvSpPr>
          <p:nvPr>
            <p:ph type="sldNum" sz="quarter" idx="5"/>
          </p:nvPr>
        </p:nvSpPr>
        <p:spPr/>
        <p:txBody>
          <a:bodyPr/>
          <a:lstStyle/>
          <a:p>
            <a:fld id="{C205392F-55BF-4B8E-AF01-45F81C88C286}" type="slidenum">
              <a:rPr lang="it-IT" smtClean="0"/>
              <a:t>27</a:t>
            </a:fld>
            <a:endParaRPr lang="it-IT"/>
          </a:p>
        </p:txBody>
      </p:sp>
    </p:spTree>
    <p:extLst>
      <p:ext uri="{BB962C8B-B14F-4D97-AF65-F5344CB8AC3E}">
        <p14:creationId xmlns:p14="http://schemas.microsoft.com/office/powerpoint/2010/main" val="2834989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7821984-7078-FB6F-53DE-65CB4959228B}"/>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89B0F579-13AD-1739-E1E4-4A793161EE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FC366BD3-025C-431C-F893-5E744EEA45D0}"/>
              </a:ext>
            </a:extLst>
          </p:cNvPr>
          <p:cNvSpPr>
            <a:spLocks noGrp="1"/>
          </p:cNvSpPr>
          <p:nvPr>
            <p:ph type="dt" sz="half" idx="10"/>
          </p:nvPr>
        </p:nvSpPr>
        <p:spPr/>
        <p:txBody>
          <a:bodyPr/>
          <a:lstStyle/>
          <a:p>
            <a:fld id="{4B734174-4AE7-4BE8-A29D-97641C0FB41A}" type="datetimeFigureOut">
              <a:rPr lang="it-IT" smtClean="0"/>
              <a:t>19/08/2026</a:t>
            </a:fld>
            <a:endParaRPr lang="it-IT"/>
          </a:p>
        </p:txBody>
      </p:sp>
      <p:sp>
        <p:nvSpPr>
          <p:cNvPr id="5" name="Segnaposto piè di pagina 4">
            <a:extLst>
              <a:ext uri="{FF2B5EF4-FFF2-40B4-BE49-F238E27FC236}">
                <a16:creationId xmlns:a16="http://schemas.microsoft.com/office/drawing/2014/main" id="{B16B1278-2C38-DAAA-2180-B3C7CF9E2063}"/>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A97CBF5-3F4D-EE8F-2948-DA6B6F7273A1}"/>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3383875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35BF9F7-DF67-1E3C-547B-A5DD6323C036}"/>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37897D17-B33A-6EF1-CEF4-981888F7F747}"/>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E788FE08-6E28-2435-B1EC-792C36B67307}"/>
              </a:ext>
            </a:extLst>
          </p:cNvPr>
          <p:cNvSpPr>
            <a:spLocks noGrp="1"/>
          </p:cNvSpPr>
          <p:nvPr>
            <p:ph type="dt" sz="half" idx="10"/>
          </p:nvPr>
        </p:nvSpPr>
        <p:spPr/>
        <p:txBody>
          <a:bodyPr/>
          <a:lstStyle/>
          <a:p>
            <a:fld id="{4B734174-4AE7-4BE8-A29D-97641C0FB41A}" type="datetimeFigureOut">
              <a:rPr lang="it-IT" smtClean="0"/>
              <a:t>19/08/2026</a:t>
            </a:fld>
            <a:endParaRPr lang="it-IT"/>
          </a:p>
        </p:txBody>
      </p:sp>
      <p:sp>
        <p:nvSpPr>
          <p:cNvPr id="5" name="Segnaposto piè di pagina 4">
            <a:extLst>
              <a:ext uri="{FF2B5EF4-FFF2-40B4-BE49-F238E27FC236}">
                <a16:creationId xmlns:a16="http://schemas.microsoft.com/office/drawing/2014/main" id="{B96292FF-01B5-7AC1-867C-EEFA64FD6488}"/>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48C4693C-59F1-46F6-6F7F-2B8960722237}"/>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2351532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28FA5AA-FBCD-6954-D2E4-9E6A30EC9228}"/>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BD157C25-DA71-A412-A8F8-C57915EA4D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35B257C5-C8D1-BC78-EB2A-67B902CA7A22}"/>
              </a:ext>
            </a:extLst>
          </p:cNvPr>
          <p:cNvSpPr>
            <a:spLocks noGrp="1"/>
          </p:cNvSpPr>
          <p:nvPr>
            <p:ph type="dt" sz="half" idx="10"/>
          </p:nvPr>
        </p:nvSpPr>
        <p:spPr/>
        <p:txBody>
          <a:bodyPr/>
          <a:lstStyle/>
          <a:p>
            <a:fld id="{4B734174-4AE7-4BE8-A29D-97641C0FB41A}" type="datetimeFigureOut">
              <a:rPr lang="it-IT" smtClean="0"/>
              <a:t>19/08/2026</a:t>
            </a:fld>
            <a:endParaRPr lang="it-IT"/>
          </a:p>
        </p:txBody>
      </p:sp>
      <p:sp>
        <p:nvSpPr>
          <p:cNvPr id="5" name="Segnaposto piè di pagina 4">
            <a:extLst>
              <a:ext uri="{FF2B5EF4-FFF2-40B4-BE49-F238E27FC236}">
                <a16:creationId xmlns:a16="http://schemas.microsoft.com/office/drawing/2014/main" id="{8C0A21B9-77D6-757F-FA97-6E2E8511A6A3}"/>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F6EEBBD-AFF0-E5A1-86E3-6BF12AA631B0}"/>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1877015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64FECF5-18C9-81B6-0E7F-7D0C714EB97D}"/>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D6F01EA4-A558-FA53-457E-90179EFC94A6}"/>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3796ED2A-F813-DC16-E2A0-22104D937251}"/>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C583BCB6-BE83-B09D-6860-23AA5F3B83CF}"/>
              </a:ext>
            </a:extLst>
          </p:cNvPr>
          <p:cNvSpPr>
            <a:spLocks noGrp="1"/>
          </p:cNvSpPr>
          <p:nvPr>
            <p:ph type="dt" sz="half" idx="10"/>
          </p:nvPr>
        </p:nvSpPr>
        <p:spPr/>
        <p:txBody>
          <a:bodyPr/>
          <a:lstStyle/>
          <a:p>
            <a:fld id="{4B734174-4AE7-4BE8-A29D-97641C0FB41A}" type="datetimeFigureOut">
              <a:rPr lang="it-IT" smtClean="0"/>
              <a:t>19/08/2026</a:t>
            </a:fld>
            <a:endParaRPr lang="it-IT"/>
          </a:p>
        </p:txBody>
      </p:sp>
      <p:sp>
        <p:nvSpPr>
          <p:cNvPr id="6" name="Segnaposto piè di pagina 5">
            <a:extLst>
              <a:ext uri="{FF2B5EF4-FFF2-40B4-BE49-F238E27FC236}">
                <a16:creationId xmlns:a16="http://schemas.microsoft.com/office/drawing/2014/main" id="{BE807251-F5D2-194C-A28B-1FF256E4FD98}"/>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91282E7D-96B1-1FEB-7101-C83209A2AEE6}"/>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3294326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1510D65-D9F5-6682-A088-CCB2E189FCEE}"/>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9C1461FA-1BD4-41E7-5612-B9A63DC68B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E8E14A22-90A5-A90F-BD0E-F256D29DF7F3}"/>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0C80727B-7142-286E-DE3B-7B8E833DC0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E5203D91-1775-8A1D-169A-D6CE16954D85}"/>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426E9141-3575-E6BC-31BD-40D6F8C18F44}"/>
              </a:ext>
            </a:extLst>
          </p:cNvPr>
          <p:cNvSpPr>
            <a:spLocks noGrp="1"/>
          </p:cNvSpPr>
          <p:nvPr>
            <p:ph type="dt" sz="half" idx="10"/>
          </p:nvPr>
        </p:nvSpPr>
        <p:spPr/>
        <p:txBody>
          <a:bodyPr/>
          <a:lstStyle/>
          <a:p>
            <a:fld id="{4B734174-4AE7-4BE8-A29D-97641C0FB41A}" type="datetimeFigureOut">
              <a:rPr lang="it-IT" smtClean="0"/>
              <a:t>19/08/2026</a:t>
            </a:fld>
            <a:endParaRPr lang="it-IT"/>
          </a:p>
        </p:txBody>
      </p:sp>
      <p:sp>
        <p:nvSpPr>
          <p:cNvPr id="8" name="Segnaposto piè di pagina 7">
            <a:extLst>
              <a:ext uri="{FF2B5EF4-FFF2-40B4-BE49-F238E27FC236}">
                <a16:creationId xmlns:a16="http://schemas.microsoft.com/office/drawing/2014/main" id="{53ED44CC-825C-252C-F9E7-9AFB2DDFE0F8}"/>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B4EAFB81-9B92-09AB-31C7-9964D6A0F22A}"/>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27555138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A17CDB2-4B02-4B07-9307-AA112DA8B1FE}"/>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445ED6FB-CF38-9B06-4770-9487CFF1F9E0}"/>
              </a:ext>
            </a:extLst>
          </p:cNvPr>
          <p:cNvSpPr>
            <a:spLocks noGrp="1"/>
          </p:cNvSpPr>
          <p:nvPr>
            <p:ph type="dt" sz="half" idx="10"/>
          </p:nvPr>
        </p:nvSpPr>
        <p:spPr/>
        <p:txBody>
          <a:bodyPr/>
          <a:lstStyle/>
          <a:p>
            <a:fld id="{4B734174-4AE7-4BE8-A29D-97641C0FB41A}" type="datetimeFigureOut">
              <a:rPr lang="it-IT" smtClean="0"/>
              <a:t>19/08/2026</a:t>
            </a:fld>
            <a:endParaRPr lang="it-IT"/>
          </a:p>
        </p:txBody>
      </p:sp>
      <p:sp>
        <p:nvSpPr>
          <p:cNvPr id="4" name="Segnaposto piè di pagina 3">
            <a:extLst>
              <a:ext uri="{FF2B5EF4-FFF2-40B4-BE49-F238E27FC236}">
                <a16:creationId xmlns:a16="http://schemas.microsoft.com/office/drawing/2014/main" id="{3524D896-7BDD-3114-11AB-2CAEBBB030FD}"/>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013DBC53-D20A-CA44-6D1D-3E3F05E177EC}"/>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710041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7C8297C2-0D3B-ED56-8B61-FCB9774E01BB}"/>
              </a:ext>
            </a:extLst>
          </p:cNvPr>
          <p:cNvSpPr>
            <a:spLocks noGrp="1"/>
          </p:cNvSpPr>
          <p:nvPr>
            <p:ph type="dt" sz="half" idx="10"/>
          </p:nvPr>
        </p:nvSpPr>
        <p:spPr/>
        <p:txBody>
          <a:bodyPr/>
          <a:lstStyle/>
          <a:p>
            <a:fld id="{4B734174-4AE7-4BE8-A29D-97641C0FB41A}" type="datetimeFigureOut">
              <a:rPr lang="it-IT" smtClean="0"/>
              <a:t>19/08/2026</a:t>
            </a:fld>
            <a:endParaRPr lang="it-IT"/>
          </a:p>
        </p:txBody>
      </p:sp>
      <p:sp>
        <p:nvSpPr>
          <p:cNvPr id="3" name="Segnaposto piè di pagina 2">
            <a:extLst>
              <a:ext uri="{FF2B5EF4-FFF2-40B4-BE49-F238E27FC236}">
                <a16:creationId xmlns:a16="http://schemas.microsoft.com/office/drawing/2014/main" id="{4748E9F0-0B23-D251-AC8F-D94B00C1692C}"/>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23ECAA01-23A7-6F7F-6E50-FED32F981D57}"/>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3780161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94600CA-7798-78EF-A297-14320CA838C3}"/>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901CFEC1-C59B-4282-7ECD-EED1E5185A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26FA0D9B-562D-BA61-6460-5B681C24F5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266EF93F-C388-68A8-6F71-1DF2A7CA66BC}"/>
              </a:ext>
            </a:extLst>
          </p:cNvPr>
          <p:cNvSpPr>
            <a:spLocks noGrp="1"/>
          </p:cNvSpPr>
          <p:nvPr>
            <p:ph type="dt" sz="half" idx="10"/>
          </p:nvPr>
        </p:nvSpPr>
        <p:spPr/>
        <p:txBody>
          <a:bodyPr/>
          <a:lstStyle/>
          <a:p>
            <a:fld id="{4B734174-4AE7-4BE8-A29D-97641C0FB41A}" type="datetimeFigureOut">
              <a:rPr lang="it-IT" smtClean="0"/>
              <a:t>19/08/2026</a:t>
            </a:fld>
            <a:endParaRPr lang="it-IT"/>
          </a:p>
        </p:txBody>
      </p:sp>
      <p:sp>
        <p:nvSpPr>
          <p:cNvPr id="6" name="Segnaposto piè di pagina 5">
            <a:extLst>
              <a:ext uri="{FF2B5EF4-FFF2-40B4-BE49-F238E27FC236}">
                <a16:creationId xmlns:a16="http://schemas.microsoft.com/office/drawing/2014/main" id="{FC792410-D57D-8112-5C15-B3FE6B7166F9}"/>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03A02F4E-4C83-F922-9862-ADBD0F70DDF6}"/>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201589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C02439D-E4F5-5CFC-2A7E-3B7111003856}"/>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B76CAC3F-4306-8C93-FAFD-71172627CC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677C4C85-4610-E23F-E411-CAB1446C07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BF0750AC-EC3B-956F-684D-3C0FEE6CBDA7}"/>
              </a:ext>
            </a:extLst>
          </p:cNvPr>
          <p:cNvSpPr>
            <a:spLocks noGrp="1"/>
          </p:cNvSpPr>
          <p:nvPr>
            <p:ph type="dt" sz="half" idx="10"/>
          </p:nvPr>
        </p:nvSpPr>
        <p:spPr/>
        <p:txBody>
          <a:bodyPr/>
          <a:lstStyle/>
          <a:p>
            <a:fld id="{4B734174-4AE7-4BE8-A29D-97641C0FB41A}" type="datetimeFigureOut">
              <a:rPr lang="it-IT" smtClean="0"/>
              <a:t>19/08/2026</a:t>
            </a:fld>
            <a:endParaRPr lang="it-IT"/>
          </a:p>
        </p:txBody>
      </p:sp>
      <p:sp>
        <p:nvSpPr>
          <p:cNvPr id="6" name="Segnaposto piè di pagina 5">
            <a:extLst>
              <a:ext uri="{FF2B5EF4-FFF2-40B4-BE49-F238E27FC236}">
                <a16:creationId xmlns:a16="http://schemas.microsoft.com/office/drawing/2014/main" id="{93A1C4B6-8AD9-702F-FC48-361C84EE61D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64A69AD3-3C4C-17D2-A40D-87D5ECD270BC}"/>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1689463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15266DE-32C7-73E6-6685-47860E28AA70}"/>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50B3BC10-8E18-A721-00DD-56CA590D68DC}"/>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BB7F265D-9538-2214-0D6D-0C6078CC5C33}"/>
              </a:ext>
            </a:extLst>
          </p:cNvPr>
          <p:cNvSpPr>
            <a:spLocks noGrp="1"/>
          </p:cNvSpPr>
          <p:nvPr>
            <p:ph type="dt" sz="half" idx="10"/>
          </p:nvPr>
        </p:nvSpPr>
        <p:spPr/>
        <p:txBody>
          <a:bodyPr/>
          <a:lstStyle/>
          <a:p>
            <a:fld id="{4B734174-4AE7-4BE8-A29D-97641C0FB41A}" type="datetimeFigureOut">
              <a:rPr lang="it-IT" smtClean="0"/>
              <a:t>19/08/2026</a:t>
            </a:fld>
            <a:endParaRPr lang="it-IT"/>
          </a:p>
        </p:txBody>
      </p:sp>
      <p:sp>
        <p:nvSpPr>
          <p:cNvPr id="5" name="Segnaposto piè di pagina 4">
            <a:extLst>
              <a:ext uri="{FF2B5EF4-FFF2-40B4-BE49-F238E27FC236}">
                <a16:creationId xmlns:a16="http://schemas.microsoft.com/office/drawing/2014/main" id="{A01A8A0C-1534-981E-3D4B-30FF7C64286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74CFED61-CB81-D9BC-C52D-CE21C2E80347}"/>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27691853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7ECC69D5-05DB-95B6-C17D-00B311146AB9}"/>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0E743714-00DC-E371-9597-EB25A8FBA0C2}"/>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C270DE6F-350B-6C8A-3068-BFEE6901A6D6}"/>
              </a:ext>
            </a:extLst>
          </p:cNvPr>
          <p:cNvSpPr>
            <a:spLocks noGrp="1"/>
          </p:cNvSpPr>
          <p:nvPr>
            <p:ph type="dt" sz="half" idx="10"/>
          </p:nvPr>
        </p:nvSpPr>
        <p:spPr/>
        <p:txBody>
          <a:bodyPr/>
          <a:lstStyle/>
          <a:p>
            <a:fld id="{4B734174-4AE7-4BE8-A29D-97641C0FB41A}" type="datetimeFigureOut">
              <a:rPr lang="it-IT" smtClean="0"/>
              <a:t>19/08/2026</a:t>
            </a:fld>
            <a:endParaRPr lang="it-IT"/>
          </a:p>
        </p:txBody>
      </p:sp>
      <p:sp>
        <p:nvSpPr>
          <p:cNvPr id="5" name="Segnaposto piè di pagina 4">
            <a:extLst>
              <a:ext uri="{FF2B5EF4-FFF2-40B4-BE49-F238E27FC236}">
                <a16:creationId xmlns:a16="http://schemas.microsoft.com/office/drawing/2014/main" id="{C5165C43-787E-C48A-1E67-0D099BC1CE4A}"/>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D0D0913-985D-6312-E38E-9477ADF1A8CB}"/>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9018656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57D8B87C-FD1A-B59F-78B3-6892EFB87A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2C67C8B9-89B9-D7BA-FB20-C7EB581367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51A205FC-B67D-F4FD-003E-9D2FD2A1C3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B734174-4AE7-4BE8-A29D-97641C0FB41A}" type="datetimeFigureOut">
              <a:rPr lang="it-IT" smtClean="0"/>
              <a:t>19/08/2026</a:t>
            </a:fld>
            <a:endParaRPr lang="it-IT"/>
          </a:p>
        </p:txBody>
      </p:sp>
      <p:sp>
        <p:nvSpPr>
          <p:cNvPr id="5" name="Segnaposto piè di pagina 4">
            <a:extLst>
              <a:ext uri="{FF2B5EF4-FFF2-40B4-BE49-F238E27FC236}">
                <a16:creationId xmlns:a16="http://schemas.microsoft.com/office/drawing/2014/main" id="{F66218BC-0ED4-07D9-A0D8-A1B2B24A2C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61910B92-3F1F-78FA-6C70-FEC529A95B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68CEA8-3AB4-4B0B-9144-20E181ED9507}" type="slidenum">
              <a:rPr lang="it-IT" smtClean="0"/>
              <a:t>‹#›</a:t>
            </a:fld>
            <a:endParaRPr lang="it-IT"/>
          </a:p>
        </p:txBody>
      </p:sp>
    </p:spTree>
    <p:extLst>
      <p:ext uri="{BB962C8B-B14F-4D97-AF65-F5344CB8AC3E}">
        <p14:creationId xmlns:p14="http://schemas.microsoft.com/office/powerpoint/2010/main" val="35854839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sv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15.svg"/></Relationships>
</file>

<file path=ppt/slides/_rels/slide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9.png"/><Relationship Id="rId7"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33.png"/></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chart" Target="../charts/chart1.xml"/><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50.png"/><Relationship Id="rId5" Type="http://schemas.openxmlformats.org/officeDocument/2006/relationships/image" Target="../media/image200.png"/><Relationship Id="rId4" Type="http://schemas.openxmlformats.org/officeDocument/2006/relationships/image" Target="../media/image48.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18.xml.rels><?xml version="1.0" encoding="UTF-8" standalone="yes"?>
<Relationships xmlns="http://schemas.openxmlformats.org/package/2006/relationships"><Relationship Id="rId3" Type="http://schemas.openxmlformats.org/officeDocument/2006/relationships/image" Target="../media/image36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210.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53.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60.png"/><Relationship Id="rId4" Type="http://schemas.openxmlformats.org/officeDocument/2006/relationships/image" Target="../media/image350.png"/></Relationships>
</file>

<file path=ppt/slides/_rels/slide26.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1">
            <a:extLst>
              <a:ext uri="{FF2B5EF4-FFF2-40B4-BE49-F238E27FC236}">
                <a16:creationId xmlns:a16="http://schemas.microsoft.com/office/drawing/2014/main" id="{04856A9A-3EED-F0B3-DD7D-25DC283AB952}"/>
              </a:ext>
            </a:extLst>
          </p:cNvPr>
          <p:cNvSpPr txBox="1">
            <a:spLocks/>
          </p:cNvSpPr>
          <p:nvPr/>
        </p:nvSpPr>
        <p:spPr>
          <a:xfrm>
            <a:off x="0" y="0"/>
            <a:ext cx="12192000" cy="6858000"/>
          </a:xfrm>
          <a:prstGeom prst="roundRect">
            <a:avLst>
              <a:gd name="adj" fmla="val 36459"/>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000" b="1" dirty="0">
                <a:solidFill>
                  <a:schemeClr val="bg1"/>
                </a:solidFill>
              </a:rPr>
              <a:t>Characterization of Long Bent Silicon Crystals for </a:t>
            </a:r>
            <a:r>
              <a:rPr lang="en-US" sz="5000" b="1" dirty="0" err="1">
                <a:solidFill>
                  <a:schemeClr val="bg1"/>
                </a:solidFill>
              </a:rPr>
              <a:t>Channelling</a:t>
            </a:r>
            <a:r>
              <a:rPr lang="en-US" sz="5000" b="1" dirty="0">
                <a:solidFill>
                  <a:schemeClr val="bg1"/>
                </a:solidFill>
              </a:rPr>
              <a:t> Applications at the LHC</a:t>
            </a:r>
          </a:p>
        </p:txBody>
      </p:sp>
      <p:sp>
        <p:nvSpPr>
          <p:cNvPr id="5" name="CasellaDiTesto 4">
            <a:extLst>
              <a:ext uri="{FF2B5EF4-FFF2-40B4-BE49-F238E27FC236}">
                <a16:creationId xmlns:a16="http://schemas.microsoft.com/office/drawing/2014/main" id="{5BC78894-2BE6-7008-73A1-DD7B80075B0A}"/>
              </a:ext>
            </a:extLst>
          </p:cNvPr>
          <p:cNvSpPr txBox="1"/>
          <p:nvPr/>
        </p:nvSpPr>
        <p:spPr>
          <a:xfrm>
            <a:off x="0" y="0"/>
            <a:ext cx="12192000" cy="1015663"/>
          </a:xfrm>
          <a:prstGeom prst="rect">
            <a:avLst/>
          </a:prstGeom>
          <a:noFill/>
        </p:spPr>
        <p:txBody>
          <a:bodyPr wrap="square" rtlCol="0" anchor="ctr">
            <a:spAutoFit/>
          </a:bodyPr>
          <a:lstStyle/>
          <a:p>
            <a:pPr algn="ctr"/>
            <a:r>
              <a:rPr lang="it-IT" sz="3000" b="1" i="1" dirty="0">
                <a:solidFill>
                  <a:schemeClr val="bg1"/>
                </a:solidFill>
              </a:rPr>
              <a:t>Thesis Project</a:t>
            </a:r>
          </a:p>
          <a:p>
            <a:pPr algn="ctr"/>
            <a:r>
              <a:rPr lang="it-IT" sz="3000" b="1" dirty="0">
                <a:solidFill>
                  <a:schemeClr val="bg1"/>
                </a:solidFill>
              </a:rPr>
              <a:t>ANNA SOFIA MORO</a:t>
            </a:r>
          </a:p>
        </p:txBody>
      </p:sp>
      <p:sp>
        <p:nvSpPr>
          <p:cNvPr id="3" name="CasellaDiTesto 4">
            <a:extLst>
              <a:ext uri="{FF2B5EF4-FFF2-40B4-BE49-F238E27FC236}">
                <a16:creationId xmlns:a16="http://schemas.microsoft.com/office/drawing/2014/main" id="{71F0A932-4192-189B-8795-6B5EE4B188E9}"/>
              </a:ext>
            </a:extLst>
          </p:cNvPr>
          <p:cNvSpPr txBox="1"/>
          <p:nvPr/>
        </p:nvSpPr>
        <p:spPr>
          <a:xfrm>
            <a:off x="0" y="6304002"/>
            <a:ext cx="12192000" cy="553998"/>
          </a:xfrm>
          <a:prstGeom prst="rect">
            <a:avLst/>
          </a:prstGeom>
          <a:noFill/>
        </p:spPr>
        <p:txBody>
          <a:bodyPr wrap="square" rtlCol="0" anchor="ctr">
            <a:spAutoFit/>
          </a:bodyPr>
          <a:lstStyle/>
          <a:p>
            <a:pPr algn="ctr"/>
            <a:r>
              <a:rPr lang="it-IT" sz="3000" b="1" i="1" dirty="0">
                <a:solidFill>
                  <a:schemeClr val="bg1"/>
                </a:solidFill>
              </a:rPr>
              <a:t>Update 24 August 2026</a:t>
            </a:r>
          </a:p>
        </p:txBody>
      </p:sp>
    </p:spTree>
    <p:extLst>
      <p:ext uri="{BB962C8B-B14F-4D97-AF65-F5344CB8AC3E}">
        <p14:creationId xmlns:p14="http://schemas.microsoft.com/office/powerpoint/2010/main" val="38952834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2EC8513-F988-C98D-D333-B6789C129AFF}"/>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en-US" sz="4000" b="1" dirty="0">
                <a:solidFill>
                  <a:srgbClr val="002060"/>
                </a:solidFill>
              </a:rPr>
              <a:t>	WHAT IS ‘CHANNELING’ IN CRYSTALS?</a:t>
            </a:r>
            <a:endParaRPr lang="it-IT" sz="4000" b="1" dirty="0">
              <a:solidFill>
                <a:srgbClr val="002060"/>
              </a:solidFill>
            </a:endParaRPr>
          </a:p>
        </p:txBody>
      </p:sp>
      <p:sp>
        <p:nvSpPr>
          <p:cNvPr id="3" name="Segnaposto contenuto 2">
            <a:extLst>
              <a:ext uri="{FF2B5EF4-FFF2-40B4-BE49-F238E27FC236}">
                <a16:creationId xmlns:a16="http://schemas.microsoft.com/office/drawing/2014/main" id="{D705E017-952C-14B0-9906-4510932BCA3F}"/>
              </a:ext>
            </a:extLst>
          </p:cNvPr>
          <p:cNvSpPr>
            <a:spLocks noGrp="1"/>
          </p:cNvSpPr>
          <p:nvPr>
            <p:ph idx="1"/>
          </p:nvPr>
        </p:nvSpPr>
        <p:spPr>
          <a:xfrm>
            <a:off x="838200" y="1401288"/>
            <a:ext cx="6460067" cy="4776227"/>
          </a:xfrm>
        </p:spPr>
        <p:txBody>
          <a:bodyPr>
            <a:normAutofit/>
          </a:bodyPr>
          <a:lstStyle/>
          <a:p>
            <a:r>
              <a:rPr lang="it-IT" sz="2200" i="1" dirty="0"/>
              <a:t>Channeling effect</a:t>
            </a:r>
          </a:p>
          <a:p>
            <a:pPr marL="0" indent="0">
              <a:buNone/>
            </a:pPr>
            <a:r>
              <a:rPr lang="it-IT" sz="2200" dirty="0"/>
              <a:t>Charged particles get trapped and guided between regular atomic planes</a:t>
            </a:r>
          </a:p>
          <a:p>
            <a:r>
              <a:rPr lang="it-IT" sz="2200" i="1" dirty="0"/>
              <a:t>Beam deflection</a:t>
            </a:r>
          </a:p>
          <a:p>
            <a:pPr marL="0" indent="0">
              <a:buNone/>
            </a:pPr>
            <a:r>
              <a:rPr lang="it-IT" sz="2200" dirty="0"/>
              <a:t>Bending the crystal physically steers the beam’s trajectory</a:t>
            </a:r>
          </a:p>
          <a:p>
            <a:r>
              <a:rPr lang="it-IT" sz="2200" i="1" dirty="0"/>
              <a:t>Advantage</a:t>
            </a:r>
          </a:p>
          <a:p>
            <a:pPr marL="0" indent="0">
              <a:buNone/>
            </a:pPr>
            <a:r>
              <a:rPr lang="it-IT" sz="2200" dirty="0"/>
              <a:t>A compact alternative to traditional magnets for deflecting or extracting beams</a:t>
            </a:r>
          </a:p>
        </p:txBody>
      </p:sp>
      <p:sp>
        <p:nvSpPr>
          <p:cNvPr id="4" name="Segnaposto data 3">
            <a:extLst>
              <a:ext uri="{FF2B5EF4-FFF2-40B4-BE49-F238E27FC236}">
                <a16:creationId xmlns:a16="http://schemas.microsoft.com/office/drawing/2014/main" id="{A9CBEBE7-5AD1-2A5D-D796-FC860CFACB62}"/>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D65DDE3E-B94E-09A0-E6FC-740927746D9E}"/>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EB429AC5-2B17-3AA7-829E-3FADDA4D07B5}"/>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2</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D66CB6E1-F902-FACB-CE04-F0353E6FCF48}"/>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pic>
        <p:nvPicPr>
          <p:cNvPr id="7" name="Picture 6">
            <a:extLst>
              <a:ext uri="{FF2B5EF4-FFF2-40B4-BE49-F238E27FC236}">
                <a16:creationId xmlns:a16="http://schemas.microsoft.com/office/drawing/2014/main" id="{385C7844-3A83-E9D6-B2E3-5D39E8C2393A}"/>
              </a:ext>
            </a:extLst>
          </p:cNvPr>
          <p:cNvPicPr>
            <a:picLocks noChangeAspect="1"/>
          </p:cNvPicPr>
          <p:nvPr/>
        </p:nvPicPr>
        <p:blipFill>
          <a:blip r:embed="rId3"/>
          <a:stretch>
            <a:fillRect/>
          </a:stretch>
        </p:blipFill>
        <p:spPr>
          <a:xfrm>
            <a:off x="12255109" y="800099"/>
            <a:ext cx="1754886" cy="1457835"/>
          </a:xfrm>
          <a:prstGeom prst="rect">
            <a:avLst/>
          </a:prstGeom>
        </p:spPr>
      </p:pic>
      <p:sp>
        <p:nvSpPr>
          <p:cNvPr id="8" name="Titolo 1">
            <a:extLst>
              <a:ext uri="{FF2B5EF4-FFF2-40B4-BE49-F238E27FC236}">
                <a16:creationId xmlns:a16="http://schemas.microsoft.com/office/drawing/2014/main" id="{97BDB4DF-62BD-8D3D-089D-863830B874D4}"/>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THE PHYSICS</a:t>
            </a:r>
            <a:endParaRPr lang="it-IT" sz="2000" b="1" i="1" dirty="0">
              <a:solidFill>
                <a:srgbClr val="002060"/>
              </a:solidFill>
              <a:ea typeface="Calibri" panose="020F0502020204030204" pitchFamily="34" charset="0"/>
              <a:cs typeface="Calibri" panose="020F0502020204030204" pitchFamily="34" charset="0"/>
            </a:endParaRPr>
          </a:p>
        </p:txBody>
      </p:sp>
      <p:pic>
        <p:nvPicPr>
          <p:cNvPr id="9" name="Picture 8" descr="Guided paths Positively charged particles (red) can be “channelled” along the trough of the electrostatic potential (shaded surface) between planes of nuclei in a bent crystal, achieving a far stronger curvature than conventional magnets. In this artist’s impression, length scales have been adjusted for clarity. Credit: D De Biasio">
            <a:extLst>
              <a:ext uri="{FF2B5EF4-FFF2-40B4-BE49-F238E27FC236}">
                <a16:creationId xmlns:a16="http://schemas.microsoft.com/office/drawing/2014/main" id="{F29C6376-7C95-BE0C-2963-D90E86B4C3E0}"/>
              </a:ext>
            </a:extLst>
          </p:cNvPr>
          <p:cNvPicPr>
            <a:picLocks noChangeAspect="1"/>
          </p:cNvPicPr>
          <p:nvPr/>
        </p:nvPicPr>
        <p:blipFill>
          <a:blip r:embed="rId4"/>
          <a:srcRect/>
          <a:stretch>
            <a:fillRect/>
          </a:stretch>
        </p:blipFill>
        <p:spPr>
          <a:xfrm>
            <a:off x="7298267" y="1426676"/>
            <a:ext cx="4459413" cy="2508420"/>
          </a:xfrm>
          <a:prstGeom prst="rect">
            <a:avLst/>
          </a:prstGeom>
        </p:spPr>
      </p:pic>
      <p:pic>
        <p:nvPicPr>
          <p:cNvPr id="11" name="Picture 10">
            <a:extLst>
              <a:ext uri="{FF2B5EF4-FFF2-40B4-BE49-F238E27FC236}">
                <a16:creationId xmlns:a16="http://schemas.microsoft.com/office/drawing/2014/main" id="{E56A185A-63A5-0021-964C-80C5F71E48B2}"/>
              </a:ext>
            </a:extLst>
          </p:cNvPr>
          <p:cNvPicPr>
            <a:picLocks noChangeAspect="1"/>
          </p:cNvPicPr>
          <p:nvPr/>
        </p:nvPicPr>
        <p:blipFill>
          <a:blip r:embed="rId5"/>
          <a:stretch>
            <a:fillRect/>
          </a:stretch>
        </p:blipFill>
        <p:spPr>
          <a:xfrm>
            <a:off x="7759700" y="4121689"/>
            <a:ext cx="3594100" cy="2349988"/>
          </a:xfrm>
          <a:prstGeom prst="rect">
            <a:avLst/>
          </a:prstGeom>
        </p:spPr>
      </p:pic>
      <p:pic>
        <p:nvPicPr>
          <p:cNvPr id="13" name="Picture 12">
            <a:extLst>
              <a:ext uri="{FF2B5EF4-FFF2-40B4-BE49-F238E27FC236}">
                <a16:creationId xmlns:a16="http://schemas.microsoft.com/office/drawing/2014/main" id="{8464855D-92B8-F10E-6EA8-616112F40FA7}"/>
              </a:ext>
            </a:extLst>
          </p:cNvPr>
          <p:cNvPicPr>
            <a:picLocks noChangeAspect="1"/>
          </p:cNvPicPr>
          <p:nvPr/>
        </p:nvPicPr>
        <p:blipFill>
          <a:blip r:embed="rId6"/>
          <a:srcRect l="6799" b="33785"/>
          <a:stretch>
            <a:fillRect/>
          </a:stretch>
        </p:blipFill>
        <p:spPr>
          <a:xfrm>
            <a:off x="-4887334" y="153700"/>
            <a:ext cx="4596484" cy="2188284"/>
          </a:xfrm>
          <a:prstGeom prst="rect">
            <a:avLst/>
          </a:prstGeom>
        </p:spPr>
      </p:pic>
      <mc:AlternateContent xmlns:mc="http://schemas.openxmlformats.org/markup-compatibility/2006">
        <mc:Choice xmlns:a14="http://schemas.microsoft.com/office/drawing/2010/main" Requires="a14">
          <p:sp>
            <p:nvSpPr>
              <p:cNvPr id="14" name="Rectangle: Rounded Corners 13">
                <a:extLst>
                  <a:ext uri="{FF2B5EF4-FFF2-40B4-BE49-F238E27FC236}">
                    <a16:creationId xmlns:a16="http://schemas.microsoft.com/office/drawing/2014/main" id="{98F58A1D-BBB1-3327-58AE-595497BB6ABB}"/>
                  </a:ext>
                </a:extLst>
              </p:cNvPr>
              <p:cNvSpPr/>
              <p:nvPr/>
            </p:nvSpPr>
            <p:spPr>
              <a:xfrm>
                <a:off x="838200" y="4966636"/>
                <a:ext cx="6121399" cy="1203121"/>
              </a:xfrm>
              <a:prstGeom prst="roundRect">
                <a:avLst>
                  <a:gd name="adj" fmla="val 37357"/>
                </a:avLst>
              </a:prstGeom>
              <a:solidFill>
                <a:schemeClr val="bg2"/>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rPr>
                  <a:t>Entry condition: the Lindhard angle </a:t>
                </a:r>
                <a14:m>
                  <m:oMath xmlns:m="http://schemas.openxmlformats.org/officeDocument/2006/math">
                    <m:sSub>
                      <m:sSubPr>
                        <m:ctrlPr>
                          <a:rPr lang="en-US" b="0" i="1" smtClean="0">
                            <a:solidFill>
                              <a:srgbClr val="002060"/>
                            </a:solidFill>
                            <a:latin typeface="Cambria Math" panose="02040503050406030204" pitchFamily="18" charset="0"/>
                          </a:rPr>
                        </m:ctrlPr>
                      </m:sSubPr>
                      <m:e>
                        <m:r>
                          <a:rPr lang="en-US" b="0" i="1" smtClean="0">
                            <a:solidFill>
                              <a:srgbClr val="002060"/>
                            </a:solidFill>
                            <a:latin typeface="Cambria Math" panose="02040503050406030204" pitchFamily="18" charset="0"/>
                          </a:rPr>
                          <m:t>𝜃</m:t>
                        </m:r>
                      </m:e>
                      <m:sub>
                        <m:r>
                          <a:rPr lang="en-US" b="0" i="1" smtClean="0">
                            <a:solidFill>
                              <a:srgbClr val="002060"/>
                            </a:solidFill>
                            <a:latin typeface="Cambria Math" panose="02040503050406030204" pitchFamily="18" charset="0"/>
                          </a:rPr>
                          <m:t>𝐿</m:t>
                        </m:r>
                      </m:sub>
                    </m:sSub>
                  </m:oMath>
                </a14:m>
                <a:endParaRPr lang="it-IT" dirty="0">
                  <a:solidFill>
                    <a:srgbClr val="002060"/>
                  </a:solidFill>
                </a:endParaRPr>
              </a:p>
              <a:p>
                <a:pPr algn="ctr"/>
                <a:r>
                  <a:rPr lang="it-IT" dirty="0">
                    <a:solidFill>
                      <a:schemeClr val="tx1"/>
                    </a:solidFill>
                  </a:rPr>
                  <a:t>a particles enters the channel only if its incidence angle is within </a:t>
                </a:r>
                <a14:m>
                  <m:oMath xmlns:m="http://schemas.openxmlformats.org/officeDocument/2006/math">
                    <m:r>
                      <a:rPr lang="en-US" b="0" i="1" smtClean="0">
                        <a:solidFill>
                          <a:schemeClr val="tx1"/>
                        </a:solidFill>
                        <a:latin typeface="Cambria Math" panose="02040503050406030204" pitchFamily="18" charset="0"/>
                      </a:rPr>
                      <m:t>±1/2</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𝜃</m:t>
                        </m:r>
                      </m:e>
                      <m:sub>
                        <m:r>
                          <a:rPr lang="en-US" b="0" i="1" smtClean="0">
                            <a:solidFill>
                              <a:schemeClr val="tx1"/>
                            </a:solidFill>
                            <a:latin typeface="Cambria Math" panose="02040503050406030204" pitchFamily="18" charset="0"/>
                          </a:rPr>
                          <m:t>𝐿</m:t>
                        </m:r>
                      </m:sub>
                    </m:sSub>
                  </m:oMath>
                </a14:m>
                <a:r>
                  <a:rPr lang="en-US" b="0" dirty="0">
                    <a:solidFill>
                      <a:schemeClr val="tx1"/>
                    </a:solidFill>
                  </a:rPr>
                  <a:t> of the crystal plane</a:t>
                </a:r>
              </a:p>
              <a:p>
                <a:pPr algn="ctr"/>
                <a14:m>
                  <m:oMathPara xmlns:m="http://schemas.openxmlformats.org/officeDocument/2006/math">
                    <m:oMath>
                      <m:r>
                        <a:rPr lang="en-US" b="0" i="1" dirty="0" smtClean="0">
                          <a:solidFill>
                            <a:schemeClr val="tx1"/>
                          </a:solidFill>
                          <a:latin typeface="Cambria Math" panose="02040503050406030204" pitchFamily="18" charset="0"/>
                          <a:ea typeface="Cambria Math" panose="02040503050406030204" pitchFamily="18" charset="0"/>
                        </a:rPr>
                        <m:t>≈</m:t>
                      </m:r>
                      <m:r>
                        <a:rPr lang="en-US" b="0" i="1" dirty="0" smtClean="0">
                          <a:solidFill>
                            <a:schemeClr val="tx1"/>
                          </a:solidFill>
                          <a:latin typeface="Cambria Math" panose="02040503050406030204" pitchFamily="18" charset="0"/>
                        </a:rPr>
                        <m:t>13 </m:t>
                      </m:r>
                      <m:r>
                        <a:rPr lang="en-US" b="0" i="1" dirty="0" smtClean="0">
                          <a:solidFill>
                            <a:schemeClr val="tx1"/>
                          </a:solidFill>
                          <a:latin typeface="Cambria Math" panose="02040503050406030204" pitchFamily="18" charset="0"/>
                        </a:rPr>
                        <m:t>𝜇</m:t>
                      </m:r>
                      <m:r>
                        <m:rPr>
                          <m:sty m:val="p"/>
                        </m:rPr>
                        <a:rPr lang="en-US" b="0" i="0" dirty="0" smtClean="0">
                          <a:solidFill>
                            <a:schemeClr val="tx1"/>
                          </a:solidFill>
                          <a:latin typeface="Cambria Math" panose="02040503050406030204" pitchFamily="18" charset="0"/>
                        </a:rPr>
                        <m:t>rad</m:t>
                      </m:r>
                      <m:r>
                        <a:rPr lang="en-US" b="0" i="1" dirty="0" smtClean="0">
                          <a:solidFill>
                            <a:schemeClr val="tx1"/>
                          </a:solidFill>
                          <a:latin typeface="Cambria Math" panose="02040503050406030204" pitchFamily="18" charset="0"/>
                        </a:rPr>
                        <m:t> @ 180 </m:t>
                      </m:r>
                      <m:r>
                        <m:rPr>
                          <m:sty m:val="p"/>
                        </m:rPr>
                        <a:rPr lang="en-US" b="0" i="0" dirty="0" smtClean="0">
                          <a:solidFill>
                            <a:schemeClr val="tx1"/>
                          </a:solidFill>
                          <a:latin typeface="Cambria Math" panose="02040503050406030204" pitchFamily="18" charset="0"/>
                        </a:rPr>
                        <m:t>GeV</m:t>
                      </m:r>
                    </m:oMath>
                  </m:oMathPara>
                </a14:m>
                <a:endParaRPr lang="en-US" b="0" dirty="0">
                  <a:solidFill>
                    <a:schemeClr val="tx1"/>
                  </a:solidFill>
                </a:endParaRPr>
              </a:p>
            </p:txBody>
          </p:sp>
        </mc:Choice>
        <mc:Fallback>
          <p:sp>
            <p:nvSpPr>
              <p:cNvPr id="14" name="Rectangle: Rounded Corners 13">
                <a:extLst>
                  <a:ext uri="{FF2B5EF4-FFF2-40B4-BE49-F238E27FC236}">
                    <a16:creationId xmlns:a16="http://schemas.microsoft.com/office/drawing/2014/main" id="{98F58A1D-BBB1-3327-58AE-595497BB6ABB}"/>
                  </a:ext>
                </a:extLst>
              </p:cNvPr>
              <p:cNvSpPr>
                <a:spLocks noRot="1" noChangeAspect="1" noMove="1" noResize="1" noEditPoints="1" noAdjustHandles="1" noChangeArrowheads="1" noChangeShapeType="1" noTextEdit="1"/>
              </p:cNvSpPr>
              <p:nvPr/>
            </p:nvSpPr>
            <p:spPr>
              <a:xfrm>
                <a:off x="838200" y="4966636"/>
                <a:ext cx="6121399" cy="1203121"/>
              </a:xfrm>
              <a:prstGeom prst="roundRect">
                <a:avLst>
                  <a:gd name="adj" fmla="val 37357"/>
                </a:avLst>
              </a:prstGeom>
              <a:blipFill>
                <a:blip r:embed="rId7"/>
                <a:stretch>
                  <a:fillRect t="-493"/>
                </a:stretch>
              </a:blipFill>
              <a:ln w="38100">
                <a:solidFill>
                  <a:srgbClr val="002060"/>
                </a:solidFill>
              </a:ln>
            </p:spPr>
            <p:txBody>
              <a:bodyPr/>
              <a:lstStyle/>
              <a:p>
                <a:r>
                  <a:rPr lang="it-IT">
                    <a:noFill/>
                  </a:rPr>
                  <a:t> </a:t>
                </a:r>
              </a:p>
            </p:txBody>
          </p:sp>
        </mc:Fallback>
      </mc:AlternateContent>
      <p:pic>
        <p:nvPicPr>
          <p:cNvPr id="16" name="Picture 15">
            <a:extLst>
              <a:ext uri="{FF2B5EF4-FFF2-40B4-BE49-F238E27FC236}">
                <a16:creationId xmlns:a16="http://schemas.microsoft.com/office/drawing/2014/main" id="{82ED3292-D68F-B234-8F5B-AD34F859AF14}"/>
              </a:ext>
            </a:extLst>
          </p:cNvPr>
          <p:cNvPicPr>
            <a:picLocks noChangeAspect="1"/>
          </p:cNvPicPr>
          <p:nvPr/>
        </p:nvPicPr>
        <p:blipFill>
          <a:blip r:embed="rId8"/>
          <a:stretch>
            <a:fillRect/>
          </a:stretch>
        </p:blipFill>
        <p:spPr>
          <a:xfrm>
            <a:off x="12546988" y="3995696"/>
            <a:ext cx="2422692" cy="1572500"/>
          </a:xfrm>
          <a:prstGeom prst="rect">
            <a:avLst/>
          </a:prstGeom>
        </p:spPr>
      </p:pic>
    </p:spTree>
    <p:extLst>
      <p:ext uri="{BB962C8B-B14F-4D97-AF65-F5344CB8AC3E}">
        <p14:creationId xmlns:p14="http://schemas.microsoft.com/office/powerpoint/2010/main" val="3483749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0B6A2-EB03-317D-89CA-374AF922840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2A2290F-F965-B9EE-4511-C5F0EF5DBAA5}"/>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en-US" sz="4000" b="1" dirty="0">
                <a:solidFill>
                  <a:srgbClr val="002060"/>
                </a:solidFill>
              </a:rPr>
              <a:t>	THE TWOCRYST EXPERIMENT</a:t>
            </a:r>
            <a:endParaRPr lang="it-IT" sz="4000" b="1" dirty="0">
              <a:solidFill>
                <a:srgbClr val="002060"/>
              </a:solidFill>
            </a:endParaRPr>
          </a:p>
        </p:txBody>
      </p:sp>
      <p:sp>
        <p:nvSpPr>
          <p:cNvPr id="3" name="Segnaposto contenuto 2">
            <a:extLst>
              <a:ext uri="{FF2B5EF4-FFF2-40B4-BE49-F238E27FC236}">
                <a16:creationId xmlns:a16="http://schemas.microsoft.com/office/drawing/2014/main" id="{67A4EE21-F1DC-1A0A-EBF7-772DFE874FD0}"/>
              </a:ext>
            </a:extLst>
          </p:cNvPr>
          <p:cNvSpPr>
            <a:spLocks noGrp="1"/>
          </p:cNvSpPr>
          <p:nvPr>
            <p:ph idx="1"/>
          </p:nvPr>
        </p:nvSpPr>
        <p:spPr>
          <a:xfrm>
            <a:off x="838200" y="1401288"/>
            <a:ext cx="10515600" cy="4776227"/>
          </a:xfrm>
        </p:spPr>
        <p:txBody>
          <a:bodyPr>
            <a:normAutofit/>
          </a:bodyPr>
          <a:lstStyle/>
          <a:p>
            <a:pPr marL="0" indent="0">
              <a:buNone/>
            </a:pPr>
            <a:endParaRPr lang="it-IT" sz="2200" dirty="0"/>
          </a:p>
        </p:txBody>
      </p:sp>
      <p:sp>
        <p:nvSpPr>
          <p:cNvPr id="4" name="Segnaposto data 3">
            <a:extLst>
              <a:ext uri="{FF2B5EF4-FFF2-40B4-BE49-F238E27FC236}">
                <a16:creationId xmlns:a16="http://schemas.microsoft.com/office/drawing/2014/main" id="{8A912D91-FF21-5500-9618-20768C36F840}"/>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6580FBD4-CE50-359D-2454-F08DBAAB8209}"/>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C8F8E77D-1AD8-3B54-EE9B-61D54C8F3B65}"/>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3</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48D96C40-310F-6EC6-CE31-28B6CBC91A8D}"/>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8" name="Titolo 1">
            <a:extLst>
              <a:ext uri="{FF2B5EF4-FFF2-40B4-BE49-F238E27FC236}">
                <a16:creationId xmlns:a16="http://schemas.microsoft.com/office/drawing/2014/main" id="{2265EDA6-3529-533B-5A88-529BAEFE9869}"/>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THE PROJECT</a:t>
            </a:r>
            <a:endParaRPr lang="it-IT" sz="2000" b="1" i="1" dirty="0">
              <a:solidFill>
                <a:srgbClr val="002060"/>
              </a:solidFill>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895504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2AB72-E7A2-89C9-B926-0C1AB56C742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B9E7445-8627-8D2D-AF50-B49F00EF5F43}"/>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en-US" sz="4000" b="1" dirty="0">
                <a:solidFill>
                  <a:srgbClr val="002060"/>
                </a:solidFill>
              </a:rPr>
              <a:t>	MY ANALYSIS</a:t>
            </a:r>
            <a:endParaRPr lang="it-IT" sz="4000" b="1" dirty="0">
              <a:solidFill>
                <a:srgbClr val="002060"/>
              </a:solidFill>
            </a:endParaRPr>
          </a:p>
        </p:txBody>
      </p:sp>
      <p:sp>
        <p:nvSpPr>
          <p:cNvPr id="4" name="Segnaposto data 3">
            <a:extLst>
              <a:ext uri="{FF2B5EF4-FFF2-40B4-BE49-F238E27FC236}">
                <a16:creationId xmlns:a16="http://schemas.microsoft.com/office/drawing/2014/main" id="{364B5649-6F3A-65C7-2AAC-6D1FB1FD9BC9}"/>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FADC6BE6-805E-93BA-786E-92B728244F9F}"/>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A27EC9EA-4A1E-6578-AD9A-35BB3FF7C4C7}"/>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4</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C110DC4F-F2F3-9547-0E50-19839FDC6D16}"/>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8" name="Titolo 1">
            <a:extLst>
              <a:ext uri="{FF2B5EF4-FFF2-40B4-BE49-F238E27FC236}">
                <a16:creationId xmlns:a16="http://schemas.microsoft.com/office/drawing/2014/main" id="{0BD16E50-6D5C-369F-0D00-09CD3AB99505}"/>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THE PROJECT</a:t>
            </a:r>
            <a:endParaRPr lang="it-IT" sz="2000" b="1" i="1" dirty="0">
              <a:solidFill>
                <a:srgbClr val="002060"/>
              </a:solidFill>
              <a:ea typeface="Calibri" panose="020F0502020204030204" pitchFamily="34" charset="0"/>
              <a:cs typeface="Calibri" panose="020F0502020204030204" pitchFamily="34" charset="0"/>
            </a:endParaRPr>
          </a:p>
        </p:txBody>
      </p:sp>
      <p:sp>
        <p:nvSpPr>
          <p:cNvPr id="12" name="Rettangolo con angoli arrotondati 6">
            <a:extLst>
              <a:ext uri="{FF2B5EF4-FFF2-40B4-BE49-F238E27FC236}">
                <a16:creationId xmlns:a16="http://schemas.microsoft.com/office/drawing/2014/main" id="{EFA12855-5271-F147-2CD4-7C0AAE3F9039}"/>
              </a:ext>
            </a:extLst>
          </p:cNvPr>
          <p:cNvSpPr/>
          <p:nvPr/>
        </p:nvSpPr>
        <p:spPr>
          <a:xfrm>
            <a:off x="696000" y="2400574"/>
            <a:ext cx="3535758" cy="3888398"/>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it-IT" sz="2000" b="1" dirty="0">
              <a:solidFill>
                <a:srgbClr val="002060"/>
              </a:solidFill>
            </a:endParaRPr>
          </a:p>
          <a:p>
            <a:pPr algn="ctr"/>
            <a:endParaRPr lang="it-IT" sz="2000" b="1" dirty="0">
              <a:solidFill>
                <a:srgbClr val="002060"/>
              </a:solidFill>
            </a:endParaRPr>
          </a:p>
          <a:p>
            <a:pPr algn="ctr"/>
            <a:endParaRPr lang="it-IT" sz="2000" b="1" dirty="0">
              <a:solidFill>
                <a:srgbClr val="002060"/>
              </a:solidFill>
            </a:endParaRPr>
          </a:p>
          <a:p>
            <a:pPr algn="ctr"/>
            <a:r>
              <a:rPr lang="it-IT" sz="2000" b="1" dirty="0">
                <a:solidFill>
                  <a:srgbClr val="002060"/>
                </a:solidFill>
              </a:rPr>
              <a:t>DATA</a:t>
            </a:r>
          </a:p>
          <a:p>
            <a:pPr algn="ctr"/>
            <a:endParaRPr lang="it-IT" sz="2000" dirty="0">
              <a:solidFill>
                <a:schemeClr val="tx1"/>
              </a:solidFill>
            </a:endParaRPr>
          </a:p>
          <a:p>
            <a:pPr algn="ctr"/>
            <a:r>
              <a:rPr lang="en-US" sz="2000" dirty="0">
                <a:solidFill>
                  <a:schemeClr val="tx1"/>
                </a:solidFill>
              </a:rPr>
              <a:t>2024 dataset for two long crystals</a:t>
            </a:r>
          </a:p>
          <a:p>
            <a:pPr algn="ctr"/>
            <a:r>
              <a:rPr lang="en-US" sz="2000" dirty="0">
                <a:solidFill>
                  <a:schemeClr val="tx1"/>
                </a:solidFill>
              </a:rPr>
              <a:t>180 GeV beam (70% protons and 30% pions)</a:t>
            </a:r>
            <a:endParaRPr lang="it-IT" sz="2000" dirty="0">
              <a:solidFill>
                <a:schemeClr val="tx1"/>
              </a:solidFill>
            </a:endParaRPr>
          </a:p>
          <a:p>
            <a:pPr algn="ctr"/>
            <a:endParaRPr lang="it-IT" sz="2000" dirty="0">
              <a:solidFill>
                <a:schemeClr val="tx1"/>
              </a:solidFill>
            </a:endParaRPr>
          </a:p>
        </p:txBody>
      </p:sp>
      <mc:AlternateContent xmlns:mc="http://schemas.openxmlformats.org/markup-compatibility/2006">
        <mc:Choice xmlns:a14="http://schemas.microsoft.com/office/drawing/2010/main" Requires="a14">
          <p:sp>
            <p:nvSpPr>
              <p:cNvPr id="14" name="Rettangolo con angoli arrotondati 8">
                <a:extLst>
                  <a:ext uri="{FF2B5EF4-FFF2-40B4-BE49-F238E27FC236}">
                    <a16:creationId xmlns:a16="http://schemas.microsoft.com/office/drawing/2014/main" id="{0AED5BE1-2927-94C3-7F58-ACE6DE3FE760}"/>
                  </a:ext>
                </a:extLst>
              </p:cNvPr>
              <p:cNvSpPr/>
              <p:nvPr/>
            </p:nvSpPr>
            <p:spPr>
              <a:xfrm>
                <a:off x="4328122" y="2400573"/>
                <a:ext cx="3535758" cy="3888398"/>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it-IT" sz="2000" b="1" dirty="0">
                  <a:solidFill>
                    <a:srgbClr val="002060"/>
                  </a:solidFill>
                </a:endParaRPr>
              </a:p>
              <a:p>
                <a:pPr algn="ctr"/>
                <a:endParaRPr lang="it-IT" sz="2000" b="1" dirty="0">
                  <a:solidFill>
                    <a:srgbClr val="002060"/>
                  </a:solidFill>
                </a:endParaRPr>
              </a:p>
              <a:p>
                <a:pPr algn="ctr"/>
                <a:endParaRPr lang="it-IT" sz="2000" b="1" dirty="0">
                  <a:solidFill>
                    <a:srgbClr val="002060"/>
                  </a:solidFill>
                </a:endParaRPr>
              </a:p>
              <a:p>
                <a:pPr algn="ctr"/>
                <a:r>
                  <a:rPr lang="it-IT" sz="2000" b="1" dirty="0">
                    <a:solidFill>
                      <a:srgbClr val="002060"/>
                    </a:solidFill>
                  </a:rPr>
                  <a:t>GOAL OF MY WORK</a:t>
                </a:r>
              </a:p>
              <a:p>
                <a:pPr algn="ctr"/>
                <a:endParaRPr lang="it-IT" sz="2000" dirty="0">
                  <a:solidFill>
                    <a:schemeClr val="tx1"/>
                  </a:solidFill>
                </a:endParaRPr>
              </a:p>
              <a:p>
                <a:pPr algn="ctr"/>
                <a:r>
                  <a:rPr lang="it-IT" sz="2000" dirty="0">
                    <a:solidFill>
                      <a:schemeClr val="tx1"/>
                    </a:solidFill>
                  </a:rPr>
                  <a:t>Measure the channeling efficiency </a:t>
                </a:r>
                <a14:m>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𝜖</m:t>
                        </m:r>
                      </m:e>
                      <m:sub>
                        <m:r>
                          <a:rPr lang="en-US" sz="2000" i="1">
                            <a:solidFill>
                              <a:schemeClr val="tx1"/>
                            </a:solidFill>
                            <a:latin typeface="Cambria Math" panose="02040503050406030204" pitchFamily="18" charset="0"/>
                          </a:rPr>
                          <m:t>𝑐ℎ</m:t>
                        </m:r>
                      </m:sub>
                    </m:sSub>
                  </m:oMath>
                </a14:m>
                <a:r>
                  <a:rPr lang="it-IT" sz="2000" dirty="0">
                    <a:solidFill>
                      <a:schemeClr val="tx1"/>
                    </a:solidFill>
                  </a:rPr>
                  <a:t> and the crystal torsion on newly fabricated long crystals.</a:t>
                </a:r>
              </a:p>
              <a:p>
                <a:pPr algn="ctr"/>
                <a:endParaRPr lang="it-IT" sz="2000" dirty="0">
                  <a:solidFill>
                    <a:schemeClr val="tx1"/>
                  </a:solidFill>
                </a:endParaRPr>
              </a:p>
            </p:txBody>
          </p:sp>
        </mc:Choice>
        <mc:Fallback>
          <p:sp>
            <p:nvSpPr>
              <p:cNvPr id="14" name="Rettangolo con angoli arrotondati 8">
                <a:extLst>
                  <a:ext uri="{FF2B5EF4-FFF2-40B4-BE49-F238E27FC236}">
                    <a16:creationId xmlns:a16="http://schemas.microsoft.com/office/drawing/2014/main" id="{0AED5BE1-2927-94C3-7F58-ACE6DE3FE760}"/>
                  </a:ext>
                </a:extLst>
              </p:cNvPr>
              <p:cNvSpPr>
                <a:spLocks noRot="1" noChangeAspect="1" noMove="1" noResize="1" noEditPoints="1" noAdjustHandles="1" noChangeArrowheads="1" noChangeShapeType="1" noTextEdit="1"/>
              </p:cNvSpPr>
              <p:nvPr/>
            </p:nvSpPr>
            <p:spPr>
              <a:xfrm>
                <a:off x="4328122" y="2400573"/>
                <a:ext cx="3535758" cy="3888398"/>
              </a:xfrm>
              <a:prstGeom prst="roundRect">
                <a:avLst/>
              </a:prstGeom>
              <a:blipFill>
                <a:blip r:embed="rId3"/>
                <a:stretch>
                  <a:fillRect/>
                </a:stretch>
              </a:blipFill>
              <a:ln w="38100">
                <a:solidFill>
                  <a:srgbClr val="002060"/>
                </a:solidFill>
              </a:ln>
            </p:spPr>
            <p:txBody>
              <a:bodyPr/>
              <a:lstStyle/>
              <a:p>
                <a:r>
                  <a:rPr lang="it-IT">
                    <a:noFill/>
                  </a:rPr>
                  <a:t> </a:t>
                </a:r>
              </a:p>
            </p:txBody>
          </p:sp>
        </mc:Fallback>
      </mc:AlternateContent>
      <p:sp>
        <p:nvSpPr>
          <p:cNvPr id="16" name="Rettangolo con angoli arrotondati 11">
            <a:extLst>
              <a:ext uri="{FF2B5EF4-FFF2-40B4-BE49-F238E27FC236}">
                <a16:creationId xmlns:a16="http://schemas.microsoft.com/office/drawing/2014/main" id="{CFC2874C-5503-E33E-2F12-DE47AA271F7E}"/>
              </a:ext>
            </a:extLst>
          </p:cNvPr>
          <p:cNvSpPr/>
          <p:nvPr/>
        </p:nvSpPr>
        <p:spPr>
          <a:xfrm>
            <a:off x="7960244" y="2400573"/>
            <a:ext cx="3535758" cy="3888398"/>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it-IT" sz="2000" b="1" dirty="0">
              <a:solidFill>
                <a:srgbClr val="002060"/>
              </a:solidFill>
            </a:endParaRPr>
          </a:p>
          <a:p>
            <a:pPr algn="ctr"/>
            <a:endParaRPr lang="it-IT" sz="2000" b="1" dirty="0">
              <a:solidFill>
                <a:srgbClr val="002060"/>
              </a:solidFill>
            </a:endParaRPr>
          </a:p>
          <a:p>
            <a:pPr algn="ctr"/>
            <a:endParaRPr lang="it-IT" sz="2000" b="1" dirty="0">
              <a:solidFill>
                <a:srgbClr val="002060"/>
              </a:solidFill>
            </a:endParaRPr>
          </a:p>
          <a:p>
            <a:pPr algn="ctr"/>
            <a:r>
              <a:rPr lang="it-IT" sz="2000" b="1" dirty="0">
                <a:solidFill>
                  <a:srgbClr val="002060"/>
                </a:solidFill>
              </a:rPr>
              <a:t>WHAT IS NEW</a:t>
            </a:r>
          </a:p>
          <a:p>
            <a:pPr algn="ctr"/>
            <a:endParaRPr lang="it-IT" sz="2000" dirty="0">
              <a:solidFill>
                <a:schemeClr val="tx1"/>
              </a:solidFill>
            </a:endParaRPr>
          </a:p>
          <a:p>
            <a:pPr algn="ctr"/>
            <a:r>
              <a:rPr lang="it-IT" sz="2000" dirty="0">
                <a:solidFill>
                  <a:schemeClr val="tx1"/>
                </a:solidFill>
              </a:rPr>
              <a:t>ggg</a:t>
            </a:r>
          </a:p>
        </p:txBody>
      </p:sp>
      <p:pic>
        <p:nvPicPr>
          <p:cNvPr id="18" name="Elemento grafico 13" descr="Badge 1 outline">
            <a:extLst>
              <a:ext uri="{FF2B5EF4-FFF2-40B4-BE49-F238E27FC236}">
                <a16:creationId xmlns:a16="http://schemas.microsoft.com/office/drawing/2014/main" id="{7EDD83C0-9FA9-D844-31E6-B39B50FF63D6}"/>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193879" y="2750264"/>
            <a:ext cx="540000" cy="540000"/>
          </a:xfrm>
          <a:prstGeom prst="rect">
            <a:avLst/>
          </a:prstGeom>
        </p:spPr>
      </p:pic>
      <p:pic>
        <p:nvPicPr>
          <p:cNvPr id="20" name="Elemento grafico 15" descr="Badge 3 outline">
            <a:extLst>
              <a:ext uri="{FF2B5EF4-FFF2-40B4-BE49-F238E27FC236}">
                <a16:creationId xmlns:a16="http://schemas.microsoft.com/office/drawing/2014/main" id="{81A6758B-EE6A-3FD5-A8F4-C0D6DC57318F}"/>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9458123" y="2750264"/>
            <a:ext cx="540000" cy="540000"/>
          </a:xfrm>
          <a:prstGeom prst="rect">
            <a:avLst/>
          </a:prstGeom>
        </p:spPr>
      </p:pic>
      <p:pic>
        <p:nvPicPr>
          <p:cNvPr id="22" name="Elemento grafico 17" descr="Badge outline">
            <a:extLst>
              <a:ext uri="{FF2B5EF4-FFF2-40B4-BE49-F238E27FC236}">
                <a16:creationId xmlns:a16="http://schemas.microsoft.com/office/drawing/2014/main" id="{F1177DB5-D6C8-1A28-D2E4-4853B8FDBA18}"/>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5825100" y="2750264"/>
            <a:ext cx="540000" cy="540000"/>
          </a:xfrm>
          <a:prstGeom prst="rect">
            <a:avLst/>
          </a:prstGeom>
        </p:spPr>
      </p:pic>
      <p:sp>
        <p:nvSpPr>
          <p:cNvPr id="23" name="Segnaposto contenuto 2">
            <a:extLst>
              <a:ext uri="{FF2B5EF4-FFF2-40B4-BE49-F238E27FC236}">
                <a16:creationId xmlns:a16="http://schemas.microsoft.com/office/drawing/2014/main" id="{81A5BE42-6D4A-165C-EBBA-5D49087D7DBA}"/>
              </a:ext>
            </a:extLst>
          </p:cNvPr>
          <p:cNvSpPr>
            <a:spLocks noGrp="1"/>
          </p:cNvSpPr>
          <p:nvPr>
            <p:ph idx="1"/>
          </p:nvPr>
        </p:nvSpPr>
        <p:spPr>
          <a:xfrm>
            <a:off x="838200" y="1401289"/>
            <a:ext cx="10515600" cy="906812"/>
          </a:xfrm>
        </p:spPr>
        <p:txBody>
          <a:bodyPr>
            <a:normAutofit/>
          </a:bodyPr>
          <a:lstStyle/>
          <a:p>
            <a:pPr marL="0" indent="0">
              <a:buNone/>
            </a:pPr>
            <a:r>
              <a:rPr lang="en-US" sz="2200" dirty="0"/>
              <a:t>My work takes place on the SPS – H8 test bench, where individual crystals are characterized before being used.</a:t>
            </a:r>
          </a:p>
        </p:txBody>
      </p:sp>
    </p:spTree>
    <p:extLst>
      <p:ext uri="{BB962C8B-B14F-4D97-AF65-F5344CB8AC3E}">
        <p14:creationId xmlns:p14="http://schemas.microsoft.com/office/powerpoint/2010/main" val="42921016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139A6-E4C9-F3ED-EE31-ADD1B1D15F8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1126BAB-7D8A-EB40-7773-8BAC8FAB2E5C}"/>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en-US" sz="4000" b="1" dirty="0">
                <a:solidFill>
                  <a:srgbClr val="002060"/>
                </a:solidFill>
              </a:rPr>
              <a:t>	MY ANALYSIS</a:t>
            </a:r>
            <a:endParaRPr lang="it-IT" sz="4000" b="1" dirty="0">
              <a:solidFill>
                <a:srgbClr val="002060"/>
              </a:solidFill>
            </a:endParaRPr>
          </a:p>
        </p:txBody>
      </p:sp>
      <p:sp>
        <p:nvSpPr>
          <p:cNvPr id="4" name="Segnaposto data 3">
            <a:extLst>
              <a:ext uri="{FF2B5EF4-FFF2-40B4-BE49-F238E27FC236}">
                <a16:creationId xmlns:a16="http://schemas.microsoft.com/office/drawing/2014/main" id="{BC3D0158-4EC4-484C-A7B8-F2017BE25DA9}"/>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E3CFE77E-2206-22EF-B028-8DD606724708}"/>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A060BB2E-8C97-2CF5-4EBA-92D88E64C977}"/>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5</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121D8737-CAC6-B92A-A0EE-D76F9BF2B826}"/>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8" name="Titolo 1">
            <a:extLst>
              <a:ext uri="{FF2B5EF4-FFF2-40B4-BE49-F238E27FC236}">
                <a16:creationId xmlns:a16="http://schemas.microsoft.com/office/drawing/2014/main" id="{0F37742B-3221-5A09-A269-E936CFE4176F}"/>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EXPERIMENTAL SETUP</a:t>
            </a:r>
            <a:endParaRPr lang="it-IT" sz="2000" b="1" i="1" dirty="0">
              <a:solidFill>
                <a:srgbClr val="002060"/>
              </a:solidFill>
              <a:ea typeface="Calibri" panose="020F0502020204030204" pitchFamily="34" charset="0"/>
              <a:cs typeface="Calibri" panose="020F0502020204030204" pitchFamily="34" charset="0"/>
            </a:endParaRPr>
          </a:p>
        </p:txBody>
      </p:sp>
      <p:sp>
        <p:nvSpPr>
          <p:cNvPr id="12" name="Rettangolo con angoli arrotondati 6">
            <a:extLst>
              <a:ext uri="{FF2B5EF4-FFF2-40B4-BE49-F238E27FC236}">
                <a16:creationId xmlns:a16="http://schemas.microsoft.com/office/drawing/2014/main" id="{E69A238E-D58D-C80A-F04C-64BAE93F7085}"/>
              </a:ext>
            </a:extLst>
          </p:cNvPr>
          <p:cNvSpPr/>
          <p:nvPr/>
        </p:nvSpPr>
        <p:spPr>
          <a:xfrm>
            <a:off x="696000" y="2400574"/>
            <a:ext cx="3535758" cy="3888398"/>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it-IT" sz="2000" b="1" dirty="0">
              <a:solidFill>
                <a:srgbClr val="002060"/>
              </a:solidFill>
            </a:endParaRPr>
          </a:p>
          <a:p>
            <a:pPr algn="ctr"/>
            <a:endParaRPr lang="it-IT" sz="2000" b="1" dirty="0">
              <a:solidFill>
                <a:srgbClr val="002060"/>
              </a:solidFill>
            </a:endParaRPr>
          </a:p>
          <a:p>
            <a:pPr algn="ctr"/>
            <a:endParaRPr lang="it-IT" sz="2000" b="1" dirty="0">
              <a:solidFill>
                <a:srgbClr val="002060"/>
              </a:solidFill>
            </a:endParaRPr>
          </a:p>
          <a:p>
            <a:pPr algn="ctr"/>
            <a:r>
              <a:rPr lang="it-IT" sz="2000" b="1" dirty="0">
                <a:solidFill>
                  <a:srgbClr val="002060"/>
                </a:solidFill>
              </a:rPr>
              <a:t>DATA</a:t>
            </a:r>
          </a:p>
          <a:p>
            <a:pPr algn="ctr"/>
            <a:endParaRPr lang="it-IT" sz="2000" dirty="0">
              <a:solidFill>
                <a:schemeClr val="tx1"/>
              </a:solidFill>
            </a:endParaRPr>
          </a:p>
          <a:p>
            <a:pPr algn="ctr"/>
            <a:r>
              <a:rPr lang="en-US" sz="2000" dirty="0">
                <a:solidFill>
                  <a:schemeClr val="tx1"/>
                </a:solidFill>
              </a:rPr>
              <a:t>2024 dataset for two long crystals</a:t>
            </a:r>
            <a:endParaRPr lang="en-US" sz="2000" i="1" dirty="0">
              <a:solidFill>
                <a:schemeClr val="tx1"/>
              </a:solidFill>
            </a:endParaRPr>
          </a:p>
          <a:p>
            <a:pPr algn="ctr"/>
            <a:endParaRPr lang="en-US" sz="2000" dirty="0">
              <a:solidFill>
                <a:schemeClr val="tx1"/>
              </a:solidFill>
            </a:endParaRPr>
          </a:p>
          <a:p>
            <a:pPr algn="ctr"/>
            <a:r>
              <a:rPr lang="en-US" sz="2000" dirty="0">
                <a:solidFill>
                  <a:schemeClr val="tx1"/>
                </a:solidFill>
              </a:rPr>
              <a:t>180 GeV beam (70% protons and 30% pions)</a:t>
            </a:r>
            <a:endParaRPr lang="it-IT" sz="2000" dirty="0">
              <a:solidFill>
                <a:schemeClr val="tx1"/>
              </a:solidFill>
            </a:endParaRPr>
          </a:p>
          <a:p>
            <a:pPr algn="ctr"/>
            <a:endParaRPr lang="it-IT" sz="2000" dirty="0">
              <a:solidFill>
                <a:schemeClr val="tx1"/>
              </a:solidFill>
            </a:endParaRPr>
          </a:p>
        </p:txBody>
      </p:sp>
      <p:pic>
        <p:nvPicPr>
          <p:cNvPr id="18" name="Elemento grafico 13" descr="Badge 1 outline">
            <a:extLst>
              <a:ext uri="{FF2B5EF4-FFF2-40B4-BE49-F238E27FC236}">
                <a16:creationId xmlns:a16="http://schemas.microsoft.com/office/drawing/2014/main" id="{AB60F7FC-5B63-850C-E17A-86BEF83B10C8}"/>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2193879" y="2750264"/>
            <a:ext cx="540000" cy="540000"/>
          </a:xfrm>
          <a:prstGeom prst="rect">
            <a:avLst/>
          </a:prstGeom>
        </p:spPr>
      </p:pic>
      <p:sp>
        <p:nvSpPr>
          <p:cNvPr id="23" name="Segnaposto contenuto 2">
            <a:extLst>
              <a:ext uri="{FF2B5EF4-FFF2-40B4-BE49-F238E27FC236}">
                <a16:creationId xmlns:a16="http://schemas.microsoft.com/office/drawing/2014/main" id="{2BC7DDC6-A08D-05A2-F81A-0FAF9D77CFCB}"/>
              </a:ext>
            </a:extLst>
          </p:cNvPr>
          <p:cNvSpPr>
            <a:spLocks noGrp="1"/>
          </p:cNvSpPr>
          <p:nvPr>
            <p:ph idx="1"/>
          </p:nvPr>
        </p:nvSpPr>
        <p:spPr>
          <a:xfrm>
            <a:off x="838200" y="1401289"/>
            <a:ext cx="10515600" cy="906812"/>
          </a:xfrm>
        </p:spPr>
        <p:txBody>
          <a:bodyPr>
            <a:normAutofit/>
          </a:bodyPr>
          <a:lstStyle/>
          <a:p>
            <a:pPr marL="0" indent="0">
              <a:buNone/>
            </a:pPr>
            <a:r>
              <a:rPr lang="en-US" sz="2200" dirty="0"/>
              <a:t>My work takes place on the SPS – H8 test bench, where individual crystals are characterized before being used.</a:t>
            </a:r>
          </a:p>
        </p:txBody>
      </p:sp>
      <p:pic>
        <p:nvPicPr>
          <p:cNvPr id="11" name="Immagine 7">
            <a:extLst>
              <a:ext uri="{FF2B5EF4-FFF2-40B4-BE49-F238E27FC236}">
                <a16:creationId xmlns:a16="http://schemas.microsoft.com/office/drawing/2014/main" id="{69D27C45-16FF-92F8-A50F-EE48E137B3F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340479" y="3176196"/>
            <a:ext cx="7167600" cy="3142624"/>
          </a:xfrm>
          <a:prstGeom prst="rect">
            <a:avLst/>
          </a:prstGeom>
        </p:spPr>
      </p:pic>
      <p:sp>
        <p:nvSpPr>
          <p:cNvPr id="14" name="Rettangolo con angoli arrotondati 8">
            <a:extLst>
              <a:ext uri="{FF2B5EF4-FFF2-40B4-BE49-F238E27FC236}">
                <a16:creationId xmlns:a16="http://schemas.microsoft.com/office/drawing/2014/main" id="{6A1C3988-A69D-EB3E-D0D8-6B3C7B342021}"/>
              </a:ext>
            </a:extLst>
          </p:cNvPr>
          <p:cNvSpPr/>
          <p:nvPr/>
        </p:nvSpPr>
        <p:spPr>
          <a:xfrm>
            <a:off x="4328122" y="2400573"/>
            <a:ext cx="7167878" cy="3888398"/>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it-IT" sz="2000" dirty="0">
              <a:solidFill>
                <a:schemeClr val="tx1"/>
              </a:solidFill>
            </a:endParaRPr>
          </a:p>
        </p:txBody>
      </p:sp>
      <p:grpSp>
        <p:nvGrpSpPr>
          <p:cNvPr id="24" name="Group 23">
            <a:extLst>
              <a:ext uri="{FF2B5EF4-FFF2-40B4-BE49-F238E27FC236}">
                <a16:creationId xmlns:a16="http://schemas.microsoft.com/office/drawing/2014/main" id="{0EB9003C-FB33-C2BF-CAF8-8B2952F389FB}"/>
              </a:ext>
            </a:extLst>
          </p:cNvPr>
          <p:cNvGrpSpPr/>
          <p:nvPr/>
        </p:nvGrpSpPr>
        <p:grpSpPr>
          <a:xfrm>
            <a:off x="4278770" y="2151564"/>
            <a:ext cx="6827030" cy="2682401"/>
            <a:chOff x="4278770" y="1838293"/>
            <a:chExt cx="6827030" cy="2682401"/>
          </a:xfrm>
        </p:grpSpPr>
        <p:pic>
          <p:nvPicPr>
            <p:cNvPr id="15" name="Immagine 7">
              <a:extLst>
                <a:ext uri="{FF2B5EF4-FFF2-40B4-BE49-F238E27FC236}">
                  <a16:creationId xmlns:a16="http://schemas.microsoft.com/office/drawing/2014/main" id="{CFE86632-3435-EBF2-32B2-521470E904F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99573" y="2491907"/>
              <a:ext cx="2006227" cy="1026570"/>
            </a:xfrm>
            <a:prstGeom prst="roundRect">
              <a:avLst>
                <a:gd name="adj" fmla="val 16667"/>
              </a:avLst>
            </a:prstGeom>
            <a:ln w="38100">
              <a:solidFill>
                <a:srgbClr val="3366FF"/>
              </a:solidFill>
            </a:ln>
            <a:effectLst/>
          </p:spPr>
        </p:pic>
        <p:sp>
          <p:nvSpPr>
            <p:cNvPr id="19" name="Arco 10">
              <a:extLst>
                <a:ext uri="{FF2B5EF4-FFF2-40B4-BE49-F238E27FC236}">
                  <a16:creationId xmlns:a16="http://schemas.microsoft.com/office/drawing/2014/main" id="{4517570D-942B-6E54-8D75-EB6124AC2F0D}"/>
                </a:ext>
              </a:extLst>
            </p:cNvPr>
            <p:cNvSpPr/>
            <p:nvPr/>
          </p:nvSpPr>
          <p:spPr>
            <a:xfrm rot="5881670">
              <a:off x="5598447" y="518616"/>
              <a:ext cx="2682401" cy="5321755"/>
            </a:xfrm>
            <a:prstGeom prst="arc">
              <a:avLst>
                <a:gd name="adj1" fmla="val 16185649"/>
                <a:gd name="adj2" fmla="val 18426993"/>
              </a:avLst>
            </a:prstGeom>
            <a:ln w="38100">
              <a:solidFill>
                <a:srgbClr val="3366FF"/>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grpSp>
      <p:sp>
        <p:nvSpPr>
          <p:cNvPr id="21" name="Rectangle 20">
            <a:extLst>
              <a:ext uri="{FF2B5EF4-FFF2-40B4-BE49-F238E27FC236}">
                <a16:creationId xmlns:a16="http://schemas.microsoft.com/office/drawing/2014/main" id="{8C246015-16EC-AF83-42A5-59346AB6D581}"/>
              </a:ext>
            </a:extLst>
          </p:cNvPr>
          <p:cNvSpPr/>
          <p:nvPr/>
        </p:nvSpPr>
        <p:spPr>
          <a:xfrm>
            <a:off x="5393267" y="2750264"/>
            <a:ext cx="1744133" cy="7105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nvGrpSpPr>
          <p:cNvPr id="27" name="Group 26">
            <a:extLst>
              <a:ext uri="{FF2B5EF4-FFF2-40B4-BE49-F238E27FC236}">
                <a16:creationId xmlns:a16="http://schemas.microsoft.com/office/drawing/2014/main" id="{959B8D46-154C-00AA-6D90-B00E79F36A1F}"/>
              </a:ext>
            </a:extLst>
          </p:cNvPr>
          <p:cNvGrpSpPr/>
          <p:nvPr/>
        </p:nvGrpSpPr>
        <p:grpSpPr>
          <a:xfrm>
            <a:off x="2177084" y="2180770"/>
            <a:ext cx="6392144" cy="2682401"/>
            <a:chOff x="4278770" y="1838293"/>
            <a:chExt cx="6392144" cy="2682401"/>
          </a:xfrm>
        </p:grpSpPr>
        <p:pic>
          <p:nvPicPr>
            <p:cNvPr id="28" name="Immagine 7">
              <a:extLst>
                <a:ext uri="{FF2B5EF4-FFF2-40B4-BE49-F238E27FC236}">
                  <a16:creationId xmlns:a16="http://schemas.microsoft.com/office/drawing/2014/main" id="{26A976F9-1554-E382-7397-7D2A1E7D3E01}"/>
                </a:ext>
              </a:extLst>
            </p:cNvPr>
            <p:cNvPicPr>
              <a:picLocks noChangeAspect="1"/>
            </p:cNvPicPr>
            <p:nvPr/>
          </p:nvPicPr>
          <p:blipFill>
            <a:blip r:embed="rId6">
              <a:extLst>
                <a:ext uri="{28A0092B-C50C-407E-A947-70E740481C1C}">
                  <a14:useLocalDpi xmlns:a14="http://schemas.microsoft.com/office/drawing/2010/main" val="0"/>
                </a:ext>
              </a:extLst>
            </a:blip>
            <a:srcRect t="4303" b="4303"/>
            <a:stretch/>
          </p:blipFill>
          <p:spPr>
            <a:xfrm>
              <a:off x="8664687" y="2462701"/>
              <a:ext cx="2006227" cy="1026570"/>
            </a:xfrm>
            <a:prstGeom prst="roundRect">
              <a:avLst>
                <a:gd name="adj" fmla="val 16667"/>
              </a:avLst>
            </a:prstGeom>
            <a:ln w="38100">
              <a:solidFill>
                <a:srgbClr val="FFB240"/>
              </a:solidFill>
            </a:ln>
            <a:effectLst/>
          </p:spPr>
        </p:pic>
        <p:sp>
          <p:nvSpPr>
            <p:cNvPr id="29" name="Arco 10">
              <a:extLst>
                <a:ext uri="{FF2B5EF4-FFF2-40B4-BE49-F238E27FC236}">
                  <a16:creationId xmlns:a16="http://schemas.microsoft.com/office/drawing/2014/main" id="{A9EE8A31-73B9-4BBF-050C-5D2500B7E49B}"/>
                </a:ext>
              </a:extLst>
            </p:cNvPr>
            <p:cNvSpPr/>
            <p:nvPr/>
          </p:nvSpPr>
          <p:spPr>
            <a:xfrm rot="5881670">
              <a:off x="5598447" y="518616"/>
              <a:ext cx="2682401" cy="5321755"/>
            </a:xfrm>
            <a:prstGeom prst="arc">
              <a:avLst>
                <a:gd name="adj1" fmla="val 16148012"/>
                <a:gd name="adj2" fmla="val 18298196"/>
              </a:avLst>
            </a:prstGeom>
            <a:ln w="38100">
              <a:solidFill>
                <a:srgbClr val="FFB240"/>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dirty="0"/>
            </a:p>
          </p:txBody>
        </p:sp>
      </p:grpSp>
      <p:sp>
        <p:nvSpPr>
          <p:cNvPr id="31" name="Rettangolo con angoli arrotondati 6">
            <a:extLst>
              <a:ext uri="{FF2B5EF4-FFF2-40B4-BE49-F238E27FC236}">
                <a16:creationId xmlns:a16="http://schemas.microsoft.com/office/drawing/2014/main" id="{283D1DCB-6A56-75DE-2AB3-757D5CD1D203}"/>
              </a:ext>
            </a:extLst>
          </p:cNvPr>
          <p:cNvSpPr/>
          <p:nvPr/>
        </p:nvSpPr>
        <p:spPr>
          <a:xfrm>
            <a:off x="6563001" y="2547287"/>
            <a:ext cx="2006227" cy="238368"/>
          </a:xfrm>
          <a:prstGeom prst="roundRect">
            <a:avLst>
              <a:gd name="adj" fmla="val 50000"/>
            </a:avLst>
          </a:prstGeom>
          <a:noFill/>
          <a:ln w="38100">
            <a:solidFill>
              <a:srgbClr val="FFB2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silicon microstrip sensors</a:t>
            </a:r>
            <a:endParaRPr lang="it-IT" sz="1100" dirty="0">
              <a:solidFill>
                <a:schemeClr val="tx1"/>
              </a:solidFill>
            </a:endParaRPr>
          </a:p>
        </p:txBody>
      </p:sp>
      <p:sp>
        <p:nvSpPr>
          <p:cNvPr id="33" name="Rettangolo con angoli arrotondati 6">
            <a:extLst>
              <a:ext uri="{FF2B5EF4-FFF2-40B4-BE49-F238E27FC236}">
                <a16:creationId xmlns:a16="http://schemas.microsoft.com/office/drawing/2014/main" id="{A2984FF8-6FFA-74DB-5670-D0FE9DAC9B92}"/>
              </a:ext>
            </a:extLst>
          </p:cNvPr>
          <p:cNvSpPr/>
          <p:nvPr/>
        </p:nvSpPr>
        <p:spPr>
          <a:xfrm>
            <a:off x="9099573" y="2545723"/>
            <a:ext cx="2006227" cy="238368"/>
          </a:xfrm>
          <a:prstGeom prst="roundRect">
            <a:avLst>
              <a:gd name="adj" fmla="val 50000"/>
            </a:avLst>
          </a:prstGeom>
          <a:noFill/>
          <a:ln w="38100">
            <a:solidFill>
              <a:srgbClr val="3366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long crystal</a:t>
            </a:r>
            <a:endParaRPr lang="it-IT" sz="1100" dirty="0">
              <a:solidFill>
                <a:schemeClr val="tx1"/>
              </a:solidFill>
            </a:endParaRPr>
          </a:p>
        </p:txBody>
      </p:sp>
    </p:spTree>
    <p:extLst>
      <p:ext uri="{BB962C8B-B14F-4D97-AF65-F5344CB8AC3E}">
        <p14:creationId xmlns:p14="http://schemas.microsoft.com/office/powerpoint/2010/main" val="1859668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7BB00-8BD0-484D-5534-7A387AFD93F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D304838-A0F4-7B3D-1685-4747E09FED66}"/>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en-US" sz="4000" b="1" dirty="0">
                <a:solidFill>
                  <a:srgbClr val="002060"/>
                </a:solidFill>
              </a:rPr>
              <a:t>	THE ANALYSIS PIPELINE</a:t>
            </a:r>
            <a:endParaRPr lang="it-IT" sz="4000" b="1" dirty="0">
              <a:solidFill>
                <a:srgbClr val="002060"/>
              </a:solidFill>
            </a:endParaRPr>
          </a:p>
        </p:txBody>
      </p:sp>
      <p:sp>
        <p:nvSpPr>
          <p:cNvPr id="4" name="Segnaposto data 3">
            <a:extLst>
              <a:ext uri="{FF2B5EF4-FFF2-40B4-BE49-F238E27FC236}">
                <a16:creationId xmlns:a16="http://schemas.microsoft.com/office/drawing/2014/main" id="{C77177AF-50F4-DF68-59CE-552F0F1B7D7C}"/>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0DDDF6E1-63CF-6445-34AD-4120EA019E7B}"/>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6DC64F4F-6C60-1613-05E3-5DE2201F963B}"/>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6</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82CCBF23-A07C-46F2-3FA6-BCBEF755B28E}"/>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8" name="Titolo 1">
            <a:extLst>
              <a:ext uri="{FF2B5EF4-FFF2-40B4-BE49-F238E27FC236}">
                <a16:creationId xmlns:a16="http://schemas.microsoft.com/office/drawing/2014/main" id="{698498A5-A73F-DD92-56F0-E23FCB9DDDFF}"/>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METHOD</a:t>
            </a:r>
            <a:endParaRPr lang="it-IT" sz="2000" b="1" i="1" dirty="0">
              <a:solidFill>
                <a:srgbClr val="002060"/>
              </a:solidFill>
              <a:ea typeface="Calibri" panose="020F0502020204030204" pitchFamily="34" charset="0"/>
              <a:cs typeface="Calibri" panose="020F0502020204030204" pitchFamily="34" charset="0"/>
            </a:endParaRPr>
          </a:p>
        </p:txBody>
      </p:sp>
      <p:sp>
        <p:nvSpPr>
          <p:cNvPr id="23" name="Segnaposto contenuto 2">
            <a:extLst>
              <a:ext uri="{FF2B5EF4-FFF2-40B4-BE49-F238E27FC236}">
                <a16:creationId xmlns:a16="http://schemas.microsoft.com/office/drawing/2014/main" id="{A236EDB2-B0C1-4A64-3483-2607758CED56}"/>
              </a:ext>
            </a:extLst>
          </p:cNvPr>
          <p:cNvSpPr>
            <a:spLocks noGrp="1"/>
          </p:cNvSpPr>
          <p:nvPr>
            <p:ph idx="1"/>
          </p:nvPr>
        </p:nvSpPr>
        <p:spPr>
          <a:xfrm>
            <a:off x="862100" y="5357064"/>
            <a:ext cx="10515600" cy="906812"/>
          </a:xfrm>
        </p:spPr>
        <p:txBody>
          <a:bodyPr>
            <a:normAutofit/>
          </a:bodyPr>
          <a:lstStyle/>
          <a:p>
            <a:pPr marL="0" indent="0">
              <a:buNone/>
            </a:pPr>
            <a:r>
              <a:rPr lang="en-US" sz="2000" i="1" dirty="0"/>
              <a:t>Analysis implemented in Python on </a:t>
            </a:r>
            <a:r>
              <a:rPr lang="en-US" sz="2000" i="1" dirty="0" err="1"/>
              <a:t>RDataFrame</a:t>
            </a:r>
            <a:r>
              <a:rPr lang="en-US" sz="2000" i="1" dirty="0"/>
              <a:t> (ROOT).</a:t>
            </a:r>
          </a:p>
        </p:txBody>
      </p:sp>
      <p:sp>
        <p:nvSpPr>
          <p:cNvPr id="12" name="Rettangolo con angoli arrotondati 6">
            <a:extLst>
              <a:ext uri="{FF2B5EF4-FFF2-40B4-BE49-F238E27FC236}">
                <a16:creationId xmlns:a16="http://schemas.microsoft.com/office/drawing/2014/main" id="{045724B7-A4E4-4A10-037E-E2C27544072F}"/>
              </a:ext>
            </a:extLst>
          </p:cNvPr>
          <p:cNvSpPr/>
          <p:nvPr/>
        </p:nvSpPr>
        <p:spPr>
          <a:xfrm>
            <a:off x="812500" y="2244679"/>
            <a:ext cx="1980000" cy="2803043"/>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it-IT" sz="1400" b="1" dirty="0">
              <a:solidFill>
                <a:srgbClr val="002060"/>
              </a:solidFill>
            </a:endParaRPr>
          </a:p>
          <a:p>
            <a:pPr algn="ctr"/>
            <a:endParaRPr lang="it-IT" sz="1400" b="1" dirty="0">
              <a:solidFill>
                <a:srgbClr val="002060"/>
              </a:solidFill>
            </a:endParaRPr>
          </a:p>
          <a:p>
            <a:pPr algn="ctr"/>
            <a:endParaRPr lang="it-IT" sz="1400" b="1" dirty="0">
              <a:solidFill>
                <a:srgbClr val="002060"/>
              </a:solidFill>
            </a:endParaRPr>
          </a:p>
          <a:p>
            <a:pPr algn="ctr"/>
            <a:r>
              <a:rPr lang="it-IT" sz="1400" b="1" dirty="0">
                <a:solidFill>
                  <a:srgbClr val="002060"/>
                </a:solidFill>
              </a:rPr>
              <a:t>QUALITY FILTERS</a:t>
            </a:r>
          </a:p>
          <a:p>
            <a:pPr algn="ctr"/>
            <a:endParaRPr lang="it-IT" sz="1400" dirty="0">
              <a:solidFill>
                <a:schemeClr val="tx1"/>
              </a:solidFill>
            </a:endParaRPr>
          </a:p>
          <a:p>
            <a:pPr algn="ctr"/>
            <a:r>
              <a:rPr lang="en-US" sz="1400" dirty="0">
                <a:solidFill>
                  <a:schemeClr val="tx1"/>
                </a:solidFill>
              </a:rPr>
              <a:t>Selecting single tracks, alignment check between the upstream and downstream telescope arms</a:t>
            </a:r>
            <a:endParaRPr lang="it-IT" sz="1400" dirty="0">
              <a:solidFill>
                <a:schemeClr val="tx1"/>
              </a:solidFill>
            </a:endParaRPr>
          </a:p>
          <a:p>
            <a:pPr algn="ctr"/>
            <a:endParaRPr lang="it-IT" sz="1400" dirty="0">
              <a:solidFill>
                <a:schemeClr val="tx1"/>
              </a:solidFill>
            </a:endParaRPr>
          </a:p>
        </p:txBody>
      </p:sp>
      <p:pic>
        <p:nvPicPr>
          <p:cNvPr id="22" name="Elemento grafico 17" descr="Badge 1 with solid fill">
            <a:extLst>
              <a:ext uri="{FF2B5EF4-FFF2-40B4-BE49-F238E27FC236}">
                <a16:creationId xmlns:a16="http://schemas.microsoft.com/office/drawing/2014/main" id="{43A9EC78-4911-1179-E016-CFD00C569FD3}"/>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532500" y="2386154"/>
            <a:ext cx="540000" cy="540000"/>
          </a:xfrm>
          <a:prstGeom prst="rect">
            <a:avLst/>
          </a:prstGeom>
        </p:spPr>
      </p:pic>
      <p:sp>
        <p:nvSpPr>
          <p:cNvPr id="33" name="Rettangolo con angoli arrotondati 6">
            <a:extLst>
              <a:ext uri="{FF2B5EF4-FFF2-40B4-BE49-F238E27FC236}">
                <a16:creationId xmlns:a16="http://schemas.microsoft.com/office/drawing/2014/main" id="{4A222AB3-3C05-A4B9-40F3-EE85CA8DCBB2}"/>
              </a:ext>
            </a:extLst>
          </p:cNvPr>
          <p:cNvSpPr/>
          <p:nvPr/>
        </p:nvSpPr>
        <p:spPr>
          <a:xfrm>
            <a:off x="2958800" y="2244679"/>
            <a:ext cx="1980000" cy="2803043"/>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it-IT" sz="1400" b="1" dirty="0">
              <a:solidFill>
                <a:srgbClr val="002060"/>
              </a:solidFill>
            </a:endParaRPr>
          </a:p>
          <a:p>
            <a:pPr algn="ctr"/>
            <a:endParaRPr lang="it-IT" sz="1400" b="1" dirty="0">
              <a:solidFill>
                <a:srgbClr val="002060"/>
              </a:solidFill>
            </a:endParaRPr>
          </a:p>
          <a:p>
            <a:pPr algn="ctr"/>
            <a:endParaRPr lang="it-IT" sz="1400" b="1" dirty="0">
              <a:solidFill>
                <a:srgbClr val="002060"/>
              </a:solidFill>
            </a:endParaRPr>
          </a:p>
          <a:p>
            <a:pPr algn="ctr"/>
            <a:r>
              <a:rPr lang="it-IT" sz="1400" b="1" dirty="0">
                <a:solidFill>
                  <a:srgbClr val="002060"/>
                </a:solidFill>
              </a:rPr>
              <a:t>CRYSTAL EDGES</a:t>
            </a:r>
          </a:p>
          <a:p>
            <a:pPr algn="ctr"/>
            <a:endParaRPr lang="it-IT" sz="1400" dirty="0">
              <a:solidFill>
                <a:schemeClr val="tx1"/>
              </a:solidFill>
            </a:endParaRPr>
          </a:p>
          <a:p>
            <a:pPr algn="ctr"/>
            <a:r>
              <a:rPr lang="en-US" sz="1400" dirty="0">
                <a:solidFill>
                  <a:schemeClr val="tx1"/>
                </a:solidFill>
              </a:rPr>
              <a:t>Reconstruct the (</a:t>
            </a:r>
            <a:r>
              <a:rPr lang="en-US" sz="1400" dirty="0" err="1">
                <a:solidFill>
                  <a:schemeClr val="tx1"/>
                </a:solidFill>
              </a:rPr>
              <a:t>x,y</a:t>
            </a:r>
            <a:r>
              <a:rPr lang="en-US" sz="1400" dirty="0">
                <a:solidFill>
                  <a:schemeClr val="tx1"/>
                </a:solidFill>
              </a:rPr>
              <a:t>) spatial window illuminated by the crystal </a:t>
            </a:r>
          </a:p>
          <a:p>
            <a:pPr algn="ctr"/>
            <a:r>
              <a:rPr lang="en-US" sz="1400" i="1" dirty="0">
                <a:solidFill>
                  <a:schemeClr val="tx1"/>
                </a:solidFill>
              </a:rPr>
              <a:t>(2 independent methods)</a:t>
            </a:r>
            <a:endParaRPr lang="it-IT" sz="1400" i="1" dirty="0">
              <a:solidFill>
                <a:schemeClr val="tx1"/>
              </a:solidFill>
            </a:endParaRPr>
          </a:p>
          <a:p>
            <a:pPr algn="ctr"/>
            <a:endParaRPr lang="it-IT" sz="1400" dirty="0">
              <a:solidFill>
                <a:schemeClr val="tx1"/>
              </a:solidFill>
            </a:endParaRPr>
          </a:p>
        </p:txBody>
      </p:sp>
      <p:pic>
        <p:nvPicPr>
          <p:cNvPr id="35" name="Elemento grafico 17" descr="Badge with solid fill">
            <a:extLst>
              <a:ext uri="{FF2B5EF4-FFF2-40B4-BE49-F238E27FC236}">
                <a16:creationId xmlns:a16="http://schemas.microsoft.com/office/drawing/2014/main" id="{299359E9-CB12-6A3D-05F2-69DA19E99EDB}"/>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678800" y="2386154"/>
            <a:ext cx="540000" cy="540000"/>
          </a:xfrm>
          <a:prstGeom prst="rect">
            <a:avLst/>
          </a:prstGeom>
        </p:spPr>
      </p:pic>
      <mc:AlternateContent xmlns:mc="http://schemas.openxmlformats.org/markup-compatibility/2006">
        <mc:Choice xmlns:a14="http://schemas.microsoft.com/office/drawing/2010/main" Requires="a14">
          <p:sp>
            <p:nvSpPr>
              <p:cNvPr id="37" name="Rettangolo con angoli arrotondati 6">
                <a:extLst>
                  <a:ext uri="{FF2B5EF4-FFF2-40B4-BE49-F238E27FC236}">
                    <a16:creationId xmlns:a16="http://schemas.microsoft.com/office/drawing/2014/main" id="{4B679E7A-8695-F903-A8BE-23175690FF21}"/>
                  </a:ext>
                </a:extLst>
              </p:cNvPr>
              <p:cNvSpPr/>
              <p:nvPr/>
            </p:nvSpPr>
            <p:spPr>
              <a:xfrm>
                <a:off x="5105100" y="2244679"/>
                <a:ext cx="1980000" cy="2803043"/>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it-IT" sz="1400" b="1" dirty="0">
                  <a:solidFill>
                    <a:srgbClr val="002060"/>
                  </a:solidFill>
                </a:endParaRPr>
              </a:p>
              <a:p>
                <a:pPr algn="ctr"/>
                <a:endParaRPr lang="it-IT" sz="1400" b="1" dirty="0">
                  <a:solidFill>
                    <a:srgbClr val="002060"/>
                  </a:solidFill>
                </a:endParaRPr>
              </a:p>
              <a:p>
                <a:pPr algn="ctr"/>
                <a:endParaRPr lang="it-IT" sz="1400" b="1" dirty="0">
                  <a:solidFill>
                    <a:srgbClr val="002060"/>
                  </a:solidFill>
                </a:endParaRPr>
              </a:p>
              <a:p>
                <a:pPr algn="ctr"/>
                <a:r>
                  <a:rPr lang="it-IT" sz="1400" b="1" dirty="0">
                    <a:solidFill>
                      <a:srgbClr val="002060"/>
                    </a:solidFill>
                  </a:rPr>
                  <a:t>TORSION MAP</a:t>
                </a:r>
              </a:p>
              <a:p>
                <a:pPr algn="ctr"/>
                <a:endParaRPr lang="en-US" sz="1400" dirty="0">
                  <a:solidFill>
                    <a:schemeClr val="tx1"/>
                  </a:solidFill>
                </a:endParaRPr>
              </a:p>
              <a:p>
                <a:pPr algn="ctr"/>
                <a:r>
                  <a:rPr lang="it-IT" sz="1400" dirty="0">
                    <a:solidFill>
                      <a:schemeClr val="tx1"/>
                    </a:solidFill>
                  </a:rPr>
                  <a:t>2D checkerboard grid analysis of the entrance face:</a:t>
                </a:r>
              </a:p>
              <a:p>
                <a:pPr algn="ctr"/>
                <a:r>
                  <a:rPr lang="it-IT" sz="1400" dirty="0">
                    <a:solidFill>
                      <a:schemeClr val="tx1"/>
                    </a:solidFill>
                  </a:rPr>
                  <a:t>surface fit to obtain </a:t>
                </a:r>
                <a14:m>
                  <m:oMath xmlns:m="http://schemas.openxmlformats.org/officeDocument/2006/math">
                    <m:sSub>
                      <m:sSubPr>
                        <m:ctrlPr>
                          <a:rPr lang="en-US" sz="1400" b="0" i="1" smtClean="0">
                            <a:solidFill>
                              <a:schemeClr val="tx1"/>
                            </a:solidFill>
                            <a:latin typeface="Cambria Math" panose="02040503050406030204" pitchFamily="18" charset="0"/>
                          </a:rPr>
                        </m:ctrlPr>
                      </m:sSubPr>
                      <m:e>
                        <m:r>
                          <a:rPr lang="en-US" sz="1400" b="0" i="1" smtClean="0">
                            <a:solidFill>
                              <a:schemeClr val="tx1"/>
                            </a:solidFill>
                            <a:latin typeface="Cambria Math" panose="02040503050406030204" pitchFamily="18" charset="0"/>
                          </a:rPr>
                          <m:t>𝜏</m:t>
                        </m:r>
                      </m:e>
                      <m:sub>
                        <m:r>
                          <a:rPr lang="en-US" sz="1400" b="0" i="1" smtClean="0">
                            <a:solidFill>
                              <a:schemeClr val="tx1"/>
                            </a:solidFill>
                            <a:latin typeface="Cambria Math" panose="02040503050406030204" pitchFamily="18" charset="0"/>
                          </a:rPr>
                          <m:t>𝑥</m:t>
                        </m:r>
                      </m:sub>
                    </m:sSub>
                    <m:r>
                      <a:rPr lang="en-US" sz="1400" b="0" i="1" smtClean="0">
                        <a:solidFill>
                          <a:schemeClr val="tx1"/>
                        </a:solidFill>
                        <a:latin typeface="Cambria Math" panose="02040503050406030204" pitchFamily="18" charset="0"/>
                      </a:rPr>
                      <m:t>, </m:t>
                    </m:r>
                    <m:sSub>
                      <m:sSubPr>
                        <m:ctrlPr>
                          <a:rPr lang="en-US" sz="1400" b="0" i="1" smtClean="0">
                            <a:solidFill>
                              <a:schemeClr val="tx1"/>
                            </a:solidFill>
                            <a:latin typeface="Cambria Math" panose="02040503050406030204" pitchFamily="18" charset="0"/>
                          </a:rPr>
                        </m:ctrlPr>
                      </m:sSubPr>
                      <m:e>
                        <m:r>
                          <a:rPr lang="en-US" sz="1400" b="0" i="1" smtClean="0">
                            <a:solidFill>
                              <a:schemeClr val="tx1"/>
                            </a:solidFill>
                            <a:latin typeface="Cambria Math" panose="02040503050406030204" pitchFamily="18" charset="0"/>
                          </a:rPr>
                          <m:t>𝜏</m:t>
                        </m:r>
                      </m:e>
                      <m:sub>
                        <m:r>
                          <a:rPr lang="en-US" sz="1400" b="0" i="1" smtClean="0">
                            <a:solidFill>
                              <a:schemeClr val="tx1"/>
                            </a:solidFill>
                            <a:latin typeface="Cambria Math" panose="02040503050406030204" pitchFamily="18" charset="0"/>
                          </a:rPr>
                          <m:t>𝑦</m:t>
                        </m:r>
                      </m:sub>
                    </m:sSub>
                  </m:oMath>
                </a14:m>
                <a:endParaRPr lang="it-IT" sz="1400" dirty="0">
                  <a:solidFill>
                    <a:schemeClr val="tx1"/>
                  </a:solidFill>
                </a:endParaRPr>
              </a:p>
            </p:txBody>
          </p:sp>
        </mc:Choice>
        <mc:Fallback>
          <p:sp>
            <p:nvSpPr>
              <p:cNvPr id="37" name="Rettangolo con angoli arrotondati 6">
                <a:extLst>
                  <a:ext uri="{FF2B5EF4-FFF2-40B4-BE49-F238E27FC236}">
                    <a16:creationId xmlns:a16="http://schemas.microsoft.com/office/drawing/2014/main" id="{4B679E7A-8695-F903-A8BE-23175690FF21}"/>
                  </a:ext>
                </a:extLst>
              </p:cNvPr>
              <p:cNvSpPr>
                <a:spLocks noRot="1" noChangeAspect="1" noMove="1" noResize="1" noEditPoints="1" noAdjustHandles="1" noChangeArrowheads="1" noChangeShapeType="1" noTextEdit="1"/>
              </p:cNvSpPr>
              <p:nvPr/>
            </p:nvSpPr>
            <p:spPr>
              <a:xfrm>
                <a:off x="5105100" y="2244679"/>
                <a:ext cx="1980000" cy="2803043"/>
              </a:xfrm>
              <a:prstGeom prst="roundRect">
                <a:avLst/>
              </a:prstGeom>
              <a:blipFill>
                <a:blip r:embed="rId5"/>
                <a:stretch>
                  <a:fillRect/>
                </a:stretch>
              </a:blipFill>
              <a:ln w="38100">
                <a:solidFill>
                  <a:srgbClr val="002060"/>
                </a:solidFill>
              </a:ln>
            </p:spPr>
            <p:txBody>
              <a:bodyPr/>
              <a:lstStyle/>
              <a:p>
                <a:r>
                  <a:rPr lang="it-IT">
                    <a:noFill/>
                  </a:rPr>
                  <a:t> </a:t>
                </a:r>
              </a:p>
            </p:txBody>
          </p:sp>
        </mc:Fallback>
      </mc:AlternateContent>
      <p:pic>
        <p:nvPicPr>
          <p:cNvPr id="39" name="Elemento grafico 17" descr="Badge 3 with solid fill">
            <a:extLst>
              <a:ext uri="{FF2B5EF4-FFF2-40B4-BE49-F238E27FC236}">
                <a16:creationId xmlns:a16="http://schemas.microsoft.com/office/drawing/2014/main" id="{2B72C2FD-B8D8-C933-378F-B83719219352}"/>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5825100" y="2386154"/>
            <a:ext cx="540000" cy="540000"/>
          </a:xfrm>
          <a:prstGeom prst="rect">
            <a:avLst/>
          </a:prstGeom>
        </p:spPr>
      </p:pic>
      <mc:AlternateContent xmlns:mc="http://schemas.openxmlformats.org/markup-compatibility/2006">
        <mc:Choice xmlns:a14="http://schemas.microsoft.com/office/drawing/2010/main" Requires="a14">
          <p:sp>
            <p:nvSpPr>
              <p:cNvPr id="41" name="Rettangolo con angoli arrotondati 6">
                <a:extLst>
                  <a:ext uri="{FF2B5EF4-FFF2-40B4-BE49-F238E27FC236}">
                    <a16:creationId xmlns:a16="http://schemas.microsoft.com/office/drawing/2014/main" id="{B2048A9A-8EE3-938C-8DB4-B9F0139FDB12}"/>
                  </a:ext>
                </a:extLst>
              </p:cNvPr>
              <p:cNvSpPr/>
              <p:nvPr/>
            </p:nvSpPr>
            <p:spPr>
              <a:xfrm>
                <a:off x="7251400" y="2244679"/>
                <a:ext cx="1980000" cy="2803043"/>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it-IT" sz="1400" b="1" dirty="0">
                  <a:solidFill>
                    <a:srgbClr val="002060"/>
                  </a:solidFill>
                </a:endParaRPr>
              </a:p>
              <a:p>
                <a:pPr algn="ctr"/>
                <a:endParaRPr lang="it-IT" sz="1400" b="1" dirty="0">
                  <a:solidFill>
                    <a:srgbClr val="002060"/>
                  </a:solidFill>
                </a:endParaRPr>
              </a:p>
              <a:p>
                <a:pPr algn="ctr"/>
                <a:endParaRPr lang="it-IT" sz="1400" b="1" dirty="0">
                  <a:solidFill>
                    <a:srgbClr val="002060"/>
                  </a:solidFill>
                </a:endParaRPr>
              </a:p>
              <a:p>
                <a:pPr algn="ctr"/>
                <a:r>
                  <a:rPr lang="it-IT" sz="1400" b="1" dirty="0">
                    <a:solidFill>
                      <a:srgbClr val="002060"/>
                    </a:solidFill>
                  </a:rPr>
                  <a:t>LINDHARD CUT</a:t>
                </a:r>
              </a:p>
              <a:p>
                <a:pPr algn="ctr"/>
                <a:endParaRPr lang="it-IT" sz="1400" dirty="0">
                  <a:solidFill>
                    <a:schemeClr val="tx1"/>
                  </a:solidFill>
                </a:endParaRPr>
              </a:p>
              <a:p>
                <a:pPr algn="ctr"/>
                <a:r>
                  <a:rPr lang="en-US" sz="1400" dirty="0">
                    <a:solidFill>
                      <a:schemeClr val="tx1"/>
                    </a:solidFill>
                  </a:rPr>
                  <a:t>Selecting particles entering within </a:t>
                </a:r>
                <a14:m>
                  <m:oMath xmlns:m="http://schemas.openxmlformats.org/officeDocument/2006/math">
                    <m:r>
                      <a:rPr lang="en-US" sz="1400" b="0" i="1" smtClean="0">
                        <a:solidFill>
                          <a:schemeClr val="tx1"/>
                        </a:solidFill>
                        <a:latin typeface="Cambria Math" panose="02040503050406030204" pitchFamily="18" charset="0"/>
                      </a:rPr>
                      <m:t>1/2</m:t>
                    </m:r>
                    <m:sSub>
                      <m:sSubPr>
                        <m:ctrlPr>
                          <a:rPr lang="en-US" sz="1400" b="0" i="1" smtClean="0">
                            <a:solidFill>
                              <a:schemeClr val="tx1"/>
                            </a:solidFill>
                            <a:latin typeface="Cambria Math" panose="02040503050406030204" pitchFamily="18" charset="0"/>
                          </a:rPr>
                        </m:ctrlPr>
                      </m:sSubPr>
                      <m:e>
                        <m:r>
                          <a:rPr lang="en-US" sz="1400" b="0" i="1" smtClean="0">
                            <a:solidFill>
                              <a:schemeClr val="tx1"/>
                            </a:solidFill>
                            <a:latin typeface="Cambria Math" panose="02040503050406030204" pitchFamily="18" charset="0"/>
                          </a:rPr>
                          <m:t> </m:t>
                        </m:r>
                        <m:r>
                          <a:rPr lang="en-US" sz="1400" b="0" i="1" smtClean="0">
                            <a:solidFill>
                              <a:schemeClr val="tx1"/>
                            </a:solidFill>
                            <a:latin typeface="Cambria Math" panose="02040503050406030204" pitchFamily="18" charset="0"/>
                          </a:rPr>
                          <m:t>𝜃</m:t>
                        </m:r>
                      </m:e>
                      <m:sub>
                        <m:r>
                          <a:rPr lang="en-US" sz="1400" b="0" i="1" smtClean="0">
                            <a:solidFill>
                              <a:schemeClr val="tx1"/>
                            </a:solidFill>
                            <a:latin typeface="Cambria Math" panose="02040503050406030204" pitchFamily="18" charset="0"/>
                          </a:rPr>
                          <m:t>𝐿</m:t>
                        </m:r>
                      </m:sub>
                    </m:sSub>
                  </m:oMath>
                </a14:m>
                <a:r>
                  <a:rPr lang="it-IT" sz="1400" dirty="0">
                    <a:solidFill>
                      <a:schemeClr val="tx1"/>
                    </a:solidFill>
                  </a:rPr>
                  <a:t>, corrected point-by-point for torsion</a:t>
                </a:r>
              </a:p>
              <a:p>
                <a:pPr algn="ctr"/>
                <a:endParaRPr lang="it-IT" sz="1400" dirty="0">
                  <a:solidFill>
                    <a:schemeClr val="tx1"/>
                  </a:solidFill>
                </a:endParaRPr>
              </a:p>
            </p:txBody>
          </p:sp>
        </mc:Choice>
        <mc:Fallback>
          <p:sp>
            <p:nvSpPr>
              <p:cNvPr id="41" name="Rettangolo con angoli arrotondati 6">
                <a:extLst>
                  <a:ext uri="{FF2B5EF4-FFF2-40B4-BE49-F238E27FC236}">
                    <a16:creationId xmlns:a16="http://schemas.microsoft.com/office/drawing/2014/main" id="{B2048A9A-8EE3-938C-8DB4-B9F0139FDB12}"/>
                  </a:ext>
                </a:extLst>
              </p:cNvPr>
              <p:cNvSpPr>
                <a:spLocks noRot="1" noChangeAspect="1" noMove="1" noResize="1" noEditPoints="1" noAdjustHandles="1" noChangeArrowheads="1" noChangeShapeType="1" noTextEdit="1"/>
              </p:cNvSpPr>
              <p:nvPr/>
            </p:nvSpPr>
            <p:spPr>
              <a:xfrm>
                <a:off x="7251400" y="2244679"/>
                <a:ext cx="1980000" cy="2803043"/>
              </a:xfrm>
              <a:prstGeom prst="roundRect">
                <a:avLst/>
              </a:prstGeom>
              <a:blipFill>
                <a:blip r:embed="rId7"/>
                <a:stretch>
                  <a:fillRect/>
                </a:stretch>
              </a:blipFill>
              <a:ln w="38100">
                <a:solidFill>
                  <a:srgbClr val="002060"/>
                </a:solidFill>
              </a:ln>
            </p:spPr>
            <p:txBody>
              <a:bodyPr/>
              <a:lstStyle/>
              <a:p>
                <a:r>
                  <a:rPr lang="it-IT">
                    <a:noFill/>
                  </a:rPr>
                  <a:t> </a:t>
                </a:r>
              </a:p>
            </p:txBody>
          </p:sp>
        </mc:Fallback>
      </mc:AlternateContent>
      <p:pic>
        <p:nvPicPr>
          <p:cNvPr id="43" name="Elemento grafico 17" descr="Badge 4 with solid fill">
            <a:extLst>
              <a:ext uri="{FF2B5EF4-FFF2-40B4-BE49-F238E27FC236}">
                <a16:creationId xmlns:a16="http://schemas.microsoft.com/office/drawing/2014/main" id="{7DD4EA96-92CA-4010-E92D-C84367EA0C8B}"/>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7971400" y="2386154"/>
            <a:ext cx="540000" cy="540000"/>
          </a:xfrm>
          <a:prstGeom prst="rect">
            <a:avLst/>
          </a:prstGeom>
        </p:spPr>
      </p:pic>
      <mc:AlternateContent xmlns:mc="http://schemas.openxmlformats.org/markup-compatibility/2006">
        <mc:Choice xmlns:a14="http://schemas.microsoft.com/office/drawing/2010/main" Requires="a14">
          <p:sp>
            <p:nvSpPr>
              <p:cNvPr id="45" name="Rettangolo con angoli arrotondati 6">
                <a:extLst>
                  <a:ext uri="{FF2B5EF4-FFF2-40B4-BE49-F238E27FC236}">
                    <a16:creationId xmlns:a16="http://schemas.microsoft.com/office/drawing/2014/main" id="{30BE25C2-49A5-BC1A-8256-363018CD6CB8}"/>
                  </a:ext>
                </a:extLst>
              </p:cNvPr>
              <p:cNvSpPr/>
              <p:nvPr/>
            </p:nvSpPr>
            <p:spPr>
              <a:xfrm>
                <a:off x="9397700" y="2244679"/>
                <a:ext cx="1980000" cy="2803043"/>
              </a:xfrm>
              <a:prstGeom prst="roundRect">
                <a:avLst/>
              </a:prstGeom>
              <a:solidFill>
                <a:srgbClr val="002060">
                  <a:alpha val="20000"/>
                </a:srgbClr>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it-IT" sz="1400" b="1" dirty="0">
                  <a:solidFill>
                    <a:srgbClr val="002060"/>
                  </a:solidFill>
                </a:endParaRPr>
              </a:p>
              <a:p>
                <a:pPr algn="ctr"/>
                <a:endParaRPr lang="it-IT" sz="1400" b="1" dirty="0">
                  <a:solidFill>
                    <a:srgbClr val="002060"/>
                  </a:solidFill>
                </a:endParaRPr>
              </a:p>
              <a:p>
                <a:pPr algn="ctr"/>
                <a:endParaRPr lang="it-IT" sz="1400" b="1" dirty="0">
                  <a:solidFill>
                    <a:srgbClr val="002060"/>
                  </a:solidFill>
                </a:endParaRPr>
              </a:p>
              <a:p>
                <a:pPr algn="ctr"/>
                <a:r>
                  <a:rPr lang="it-IT" sz="1400" b="1" dirty="0">
                    <a:solidFill>
                      <a:srgbClr val="002060"/>
                    </a:solidFill>
                  </a:rPr>
                  <a:t>EFFICIENCY</a:t>
                </a:r>
              </a:p>
              <a:p>
                <a:pPr algn="ctr"/>
                <a:endParaRPr lang="it-IT" sz="1400" dirty="0">
                  <a:solidFill>
                    <a:schemeClr val="tx1"/>
                  </a:solidFill>
                </a:endParaRPr>
              </a:p>
              <a:p>
                <a:pPr algn="ctr"/>
                <a14:m>
                  <m:oMathPara xmlns:m="http://schemas.openxmlformats.org/officeDocument/2006/math">
                    <m:oMath>
                      <m:sSub>
                        <m:sSubPr>
                          <m:ctrlPr>
                            <a:rPr lang="en-US" sz="1400" b="0" i="1" dirty="0" smtClean="0">
                              <a:solidFill>
                                <a:schemeClr val="tx1"/>
                              </a:solidFill>
                              <a:latin typeface="Cambria Math" panose="02040503050406030204" pitchFamily="18" charset="0"/>
                            </a:rPr>
                          </m:ctrlPr>
                        </m:sSubPr>
                        <m:e>
                          <m:r>
                            <a:rPr lang="en-US" sz="1400" b="0" i="1" dirty="0" smtClean="0">
                              <a:solidFill>
                                <a:schemeClr val="tx1"/>
                              </a:solidFill>
                              <a:latin typeface="Cambria Math" panose="02040503050406030204" pitchFamily="18" charset="0"/>
                            </a:rPr>
                            <m:t>𝜖</m:t>
                          </m:r>
                        </m:e>
                        <m:sub>
                          <m:r>
                            <a:rPr lang="en-US" sz="1400" b="0" i="1" dirty="0" smtClean="0">
                              <a:solidFill>
                                <a:schemeClr val="tx1"/>
                              </a:solidFill>
                              <a:latin typeface="Cambria Math" panose="02040503050406030204" pitchFamily="18" charset="0"/>
                            </a:rPr>
                            <m:t>𝑐ℎ</m:t>
                          </m:r>
                        </m:sub>
                      </m:sSub>
                      <m:r>
                        <a:rPr lang="en-US" sz="1400" b="0" i="1" dirty="0" smtClean="0">
                          <a:solidFill>
                            <a:schemeClr val="tx1"/>
                          </a:solidFill>
                          <a:latin typeface="Cambria Math" panose="02040503050406030204" pitchFamily="18" charset="0"/>
                        </a:rPr>
                        <m:t>=</m:t>
                      </m:r>
                      <m:sSub>
                        <m:sSubPr>
                          <m:ctrlPr>
                            <a:rPr lang="en-US" sz="1400" b="0" i="1" dirty="0" smtClean="0">
                              <a:solidFill>
                                <a:schemeClr val="tx1"/>
                              </a:solidFill>
                              <a:latin typeface="Cambria Math" panose="02040503050406030204" pitchFamily="18" charset="0"/>
                            </a:rPr>
                          </m:ctrlPr>
                        </m:sSubPr>
                        <m:e>
                          <m:r>
                            <a:rPr lang="en-US" sz="1400" b="0" i="1" dirty="0" smtClean="0">
                              <a:solidFill>
                                <a:schemeClr val="tx1"/>
                              </a:solidFill>
                              <a:latin typeface="Cambria Math" panose="02040503050406030204" pitchFamily="18" charset="0"/>
                            </a:rPr>
                            <m:t>𝑁</m:t>
                          </m:r>
                        </m:e>
                        <m:sub>
                          <m:r>
                            <a:rPr lang="en-US" sz="1400" b="0" i="1" dirty="0" smtClean="0">
                              <a:solidFill>
                                <a:schemeClr val="tx1"/>
                              </a:solidFill>
                              <a:latin typeface="Cambria Math" panose="02040503050406030204" pitchFamily="18" charset="0"/>
                            </a:rPr>
                            <m:t>𝑐ℎ</m:t>
                          </m:r>
                        </m:sub>
                      </m:sSub>
                      <m:r>
                        <a:rPr lang="en-US" sz="1400" b="0" i="1" dirty="0" smtClean="0">
                          <a:solidFill>
                            <a:schemeClr val="tx1"/>
                          </a:solidFill>
                          <a:latin typeface="Cambria Math" panose="02040503050406030204" pitchFamily="18" charset="0"/>
                        </a:rPr>
                        <m:t>/</m:t>
                      </m:r>
                      <m:sSub>
                        <m:sSubPr>
                          <m:ctrlPr>
                            <a:rPr lang="en-US" sz="1400" b="0" i="1" dirty="0" smtClean="0">
                              <a:solidFill>
                                <a:schemeClr val="tx1"/>
                              </a:solidFill>
                              <a:latin typeface="Cambria Math" panose="02040503050406030204" pitchFamily="18" charset="0"/>
                            </a:rPr>
                          </m:ctrlPr>
                        </m:sSubPr>
                        <m:e>
                          <m:r>
                            <a:rPr lang="en-US" sz="1400" b="0" i="1" dirty="0" smtClean="0">
                              <a:solidFill>
                                <a:schemeClr val="tx1"/>
                              </a:solidFill>
                              <a:latin typeface="Cambria Math" panose="02040503050406030204" pitchFamily="18" charset="0"/>
                            </a:rPr>
                            <m:t>𝑁</m:t>
                          </m:r>
                        </m:e>
                        <m:sub>
                          <m:r>
                            <a:rPr lang="en-US" sz="1400" b="0" i="1" dirty="0" smtClean="0">
                              <a:solidFill>
                                <a:schemeClr val="tx1"/>
                              </a:solidFill>
                              <a:latin typeface="Cambria Math" panose="02040503050406030204" pitchFamily="18" charset="0"/>
                            </a:rPr>
                            <m:t>𝑡𝑜𝑡</m:t>
                          </m:r>
                        </m:sub>
                      </m:sSub>
                    </m:oMath>
                  </m:oMathPara>
                </a14:m>
                <a:endParaRPr lang="en-US" sz="1400" dirty="0">
                  <a:solidFill>
                    <a:schemeClr val="tx1"/>
                  </a:solidFill>
                </a:endParaRPr>
              </a:p>
              <a:p>
                <a:pPr algn="ctr"/>
                <a:r>
                  <a:rPr lang="en-US" sz="1400" dirty="0">
                    <a:solidFill>
                      <a:schemeClr val="tx1"/>
                    </a:solidFill>
                  </a:rPr>
                  <a:t>and the full error budget (statistical and systematic errors)</a:t>
                </a:r>
                <a:endParaRPr lang="it-IT" sz="1400" dirty="0">
                  <a:solidFill>
                    <a:schemeClr val="tx1"/>
                  </a:solidFill>
                </a:endParaRPr>
              </a:p>
              <a:p>
                <a:pPr algn="ctr"/>
                <a:endParaRPr lang="it-IT" sz="1400" dirty="0">
                  <a:solidFill>
                    <a:schemeClr val="tx1"/>
                  </a:solidFill>
                </a:endParaRPr>
              </a:p>
            </p:txBody>
          </p:sp>
        </mc:Choice>
        <mc:Fallback>
          <p:sp>
            <p:nvSpPr>
              <p:cNvPr id="45" name="Rettangolo con angoli arrotondati 6">
                <a:extLst>
                  <a:ext uri="{FF2B5EF4-FFF2-40B4-BE49-F238E27FC236}">
                    <a16:creationId xmlns:a16="http://schemas.microsoft.com/office/drawing/2014/main" id="{30BE25C2-49A5-BC1A-8256-363018CD6CB8}"/>
                  </a:ext>
                </a:extLst>
              </p:cNvPr>
              <p:cNvSpPr>
                <a:spLocks noRot="1" noChangeAspect="1" noMove="1" noResize="1" noEditPoints="1" noAdjustHandles="1" noChangeArrowheads="1" noChangeShapeType="1" noTextEdit="1"/>
              </p:cNvSpPr>
              <p:nvPr/>
            </p:nvSpPr>
            <p:spPr>
              <a:xfrm>
                <a:off x="9397700" y="2244679"/>
                <a:ext cx="1980000" cy="2803043"/>
              </a:xfrm>
              <a:prstGeom prst="roundRect">
                <a:avLst/>
              </a:prstGeom>
              <a:blipFill>
                <a:blip r:embed="rId9"/>
                <a:stretch>
                  <a:fillRect/>
                </a:stretch>
              </a:blipFill>
              <a:ln w="38100">
                <a:solidFill>
                  <a:srgbClr val="002060"/>
                </a:solidFill>
              </a:ln>
            </p:spPr>
            <p:txBody>
              <a:bodyPr/>
              <a:lstStyle/>
              <a:p>
                <a:r>
                  <a:rPr lang="it-IT">
                    <a:noFill/>
                  </a:rPr>
                  <a:t> </a:t>
                </a:r>
              </a:p>
            </p:txBody>
          </p:sp>
        </mc:Fallback>
      </mc:AlternateContent>
      <p:pic>
        <p:nvPicPr>
          <p:cNvPr id="47" name="Elemento grafico 17" descr="Badge 5 with solid fill">
            <a:extLst>
              <a:ext uri="{FF2B5EF4-FFF2-40B4-BE49-F238E27FC236}">
                <a16:creationId xmlns:a16="http://schemas.microsoft.com/office/drawing/2014/main" id="{A1D8BB13-374B-7E60-937E-824F4E78080F}"/>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10117700" y="2386154"/>
            <a:ext cx="540000" cy="540000"/>
          </a:xfrm>
          <a:prstGeom prst="rect">
            <a:avLst/>
          </a:prstGeom>
        </p:spPr>
      </p:pic>
      <p:sp>
        <p:nvSpPr>
          <p:cNvPr id="49" name="Arc 48">
            <a:extLst>
              <a:ext uri="{FF2B5EF4-FFF2-40B4-BE49-F238E27FC236}">
                <a16:creationId xmlns:a16="http://schemas.microsoft.com/office/drawing/2014/main" id="{401A9850-DF5A-F665-74E6-ED5F39CCD7CC}"/>
              </a:ext>
            </a:extLst>
          </p:cNvPr>
          <p:cNvSpPr>
            <a:spLocks noChangeAspect="1"/>
          </p:cNvSpPr>
          <p:nvPr/>
        </p:nvSpPr>
        <p:spPr>
          <a:xfrm rot="-2700000">
            <a:off x="2335650" y="1988436"/>
            <a:ext cx="1080000" cy="1080000"/>
          </a:xfrm>
          <a:prstGeom prst="arc">
            <a:avLst>
              <a:gd name="adj1" fmla="val 15450040"/>
              <a:gd name="adj2" fmla="val 0"/>
            </a:avLst>
          </a:prstGeom>
          <a:ln w="38100">
            <a:solidFill>
              <a:srgbClr val="002060"/>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51" name="Arc 50">
            <a:extLst>
              <a:ext uri="{FF2B5EF4-FFF2-40B4-BE49-F238E27FC236}">
                <a16:creationId xmlns:a16="http://schemas.microsoft.com/office/drawing/2014/main" id="{91603314-3AA2-4286-A840-1AB5A7E41152}"/>
              </a:ext>
            </a:extLst>
          </p:cNvPr>
          <p:cNvSpPr>
            <a:spLocks noChangeAspect="1"/>
          </p:cNvSpPr>
          <p:nvPr/>
        </p:nvSpPr>
        <p:spPr>
          <a:xfrm rot="18900000">
            <a:off x="4481949" y="1988434"/>
            <a:ext cx="1080000" cy="1080000"/>
          </a:xfrm>
          <a:prstGeom prst="arc">
            <a:avLst>
              <a:gd name="adj1" fmla="val 15450040"/>
              <a:gd name="adj2" fmla="val 0"/>
            </a:avLst>
          </a:prstGeom>
          <a:ln w="38100">
            <a:solidFill>
              <a:srgbClr val="002060"/>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53" name="Arc 52">
            <a:extLst>
              <a:ext uri="{FF2B5EF4-FFF2-40B4-BE49-F238E27FC236}">
                <a16:creationId xmlns:a16="http://schemas.microsoft.com/office/drawing/2014/main" id="{2ABD862F-743E-9290-6507-F6181E28EF1B}"/>
              </a:ext>
            </a:extLst>
          </p:cNvPr>
          <p:cNvSpPr>
            <a:spLocks noChangeAspect="1"/>
          </p:cNvSpPr>
          <p:nvPr/>
        </p:nvSpPr>
        <p:spPr>
          <a:xfrm rot="18900000">
            <a:off x="6628246" y="1988434"/>
            <a:ext cx="1080000" cy="1080000"/>
          </a:xfrm>
          <a:prstGeom prst="arc">
            <a:avLst>
              <a:gd name="adj1" fmla="val 15450040"/>
              <a:gd name="adj2" fmla="val 0"/>
            </a:avLst>
          </a:prstGeom>
          <a:ln w="38100">
            <a:solidFill>
              <a:srgbClr val="002060"/>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55" name="Arc 54">
            <a:extLst>
              <a:ext uri="{FF2B5EF4-FFF2-40B4-BE49-F238E27FC236}">
                <a16:creationId xmlns:a16="http://schemas.microsoft.com/office/drawing/2014/main" id="{EB5F038F-53EE-2B3C-CA36-380056A18EA5}"/>
              </a:ext>
            </a:extLst>
          </p:cNvPr>
          <p:cNvSpPr>
            <a:spLocks noChangeAspect="1"/>
          </p:cNvSpPr>
          <p:nvPr/>
        </p:nvSpPr>
        <p:spPr>
          <a:xfrm rot="18900000">
            <a:off x="8776351" y="1988434"/>
            <a:ext cx="1080000" cy="1080000"/>
          </a:xfrm>
          <a:prstGeom prst="arc">
            <a:avLst>
              <a:gd name="adj1" fmla="val 15450040"/>
              <a:gd name="adj2" fmla="val 0"/>
            </a:avLst>
          </a:prstGeom>
          <a:ln w="38100">
            <a:solidFill>
              <a:srgbClr val="002060"/>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Tree>
    <p:extLst>
      <p:ext uri="{BB962C8B-B14F-4D97-AF65-F5344CB8AC3E}">
        <p14:creationId xmlns:p14="http://schemas.microsoft.com/office/powerpoint/2010/main" val="23216229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D8F06-B795-FAC4-9689-2DA6B33213D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3A70D88-5E81-997D-BA9B-08FA90311F13}"/>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en-US" sz="4000" b="1" dirty="0">
                <a:solidFill>
                  <a:srgbClr val="002060"/>
                </a:solidFill>
              </a:rPr>
              <a:t>	ANALYSIS: DETECTOR ALIGNMENT</a:t>
            </a:r>
            <a:endParaRPr lang="it-IT" sz="4000" b="1" dirty="0">
              <a:solidFill>
                <a:srgbClr val="002060"/>
              </a:solidFill>
            </a:endParaRPr>
          </a:p>
        </p:txBody>
      </p:sp>
      <p:sp>
        <p:nvSpPr>
          <p:cNvPr id="4" name="Segnaposto data 3">
            <a:extLst>
              <a:ext uri="{FF2B5EF4-FFF2-40B4-BE49-F238E27FC236}">
                <a16:creationId xmlns:a16="http://schemas.microsoft.com/office/drawing/2014/main" id="{33181442-3EFA-87FC-7C50-6560197F5F83}"/>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ED4D2E9B-51C0-A03D-622F-7DCA357B3FE3}"/>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cxnSp>
        <p:nvCxnSpPr>
          <p:cNvPr id="10" name="Connettore diritto 9">
            <a:extLst>
              <a:ext uri="{FF2B5EF4-FFF2-40B4-BE49-F238E27FC236}">
                <a16:creationId xmlns:a16="http://schemas.microsoft.com/office/drawing/2014/main" id="{7391F990-F0BA-6870-047A-4D414D47F799}"/>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8" name="Titolo 1">
            <a:extLst>
              <a:ext uri="{FF2B5EF4-FFF2-40B4-BE49-F238E27FC236}">
                <a16:creationId xmlns:a16="http://schemas.microsoft.com/office/drawing/2014/main" id="{95058EBE-E027-2497-416D-200B934C5ECF}"/>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PRELIMINARY ANALYSIS</a:t>
            </a:r>
            <a:endParaRPr lang="it-IT" sz="2000" b="1" i="1" dirty="0">
              <a:solidFill>
                <a:srgbClr val="002060"/>
              </a:solidFill>
              <a:ea typeface="Calibri" panose="020F0502020204030204" pitchFamily="34" charset="0"/>
              <a:cs typeface="Calibri" panose="020F0502020204030204" pitchFamily="34" charset="0"/>
            </a:endParaRPr>
          </a:p>
        </p:txBody>
      </p:sp>
      <p:sp>
        <p:nvSpPr>
          <p:cNvPr id="12" name="Rettangolo con angoli arrotondati 6">
            <a:extLst>
              <a:ext uri="{FF2B5EF4-FFF2-40B4-BE49-F238E27FC236}">
                <a16:creationId xmlns:a16="http://schemas.microsoft.com/office/drawing/2014/main" id="{9C414380-91C2-835D-E81F-5C958EE58BD1}"/>
              </a:ext>
            </a:extLst>
          </p:cNvPr>
          <p:cNvSpPr/>
          <p:nvPr/>
        </p:nvSpPr>
        <p:spPr>
          <a:xfrm>
            <a:off x="812500" y="2244679"/>
            <a:ext cx="1980000" cy="2803043"/>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it-IT" sz="1400" b="1" dirty="0">
              <a:solidFill>
                <a:srgbClr val="002060"/>
              </a:solidFill>
            </a:endParaRPr>
          </a:p>
          <a:p>
            <a:pPr algn="ctr"/>
            <a:endParaRPr lang="it-IT" sz="1400" b="1" dirty="0">
              <a:solidFill>
                <a:srgbClr val="002060"/>
              </a:solidFill>
            </a:endParaRPr>
          </a:p>
          <a:p>
            <a:pPr algn="ctr"/>
            <a:endParaRPr lang="it-IT" sz="1400" b="1" dirty="0">
              <a:solidFill>
                <a:srgbClr val="002060"/>
              </a:solidFill>
            </a:endParaRPr>
          </a:p>
          <a:p>
            <a:pPr algn="ctr"/>
            <a:r>
              <a:rPr lang="it-IT" sz="1400" b="1" dirty="0">
                <a:solidFill>
                  <a:srgbClr val="002060"/>
                </a:solidFill>
              </a:rPr>
              <a:t>QUALITY FILTERS</a:t>
            </a:r>
          </a:p>
          <a:p>
            <a:pPr algn="ctr"/>
            <a:endParaRPr lang="it-IT" sz="1400" dirty="0">
              <a:solidFill>
                <a:schemeClr val="tx1"/>
              </a:solidFill>
            </a:endParaRPr>
          </a:p>
          <a:p>
            <a:pPr algn="ctr"/>
            <a:r>
              <a:rPr lang="en-US" sz="1400" dirty="0">
                <a:solidFill>
                  <a:schemeClr val="tx1"/>
                </a:solidFill>
              </a:rPr>
              <a:t>Selecting single tracks, alignment check between the upstream and downstream telescope arms</a:t>
            </a:r>
            <a:endParaRPr lang="it-IT" sz="1400" dirty="0">
              <a:solidFill>
                <a:schemeClr val="tx1"/>
              </a:solidFill>
            </a:endParaRPr>
          </a:p>
          <a:p>
            <a:pPr algn="ctr"/>
            <a:endParaRPr lang="it-IT" sz="1400" dirty="0">
              <a:solidFill>
                <a:schemeClr val="tx1"/>
              </a:solidFill>
            </a:endParaRPr>
          </a:p>
        </p:txBody>
      </p:sp>
      <p:pic>
        <p:nvPicPr>
          <p:cNvPr id="22" name="Elemento grafico 17" descr="Badge 1 with solid fill">
            <a:extLst>
              <a:ext uri="{FF2B5EF4-FFF2-40B4-BE49-F238E27FC236}">
                <a16:creationId xmlns:a16="http://schemas.microsoft.com/office/drawing/2014/main" id="{3B648F2D-E0EA-744C-3B1B-5052608E42F5}"/>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532500" y="2386154"/>
            <a:ext cx="540000" cy="540000"/>
          </a:xfrm>
          <a:prstGeom prst="rect">
            <a:avLst/>
          </a:prstGeom>
        </p:spPr>
      </p:pic>
      <p:pic>
        <p:nvPicPr>
          <p:cNvPr id="7" name="Immagine 7">
            <a:extLst>
              <a:ext uri="{FF2B5EF4-FFF2-40B4-BE49-F238E27FC236}">
                <a16:creationId xmlns:a16="http://schemas.microsoft.com/office/drawing/2014/main" id="{A3C5BFAB-EAD6-595F-2E46-E1A4225234B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187911" y="2184294"/>
            <a:ext cx="4780431" cy="2074658"/>
          </a:xfrm>
          <a:prstGeom prst="rect">
            <a:avLst/>
          </a:prstGeom>
        </p:spPr>
      </p:pic>
      <p:sp>
        <p:nvSpPr>
          <p:cNvPr id="23" name="Segnaposto contenuto 2">
            <a:extLst>
              <a:ext uri="{FF2B5EF4-FFF2-40B4-BE49-F238E27FC236}">
                <a16:creationId xmlns:a16="http://schemas.microsoft.com/office/drawing/2014/main" id="{0736AFAB-5236-3F03-D1D3-44AF40E24458}"/>
              </a:ext>
            </a:extLst>
          </p:cNvPr>
          <p:cNvSpPr>
            <a:spLocks noGrp="1"/>
          </p:cNvSpPr>
          <p:nvPr>
            <p:ph idx="1"/>
          </p:nvPr>
        </p:nvSpPr>
        <p:spPr>
          <a:xfrm>
            <a:off x="3061015" y="1311415"/>
            <a:ext cx="8434985" cy="2008728"/>
          </a:xfrm>
        </p:spPr>
        <p:txBody>
          <a:bodyPr>
            <a:normAutofit/>
          </a:bodyPr>
          <a:lstStyle/>
          <a:p>
            <a:pPr marL="0" indent="0">
              <a:buNone/>
            </a:pPr>
            <a:r>
              <a:rPr lang="it-IT" sz="2000" dirty="0"/>
              <a:t>To ensure that the upstream and downstream detectors are aligned, we check the deviation between the initial and final positions of particles that definitely did not hit the crystal, ensuring that is zero.</a:t>
            </a:r>
          </a:p>
        </p:txBody>
      </p:sp>
      <p:sp>
        <p:nvSpPr>
          <p:cNvPr id="9" name="Segnaposto contenuto 2">
            <a:extLst>
              <a:ext uri="{FF2B5EF4-FFF2-40B4-BE49-F238E27FC236}">
                <a16:creationId xmlns:a16="http://schemas.microsoft.com/office/drawing/2014/main" id="{863912E7-36AB-6236-EB06-A1D23B9CC7B6}"/>
              </a:ext>
            </a:extLst>
          </p:cNvPr>
          <p:cNvSpPr txBox="1">
            <a:spLocks/>
          </p:cNvSpPr>
          <p:nvPr/>
        </p:nvSpPr>
        <p:spPr>
          <a:xfrm>
            <a:off x="3061016" y="4803006"/>
            <a:ext cx="3777887" cy="15206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it-IT" sz="2000" dirty="0"/>
              <a:t>We can also check the alignment by doing a linear fit between the upstream and dowstream profiles.</a:t>
            </a:r>
          </a:p>
        </p:txBody>
      </p:sp>
      <p:grpSp>
        <p:nvGrpSpPr>
          <p:cNvPr id="11" name="Gruppo 15">
            <a:extLst>
              <a:ext uri="{FF2B5EF4-FFF2-40B4-BE49-F238E27FC236}">
                <a16:creationId xmlns:a16="http://schemas.microsoft.com/office/drawing/2014/main" id="{D3E049D3-B3E1-74B8-CE2B-487AAE477E1E}"/>
              </a:ext>
            </a:extLst>
          </p:cNvPr>
          <p:cNvGrpSpPr/>
          <p:nvPr/>
        </p:nvGrpSpPr>
        <p:grpSpPr>
          <a:xfrm>
            <a:off x="6354851" y="4199468"/>
            <a:ext cx="5413829" cy="2284101"/>
            <a:chOff x="851293" y="2225424"/>
            <a:chExt cx="8233523" cy="3952091"/>
          </a:xfrm>
        </p:grpSpPr>
        <p:pic>
          <p:nvPicPr>
            <p:cNvPr id="13" name="Segnaposto contenuto 7">
              <a:extLst>
                <a:ext uri="{FF2B5EF4-FFF2-40B4-BE49-F238E27FC236}">
                  <a16:creationId xmlns:a16="http://schemas.microsoft.com/office/drawing/2014/main" id="{85729CE6-81E4-EC84-2590-4F2E29BB04E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51293" y="2225424"/>
              <a:ext cx="8233523" cy="3952091"/>
            </a:xfrm>
            <a:prstGeom prst="rect">
              <a:avLst/>
            </a:prstGeom>
          </p:spPr>
        </p:pic>
        <mc:AlternateContent xmlns:mc="http://schemas.openxmlformats.org/markup-compatibility/2006">
          <mc:Choice xmlns:a14="http://schemas.microsoft.com/office/drawing/2010/main" Requires="a14">
            <p:sp>
              <p:nvSpPr>
                <p:cNvPr id="14" name="Rettangolo con angoli arrotondati 10">
                  <a:extLst>
                    <a:ext uri="{FF2B5EF4-FFF2-40B4-BE49-F238E27FC236}">
                      <a16:creationId xmlns:a16="http://schemas.microsoft.com/office/drawing/2014/main" id="{A1217375-BDCD-13BA-23CB-2CD3F83D1826}"/>
                    </a:ext>
                  </a:extLst>
                </p:cNvPr>
                <p:cNvSpPr/>
                <p:nvPr/>
              </p:nvSpPr>
              <p:spPr>
                <a:xfrm>
                  <a:off x="1528611" y="2717106"/>
                  <a:ext cx="2012032" cy="711894"/>
                </a:xfrm>
                <a:prstGeom prst="roundRect">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it-IT" sz="1000" b="0" i="1" smtClean="0">
                            <a:solidFill>
                              <a:schemeClr val="tx1"/>
                            </a:solidFill>
                            <a:latin typeface="Cambria Math" panose="02040503050406030204" pitchFamily="18" charset="0"/>
                          </a:rPr>
                          <m:t>𝑚</m:t>
                        </m:r>
                        <m:r>
                          <a:rPr lang="it-IT" sz="1000" b="0" i="1" smtClean="0">
                            <a:solidFill>
                              <a:schemeClr val="tx1"/>
                            </a:solidFill>
                            <a:latin typeface="Cambria Math" panose="02040503050406030204" pitchFamily="18" charset="0"/>
                          </a:rPr>
                          <m:t>=0.995 </m:t>
                        </m:r>
                      </m:oMath>
                    </m:oMathPara>
                  </a14:m>
                  <a:endParaRPr lang="en-US" sz="1000" b="0" i="1" dirty="0">
                    <a:solidFill>
                      <a:schemeClr val="tx1"/>
                    </a:solidFill>
                    <a:latin typeface="Cambria Math" panose="02040503050406030204" pitchFamily="18" charset="0"/>
                  </a:endParaRPr>
                </a:p>
                <a:p>
                  <a:pPr algn="ctr"/>
                  <a14:m>
                    <m:oMathPara xmlns:m="http://schemas.openxmlformats.org/officeDocument/2006/math">
                      <m:oMath>
                        <m:r>
                          <a:rPr lang="it-IT" sz="1000" b="0" i="1" smtClean="0">
                            <a:solidFill>
                              <a:schemeClr val="tx1"/>
                            </a:solidFill>
                            <a:latin typeface="Cambria Math" panose="02040503050406030204" pitchFamily="18" charset="0"/>
                          </a:rPr>
                          <m:t>𝑞</m:t>
                        </m:r>
                        <m:r>
                          <a:rPr lang="it-IT" sz="1000" b="0" i="1" smtClean="0">
                            <a:solidFill>
                              <a:schemeClr val="tx1"/>
                            </a:solidFill>
                            <a:latin typeface="Cambria Math" panose="02040503050406030204" pitchFamily="18" charset="0"/>
                          </a:rPr>
                          <m:t>=0.007</m:t>
                        </m:r>
                      </m:oMath>
                    </m:oMathPara>
                  </a14:m>
                  <a:endParaRPr lang="it-IT" sz="1000" i="1" dirty="0">
                    <a:solidFill>
                      <a:schemeClr val="tx1"/>
                    </a:solidFill>
                  </a:endParaRPr>
                </a:p>
              </p:txBody>
            </p:sp>
          </mc:Choice>
          <mc:Fallback>
            <p:sp>
              <p:nvSpPr>
                <p:cNvPr id="14" name="Rettangolo con angoli arrotondati 10">
                  <a:extLst>
                    <a:ext uri="{FF2B5EF4-FFF2-40B4-BE49-F238E27FC236}">
                      <a16:creationId xmlns:a16="http://schemas.microsoft.com/office/drawing/2014/main" id="{A1217375-BDCD-13BA-23CB-2CD3F83D1826}"/>
                    </a:ext>
                  </a:extLst>
                </p:cNvPr>
                <p:cNvSpPr>
                  <a:spLocks noRot="1" noChangeAspect="1" noMove="1" noResize="1" noEditPoints="1" noAdjustHandles="1" noChangeArrowheads="1" noChangeShapeType="1" noTextEdit="1"/>
                </p:cNvSpPr>
                <p:nvPr/>
              </p:nvSpPr>
              <p:spPr>
                <a:xfrm>
                  <a:off x="1528611" y="2717106"/>
                  <a:ext cx="2012032" cy="711894"/>
                </a:xfrm>
                <a:prstGeom prst="roundRect">
                  <a:avLst/>
                </a:prstGeom>
                <a:blipFill>
                  <a:blip r:embed="rId6"/>
                  <a:stretch>
                    <a:fillRect/>
                  </a:stretch>
                </a:blipFill>
                <a:ln w="9525">
                  <a:solidFill>
                    <a:srgbClr val="FF0000"/>
                  </a:solidFill>
                </a:ln>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5" name="Rettangolo con angoli arrotondati 14">
                  <a:extLst>
                    <a:ext uri="{FF2B5EF4-FFF2-40B4-BE49-F238E27FC236}">
                      <a16:creationId xmlns:a16="http://schemas.microsoft.com/office/drawing/2014/main" id="{B01EE45E-E586-5E5B-C0BB-1C14E4BDCEC5}"/>
                    </a:ext>
                  </a:extLst>
                </p:cNvPr>
                <p:cNvSpPr/>
                <p:nvPr/>
              </p:nvSpPr>
              <p:spPr>
                <a:xfrm>
                  <a:off x="5700118" y="2717106"/>
                  <a:ext cx="2012032" cy="711894"/>
                </a:xfrm>
                <a:prstGeom prst="roundRect">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it-IT" sz="1000" b="0" i="1" smtClean="0">
                            <a:solidFill>
                              <a:schemeClr val="tx1"/>
                            </a:solidFill>
                            <a:latin typeface="Cambria Math" panose="02040503050406030204" pitchFamily="18" charset="0"/>
                          </a:rPr>
                          <m:t>𝑚</m:t>
                        </m:r>
                        <m:r>
                          <a:rPr lang="it-IT" sz="1000" b="0" i="1" smtClean="0">
                            <a:solidFill>
                              <a:schemeClr val="tx1"/>
                            </a:solidFill>
                            <a:latin typeface="Cambria Math" panose="02040503050406030204" pitchFamily="18" charset="0"/>
                          </a:rPr>
                          <m:t>=0.999</m:t>
                        </m:r>
                      </m:oMath>
                    </m:oMathPara>
                  </a14:m>
                  <a:endParaRPr lang="en-US" sz="1000" b="0" i="1" dirty="0">
                    <a:solidFill>
                      <a:schemeClr val="tx1"/>
                    </a:solidFill>
                    <a:latin typeface="Cambria Math" panose="02040503050406030204" pitchFamily="18" charset="0"/>
                  </a:endParaRPr>
                </a:p>
                <a:p>
                  <a:pPr algn="ctr"/>
                  <a14:m>
                    <m:oMathPara xmlns:m="http://schemas.openxmlformats.org/officeDocument/2006/math">
                      <m:oMath>
                        <m:r>
                          <a:rPr lang="it-IT" sz="1000" b="0" i="1" smtClean="0">
                            <a:solidFill>
                              <a:schemeClr val="tx1"/>
                            </a:solidFill>
                            <a:latin typeface="Cambria Math" panose="02040503050406030204" pitchFamily="18" charset="0"/>
                          </a:rPr>
                          <m:t>𝑞</m:t>
                        </m:r>
                        <m:r>
                          <a:rPr lang="it-IT" sz="1000" b="0" i="1" smtClean="0">
                            <a:solidFill>
                              <a:schemeClr val="tx1"/>
                            </a:solidFill>
                            <a:latin typeface="Cambria Math" panose="02040503050406030204" pitchFamily="18" charset="0"/>
                          </a:rPr>
                          <m:t>=0.006</m:t>
                        </m:r>
                      </m:oMath>
                    </m:oMathPara>
                  </a14:m>
                  <a:endParaRPr lang="it-IT" sz="1000" i="1" dirty="0">
                    <a:solidFill>
                      <a:schemeClr val="tx1"/>
                    </a:solidFill>
                  </a:endParaRPr>
                </a:p>
              </p:txBody>
            </p:sp>
          </mc:Choice>
          <mc:Fallback>
            <p:sp>
              <p:nvSpPr>
                <p:cNvPr id="15" name="Rettangolo con angoli arrotondati 14">
                  <a:extLst>
                    <a:ext uri="{FF2B5EF4-FFF2-40B4-BE49-F238E27FC236}">
                      <a16:creationId xmlns:a16="http://schemas.microsoft.com/office/drawing/2014/main" id="{B01EE45E-E586-5E5B-C0BB-1C14E4BDCEC5}"/>
                    </a:ext>
                  </a:extLst>
                </p:cNvPr>
                <p:cNvSpPr>
                  <a:spLocks noRot="1" noChangeAspect="1" noMove="1" noResize="1" noEditPoints="1" noAdjustHandles="1" noChangeArrowheads="1" noChangeShapeType="1" noTextEdit="1"/>
                </p:cNvSpPr>
                <p:nvPr/>
              </p:nvSpPr>
              <p:spPr>
                <a:xfrm>
                  <a:off x="5700118" y="2717106"/>
                  <a:ext cx="2012032" cy="711894"/>
                </a:xfrm>
                <a:prstGeom prst="roundRect">
                  <a:avLst/>
                </a:prstGeom>
                <a:blipFill>
                  <a:blip r:embed="rId7"/>
                  <a:stretch>
                    <a:fillRect/>
                  </a:stretch>
                </a:blipFill>
                <a:ln w="9525">
                  <a:solidFill>
                    <a:srgbClr val="FF0000"/>
                  </a:solidFill>
                </a:ln>
              </p:spPr>
              <p:txBody>
                <a:bodyPr/>
                <a:lstStyle/>
                <a:p>
                  <a:r>
                    <a:rPr lang="it-IT">
                      <a:noFill/>
                    </a:rPr>
                    <a:t> </a:t>
                  </a:r>
                </a:p>
              </p:txBody>
            </p:sp>
          </mc:Fallback>
        </mc:AlternateContent>
      </p:grpSp>
      <p:sp>
        <p:nvSpPr>
          <p:cNvPr id="6" name="Segnaposto numero diapositiva 5">
            <a:extLst>
              <a:ext uri="{FF2B5EF4-FFF2-40B4-BE49-F238E27FC236}">
                <a16:creationId xmlns:a16="http://schemas.microsoft.com/office/drawing/2014/main" id="{6E91B9BC-5D9C-4493-B1C5-774DF4055171}"/>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7</a:t>
            </a:fld>
            <a:endParaRPr lang="it-IT" sz="1500" b="1" dirty="0">
              <a:solidFill>
                <a:srgbClr val="002060"/>
              </a:solidFill>
            </a:endParaRPr>
          </a:p>
        </p:txBody>
      </p:sp>
    </p:spTree>
    <p:extLst>
      <p:ext uri="{BB962C8B-B14F-4D97-AF65-F5344CB8AC3E}">
        <p14:creationId xmlns:p14="http://schemas.microsoft.com/office/powerpoint/2010/main" val="847275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A3E37-478A-099A-1682-A43F9624150D}"/>
            </a:ext>
          </a:extLst>
        </p:cNvPr>
        <p:cNvGrpSpPr/>
        <p:nvPr/>
      </p:nvGrpSpPr>
      <p:grpSpPr>
        <a:xfrm>
          <a:off x="0" y="0"/>
          <a:ext cx="0" cy="0"/>
          <a:chOff x="0" y="0"/>
          <a:chExt cx="0" cy="0"/>
        </a:xfrm>
      </p:grpSpPr>
      <p:grpSp>
        <p:nvGrpSpPr>
          <p:cNvPr id="27" name="Group 26">
            <a:extLst>
              <a:ext uri="{FF2B5EF4-FFF2-40B4-BE49-F238E27FC236}">
                <a16:creationId xmlns:a16="http://schemas.microsoft.com/office/drawing/2014/main" id="{768CA415-42AA-9BBC-23B2-D08758344A0D}"/>
              </a:ext>
            </a:extLst>
          </p:cNvPr>
          <p:cNvGrpSpPr/>
          <p:nvPr/>
        </p:nvGrpSpPr>
        <p:grpSpPr>
          <a:xfrm>
            <a:off x="8456459" y="1578711"/>
            <a:ext cx="2923041" cy="2154885"/>
            <a:chOff x="6651322" y="3241606"/>
            <a:chExt cx="3918560" cy="3420000"/>
          </a:xfrm>
        </p:grpSpPr>
        <p:pic>
          <p:nvPicPr>
            <p:cNvPr id="28" name="Immagine 25">
              <a:extLst>
                <a:ext uri="{FF2B5EF4-FFF2-40B4-BE49-F238E27FC236}">
                  <a16:creationId xmlns:a16="http://schemas.microsoft.com/office/drawing/2014/main" id="{A5501EBD-E6F1-82F3-2EF7-E6FE14AFF0D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651322" y="3241606"/>
              <a:ext cx="3918560" cy="3420000"/>
            </a:xfrm>
            <a:prstGeom prst="rect">
              <a:avLst/>
            </a:prstGeom>
          </p:spPr>
        </p:pic>
        <p:sp>
          <p:nvSpPr>
            <p:cNvPr id="29" name="Rettangolo 8">
              <a:extLst>
                <a:ext uri="{FF2B5EF4-FFF2-40B4-BE49-F238E27FC236}">
                  <a16:creationId xmlns:a16="http://schemas.microsoft.com/office/drawing/2014/main" id="{2832584D-8C0B-6807-2164-152ACC700308}"/>
                </a:ext>
              </a:extLst>
            </p:cNvPr>
            <p:cNvSpPr/>
            <p:nvPr/>
          </p:nvSpPr>
          <p:spPr>
            <a:xfrm>
              <a:off x="7359920" y="4792136"/>
              <a:ext cx="810072" cy="134196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30" name="Connettore diritto 15">
              <a:extLst>
                <a:ext uri="{FF2B5EF4-FFF2-40B4-BE49-F238E27FC236}">
                  <a16:creationId xmlns:a16="http://schemas.microsoft.com/office/drawing/2014/main" id="{BC23D43E-47EC-3769-79DA-7D72CFF57993}"/>
                </a:ext>
              </a:extLst>
            </p:cNvPr>
            <p:cNvCxnSpPr>
              <a:cxnSpLocks/>
            </p:cNvCxnSpPr>
            <p:nvPr/>
          </p:nvCxnSpPr>
          <p:spPr>
            <a:xfrm>
              <a:off x="7359920" y="3440113"/>
              <a:ext cx="0" cy="1038225"/>
            </a:xfrm>
            <a:prstGeom prst="line">
              <a:avLst/>
            </a:prstGeom>
            <a:ln>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ttore diritto 16">
              <a:extLst>
                <a:ext uri="{FF2B5EF4-FFF2-40B4-BE49-F238E27FC236}">
                  <a16:creationId xmlns:a16="http://schemas.microsoft.com/office/drawing/2014/main" id="{D4E81F18-B00D-89E2-BA75-0A18464EF6A0}"/>
                </a:ext>
              </a:extLst>
            </p:cNvPr>
            <p:cNvCxnSpPr>
              <a:cxnSpLocks/>
            </p:cNvCxnSpPr>
            <p:nvPr/>
          </p:nvCxnSpPr>
          <p:spPr>
            <a:xfrm>
              <a:off x="8169992" y="3440113"/>
              <a:ext cx="0" cy="1038225"/>
            </a:xfrm>
            <a:prstGeom prst="line">
              <a:avLst/>
            </a:prstGeom>
            <a:ln>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ttore diritto 22">
              <a:extLst>
                <a:ext uri="{FF2B5EF4-FFF2-40B4-BE49-F238E27FC236}">
                  <a16:creationId xmlns:a16="http://schemas.microsoft.com/office/drawing/2014/main" id="{BCB719F9-00A3-0969-E9B0-19FA6D064754}"/>
                </a:ext>
              </a:extLst>
            </p:cNvPr>
            <p:cNvCxnSpPr>
              <a:cxnSpLocks/>
            </p:cNvCxnSpPr>
            <p:nvPr/>
          </p:nvCxnSpPr>
          <p:spPr>
            <a:xfrm flipH="1">
              <a:off x="9164637" y="4792136"/>
              <a:ext cx="1203325" cy="0"/>
            </a:xfrm>
            <a:prstGeom prst="line">
              <a:avLst/>
            </a:prstGeom>
            <a:ln>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ttore diritto 23">
              <a:extLst>
                <a:ext uri="{FF2B5EF4-FFF2-40B4-BE49-F238E27FC236}">
                  <a16:creationId xmlns:a16="http://schemas.microsoft.com/office/drawing/2014/main" id="{E1CE920C-B93C-3530-BB7D-39F273C0F646}"/>
                </a:ext>
              </a:extLst>
            </p:cNvPr>
            <p:cNvCxnSpPr>
              <a:cxnSpLocks/>
            </p:cNvCxnSpPr>
            <p:nvPr/>
          </p:nvCxnSpPr>
          <p:spPr>
            <a:xfrm flipH="1">
              <a:off x="9164637" y="6134098"/>
              <a:ext cx="1203325" cy="0"/>
            </a:xfrm>
            <a:prstGeom prst="line">
              <a:avLst/>
            </a:prstGeom>
            <a:ln>
              <a:solidFill>
                <a:srgbClr val="FF0000"/>
              </a:solidFill>
              <a:prstDash val="sysDot"/>
            </a:ln>
          </p:spPr>
          <p:style>
            <a:lnRef idx="2">
              <a:schemeClr val="accent1"/>
            </a:lnRef>
            <a:fillRef idx="0">
              <a:schemeClr val="accent1"/>
            </a:fillRef>
            <a:effectRef idx="1">
              <a:schemeClr val="accent1"/>
            </a:effectRef>
            <a:fontRef idx="minor">
              <a:schemeClr val="tx1"/>
            </a:fontRef>
          </p:style>
        </p:cxnSp>
      </p:grpSp>
      <p:sp>
        <p:nvSpPr>
          <p:cNvPr id="2" name="Titolo 1">
            <a:extLst>
              <a:ext uri="{FF2B5EF4-FFF2-40B4-BE49-F238E27FC236}">
                <a16:creationId xmlns:a16="http://schemas.microsoft.com/office/drawing/2014/main" id="{D744CAE0-8493-90C7-DD98-68282B912FC9}"/>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en-US" sz="4000" b="1" dirty="0">
                <a:solidFill>
                  <a:srgbClr val="002060"/>
                </a:solidFill>
              </a:rPr>
              <a:t>	ANALYSIS: CRYSTAL EDGES</a:t>
            </a:r>
            <a:endParaRPr lang="it-IT" sz="4000" b="1" dirty="0">
              <a:solidFill>
                <a:srgbClr val="002060"/>
              </a:solidFill>
            </a:endParaRPr>
          </a:p>
        </p:txBody>
      </p:sp>
      <p:sp>
        <p:nvSpPr>
          <p:cNvPr id="4" name="Segnaposto data 3">
            <a:extLst>
              <a:ext uri="{FF2B5EF4-FFF2-40B4-BE49-F238E27FC236}">
                <a16:creationId xmlns:a16="http://schemas.microsoft.com/office/drawing/2014/main" id="{79577193-6EDD-8344-882F-E25840F3381B}"/>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BDAAFB88-FDB1-42D7-D8FB-7FB74463BD96}"/>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cxnSp>
        <p:nvCxnSpPr>
          <p:cNvPr id="10" name="Connettore diritto 9">
            <a:extLst>
              <a:ext uri="{FF2B5EF4-FFF2-40B4-BE49-F238E27FC236}">
                <a16:creationId xmlns:a16="http://schemas.microsoft.com/office/drawing/2014/main" id="{FAED7B67-8765-F7B3-F712-AFA68AFDCDFB}"/>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8" name="Titolo 1">
            <a:extLst>
              <a:ext uri="{FF2B5EF4-FFF2-40B4-BE49-F238E27FC236}">
                <a16:creationId xmlns:a16="http://schemas.microsoft.com/office/drawing/2014/main" id="{BE4609EB-C4F9-7E7A-3670-0EEBCD548CB3}"/>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PRELIMINARY ANALYSIS</a:t>
            </a:r>
            <a:endParaRPr lang="it-IT" sz="2000" b="1" i="1" dirty="0">
              <a:solidFill>
                <a:srgbClr val="002060"/>
              </a:solidFill>
              <a:ea typeface="Calibri" panose="020F0502020204030204" pitchFamily="34" charset="0"/>
              <a:cs typeface="Calibri" panose="020F0502020204030204" pitchFamily="34" charset="0"/>
            </a:endParaRPr>
          </a:p>
        </p:txBody>
      </p:sp>
      <p:sp>
        <p:nvSpPr>
          <p:cNvPr id="12" name="Rettangolo con angoli arrotondati 6">
            <a:extLst>
              <a:ext uri="{FF2B5EF4-FFF2-40B4-BE49-F238E27FC236}">
                <a16:creationId xmlns:a16="http://schemas.microsoft.com/office/drawing/2014/main" id="{D1F6A0CF-6C92-3952-F677-F54524A7F10D}"/>
              </a:ext>
            </a:extLst>
          </p:cNvPr>
          <p:cNvSpPr/>
          <p:nvPr/>
        </p:nvSpPr>
        <p:spPr>
          <a:xfrm>
            <a:off x="812500" y="2244679"/>
            <a:ext cx="1980000" cy="2803043"/>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it-IT" sz="1400" b="1" dirty="0">
              <a:solidFill>
                <a:srgbClr val="002060"/>
              </a:solidFill>
            </a:endParaRPr>
          </a:p>
          <a:p>
            <a:pPr algn="ctr"/>
            <a:endParaRPr lang="it-IT" sz="1400" b="1" dirty="0">
              <a:solidFill>
                <a:srgbClr val="002060"/>
              </a:solidFill>
            </a:endParaRPr>
          </a:p>
          <a:p>
            <a:pPr algn="ctr"/>
            <a:endParaRPr lang="it-IT" sz="1400" b="1" dirty="0">
              <a:solidFill>
                <a:srgbClr val="002060"/>
              </a:solidFill>
            </a:endParaRPr>
          </a:p>
          <a:p>
            <a:pPr algn="ctr"/>
            <a:r>
              <a:rPr lang="it-IT" sz="1400" b="1" dirty="0">
                <a:solidFill>
                  <a:srgbClr val="002060"/>
                </a:solidFill>
              </a:rPr>
              <a:t>CRYSTAL EDGES</a:t>
            </a:r>
          </a:p>
          <a:p>
            <a:pPr algn="ctr"/>
            <a:endParaRPr lang="it-IT" sz="1400" dirty="0">
              <a:solidFill>
                <a:schemeClr val="tx1"/>
              </a:solidFill>
            </a:endParaRPr>
          </a:p>
          <a:p>
            <a:pPr algn="ctr"/>
            <a:r>
              <a:rPr lang="en-US" sz="1400" dirty="0">
                <a:solidFill>
                  <a:schemeClr val="tx1"/>
                </a:solidFill>
              </a:rPr>
              <a:t>Reconstruct the (</a:t>
            </a:r>
            <a:r>
              <a:rPr lang="en-US" sz="1400" dirty="0" err="1">
                <a:solidFill>
                  <a:schemeClr val="tx1"/>
                </a:solidFill>
              </a:rPr>
              <a:t>x,y</a:t>
            </a:r>
            <a:r>
              <a:rPr lang="en-US" sz="1400" dirty="0">
                <a:solidFill>
                  <a:schemeClr val="tx1"/>
                </a:solidFill>
              </a:rPr>
              <a:t>) spatial window illuminated by the crystal </a:t>
            </a:r>
          </a:p>
          <a:p>
            <a:pPr algn="ctr"/>
            <a:r>
              <a:rPr lang="en-US" sz="1400" i="1" dirty="0">
                <a:solidFill>
                  <a:schemeClr val="tx1"/>
                </a:solidFill>
              </a:rPr>
              <a:t>(2 independent methods)</a:t>
            </a:r>
            <a:endParaRPr lang="it-IT" sz="1400" i="1" dirty="0">
              <a:solidFill>
                <a:schemeClr val="tx1"/>
              </a:solidFill>
            </a:endParaRPr>
          </a:p>
          <a:p>
            <a:pPr algn="ctr"/>
            <a:endParaRPr lang="it-IT" sz="1400" dirty="0">
              <a:solidFill>
                <a:schemeClr val="tx1"/>
              </a:solidFill>
            </a:endParaRPr>
          </a:p>
        </p:txBody>
      </p:sp>
      <p:pic>
        <p:nvPicPr>
          <p:cNvPr id="22" name="Elemento grafico 17">
            <a:extLst>
              <a:ext uri="{FF2B5EF4-FFF2-40B4-BE49-F238E27FC236}">
                <a16:creationId xmlns:a16="http://schemas.microsoft.com/office/drawing/2014/main" id="{F14DC5C2-0FB4-D2F1-1155-CC40514162CE}"/>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532500" y="2386154"/>
            <a:ext cx="540000" cy="540000"/>
          </a:xfrm>
          <a:prstGeom prst="rect">
            <a:avLst/>
          </a:prstGeom>
        </p:spPr>
      </p:pic>
      <p:sp>
        <p:nvSpPr>
          <p:cNvPr id="6" name="Segnaposto numero diapositiva 5">
            <a:extLst>
              <a:ext uri="{FF2B5EF4-FFF2-40B4-BE49-F238E27FC236}">
                <a16:creationId xmlns:a16="http://schemas.microsoft.com/office/drawing/2014/main" id="{54F0B84C-EA27-111D-DFE8-463BABD2BC8D}"/>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8</a:t>
            </a:fld>
            <a:endParaRPr lang="it-IT" sz="1500" b="1" dirty="0">
              <a:solidFill>
                <a:srgbClr val="002060"/>
              </a:solidFill>
            </a:endParaRPr>
          </a:p>
        </p:txBody>
      </p:sp>
      <p:sp>
        <p:nvSpPr>
          <p:cNvPr id="16" name="Arc 15">
            <a:extLst>
              <a:ext uri="{FF2B5EF4-FFF2-40B4-BE49-F238E27FC236}">
                <a16:creationId xmlns:a16="http://schemas.microsoft.com/office/drawing/2014/main" id="{C47C1C39-F1FC-BAFD-28F2-B519ACD67540}"/>
              </a:ext>
            </a:extLst>
          </p:cNvPr>
          <p:cNvSpPr>
            <a:spLocks noChangeAspect="1"/>
          </p:cNvSpPr>
          <p:nvPr/>
        </p:nvSpPr>
        <p:spPr>
          <a:xfrm rot="18900000">
            <a:off x="2335650" y="1988436"/>
            <a:ext cx="1080000" cy="1080000"/>
          </a:xfrm>
          <a:prstGeom prst="arc">
            <a:avLst>
              <a:gd name="adj1" fmla="val 15450040"/>
              <a:gd name="adj2" fmla="val 0"/>
            </a:avLst>
          </a:prstGeom>
          <a:ln w="38100">
            <a:solidFill>
              <a:srgbClr val="002060"/>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24" name="Rettangolo con angoli arrotondati 6">
            <a:extLst>
              <a:ext uri="{FF2B5EF4-FFF2-40B4-BE49-F238E27FC236}">
                <a16:creationId xmlns:a16="http://schemas.microsoft.com/office/drawing/2014/main" id="{41D53145-443D-E035-54F6-BE5817500456}"/>
              </a:ext>
            </a:extLst>
          </p:cNvPr>
          <p:cNvSpPr/>
          <p:nvPr/>
        </p:nvSpPr>
        <p:spPr>
          <a:xfrm>
            <a:off x="3330341" y="1319104"/>
            <a:ext cx="8165659" cy="4599491"/>
          </a:xfrm>
          <a:prstGeom prst="roundRect">
            <a:avLst>
              <a:gd name="adj" fmla="val 0"/>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it-IT" sz="1400" b="1" dirty="0">
                <a:solidFill>
                  <a:srgbClr val="002060"/>
                </a:solidFill>
              </a:rPr>
              <a:t>	METHOD 1: CHANNELED PARTICLES</a:t>
            </a:r>
          </a:p>
          <a:p>
            <a:pPr algn="ctr"/>
            <a:endParaRPr lang="it-IT" sz="1400" dirty="0">
              <a:solidFill>
                <a:schemeClr val="tx1"/>
              </a:solidFill>
            </a:endParaRPr>
          </a:p>
          <a:p>
            <a:pPr marL="285750" indent="-285750">
              <a:buFont typeface="Arial" panose="020B0604020202020204" pitchFamily="34" charset="0"/>
              <a:buChar char="•"/>
            </a:pPr>
            <a:r>
              <a:rPr lang="it-IT" sz="1400" dirty="0">
                <a:solidFill>
                  <a:schemeClr val="tx1"/>
                </a:solidFill>
              </a:rPr>
              <a:t>Isolate already channeled particles (only uses ~ 20% of data)</a:t>
            </a:r>
          </a:p>
          <a:p>
            <a:pPr marL="285750" indent="-285750">
              <a:buFont typeface="Arial" panose="020B0604020202020204" pitchFamily="34" charset="0"/>
              <a:buChar char="•"/>
            </a:pPr>
            <a:r>
              <a:rPr lang="it-IT" sz="1400" dirty="0">
                <a:solidFill>
                  <a:schemeClr val="tx1"/>
                </a:solidFill>
              </a:rPr>
              <a:t>Their impact position (x, y) traces the crystal footprint, 				                   matching its expected dimension</a:t>
            </a:r>
          </a:p>
        </p:txBody>
      </p:sp>
      <p:sp>
        <p:nvSpPr>
          <p:cNvPr id="26" name="Rettangolo con angoli arrotondati 6">
            <a:extLst>
              <a:ext uri="{FF2B5EF4-FFF2-40B4-BE49-F238E27FC236}">
                <a16:creationId xmlns:a16="http://schemas.microsoft.com/office/drawing/2014/main" id="{5EEF2527-E769-ADE2-2474-4C0DCA09A68E}"/>
              </a:ext>
            </a:extLst>
          </p:cNvPr>
          <p:cNvSpPr/>
          <p:nvPr/>
        </p:nvSpPr>
        <p:spPr>
          <a:xfrm>
            <a:off x="3330341" y="6011069"/>
            <a:ext cx="8165659" cy="303997"/>
          </a:xfrm>
          <a:prstGeom prst="roundRect">
            <a:avLst>
              <a:gd name="adj" fmla="val 0"/>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it-IT" sz="1400" b="1" dirty="0">
                <a:solidFill>
                  <a:srgbClr val="002060"/>
                </a:solidFill>
              </a:rPr>
              <a:t>	METHOD 2: MULTIPLE COULOMB SCATTERING</a:t>
            </a:r>
          </a:p>
        </p:txBody>
      </p:sp>
      <p:grpSp>
        <p:nvGrpSpPr>
          <p:cNvPr id="34" name="Gruppo 6">
            <a:extLst>
              <a:ext uri="{FF2B5EF4-FFF2-40B4-BE49-F238E27FC236}">
                <a16:creationId xmlns:a16="http://schemas.microsoft.com/office/drawing/2014/main" id="{6B0BF187-5D2E-7409-C596-C5F506403D50}"/>
              </a:ext>
            </a:extLst>
          </p:cNvPr>
          <p:cNvGrpSpPr/>
          <p:nvPr/>
        </p:nvGrpSpPr>
        <p:grpSpPr>
          <a:xfrm>
            <a:off x="12465857" y="924499"/>
            <a:ext cx="3847276" cy="2154886"/>
            <a:chOff x="3357897" y="2667753"/>
            <a:chExt cx="5476207" cy="3688596"/>
          </a:xfrm>
        </p:grpSpPr>
        <p:pic>
          <p:nvPicPr>
            <p:cNvPr id="35" name="Immagine 7">
              <a:extLst>
                <a:ext uri="{FF2B5EF4-FFF2-40B4-BE49-F238E27FC236}">
                  <a16:creationId xmlns:a16="http://schemas.microsoft.com/office/drawing/2014/main" id="{4DCF9A90-8EC6-F8A8-5298-EA9E649DAB40}"/>
                </a:ext>
              </a:extLst>
            </p:cNvPr>
            <p:cNvPicPr>
              <a:picLocks noChangeAspect="1"/>
            </p:cNvPicPr>
            <p:nvPr/>
          </p:nvPicPr>
          <p:blipFill>
            <a:blip r:embed="rId5">
              <a:extLst>
                <a:ext uri="{28A0092B-C50C-407E-A947-70E740481C1C}">
                  <a14:useLocalDpi xmlns:a14="http://schemas.microsoft.com/office/drawing/2010/main" val="0"/>
                </a:ext>
              </a:extLst>
            </a:blip>
            <a:srcRect t="2210" b="2210"/>
            <a:stretch/>
          </p:blipFill>
          <p:spPr>
            <a:xfrm>
              <a:off x="3357897" y="2667753"/>
              <a:ext cx="5476207" cy="3688596"/>
            </a:xfrm>
            <a:prstGeom prst="rect">
              <a:avLst/>
            </a:prstGeom>
          </p:spPr>
        </p:pic>
        <p:sp>
          <p:nvSpPr>
            <p:cNvPr id="36" name="Rettangolo 8">
              <a:extLst>
                <a:ext uri="{FF2B5EF4-FFF2-40B4-BE49-F238E27FC236}">
                  <a16:creationId xmlns:a16="http://schemas.microsoft.com/office/drawing/2014/main" id="{ACD0EAFB-A8F2-3357-9A8E-880D6476DBED}"/>
                </a:ext>
              </a:extLst>
            </p:cNvPr>
            <p:cNvSpPr/>
            <p:nvPr/>
          </p:nvSpPr>
          <p:spPr>
            <a:xfrm>
              <a:off x="5196417" y="3907271"/>
              <a:ext cx="302683" cy="99161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spTree>
    <p:extLst>
      <p:ext uri="{BB962C8B-B14F-4D97-AF65-F5344CB8AC3E}">
        <p14:creationId xmlns:p14="http://schemas.microsoft.com/office/powerpoint/2010/main" val="1216511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8AFEE-A9AE-1ED3-00BC-22AC7915393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FE21BAC-A4C6-9734-B60C-8BEA59282A18}"/>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en-US" sz="4000" b="1" dirty="0">
                <a:solidFill>
                  <a:srgbClr val="002060"/>
                </a:solidFill>
              </a:rPr>
              <a:t>	ANALYSIS: CRYSTAL EDGES</a:t>
            </a:r>
            <a:endParaRPr lang="it-IT" sz="4000" b="1" dirty="0">
              <a:solidFill>
                <a:srgbClr val="002060"/>
              </a:solidFill>
            </a:endParaRPr>
          </a:p>
        </p:txBody>
      </p:sp>
      <p:sp>
        <p:nvSpPr>
          <p:cNvPr id="4" name="Segnaposto data 3">
            <a:extLst>
              <a:ext uri="{FF2B5EF4-FFF2-40B4-BE49-F238E27FC236}">
                <a16:creationId xmlns:a16="http://schemas.microsoft.com/office/drawing/2014/main" id="{00AB24C1-4075-A035-B835-4E031D14FD09}"/>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14B2399E-E2C6-3E32-4364-A376691B0121}"/>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cxnSp>
        <p:nvCxnSpPr>
          <p:cNvPr id="10" name="Connettore diritto 9">
            <a:extLst>
              <a:ext uri="{FF2B5EF4-FFF2-40B4-BE49-F238E27FC236}">
                <a16:creationId xmlns:a16="http://schemas.microsoft.com/office/drawing/2014/main" id="{4889219B-5A52-B5EE-1307-049FB718D0C3}"/>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8" name="Titolo 1">
            <a:extLst>
              <a:ext uri="{FF2B5EF4-FFF2-40B4-BE49-F238E27FC236}">
                <a16:creationId xmlns:a16="http://schemas.microsoft.com/office/drawing/2014/main" id="{9430FAD5-E1CF-8398-8E4E-324D2B82E1A2}"/>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PRELIMINARY ANALYSIS</a:t>
            </a:r>
            <a:endParaRPr lang="it-IT" sz="2000" b="1" i="1" dirty="0">
              <a:solidFill>
                <a:srgbClr val="002060"/>
              </a:solidFill>
              <a:ea typeface="Calibri" panose="020F0502020204030204" pitchFamily="34" charset="0"/>
              <a:cs typeface="Calibri" panose="020F0502020204030204" pitchFamily="34" charset="0"/>
            </a:endParaRPr>
          </a:p>
        </p:txBody>
      </p:sp>
      <p:sp>
        <p:nvSpPr>
          <p:cNvPr id="12" name="Rettangolo con angoli arrotondati 6">
            <a:extLst>
              <a:ext uri="{FF2B5EF4-FFF2-40B4-BE49-F238E27FC236}">
                <a16:creationId xmlns:a16="http://schemas.microsoft.com/office/drawing/2014/main" id="{F3975293-84A2-5917-3ED7-C5258084931B}"/>
              </a:ext>
            </a:extLst>
          </p:cNvPr>
          <p:cNvSpPr/>
          <p:nvPr/>
        </p:nvSpPr>
        <p:spPr>
          <a:xfrm>
            <a:off x="812500" y="2244679"/>
            <a:ext cx="1980000" cy="2803043"/>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it-IT" sz="1400" b="1" dirty="0">
              <a:solidFill>
                <a:srgbClr val="002060"/>
              </a:solidFill>
            </a:endParaRPr>
          </a:p>
          <a:p>
            <a:pPr algn="ctr"/>
            <a:endParaRPr lang="it-IT" sz="1400" b="1" dirty="0">
              <a:solidFill>
                <a:srgbClr val="002060"/>
              </a:solidFill>
            </a:endParaRPr>
          </a:p>
          <a:p>
            <a:pPr algn="ctr"/>
            <a:endParaRPr lang="it-IT" sz="1400" b="1" dirty="0">
              <a:solidFill>
                <a:srgbClr val="002060"/>
              </a:solidFill>
            </a:endParaRPr>
          </a:p>
          <a:p>
            <a:pPr algn="ctr"/>
            <a:r>
              <a:rPr lang="it-IT" sz="1400" b="1" dirty="0">
                <a:solidFill>
                  <a:srgbClr val="002060"/>
                </a:solidFill>
              </a:rPr>
              <a:t>CRYSTAL EDGES</a:t>
            </a:r>
          </a:p>
          <a:p>
            <a:pPr algn="ctr"/>
            <a:endParaRPr lang="it-IT" sz="1400" dirty="0">
              <a:solidFill>
                <a:schemeClr val="tx1"/>
              </a:solidFill>
            </a:endParaRPr>
          </a:p>
          <a:p>
            <a:pPr algn="ctr"/>
            <a:r>
              <a:rPr lang="en-US" sz="1400" dirty="0">
                <a:solidFill>
                  <a:schemeClr val="tx1"/>
                </a:solidFill>
              </a:rPr>
              <a:t>Reconstruct the (</a:t>
            </a:r>
            <a:r>
              <a:rPr lang="en-US" sz="1400" dirty="0" err="1">
                <a:solidFill>
                  <a:schemeClr val="tx1"/>
                </a:solidFill>
              </a:rPr>
              <a:t>x,y</a:t>
            </a:r>
            <a:r>
              <a:rPr lang="en-US" sz="1400" dirty="0">
                <a:solidFill>
                  <a:schemeClr val="tx1"/>
                </a:solidFill>
              </a:rPr>
              <a:t>) spatial window illuminated by the crystal </a:t>
            </a:r>
          </a:p>
          <a:p>
            <a:pPr algn="ctr"/>
            <a:r>
              <a:rPr lang="en-US" sz="1400" i="1" dirty="0">
                <a:solidFill>
                  <a:schemeClr val="tx1"/>
                </a:solidFill>
              </a:rPr>
              <a:t>(2 independent methods)</a:t>
            </a:r>
            <a:endParaRPr lang="it-IT" sz="1400" i="1" dirty="0">
              <a:solidFill>
                <a:schemeClr val="tx1"/>
              </a:solidFill>
            </a:endParaRPr>
          </a:p>
          <a:p>
            <a:pPr algn="ctr"/>
            <a:endParaRPr lang="it-IT" sz="1400" dirty="0">
              <a:solidFill>
                <a:schemeClr val="tx1"/>
              </a:solidFill>
            </a:endParaRPr>
          </a:p>
        </p:txBody>
      </p:sp>
      <p:pic>
        <p:nvPicPr>
          <p:cNvPr id="22" name="Elemento grafico 17">
            <a:extLst>
              <a:ext uri="{FF2B5EF4-FFF2-40B4-BE49-F238E27FC236}">
                <a16:creationId xmlns:a16="http://schemas.microsoft.com/office/drawing/2014/main" id="{4FE42CD4-895D-D36E-D547-C1FF9526D12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532500" y="2386154"/>
            <a:ext cx="540000" cy="540000"/>
          </a:xfrm>
          <a:prstGeom prst="rect">
            <a:avLst/>
          </a:prstGeom>
        </p:spPr>
      </p:pic>
      <p:sp>
        <p:nvSpPr>
          <p:cNvPr id="6" name="Segnaposto numero diapositiva 5">
            <a:extLst>
              <a:ext uri="{FF2B5EF4-FFF2-40B4-BE49-F238E27FC236}">
                <a16:creationId xmlns:a16="http://schemas.microsoft.com/office/drawing/2014/main" id="{2895EB9E-8229-BD27-F419-2F68B1E211DA}"/>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9</a:t>
            </a:fld>
            <a:endParaRPr lang="it-IT" sz="1500" b="1" dirty="0">
              <a:solidFill>
                <a:srgbClr val="002060"/>
              </a:solidFill>
            </a:endParaRPr>
          </a:p>
        </p:txBody>
      </p:sp>
      <p:sp>
        <p:nvSpPr>
          <p:cNvPr id="20" name="Arc 19">
            <a:extLst>
              <a:ext uri="{FF2B5EF4-FFF2-40B4-BE49-F238E27FC236}">
                <a16:creationId xmlns:a16="http://schemas.microsoft.com/office/drawing/2014/main" id="{262E3F75-7D0D-F549-22AF-77DD913A42EE}"/>
              </a:ext>
            </a:extLst>
          </p:cNvPr>
          <p:cNvSpPr>
            <a:spLocks noChangeAspect="1"/>
          </p:cNvSpPr>
          <p:nvPr/>
        </p:nvSpPr>
        <p:spPr>
          <a:xfrm rot="2700000" flipV="1">
            <a:off x="2335650" y="4225641"/>
            <a:ext cx="1080000" cy="1080000"/>
          </a:xfrm>
          <a:prstGeom prst="arc">
            <a:avLst>
              <a:gd name="adj1" fmla="val 15450040"/>
              <a:gd name="adj2" fmla="val 0"/>
            </a:avLst>
          </a:prstGeom>
          <a:ln w="38100">
            <a:solidFill>
              <a:srgbClr val="002060"/>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24" name="Rettangolo con angoli arrotondati 6">
            <a:extLst>
              <a:ext uri="{FF2B5EF4-FFF2-40B4-BE49-F238E27FC236}">
                <a16:creationId xmlns:a16="http://schemas.microsoft.com/office/drawing/2014/main" id="{314CEBA3-88F5-4380-352F-D54DC27550FE}"/>
              </a:ext>
            </a:extLst>
          </p:cNvPr>
          <p:cNvSpPr/>
          <p:nvPr/>
        </p:nvSpPr>
        <p:spPr>
          <a:xfrm>
            <a:off x="3330341" y="1319105"/>
            <a:ext cx="8165659" cy="303389"/>
          </a:xfrm>
          <a:prstGeom prst="roundRect">
            <a:avLst>
              <a:gd name="adj" fmla="val 0"/>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it-IT" sz="1400" b="1" dirty="0">
                <a:solidFill>
                  <a:srgbClr val="002060"/>
                </a:solidFill>
              </a:rPr>
              <a:t>	METHOD 1: CHANNELED PARTICLES</a:t>
            </a:r>
          </a:p>
        </p:txBody>
      </p:sp>
      <mc:AlternateContent xmlns:mc="http://schemas.openxmlformats.org/markup-compatibility/2006">
        <mc:Choice xmlns:a14="http://schemas.microsoft.com/office/drawing/2010/main" Requires="a14">
          <p:sp>
            <p:nvSpPr>
              <p:cNvPr id="26" name="Rettangolo con angoli arrotondati 6">
                <a:extLst>
                  <a:ext uri="{FF2B5EF4-FFF2-40B4-BE49-F238E27FC236}">
                    <a16:creationId xmlns:a16="http://schemas.microsoft.com/office/drawing/2014/main" id="{C2E062FB-803B-A1DA-635C-37C16DA3F4A8}"/>
                  </a:ext>
                </a:extLst>
              </p:cNvPr>
              <p:cNvSpPr/>
              <p:nvPr/>
            </p:nvSpPr>
            <p:spPr>
              <a:xfrm>
                <a:off x="3330341" y="1714967"/>
                <a:ext cx="8165659" cy="4600100"/>
              </a:xfrm>
              <a:prstGeom prst="roundRect">
                <a:avLst>
                  <a:gd name="adj" fmla="val 0"/>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it-IT" sz="1400" b="1" dirty="0">
                    <a:solidFill>
                      <a:srgbClr val="002060"/>
                    </a:solidFill>
                  </a:rPr>
                  <a:t>	METHOD 2: MULTIPLE COULOMB SCATTERING</a:t>
                </a:r>
              </a:p>
              <a:p>
                <a:pPr algn="ctr"/>
                <a:endParaRPr lang="it-IT" sz="1400" dirty="0">
                  <a:solidFill>
                    <a:schemeClr val="tx1"/>
                  </a:solidFill>
                </a:endParaRPr>
              </a:p>
              <a:p>
                <a:pPr marL="285750" indent="-285750">
                  <a:buFont typeface="Arial" panose="020B0604020202020204" pitchFamily="34" charset="0"/>
                  <a:buChar char="•"/>
                </a:pPr>
                <a:r>
                  <a:rPr lang="it-IT" sz="1400" dirty="0">
                    <a:solidFill>
                      <a:schemeClr val="tx1"/>
                    </a:solidFill>
                  </a:rPr>
                  <a:t>Particles that physically crosses the crystal picks up extra Coulomb scattering, the ones outside the crystal do not</a:t>
                </a:r>
              </a:p>
              <a:p>
                <a:pPr marL="285750" indent="-285750">
                  <a:buFont typeface="Arial" panose="020B0604020202020204" pitchFamily="34" charset="0"/>
                  <a:buChar char="•"/>
                </a:pPr>
                <a:r>
                  <a:rPr lang="it-IT" sz="1400" dirty="0">
                    <a:solidFill>
                      <a:schemeClr val="tx1"/>
                    </a:solidFill>
                  </a:rPr>
                  <a:t>The width </a:t>
                </a:r>
                <a14:m>
                  <m:oMath xmlns:m="http://schemas.openxmlformats.org/officeDocument/2006/math">
                    <m:r>
                      <a:rPr lang="en-US" sz="1400" b="0" i="1" smtClean="0">
                        <a:solidFill>
                          <a:schemeClr val="tx1"/>
                        </a:solidFill>
                        <a:latin typeface="Cambria Math" panose="02040503050406030204" pitchFamily="18" charset="0"/>
                      </a:rPr>
                      <m:t>𝜎</m:t>
                    </m:r>
                  </m:oMath>
                </a14:m>
                <a:r>
                  <a:rPr lang="it-IT" sz="1400" dirty="0">
                    <a:solidFill>
                      <a:schemeClr val="tx1"/>
                    </a:solidFill>
                  </a:rPr>
                  <a:t> of the outgoing angular distribution is measured </a:t>
                </a:r>
              </a:p>
              <a:p>
                <a:pPr marL="285750" indent="-285750">
                  <a:buFont typeface="Arial" panose="020B0604020202020204" pitchFamily="34" charset="0"/>
                  <a:buChar char="•"/>
                </a:pPr>
                <a:r>
                  <a:rPr lang="it-IT" sz="1400" dirty="0">
                    <a:solidFill>
                      <a:schemeClr val="tx1"/>
                    </a:solidFill>
                  </a:rPr>
                  <a:t>A sharp transition marks the edges</a:t>
                </a:r>
              </a:p>
            </p:txBody>
          </p:sp>
        </mc:Choice>
        <mc:Fallback>
          <p:sp>
            <p:nvSpPr>
              <p:cNvPr id="26" name="Rettangolo con angoli arrotondati 6">
                <a:extLst>
                  <a:ext uri="{FF2B5EF4-FFF2-40B4-BE49-F238E27FC236}">
                    <a16:creationId xmlns:a16="http://schemas.microsoft.com/office/drawing/2014/main" id="{C2E062FB-803B-A1DA-635C-37C16DA3F4A8}"/>
                  </a:ext>
                </a:extLst>
              </p:cNvPr>
              <p:cNvSpPr>
                <a:spLocks noRot="1" noChangeAspect="1" noMove="1" noResize="1" noEditPoints="1" noAdjustHandles="1" noChangeArrowheads="1" noChangeShapeType="1" noTextEdit="1"/>
              </p:cNvSpPr>
              <p:nvPr/>
            </p:nvSpPr>
            <p:spPr>
              <a:xfrm>
                <a:off x="3330341" y="1714967"/>
                <a:ext cx="8165659" cy="4600100"/>
              </a:xfrm>
              <a:prstGeom prst="roundRect">
                <a:avLst>
                  <a:gd name="adj" fmla="val 0"/>
                </a:avLst>
              </a:prstGeom>
              <a:blipFill>
                <a:blip r:embed="rId4"/>
                <a:stretch>
                  <a:fillRect/>
                </a:stretch>
              </a:blipFill>
              <a:ln w="38100">
                <a:solidFill>
                  <a:srgbClr val="002060"/>
                </a:solidFill>
              </a:ln>
            </p:spPr>
            <p:txBody>
              <a:bodyPr/>
              <a:lstStyle/>
              <a:p>
                <a:r>
                  <a:rPr lang="it-IT">
                    <a:noFill/>
                  </a:rPr>
                  <a:t> </a:t>
                </a:r>
              </a:p>
            </p:txBody>
          </p:sp>
        </mc:Fallback>
      </mc:AlternateContent>
    </p:spTree>
    <p:extLst>
      <p:ext uri="{BB962C8B-B14F-4D97-AF65-F5344CB8AC3E}">
        <p14:creationId xmlns:p14="http://schemas.microsoft.com/office/powerpoint/2010/main" val="3198024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7DD08-9028-2626-0C30-16CE4706D440}"/>
            </a:ext>
          </a:extLst>
        </p:cNvPr>
        <p:cNvGrpSpPr/>
        <p:nvPr/>
      </p:nvGrpSpPr>
      <p:grpSpPr>
        <a:xfrm>
          <a:off x="0" y="0"/>
          <a:ext cx="0" cy="0"/>
          <a:chOff x="0" y="0"/>
          <a:chExt cx="0" cy="0"/>
        </a:xfrm>
      </p:grpSpPr>
      <p:pic>
        <p:nvPicPr>
          <p:cNvPr id="24" name="Segnaposto contenuto 9">
            <a:extLst>
              <a:ext uri="{FF2B5EF4-FFF2-40B4-BE49-F238E27FC236}">
                <a16:creationId xmlns:a16="http://schemas.microsoft.com/office/drawing/2014/main" id="{291DFA50-9092-7657-D59A-7FE317D11808}"/>
              </a:ext>
            </a:extLst>
          </p:cNvPr>
          <p:cNvPicPr>
            <a:picLocks noChangeAspect="1"/>
          </p:cNvPicPr>
          <p:nvPr/>
        </p:nvPicPr>
        <p:blipFill>
          <a:blip r:embed="rId3">
            <a:extLst>
              <a:ext uri="{28A0092B-C50C-407E-A947-70E740481C1C}">
                <a14:useLocalDpi xmlns:a14="http://schemas.microsoft.com/office/drawing/2010/main" val="0"/>
              </a:ext>
            </a:extLst>
          </a:blip>
          <a:srcRect l="8267" t="7880" r="4789" b="6508"/>
          <a:stretch>
            <a:fillRect/>
          </a:stretch>
        </p:blipFill>
        <p:spPr>
          <a:xfrm>
            <a:off x="5985135" y="3442994"/>
            <a:ext cx="2162019" cy="1590734"/>
          </a:xfrm>
          <a:prstGeom prst="rect">
            <a:avLst/>
          </a:prstGeom>
        </p:spPr>
      </p:pic>
      <p:sp>
        <p:nvSpPr>
          <p:cNvPr id="27" name="Rectangle 26">
            <a:extLst>
              <a:ext uri="{FF2B5EF4-FFF2-40B4-BE49-F238E27FC236}">
                <a16:creationId xmlns:a16="http://schemas.microsoft.com/office/drawing/2014/main" id="{1F9DDEA8-1128-F246-5D82-1255EDD6C4DC}"/>
              </a:ext>
            </a:extLst>
          </p:cNvPr>
          <p:cNvSpPr/>
          <p:nvPr/>
        </p:nvSpPr>
        <p:spPr>
          <a:xfrm>
            <a:off x="8064537" y="3324605"/>
            <a:ext cx="214314" cy="30996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1C89B334-8FC2-8557-7DF6-C6AF75D1056B}"/>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en-US" sz="4000" b="1" dirty="0">
                <a:solidFill>
                  <a:srgbClr val="002060"/>
                </a:solidFill>
              </a:rPr>
              <a:t>	ANALYSIS: MAPPING THE TORSION</a:t>
            </a:r>
            <a:endParaRPr lang="it-IT" sz="4000" b="1" dirty="0">
              <a:solidFill>
                <a:srgbClr val="002060"/>
              </a:solidFill>
            </a:endParaRPr>
          </a:p>
        </p:txBody>
      </p:sp>
      <p:sp>
        <p:nvSpPr>
          <p:cNvPr id="4" name="Segnaposto data 3">
            <a:extLst>
              <a:ext uri="{FF2B5EF4-FFF2-40B4-BE49-F238E27FC236}">
                <a16:creationId xmlns:a16="http://schemas.microsoft.com/office/drawing/2014/main" id="{459A8210-84E1-1B1F-B7A2-C78D16A1F9DF}"/>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C2F4CA95-60D2-E98C-73BD-3775E7D80AD6}"/>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cxnSp>
        <p:nvCxnSpPr>
          <p:cNvPr id="10" name="Connettore diritto 9">
            <a:extLst>
              <a:ext uri="{FF2B5EF4-FFF2-40B4-BE49-F238E27FC236}">
                <a16:creationId xmlns:a16="http://schemas.microsoft.com/office/drawing/2014/main" id="{D89D8718-61CF-C8C9-3449-EDE596B88E94}"/>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8" name="Titolo 1">
            <a:extLst>
              <a:ext uri="{FF2B5EF4-FFF2-40B4-BE49-F238E27FC236}">
                <a16:creationId xmlns:a16="http://schemas.microsoft.com/office/drawing/2014/main" id="{DA6986EC-16C8-481B-0365-C4CCE0C1C52E}"/>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PRELIMINARY ANALYSIS</a:t>
            </a:r>
            <a:endParaRPr lang="it-IT" sz="2000" b="1" i="1" dirty="0">
              <a:solidFill>
                <a:srgbClr val="002060"/>
              </a:solidFill>
              <a:ea typeface="Calibri" panose="020F0502020204030204" pitchFamily="34" charset="0"/>
              <a:cs typeface="Calibri" panose="020F0502020204030204" pitchFamily="34" charset="0"/>
            </a:endParaRPr>
          </a:p>
        </p:txBody>
      </p:sp>
      <mc:AlternateContent xmlns:mc="http://schemas.openxmlformats.org/markup-compatibility/2006">
        <mc:Choice xmlns:a14="http://schemas.microsoft.com/office/drawing/2010/main" Requires="a14">
          <p:sp>
            <p:nvSpPr>
              <p:cNvPr id="12" name="Rettangolo con angoli arrotondati 6">
                <a:extLst>
                  <a:ext uri="{FF2B5EF4-FFF2-40B4-BE49-F238E27FC236}">
                    <a16:creationId xmlns:a16="http://schemas.microsoft.com/office/drawing/2014/main" id="{F2615BE5-D9C4-0BBA-8176-CDC1C4A50E23}"/>
                  </a:ext>
                </a:extLst>
              </p:cNvPr>
              <p:cNvSpPr/>
              <p:nvPr/>
            </p:nvSpPr>
            <p:spPr>
              <a:xfrm>
                <a:off x="566964" y="2244679"/>
                <a:ext cx="1980000" cy="2803043"/>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it-IT" sz="1400" b="1" dirty="0">
                  <a:solidFill>
                    <a:srgbClr val="002060"/>
                  </a:solidFill>
                </a:endParaRPr>
              </a:p>
              <a:p>
                <a:pPr algn="ctr"/>
                <a:endParaRPr lang="it-IT" sz="1400" b="1" dirty="0">
                  <a:solidFill>
                    <a:srgbClr val="002060"/>
                  </a:solidFill>
                </a:endParaRPr>
              </a:p>
              <a:p>
                <a:pPr algn="ctr"/>
                <a:endParaRPr lang="it-IT" sz="1400" b="1" dirty="0">
                  <a:solidFill>
                    <a:srgbClr val="002060"/>
                  </a:solidFill>
                </a:endParaRPr>
              </a:p>
              <a:p>
                <a:pPr algn="ctr"/>
                <a:r>
                  <a:rPr lang="it-IT" sz="1400" b="1" dirty="0">
                    <a:solidFill>
                      <a:srgbClr val="002060"/>
                    </a:solidFill>
                  </a:rPr>
                  <a:t>TORSION MAP</a:t>
                </a:r>
              </a:p>
              <a:p>
                <a:pPr algn="ctr"/>
                <a:endParaRPr lang="en-US" sz="1400" dirty="0">
                  <a:solidFill>
                    <a:schemeClr val="tx1"/>
                  </a:solidFill>
                </a:endParaRPr>
              </a:p>
              <a:p>
                <a:pPr algn="ctr"/>
                <a:r>
                  <a:rPr lang="it-IT" sz="1400" dirty="0">
                    <a:solidFill>
                      <a:schemeClr val="tx1"/>
                    </a:solidFill>
                  </a:rPr>
                  <a:t>2D checkerboard grid analysis of the entrance face:</a:t>
                </a:r>
              </a:p>
              <a:p>
                <a:pPr algn="ctr"/>
                <a:r>
                  <a:rPr lang="it-IT" sz="1400" dirty="0">
                    <a:solidFill>
                      <a:schemeClr val="tx1"/>
                    </a:solidFill>
                  </a:rPr>
                  <a:t>surface fit to obtain </a:t>
                </a:r>
                <a14:m>
                  <m:oMath xmlns:m="http://schemas.openxmlformats.org/officeDocument/2006/math">
                    <m:sSub>
                      <m:sSubPr>
                        <m:ctrlPr>
                          <a:rPr lang="en-US" sz="1400" i="1">
                            <a:solidFill>
                              <a:schemeClr val="tx1"/>
                            </a:solidFill>
                            <a:latin typeface="Cambria Math" panose="02040503050406030204" pitchFamily="18" charset="0"/>
                          </a:rPr>
                        </m:ctrlPr>
                      </m:sSubPr>
                      <m:e>
                        <m:r>
                          <a:rPr lang="en-US" sz="1400" i="1">
                            <a:solidFill>
                              <a:schemeClr val="tx1"/>
                            </a:solidFill>
                            <a:latin typeface="Cambria Math" panose="02040503050406030204" pitchFamily="18" charset="0"/>
                          </a:rPr>
                          <m:t>𝜏</m:t>
                        </m:r>
                      </m:e>
                      <m:sub>
                        <m:r>
                          <a:rPr lang="en-US" sz="1400" i="1">
                            <a:solidFill>
                              <a:schemeClr val="tx1"/>
                            </a:solidFill>
                            <a:latin typeface="Cambria Math" panose="02040503050406030204" pitchFamily="18" charset="0"/>
                          </a:rPr>
                          <m:t>𝑥</m:t>
                        </m:r>
                      </m:sub>
                    </m:sSub>
                    <m:r>
                      <a:rPr lang="en-US" sz="1400" i="1">
                        <a:solidFill>
                          <a:schemeClr val="tx1"/>
                        </a:solidFill>
                        <a:latin typeface="Cambria Math" panose="02040503050406030204" pitchFamily="18" charset="0"/>
                      </a:rPr>
                      <m:t>, </m:t>
                    </m:r>
                    <m:sSub>
                      <m:sSubPr>
                        <m:ctrlPr>
                          <a:rPr lang="en-US" sz="1400" i="1">
                            <a:solidFill>
                              <a:schemeClr val="tx1"/>
                            </a:solidFill>
                            <a:latin typeface="Cambria Math" panose="02040503050406030204" pitchFamily="18" charset="0"/>
                          </a:rPr>
                        </m:ctrlPr>
                      </m:sSubPr>
                      <m:e>
                        <m:r>
                          <a:rPr lang="en-US" sz="1400" i="1">
                            <a:solidFill>
                              <a:schemeClr val="tx1"/>
                            </a:solidFill>
                            <a:latin typeface="Cambria Math" panose="02040503050406030204" pitchFamily="18" charset="0"/>
                          </a:rPr>
                          <m:t>𝜏</m:t>
                        </m:r>
                      </m:e>
                      <m:sub>
                        <m:r>
                          <a:rPr lang="en-US" sz="1400" i="1">
                            <a:solidFill>
                              <a:schemeClr val="tx1"/>
                            </a:solidFill>
                            <a:latin typeface="Cambria Math" panose="02040503050406030204" pitchFamily="18" charset="0"/>
                          </a:rPr>
                          <m:t>𝑦</m:t>
                        </m:r>
                      </m:sub>
                    </m:sSub>
                  </m:oMath>
                </a14:m>
                <a:endParaRPr lang="it-IT" sz="1400" dirty="0">
                  <a:solidFill>
                    <a:schemeClr val="tx1"/>
                  </a:solidFill>
                </a:endParaRPr>
              </a:p>
            </p:txBody>
          </p:sp>
        </mc:Choice>
        <mc:Fallback>
          <p:sp>
            <p:nvSpPr>
              <p:cNvPr id="12" name="Rettangolo con angoli arrotondati 6">
                <a:extLst>
                  <a:ext uri="{FF2B5EF4-FFF2-40B4-BE49-F238E27FC236}">
                    <a16:creationId xmlns:a16="http://schemas.microsoft.com/office/drawing/2014/main" id="{F2615BE5-D9C4-0BBA-8176-CDC1C4A50E23}"/>
                  </a:ext>
                </a:extLst>
              </p:cNvPr>
              <p:cNvSpPr>
                <a:spLocks noRot="1" noChangeAspect="1" noMove="1" noResize="1" noEditPoints="1" noAdjustHandles="1" noChangeArrowheads="1" noChangeShapeType="1" noTextEdit="1"/>
              </p:cNvSpPr>
              <p:nvPr/>
            </p:nvSpPr>
            <p:spPr>
              <a:xfrm>
                <a:off x="566964" y="2244679"/>
                <a:ext cx="1980000" cy="2803043"/>
              </a:xfrm>
              <a:prstGeom prst="roundRect">
                <a:avLst/>
              </a:prstGeom>
              <a:blipFill>
                <a:blip r:embed="rId4"/>
                <a:stretch>
                  <a:fillRect/>
                </a:stretch>
              </a:blipFill>
              <a:ln w="38100">
                <a:solidFill>
                  <a:srgbClr val="002060"/>
                </a:solidFill>
              </a:ln>
            </p:spPr>
            <p:txBody>
              <a:bodyPr/>
              <a:lstStyle/>
              <a:p>
                <a:r>
                  <a:rPr lang="it-IT">
                    <a:noFill/>
                  </a:rPr>
                  <a:t> </a:t>
                </a:r>
              </a:p>
            </p:txBody>
          </p:sp>
        </mc:Fallback>
      </mc:AlternateContent>
      <p:pic>
        <p:nvPicPr>
          <p:cNvPr id="22" name="Elemento grafico 17">
            <a:extLst>
              <a:ext uri="{FF2B5EF4-FFF2-40B4-BE49-F238E27FC236}">
                <a16:creationId xmlns:a16="http://schemas.microsoft.com/office/drawing/2014/main" id="{86DCC9A3-5A10-C18E-FF21-9136E08DDE76}"/>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286964" y="2386154"/>
            <a:ext cx="540000" cy="540000"/>
          </a:xfrm>
          <a:prstGeom prst="rect">
            <a:avLst/>
          </a:prstGeom>
        </p:spPr>
      </p:pic>
      <mc:AlternateContent xmlns:mc="http://schemas.openxmlformats.org/markup-compatibility/2006">
        <mc:Choice xmlns:a14="http://schemas.microsoft.com/office/drawing/2010/main" Requires="a14">
          <p:sp>
            <p:nvSpPr>
              <p:cNvPr id="23" name="Segnaposto contenuto 2">
                <a:extLst>
                  <a:ext uri="{FF2B5EF4-FFF2-40B4-BE49-F238E27FC236}">
                    <a16:creationId xmlns:a16="http://schemas.microsoft.com/office/drawing/2014/main" id="{224E4126-2FFD-D3D0-8564-E3DD2F44998E}"/>
                  </a:ext>
                </a:extLst>
              </p:cNvPr>
              <p:cNvSpPr>
                <a:spLocks noGrp="1"/>
              </p:cNvSpPr>
              <p:nvPr>
                <p:ph idx="1"/>
              </p:nvPr>
            </p:nvSpPr>
            <p:spPr>
              <a:xfrm>
                <a:off x="3061015" y="1407780"/>
                <a:ext cx="8434985" cy="1869086"/>
              </a:xfrm>
            </p:spPr>
            <p:txBody>
              <a:bodyPr>
                <a:normAutofit lnSpcReduction="10000"/>
              </a:bodyPr>
              <a:lstStyle/>
              <a:p>
                <a:r>
                  <a:rPr lang="en-US" sz="2000" dirty="0"/>
                  <a:t>The torsion effect is not negligible in long crystals and must be accounted for</a:t>
                </a:r>
              </a:p>
              <a:p>
                <a:r>
                  <a:rPr lang="it-IT" sz="2000" dirty="0"/>
                  <a:t>The crystal is not perfectly rigid: the orientation of the crystalline planes rotates slightly across its surface </a:t>
                </a:r>
              </a:p>
              <a:p>
                <a:r>
                  <a:rPr lang="it-IT" sz="2000" dirty="0"/>
                  <a:t>The optimal entry angle is therefore not unique, but varies point by point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𝜃</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𝑦</m:t>
                    </m:r>
                    <m:r>
                      <a:rPr lang="en-US" sz="2000" b="0" i="1" smtClean="0">
                        <a:latin typeface="Cambria Math" panose="02040503050406030204" pitchFamily="18" charset="0"/>
                      </a:rPr>
                      <m:t>)</m:t>
                    </m:r>
                  </m:oMath>
                </a14:m>
                <a:endParaRPr lang="it-IT" sz="2000" dirty="0"/>
              </a:p>
            </p:txBody>
          </p:sp>
        </mc:Choice>
        <mc:Fallback>
          <p:sp>
            <p:nvSpPr>
              <p:cNvPr id="23" name="Segnaposto contenuto 2">
                <a:extLst>
                  <a:ext uri="{FF2B5EF4-FFF2-40B4-BE49-F238E27FC236}">
                    <a16:creationId xmlns:a16="http://schemas.microsoft.com/office/drawing/2014/main" id="{224E4126-2FFD-D3D0-8564-E3DD2F44998E}"/>
                  </a:ext>
                </a:extLst>
              </p:cNvPr>
              <p:cNvSpPr>
                <a:spLocks noGrp="1" noRot="1" noChangeAspect="1" noMove="1" noResize="1" noEditPoints="1" noAdjustHandles="1" noChangeArrowheads="1" noChangeShapeType="1" noTextEdit="1"/>
              </p:cNvSpPr>
              <p:nvPr>
                <p:ph idx="1"/>
              </p:nvPr>
            </p:nvSpPr>
            <p:spPr>
              <a:xfrm>
                <a:off x="3061015" y="1407780"/>
                <a:ext cx="8434985" cy="1869086"/>
              </a:xfrm>
              <a:blipFill>
                <a:blip r:embed="rId6"/>
                <a:stretch>
                  <a:fillRect l="-650" t="-4560" r="-1012" b="-326"/>
                </a:stretch>
              </a:blipFill>
            </p:spPr>
            <p:txBody>
              <a:bodyPr/>
              <a:lstStyle/>
              <a:p>
                <a:r>
                  <a:rPr lang="it-IT">
                    <a:noFill/>
                  </a:rPr>
                  <a:t> </a:t>
                </a:r>
              </a:p>
            </p:txBody>
          </p:sp>
        </mc:Fallback>
      </mc:AlternateContent>
      <p:sp>
        <p:nvSpPr>
          <p:cNvPr id="6" name="Segnaposto numero diapositiva 5">
            <a:extLst>
              <a:ext uri="{FF2B5EF4-FFF2-40B4-BE49-F238E27FC236}">
                <a16:creationId xmlns:a16="http://schemas.microsoft.com/office/drawing/2014/main" id="{BA8AC3DF-93FA-F55A-4650-BED6BBC412BC}"/>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10</a:t>
            </a:fld>
            <a:endParaRPr lang="it-IT" sz="1500" b="1" dirty="0">
              <a:solidFill>
                <a:srgbClr val="002060"/>
              </a:solidFill>
            </a:endParaRPr>
          </a:p>
        </p:txBody>
      </p:sp>
      <p:sp>
        <p:nvSpPr>
          <p:cNvPr id="7" name="Arc 6">
            <a:extLst>
              <a:ext uri="{FF2B5EF4-FFF2-40B4-BE49-F238E27FC236}">
                <a16:creationId xmlns:a16="http://schemas.microsoft.com/office/drawing/2014/main" id="{F3E583B3-96B7-3FDA-F22B-A478560F8993}"/>
              </a:ext>
            </a:extLst>
          </p:cNvPr>
          <p:cNvSpPr>
            <a:spLocks noChangeAspect="1"/>
          </p:cNvSpPr>
          <p:nvPr/>
        </p:nvSpPr>
        <p:spPr>
          <a:xfrm rot="2700000" flipV="1">
            <a:off x="2090114" y="4225641"/>
            <a:ext cx="1080000" cy="1080000"/>
          </a:xfrm>
          <a:prstGeom prst="arc">
            <a:avLst>
              <a:gd name="adj1" fmla="val 15450040"/>
              <a:gd name="adj2" fmla="val 0"/>
            </a:avLst>
          </a:prstGeom>
          <a:ln w="38100">
            <a:solidFill>
              <a:srgbClr val="002060"/>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11" name="Rettangolo con angoli arrotondati 6">
            <a:extLst>
              <a:ext uri="{FF2B5EF4-FFF2-40B4-BE49-F238E27FC236}">
                <a16:creationId xmlns:a16="http://schemas.microsoft.com/office/drawing/2014/main" id="{F4A9ED32-D519-F0C5-EED7-810759FC1EB7}"/>
              </a:ext>
            </a:extLst>
          </p:cNvPr>
          <p:cNvSpPr/>
          <p:nvPr/>
        </p:nvSpPr>
        <p:spPr>
          <a:xfrm>
            <a:off x="2713264" y="3429000"/>
            <a:ext cx="1800000" cy="1618722"/>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Beam spot divided into a 0.1 mm (</a:t>
            </a:r>
            <a:r>
              <a:rPr lang="en-US" sz="1400" dirty="0" err="1">
                <a:solidFill>
                  <a:schemeClr val="tx1"/>
                </a:solidFill>
              </a:rPr>
              <a:t>x,y</a:t>
            </a:r>
            <a:r>
              <a:rPr lang="en-US" sz="1400" dirty="0">
                <a:solidFill>
                  <a:schemeClr val="tx1"/>
                </a:solidFill>
              </a:rPr>
              <a:t>) grid </a:t>
            </a:r>
            <a:endParaRPr lang="it-IT" sz="1400" i="1" dirty="0">
              <a:solidFill>
                <a:schemeClr val="tx1"/>
              </a:solidFill>
            </a:endParaRPr>
          </a:p>
        </p:txBody>
      </p:sp>
      <p:sp>
        <p:nvSpPr>
          <p:cNvPr id="18" name="Arc 17">
            <a:extLst>
              <a:ext uri="{FF2B5EF4-FFF2-40B4-BE49-F238E27FC236}">
                <a16:creationId xmlns:a16="http://schemas.microsoft.com/office/drawing/2014/main" id="{322258AA-FD7A-74B6-EAB1-B74FCE845900}"/>
              </a:ext>
            </a:extLst>
          </p:cNvPr>
          <p:cNvSpPr>
            <a:spLocks noChangeAspect="1"/>
          </p:cNvSpPr>
          <p:nvPr/>
        </p:nvSpPr>
        <p:spPr>
          <a:xfrm rot="20839102">
            <a:off x="10535212" y="4569285"/>
            <a:ext cx="1080000" cy="1080000"/>
          </a:xfrm>
          <a:prstGeom prst="arc">
            <a:avLst>
              <a:gd name="adj1" fmla="val 18833306"/>
              <a:gd name="adj2" fmla="val 4285032"/>
            </a:avLst>
          </a:prstGeom>
          <a:ln w="38100">
            <a:solidFill>
              <a:srgbClr val="002060"/>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20" name="Rettangolo con angoli arrotondati 6">
            <a:extLst>
              <a:ext uri="{FF2B5EF4-FFF2-40B4-BE49-F238E27FC236}">
                <a16:creationId xmlns:a16="http://schemas.microsoft.com/office/drawing/2014/main" id="{15D21487-5C64-5609-B311-3681C246E4D0}"/>
              </a:ext>
            </a:extLst>
          </p:cNvPr>
          <p:cNvSpPr/>
          <p:nvPr/>
        </p:nvSpPr>
        <p:spPr>
          <a:xfrm>
            <a:off x="3478459" y="5300133"/>
            <a:ext cx="7714474" cy="988840"/>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RESULTS</a:t>
            </a:r>
            <a:r>
              <a:rPr lang="en-US" sz="1400" dirty="0">
                <a:solidFill>
                  <a:schemeClr val="tx1"/>
                </a:solidFill>
              </a:rPr>
              <a:t>:</a:t>
            </a:r>
          </a:p>
          <a:p>
            <a:pPr algn="ctr"/>
            <a:r>
              <a:rPr lang="en-US" sz="1400" dirty="0" err="1">
                <a:solidFill>
                  <a:schemeClr val="tx1"/>
                </a:solidFill>
              </a:rPr>
              <a:t>ggg</a:t>
            </a:r>
            <a:endParaRPr lang="en-US" sz="1400" dirty="0">
              <a:solidFill>
                <a:schemeClr val="tx1"/>
              </a:solidFill>
            </a:endParaRPr>
          </a:p>
        </p:txBody>
      </p:sp>
      <p:pic>
        <p:nvPicPr>
          <p:cNvPr id="26" name="Immagine 7">
            <a:extLst>
              <a:ext uri="{FF2B5EF4-FFF2-40B4-BE49-F238E27FC236}">
                <a16:creationId xmlns:a16="http://schemas.microsoft.com/office/drawing/2014/main" id="{0ED073E6-6819-2BA1-641A-69CBCD8CD01A}"/>
              </a:ext>
            </a:extLst>
          </p:cNvPr>
          <p:cNvPicPr>
            <a:picLocks noChangeAspect="1"/>
          </p:cNvPicPr>
          <p:nvPr/>
        </p:nvPicPr>
        <p:blipFill>
          <a:blip r:embed="rId7">
            <a:extLst>
              <a:ext uri="{28A0092B-C50C-407E-A947-70E740481C1C}">
                <a14:useLocalDpi xmlns:a14="http://schemas.microsoft.com/office/drawing/2010/main" val="0"/>
              </a:ext>
            </a:extLst>
          </a:blip>
          <a:srcRect l="3153" t="8226" r="12744" b="6082"/>
          <a:stretch>
            <a:fillRect/>
          </a:stretch>
        </p:blipFill>
        <p:spPr>
          <a:xfrm>
            <a:off x="9600550" y="3439586"/>
            <a:ext cx="1935762" cy="1591200"/>
          </a:xfrm>
          <a:prstGeom prst="rect">
            <a:avLst/>
          </a:prstGeom>
        </p:spPr>
      </p:pic>
      <p:sp>
        <p:nvSpPr>
          <p:cNvPr id="29" name="Rectangle 28">
            <a:extLst>
              <a:ext uri="{FF2B5EF4-FFF2-40B4-BE49-F238E27FC236}">
                <a16:creationId xmlns:a16="http://schemas.microsoft.com/office/drawing/2014/main" id="{2A306FBB-6977-C06D-0C26-41CB9B97CE4D}"/>
              </a:ext>
            </a:extLst>
          </p:cNvPr>
          <p:cNvSpPr/>
          <p:nvPr/>
        </p:nvSpPr>
        <p:spPr>
          <a:xfrm>
            <a:off x="8034904" y="4857086"/>
            <a:ext cx="214314" cy="30996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14" name="Rettangolo con angoli arrotondati 6">
                <a:extLst>
                  <a:ext uri="{FF2B5EF4-FFF2-40B4-BE49-F238E27FC236}">
                    <a16:creationId xmlns:a16="http://schemas.microsoft.com/office/drawing/2014/main" id="{0163061F-02B5-1802-8BB7-B05F7FD3F822}"/>
                  </a:ext>
                </a:extLst>
              </p:cNvPr>
              <p:cNvSpPr/>
              <p:nvPr/>
            </p:nvSpPr>
            <p:spPr>
              <a:xfrm>
                <a:off x="4693264" y="3429000"/>
                <a:ext cx="3471775" cy="1618722"/>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Angular scan</a:t>
                </a:r>
              </a:p>
              <a:p>
                <a:r>
                  <a:rPr lang="en-US" sz="1400" dirty="0">
                    <a:solidFill>
                      <a:schemeClr val="tx1"/>
                    </a:solidFill>
                  </a:rPr>
                  <a:t>for each cell</a:t>
                </a:r>
                <a:endParaRPr lang="it-IT" sz="1400" baseline="-25000" dirty="0">
                  <a:solidFill>
                    <a:schemeClr val="tx1"/>
                  </a:solidFill>
                </a:endParaRPr>
              </a:p>
              <a:p>
                <a14:m>
                  <m:oMath xmlns:m="http://schemas.openxmlformats.org/officeDocument/2006/math">
                    <m:r>
                      <a:rPr lang="en-US" sz="1400" b="0" i="1" smtClean="0">
                        <a:solidFill>
                          <a:schemeClr val="tx1"/>
                        </a:solidFill>
                        <a:latin typeface="Cambria Math" panose="02040503050406030204" pitchFamily="18" charset="0"/>
                      </a:rPr>
                      <m:t>→</m:t>
                    </m:r>
                  </m:oMath>
                </a14:m>
                <a:r>
                  <a:rPr lang="en-US" sz="1400" dirty="0">
                    <a:solidFill>
                      <a:schemeClr val="tx1"/>
                    </a:solidFill>
                  </a:rPr>
                  <a:t> local </a:t>
                </a:r>
                <a14:m>
                  <m:oMath xmlns:m="http://schemas.openxmlformats.org/officeDocument/2006/math">
                    <m:sSub>
                      <m:sSubPr>
                        <m:ctrlPr>
                          <a:rPr lang="en-US" sz="1400" b="0" i="1" smtClean="0">
                            <a:solidFill>
                              <a:schemeClr val="tx1"/>
                            </a:solidFill>
                            <a:latin typeface="Cambria Math" panose="02040503050406030204" pitchFamily="18" charset="0"/>
                          </a:rPr>
                        </m:ctrlPr>
                      </m:sSubPr>
                      <m:e>
                        <m:r>
                          <a:rPr lang="en-US" sz="1400" b="0" i="1" smtClean="0">
                            <a:solidFill>
                              <a:schemeClr val="tx1"/>
                            </a:solidFill>
                            <a:latin typeface="Cambria Math" panose="02040503050406030204" pitchFamily="18" charset="0"/>
                          </a:rPr>
                          <m:t>𝜃</m:t>
                        </m:r>
                      </m:e>
                      <m:sub>
                        <m:r>
                          <a:rPr lang="en-US" sz="1400" b="0" i="1" smtClean="0">
                            <a:solidFill>
                              <a:schemeClr val="tx1"/>
                            </a:solidFill>
                            <a:latin typeface="Cambria Math" panose="02040503050406030204" pitchFamily="18" charset="0"/>
                          </a:rPr>
                          <m:t>0</m:t>
                        </m:r>
                      </m:sub>
                    </m:sSub>
                  </m:oMath>
                </a14:m>
                <a:endParaRPr lang="en-US" sz="1400" b="0" dirty="0">
                  <a:solidFill>
                    <a:schemeClr val="tx1"/>
                  </a:solidFill>
                </a:endParaRPr>
              </a:p>
              <a:p>
                <a:r>
                  <a:rPr lang="en-US" sz="1400" dirty="0">
                    <a:solidFill>
                      <a:schemeClr val="tx1"/>
                    </a:solidFill>
                  </a:rPr>
                  <a:t>that maximize</a:t>
                </a:r>
              </a:p>
              <a:p>
                <a:r>
                  <a:rPr lang="en-US" sz="1400" dirty="0">
                    <a:solidFill>
                      <a:schemeClr val="tx1"/>
                    </a:solidFill>
                  </a:rPr>
                  <a:t>efficiency</a:t>
                </a:r>
              </a:p>
            </p:txBody>
          </p:sp>
        </mc:Choice>
        <mc:Fallback>
          <p:sp>
            <p:nvSpPr>
              <p:cNvPr id="14" name="Rettangolo con angoli arrotondati 6">
                <a:extLst>
                  <a:ext uri="{FF2B5EF4-FFF2-40B4-BE49-F238E27FC236}">
                    <a16:creationId xmlns:a16="http://schemas.microsoft.com/office/drawing/2014/main" id="{0163061F-02B5-1802-8BB7-B05F7FD3F822}"/>
                  </a:ext>
                </a:extLst>
              </p:cNvPr>
              <p:cNvSpPr>
                <a:spLocks noRot="1" noChangeAspect="1" noMove="1" noResize="1" noEditPoints="1" noAdjustHandles="1" noChangeArrowheads="1" noChangeShapeType="1" noTextEdit="1"/>
              </p:cNvSpPr>
              <p:nvPr/>
            </p:nvSpPr>
            <p:spPr>
              <a:xfrm>
                <a:off x="4693264" y="3429000"/>
                <a:ext cx="3471775" cy="1618722"/>
              </a:xfrm>
              <a:prstGeom prst="roundRect">
                <a:avLst/>
              </a:prstGeom>
              <a:blipFill>
                <a:blip r:embed="rId8"/>
                <a:stretch>
                  <a:fillRect/>
                </a:stretch>
              </a:blipFill>
              <a:ln w="38100">
                <a:solidFill>
                  <a:srgbClr val="002060"/>
                </a:solidFill>
              </a:ln>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6" name="Rettangolo con angoli arrotondati 6">
                <a:extLst>
                  <a:ext uri="{FF2B5EF4-FFF2-40B4-BE49-F238E27FC236}">
                    <a16:creationId xmlns:a16="http://schemas.microsoft.com/office/drawing/2014/main" id="{BF9B2FEB-E908-A7D9-F85A-26940B26176F}"/>
                  </a:ext>
                </a:extLst>
              </p:cNvPr>
              <p:cNvSpPr/>
              <p:nvPr/>
            </p:nvSpPr>
            <p:spPr>
              <a:xfrm>
                <a:off x="8392663" y="3429000"/>
                <a:ext cx="3156647" cy="1618722"/>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Surface fit</a:t>
                </a:r>
                <a:endParaRPr lang="en-US" sz="1400" i="1" dirty="0">
                  <a:solidFill>
                    <a:schemeClr val="tx1"/>
                  </a:solidFill>
                </a:endParaRPr>
              </a:p>
              <a:p>
                <a:r>
                  <a:rPr lang="en-US" sz="1400" i="1" dirty="0">
                    <a:solidFill>
                      <a:schemeClr val="tx1"/>
                    </a:solidFill>
                  </a:rPr>
                  <a:t>(parabolic)</a:t>
                </a:r>
                <a:endParaRPr lang="en-US" sz="1400" dirty="0">
                  <a:solidFill>
                    <a:schemeClr val="tx1"/>
                  </a:solidFill>
                </a:endParaRPr>
              </a:p>
              <a:p>
                <a:r>
                  <a:rPr lang="en-US" sz="1400" dirty="0">
                    <a:solidFill>
                      <a:schemeClr val="tx1"/>
                    </a:solidFill>
                  </a:rPr>
                  <a:t>to extract the</a:t>
                </a:r>
              </a:p>
              <a:p>
                <a:r>
                  <a:rPr lang="en-US" sz="1400" dirty="0">
                    <a:solidFill>
                      <a:schemeClr val="tx1"/>
                    </a:solidFill>
                  </a:rPr>
                  <a:t>global </a:t>
                </a:r>
                <a14:m>
                  <m:oMath xmlns:m="http://schemas.openxmlformats.org/officeDocument/2006/math">
                    <m:sSub>
                      <m:sSubPr>
                        <m:ctrlPr>
                          <a:rPr lang="en-US" sz="1400" i="1">
                            <a:solidFill>
                              <a:schemeClr val="tx1"/>
                            </a:solidFill>
                            <a:latin typeface="Cambria Math" panose="02040503050406030204" pitchFamily="18" charset="0"/>
                          </a:rPr>
                        </m:ctrlPr>
                      </m:sSubPr>
                      <m:e>
                        <m:r>
                          <a:rPr lang="en-US" sz="1400" i="1">
                            <a:solidFill>
                              <a:schemeClr val="tx1"/>
                            </a:solidFill>
                            <a:latin typeface="Cambria Math" panose="02040503050406030204" pitchFamily="18" charset="0"/>
                          </a:rPr>
                          <m:t>𝜏</m:t>
                        </m:r>
                      </m:e>
                      <m:sub>
                        <m:r>
                          <a:rPr lang="en-US" sz="1400" i="1">
                            <a:solidFill>
                              <a:schemeClr val="tx1"/>
                            </a:solidFill>
                            <a:latin typeface="Cambria Math" panose="02040503050406030204" pitchFamily="18" charset="0"/>
                          </a:rPr>
                          <m:t>𝑥</m:t>
                        </m:r>
                      </m:sub>
                    </m:sSub>
                    <m:r>
                      <a:rPr lang="en-US" sz="1400" i="1">
                        <a:solidFill>
                          <a:schemeClr val="tx1"/>
                        </a:solidFill>
                        <a:latin typeface="Cambria Math" panose="02040503050406030204" pitchFamily="18" charset="0"/>
                      </a:rPr>
                      <m:t>, </m:t>
                    </m:r>
                    <m:sSub>
                      <m:sSubPr>
                        <m:ctrlPr>
                          <a:rPr lang="en-US" sz="1400" i="1">
                            <a:solidFill>
                              <a:schemeClr val="tx1"/>
                            </a:solidFill>
                            <a:latin typeface="Cambria Math" panose="02040503050406030204" pitchFamily="18" charset="0"/>
                          </a:rPr>
                        </m:ctrlPr>
                      </m:sSubPr>
                      <m:e>
                        <m:r>
                          <a:rPr lang="en-US" sz="1400" i="1">
                            <a:solidFill>
                              <a:schemeClr val="tx1"/>
                            </a:solidFill>
                            <a:latin typeface="Cambria Math" panose="02040503050406030204" pitchFamily="18" charset="0"/>
                          </a:rPr>
                          <m:t>𝜏</m:t>
                        </m:r>
                      </m:e>
                      <m:sub>
                        <m:r>
                          <a:rPr lang="en-US" sz="1400" i="1">
                            <a:solidFill>
                              <a:schemeClr val="tx1"/>
                            </a:solidFill>
                            <a:latin typeface="Cambria Math" panose="02040503050406030204" pitchFamily="18" charset="0"/>
                          </a:rPr>
                          <m:t>𝑦</m:t>
                        </m:r>
                      </m:sub>
                    </m:sSub>
                  </m:oMath>
                </a14:m>
                <a:endParaRPr lang="it-IT" sz="1400" dirty="0">
                  <a:solidFill>
                    <a:schemeClr val="tx1"/>
                  </a:solidFill>
                </a:endParaRPr>
              </a:p>
            </p:txBody>
          </p:sp>
        </mc:Choice>
        <mc:Fallback>
          <p:sp>
            <p:nvSpPr>
              <p:cNvPr id="16" name="Rettangolo con angoli arrotondati 6">
                <a:extLst>
                  <a:ext uri="{FF2B5EF4-FFF2-40B4-BE49-F238E27FC236}">
                    <a16:creationId xmlns:a16="http://schemas.microsoft.com/office/drawing/2014/main" id="{BF9B2FEB-E908-A7D9-F85A-26940B26176F}"/>
                  </a:ext>
                </a:extLst>
              </p:cNvPr>
              <p:cNvSpPr>
                <a:spLocks noRot="1" noChangeAspect="1" noMove="1" noResize="1" noEditPoints="1" noAdjustHandles="1" noChangeArrowheads="1" noChangeShapeType="1" noTextEdit="1"/>
              </p:cNvSpPr>
              <p:nvPr/>
            </p:nvSpPr>
            <p:spPr>
              <a:xfrm>
                <a:off x="8392663" y="3429000"/>
                <a:ext cx="3156647" cy="1618722"/>
              </a:xfrm>
              <a:prstGeom prst="roundRect">
                <a:avLst/>
              </a:prstGeom>
              <a:blipFill>
                <a:blip r:embed="rId9"/>
                <a:stretch>
                  <a:fillRect/>
                </a:stretch>
              </a:blipFill>
              <a:ln w="38100">
                <a:solidFill>
                  <a:srgbClr val="002060"/>
                </a:solidFill>
              </a:ln>
            </p:spPr>
            <p:txBody>
              <a:bodyPr/>
              <a:lstStyle/>
              <a:p>
                <a:r>
                  <a:rPr lang="it-IT">
                    <a:noFill/>
                  </a:rPr>
                  <a:t> </a:t>
                </a:r>
              </a:p>
            </p:txBody>
          </p:sp>
        </mc:Fallback>
      </mc:AlternateContent>
    </p:spTree>
    <p:extLst>
      <p:ext uri="{BB962C8B-B14F-4D97-AF65-F5344CB8AC3E}">
        <p14:creationId xmlns:p14="http://schemas.microsoft.com/office/powerpoint/2010/main" val="3326100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404C8-9872-7C52-EE1E-D2343DDFDE1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FEAE736-990C-04E2-A469-14EA0E5206E4}"/>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en-US" sz="4000" b="1" dirty="0">
                <a:solidFill>
                  <a:srgbClr val="002060"/>
                </a:solidFill>
              </a:rPr>
              <a:t>	CHANNELING EFFICIENCY</a:t>
            </a:r>
            <a:endParaRPr lang="it-IT" sz="4000" b="1" dirty="0">
              <a:solidFill>
                <a:srgbClr val="002060"/>
              </a:solidFill>
            </a:endParaRPr>
          </a:p>
        </p:txBody>
      </p:sp>
      <p:sp>
        <p:nvSpPr>
          <p:cNvPr id="4" name="Segnaposto data 3">
            <a:extLst>
              <a:ext uri="{FF2B5EF4-FFF2-40B4-BE49-F238E27FC236}">
                <a16:creationId xmlns:a16="http://schemas.microsoft.com/office/drawing/2014/main" id="{E3712E79-679B-AEF9-FAEC-68650064EFDF}"/>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5F87B262-9215-0766-7727-24C29FF13B0E}"/>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cxnSp>
        <p:nvCxnSpPr>
          <p:cNvPr id="10" name="Connettore diritto 9">
            <a:extLst>
              <a:ext uri="{FF2B5EF4-FFF2-40B4-BE49-F238E27FC236}">
                <a16:creationId xmlns:a16="http://schemas.microsoft.com/office/drawing/2014/main" id="{ACA631F0-CF72-53B4-5933-C963F2F0858C}"/>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8" name="Titolo 1">
            <a:extLst>
              <a:ext uri="{FF2B5EF4-FFF2-40B4-BE49-F238E27FC236}">
                <a16:creationId xmlns:a16="http://schemas.microsoft.com/office/drawing/2014/main" id="{1A547D99-8AA5-3755-CBF6-A7BBB5771699}"/>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ANALYSIS</a:t>
            </a:r>
            <a:endParaRPr lang="it-IT" sz="2000" b="1" i="1" dirty="0">
              <a:solidFill>
                <a:srgbClr val="002060"/>
              </a:solidFill>
              <a:ea typeface="Calibri" panose="020F0502020204030204" pitchFamily="34" charset="0"/>
              <a:cs typeface="Calibri" panose="020F0502020204030204" pitchFamily="34" charset="0"/>
            </a:endParaRPr>
          </a:p>
        </p:txBody>
      </p:sp>
      <p:sp>
        <p:nvSpPr>
          <p:cNvPr id="6" name="Segnaposto numero diapositiva 5">
            <a:extLst>
              <a:ext uri="{FF2B5EF4-FFF2-40B4-BE49-F238E27FC236}">
                <a16:creationId xmlns:a16="http://schemas.microsoft.com/office/drawing/2014/main" id="{C03D17D0-BEF7-1264-D932-6811E2D557F9}"/>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11</a:t>
            </a:fld>
            <a:endParaRPr lang="it-IT" sz="1500" b="1" dirty="0">
              <a:solidFill>
                <a:srgbClr val="002060"/>
              </a:solidFill>
            </a:endParaRPr>
          </a:p>
        </p:txBody>
      </p:sp>
      <mc:AlternateContent xmlns:mc="http://schemas.openxmlformats.org/markup-compatibility/2006">
        <mc:Choice xmlns:a14="http://schemas.microsoft.com/office/drawing/2010/main" Requires="a14">
          <p:sp>
            <p:nvSpPr>
              <p:cNvPr id="7" name="Rettangolo con angoli arrotondati 25">
                <a:extLst>
                  <a:ext uri="{FF2B5EF4-FFF2-40B4-BE49-F238E27FC236}">
                    <a16:creationId xmlns:a16="http://schemas.microsoft.com/office/drawing/2014/main" id="{D4B3591F-7CC8-9171-BF48-EBB77348090C}"/>
                  </a:ext>
                </a:extLst>
              </p:cNvPr>
              <p:cNvSpPr/>
              <p:nvPr/>
            </p:nvSpPr>
            <p:spPr>
              <a:xfrm>
                <a:off x="3876861" y="1426291"/>
                <a:ext cx="4436478" cy="1458747"/>
              </a:xfrm>
              <a:prstGeom prst="round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2400" b="1" dirty="0">
                    <a:solidFill>
                      <a:srgbClr val="FFC000"/>
                    </a:solidFill>
                  </a:rPr>
                  <a:t>CHANNELING EFFICIENCY</a:t>
                </a:r>
              </a:p>
              <a:p>
                <a:pPr algn="ctr"/>
                <a14:m>
                  <m:oMathPara xmlns:m="http://schemas.openxmlformats.org/officeDocument/2006/math">
                    <m:oMath>
                      <m:sSub>
                        <m:sSubPr>
                          <m:ctrlPr>
                            <a:rPr lang="it-IT" sz="2400" b="1" i="1" smtClean="0">
                              <a:solidFill>
                                <a:srgbClr val="FFC000"/>
                              </a:solidFill>
                              <a:latin typeface="Cambria Math" panose="02040503050406030204" pitchFamily="18" charset="0"/>
                            </a:rPr>
                          </m:ctrlPr>
                        </m:sSubPr>
                        <m:e>
                          <m:r>
                            <a:rPr lang="it-IT" sz="2400" b="1" i="1" smtClean="0">
                              <a:solidFill>
                                <a:srgbClr val="FFC000"/>
                              </a:solidFill>
                              <a:latin typeface="Cambria Math" panose="02040503050406030204" pitchFamily="18" charset="0"/>
                            </a:rPr>
                            <m:t>𝝐</m:t>
                          </m:r>
                        </m:e>
                        <m:sub>
                          <m:r>
                            <a:rPr lang="it-IT" sz="2400" b="1" i="1" smtClean="0">
                              <a:solidFill>
                                <a:srgbClr val="FFC000"/>
                              </a:solidFill>
                              <a:latin typeface="Cambria Math" panose="02040503050406030204" pitchFamily="18" charset="0"/>
                            </a:rPr>
                            <m:t>𝒄𝒉</m:t>
                          </m:r>
                        </m:sub>
                      </m:sSub>
                      <m:r>
                        <a:rPr lang="it-IT" sz="2400" b="1" i="1" smtClean="0">
                          <a:solidFill>
                            <a:srgbClr val="FFC000"/>
                          </a:solidFill>
                          <a:latin typeface="Cambria Math" panose="02040503050406030204" pitchFamily="18" charset="0"/>
                        </a:rPr>
                        <m:t>=</m:t>
                      </m:r>
                      <m:f>
                        <m:fPr>
                          <m:ctrlPr>
                            <a:rPr lang="it-IT" sz="2400" b="1" i="1" smtClean="0">
                              <a:solidFill>
                                <a:srgbClr val="FFC000"/>
                              </a:solidFill>
                              <a:latin typeface="Cambria Math" panose="02040503050406030204" pitchFamily="18" charset="0"/>
                            </a:rPr>
                          </m:ctrlPr>
                        </m:fPr>
                        <m:num>
                          <m:sSub>
                            <m:sSubPr>
                              <m:ctrlPr>
                                <a:rPr lang="it-IT" sz="2400" b="1" i="1" smtClean="0">
                                  <a:solidFill>
                                    <a:srgbClr val="FFC000"/>
                                  </a:solidFill>
                                  <a:latin typeface="Cambria Math" panose="02040503050406030204" pitchFamily="18" charset="0"/>
                                </a:rPr>
                              </m:ctrlPr>
                            </m:sSubPr>
                            <m:e>
                              <m:r>
                                <a:rPr lang="it-IT" sz="2400" b="1" i="1" smtClean="0">
                                  <a:solidFill>
                                    <a:srgbClr val="FFC000"/>
                                  </a:solidFill>
                                  <a:latin typeface="Cambria Math" panose="02040503050406030204" pitchFamily="18" charset="0"/>
                                </a:rPr>
                                <m:t>𝑵</m:t>
                              </m:r>
                            </m:e>
                            <m:sub>
                              <m:r>
                                <a:rPr lang="it-IT" sz="2400" b="1" i="1" smtClean="0">
                                  <a:solidFill>
                                    <a:srgbClr val="FFC000"/>
                                  </a:solidFill>
                                  <a:latin typeface="Cambria Math" panose="02040503050406030204" pitchFamily="18" charset="0"/>
                                </a:rPr>
                                <m:t>𝒄𝒉</m:t>
                              </m:r>
                            </m:sub>
                          </m:sSub>
                        </m:num>
                        <m:den>
                          <m:sSub>
                            <m:sSubPr>
                              <m:ctrlPr>
                                <a:rPr lang="it-IT" sz="2400" b="1" i="1" smtClean="0">
                                  <a:solidFill>
                                    <a:srgbClr val="FFC000"/>
                                  </a:solidFill>
                                  <a:latin typeface="Cambria Math" panose="02040503050406030204" pitchFamily="18" charset="0"/>
                                </a:rPr>
                              </m:ctrlPr>
                            </m:sSubPr>
                            <m:e>
                              <m:r>
                                <a:rPr lang="it-IT" sz="2400" b="1" i="1" smtClean="0">
                                  <a:solidFill>
                                    <a:srgbClr val="FFC000"/>
                                  </a:solidFill>
                                  <a:latin typeface="Cambria Math" panose="02040503050406030204" pitchFamily="18" charset="0"/>
                                </a:rPr>
                                <m:t>𝑵</m:t>
                              </m:r>
                            </m:e>
                            <m:sub>
                              <m:r>
                                <a:rPr lang="it-IT" sz="2400" b="1" i="1" smtClean="0">
                                  <a:solidFill>
                                    <a:srgbClr val="FFC000"/>
                                  </a:solidFill>
                                  <a:latin typeface="Cambria Math" panose="02040503050406030204" pitchFamily="18" charset="0"/>
                                </a:rPr>
                                <m:t>𝒕𝒐𝒕</m:t>
                              </m:r>
                            </m:sub>
                          </m:sSub>
                        </m:den>
                      </m:f>
                    </m:oMath>
                  </m:oMathPara>
                </a14:m>
                <a:endParaRPr lang="it-IT" sz="2400" b="1" dirty="0">
                  <a:solidFill>
                    <a:srgbClr val="FFC000"/>
                  </a:solidFill>
                </a:endParaRPr>
              </a:p>
            </p:txBody>
          </p:sp>
        </mc:Choice>
        <mc:Fallback>
          <p:sp>
            <p:nvSpPr>
              <p:cNvPr id="7" name="Rettangolo con angoli arrotondati 25">
                <a:extLst>
                  <a:ext uri="{FF2B5EF4-FFF2-40B4-BE49-F238E27FC236}">
                    <a16:creationId xmlns:a16="http://schemas.microsoft.com/office/drawing/2014/main" id="{D4B3591F-7CC8-9171-BF48-EBB77348090C}"/>
                  </a:ext>
                </a:extLst>
              </p:cNvPr>
              <p:cNvSpPr>
                <a:spLocks noRot="1" noChangeAspect="1" noMove="1" noResize="1" noEditPoints="1" noAdjustHandles="1" noChangeArrowheads="1" noChangeShapeType="1" noTextEdit="1"/>
              </p:cNvSpPr>
              <p:nvPr/>
            </p:nvSpPr>
            <p:spPr>
              <a:xfrm>
                <a:off x="3876861" y="1426291"/>
                <a:ext cx="4436478" cy="1458747"/>
              </a:xfrm>
              <a:prstGeom prst="roundRect">
                <a:avLst/>
              </a:prstGeom>
              <a:blipFill>
                <a:blip r:embed="rId3"/>
                <a:stretch>
                  <a:fillRect/>
                </a:stretch>
              </a:blipFill>
              <a:ln w="38100">
                <a:solidFill>
                  <a:srgbClr val="002060"/>
                </a:solidFill>
              </a:ln>
            </p:spPr>
            <p:txBody>
              <a:bodyPr/>
              <a:lstStyle/>
              <a:p>
                <a:r>
                  <a:rPr lang="it-IT">
                    <a:noFill/>
                  </a:rPr>
                  <a:t> </a:t>
                </a:r>
              </a:p>
            </p:txBody>
          </p:sp>
        </mc:Fallback>
      </mc:AlternateContent>
      <p:grpSp>
        <p:nvGrpSpPr>
          <p:cNvPr id="20" name="Group 19">
            <a:extLst>
              <a:ext uri="{FF2B5EF4-FFF2-40B4-BE49-F238E27FC236}">
                <a16:creationId xmlns:a16="http://schemas.microsoft.com/office/drawing/2014/main" id="{18159D39-24D9-8F62-E773-E44608397131}"/>
              </a:ext>
            </a:extLst>
          </p:cNvPr>
          <p:cNvGrpSpPr/>
          <p:nvPr/>
        </p:nvGrpSpPr>
        <p:grpSpPr>
          <a:xfrm>
            <a:off x="581282" y="3284883"/>
            <a:ext cx="5613071" cy="2727919"/>
            <a:chOff x="206168" y="2843889"/>
            <a:chExt cx="5328357" cy="3224130"/>
          </a:xfrm>
        </p:grpSpPr>
        <p:pic>
          <p:nvPicPr>
            <p:cNvPr id="11" name="Immagine 10">
              <a:extLst>
                <a:ext uri="{FF2B5EF4-FFF2-40B4-BE49-F238E27FC236}">
                  <a16:creationId xmlns:a16="http://schemas.microsoft.com/office/drawing/2014/main" id="{44B458DE-5962-6DC3-C9AC-ADCEC52E6ECF}"/>
                </a:ext>
              </a:extLst>
            </p:cNvPr>
            <p:cNvPicPr>
              <a:picLocks noChangeAspect="1"/>
            </p:cNvPicPr>
            <p:nvPr/>
          </p:nvPicPr>
          <p:blipFill>
            <a:blip r:embed="rId4">
              <a:extLst>
                <a:ext uri="{28A0092B-C50C-407E-A947-70E740481C1C}">
                  <a14:useLocalDpi xmlns:a14="http://schemas.microsoft.com/office/drawing/2010/main" val="0"/>
                </a:ext>
              </a:extLst>
            </a:blip>
            <a:srcRect t="7588" r="5536" b="651"/>
            <a:stretch>
              <a:fillRect/>
            </a:stretch>
          </p:blipFill>
          <p:spPr>
            <a:xfrm>
              <a:off x="206168" y="2843889"/>
              <a:ext cx="5328357" cy="3224130"/>
            </a:xfrm>
            <a:prstGeom prst="rect">
              <a:avLst/>
            </a:prstGeom>
          </p:spPr>
        </p:pic>
        <mc:AlternateContent xmlns:mc="http://schemas.openxmlformats.org/markup-compatibility/2006">
          <mc:Choice xmlns:a14="http://schemas.microsoft.com/office/drawing/2010/main" Requires="a14">
            <p:sp>
              <p:nvSpPr>
                <p:cNvPr id="17" name="CasellaDiTesto 6">
                  <a:extLst>
                    <a:ext uri="{FF2B5EF4-FFF2-40B4-BE49-F238E27FC236}">
                      <a16:creationId xmlns:a16="http://schemas.microsoft.com/office/drawing/2014/main" id="{F8A35020-0DFA-FBED-64A0-617EB0F04A27}"/>
                    </a:ext>
                  </a:extLst>
                </p:cNvPr>
                <p:cNvSpPr txBox="1"/>
                <p:nvPr/>
              </p:nvSpPr>
              <p:spPr>
                <a:xfrm>
                  <a:off x="2355837" y="3072809"/>
                  <a:ext cx="1286540" cy="523220"/>
                </a:xfrm>
                <a:prstGeom prst="rect">
                  <a:avLst/>
                </a:prstGeom>
                <a:noFill/>
              </p:spPr>
              <p:txBody>
                <a:bodyPr wrap="square" rtlCol="0">
                  <a:spAutoFit/>
                </a:bodyPr>
                <a:lstStyle/>
                <a:p>
                  <a:pPr/>
                  <a14:m>
                    <m:oMathPara xmlns:m="http://schemas.openxmlformats.org/officeDocument/2006/math">
                      <m:oMath>
                        <m:sSub>
                          <m:sSubPr>
                            <m:ctrlPr>
                              <a:rPr lang="it-IT" sz="2800" b="0" i="1" smtClean="0">
                                <a:solidFill>
                                  <a:srgbClr val="FF0000"/>
                                </a:solidFill>
                                <a:latin typeface="Cambria Math" panose="02040503050406030204" pitchFamily="18" charset="0"/>
                              </a:rPr>
                            </m:ctrlPr>
                          </m:sSubPr>
                          <m:e>
                            <m:r>
                              <a:rPr lang="it-IT" sz="2800" b="0" i="1" smtClean="0">
                                <a:solidFill>
                                  <a:srgbClr val="FF0000"/>
                                </a:solidFill>
                                <a:latin typeface="Cambria Math" panose="02040503050406030204" pitchFamily="18" charset="0"/>
                              </a:rPr>
                              <m:t>𝑁</m:t>
                            </m:r>
                          </m:e>
                          <m:sub>
                            <m:r>
                              <a:rPr lang="it-IT" sz="2800" b="0" i="1" smtClean="0">
                                <a:solidFill>
                                  <a:srgbClr val="FF0000"/>
                                </a:solidFill>
                                <a:latin typeface="Cambria Math" panose="02040503050406030204" pitchFamily="18" charset="0"/>
                              </a:rPr>
                              <m:t>𝑡𝑜𝑡</m:t>
                            </m:r>
                          </m:sub>
                        </m:sSub>
                      </m:oMath>
                    </m:oMathPara>
                  </a14:m>
                  <a:endParaRPr lang="it-IT" sz="2800" dirty="0">
                    <a:solidFill>
                      <a:srgbClr val="FF0000"/>
                    </a:solidFill>
                  </a:endParaRPr>
                </a:p>
              </p:txBody>
            </p:sp>
          </mc:Choice>
          <mc:Fallback>
            <p:sp>
              <p:nvSpPr>
                <p:cNvPr id="17" name="CasellaDiTesto 6">
                  <a:extLst>
                    <a:ext uri="{FF2B5EF4-FFF2-40B4-BE49-F238E27FC236}">
                      <a16:creationId xmlns:a16="http://schemas.microsoft.com/office/drawing/2014/main" id="{F8A35020-0DFA-FBED-64A0-617EB0F04A27}"/>
                    </a:ext>
                  </a:extLst>
                </p:cNvPr>
                <p:cNvSpPr txBox="1">
                  <a:spLocks noRot="1" noChangeAspect="1" noMove="1" noResize="1" noEditPoints="1" noAdjustHandles="1" noChangeArrowheads="1" noChangeShapeType="1" noTextEdit="1"/>
                </p:cNvSpPr>
                <p:nvPr/>
              </p:nvSpPr>
              <p:spPr>
                <a:xfrm>
                  <a:off x="2355837" y="3072809"/>
                  <a:ext cx="1286540" cy="523220"/>
                </a:xfrm>
                <a:prstGeom prst="rect">
                  <a:avLst/>
                </a:prstGeom>
                <a:blipFill>
                  <a:blip r:embed="rId5"/>
                  <a:stretch>
                    <a:fillRect b="-2778"/>
                  </a:stretch>
                </a:blipFill>
              </p:spPr>
              <p:txBody>
                <a:bodyPr/>
                <a:lstStyle/>
                <a:p>
                  <a:r>
                    <a:rPr lang="it-IT">
                      <a:noFill/>
                    </a:rPr>
                    <a:t> </a:t>
                  </a:r>
                </a:p>
              </p:txBody>
            </p:sp>
          </mc:Fallback>
        </mc:AlternateContent>
      </p:grpSp>
      <p:grpSp>
        <p:nvGrpSpPr>
          <p:cNvPr id="19" name="Group 18">
            <a:extLst>
              <a:ext uri="{FF2B5EF4-FFF2-40B4-BE49-F238E27FC236}">
                <a16:creationId xmlns:a16="http://schemas.microsoft.com/office/drawing/2014/main" id="{9591CCE4-6761-E9E7-A611-DD840D97DC9B}"/>
              </a:ext>
            </a:extLst>
          </p:cNvPr>
          <p:cNvGrpSpPr/>
          <p:nvPr/>
        </p:nvGrpSpPr>
        <p:grpSpPr>
          <a:xfrm>
            <a:off x="6372762" y="3153844"/>
            <a:ext cx="5501123" cy="3135129"/>
            <a:chOff x="5446277" y="2755900"/>
            <a:chExt cx="6186923" cy="3693929"/>
          </a:xfrm>
        </p:grpSpPr>
        <p:pic>
          <p:nvPicPr>
            <p:cNvPr id="9" name="Immagine 7">
              <a:extLst>
                <a:ext uri="{FF2B5EF4-FFF2-40B4-BE49-F238E27FC236}">
                  <a16:creationId xmlns:a16="http://schemas.microsoft.com/office/drawing/2014/main" id="{DAF312A5-D418-B25E-46F3-BA721675D56B}"/>
                </a:ext>
              </a:extLst>
            </p:cNvPr>
            <p:cNvPicPr>
              <a:picLocks noChangeAspect="1"/>
            </p:cNvPicPr>
            <p:nvPr/>
          </p:nvPicPr>
          <p:blipFill>
            <a:blip r:embed="rId6">
              <a:extLst>
                <a:ext uri="{28A0092B-C50C-407E-A947-70E740481C1C}">
                  <a14:useLocalDpi xmlns:a14="http://schemas.microsoft.com/office/drawing/2010/main" val="0"/>
                </a:ext>
              </a:extLst>
            </a:blip>
            <a:srcRect t="7591" r="7738" b="3978"/>
            <a:stretch>
              <a:fillRect/>
            </a:stretch>
          </p:blipFill>
          <p:spPr>
            <a:xfrm>
              <a:off x="5446277" y="2755900"/>
              <a:ext cx="6186923" cy="3693929"/>
            </a:xfrm>
            <a:prstGeom prst="rect">
              <a:avLst/>
            </a:prstGeom>
          </p:spPr>
        </p:pic>
        <p:cxnSp>
          <p:nvCxnSpPr>
            <p:cNvPr id="16" name="Connettore 2 21">
              <a:extLst>
                <a:ext uri="{FF2B5EF4-FFF2-40B4-BE49-F238E27FC236}">
                  <a16:creationId xmlns:a16="http://schemas.microsoft.com/office/drawing/2014/main" id="{D9B10192-2869-7292-4491-E68C4549A997}"/>
                </a:ext>
              </a:extLst>
            </p:cNvPr>
            <p:cNvCxnSpPr>
              <a:cxnSpLocks/>
            </p:cNvCxnSpPr>
            <p:nvPr/>
          </p:nvCxnSpPr>
          <p:spPr>
            <a:xfrm>
              <a:off x="8267701" y="5410817"/>
              <a:ext cx="0" cy="668390"/>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8" name="CasellaDiTesto 11">
                  <a:extLst>
                    <a:ext uri="{FF2B5EF4-FFF2-40B4-BE49-F238E27FC236}">
                      <a16:creationId xmlns:a16="http://schemas.microsoft.com/office/drawing/2014/main" id="{3DF2A6D9-2C22-D5E0-FBFF-5E551AAE83A2}"/>
                    </a:ext>
                  </a:extLst>
                </p:cNvPr>
                <p:cNvSpPr txBox="1"/>
                <p:nvPr/>
              </p:nvSpPr>
              <p:spPr>
                <a:xfrm>
                  <a:off x="8638096" y="4494208"/>
                  <a:ext cx="1286540" cy="523220"/>
                </a:xfrm>
                <a:prstGeom prst="rect">
                  <a:avLst/>
                </a:prstGeom>
                <a:noFill/>
              </p:spPr>
              <p:txBody>
                <a:bodyPr wrap="square" rtlCol="0">
                  <a:spAutoFit/>
                </a:bodyPr>
                <a:lstStyle/>
                <a:p>
                  <a:pPr/>
                  <a14:m>
                    <m:oMathPara xmlns:m="http://schemas.openxmlformats.org/officeDocument/2006/math">
                      <m:oMath>
                        <m:sSub>
                          <m:sSubPr>
                            <m:ctrlPr>
                              <a:rPr lang="it-IT" sz="2800" b="0" i="1" smtClean="0">
                                <a:solidFill>
                                  <a:srgbClr val="FF0000"/>
                                </a:solidFill>
                                <a:latin typeface="Cambria Math" panose="02040503050406030204" pitchFamily="18" charset="0"/>
                              </a:rPr>
                            </m:ctrlPr>
                          </m:sSubPr>
                          <m:e>
                            <m:r>
                              <a:rPr lang="it-IT" sz="2800" b="0" i="1" smtClean="0">
                                <a:solidFill>
                                  <a:srgbClr val="FF0000"/>
                                </a:solidFill>
                                <a:latin typeface="Cambria Math" panose="02040503050406030204" pitchFamily="18" charset="0"/>
                              </a:rPr>
                              <m:t>𝑁</m:t>
                            </m:r>
                          </m:e>
                          <m:sub>
                            <m:r>
                              <a:rPr lang="it-IT" sz="2800" b="0" i="1" smtClean="0">
                                <a:solidFill>
                                  <a:srgbClr val="FF0000"/>
                                </a:solidFill>
                                <a:latin typeface="Cambria Math" panose="02040503050406030204" pitchFamily="18" charset="0"/>
                              </a:rPr>
                              <m:t>𝑐ℎ</m:t>
                            </m:r>
                          </m:sub>
                        </m:sSub>
                      </m:oMath>
                    </m:oMathPara>
                  </a14:m>
                  <a:endParaRPr lang="it-IT" sz="2800" dirty="0">
                    <a:solidFill>
                      <a:srgbClr val="FF0000"/>
                    </a:solidFill>
                  </a:endParaRPr>
                </a:p>
              </p:txBody>
            </p:sp>
          </mc:Choice>
          <mc:Fallback>
            <p:sp>
              <p:nvSpPr>
                <p:cNvPr id="18" name="CasellaDiTesto 11">
                  <a:extLst>
                    <a:ext uri="{FF2B5EF4-FFF2-40B4-BE49-F238E27FC236}">
                      <a16:creationId xmlns:a16="http://schemas.microsoft.com/office/drawing/2014/main" id="{3DF2A6D9-2C22-D5E0-FBFF-5E551AAE83A2}"/>
                    </a:ext>
                  </a:extLst>
                </p:cNvPr>
                <p:cNvSpPr txBox="1">
                  <a:spLocks noRot="1" noChangeAspect="1" noMove="1" noResize="1" noEditPoints="1" noAdjustHandles="1" noChangeArrowheads="1" noChangeShapeType="1" noTextEdit="1"/>
                </p:cNvSpPr>
                <p:nvPr/>
              </p:nvSpPr>
              <p:spPr>
                <a:xfrm>
                  <a:off x="8638096" y="4494208"/>
                  <a:ext cx="1286540" cy="523220"/>
                </a:xfrm>
                <a:prstGeom prst="rect">
                  <a:avLst/>
                </a:prstGeom>
                <a:blipFill>
                  <a:blip r:embed="rId7"/>
                  <a:stretch>
                    <a:fillRect b="-2740"/>
                  </a:stretch>
                </a:blipFill>
              </p:spPr>
              <p:txBody>
                <a:bodyPr/>
                <a:lstStyle/>
                <a:p>
                  <a:r>
                    <a:rPr lang="it-IT">
                      <a:noFill/>
                    </a:rPr>
                    <a:t> </a:t>
                  </a:r>
                </a:p>
              </p:txBody>
            </p:sp>
          </mc:Fallback>
        </mc:AlternateContent>
      </p:grpSp>
      <p:grpSp>
        <p:nvGrpSpPr>
          <p:cNvPr id="13" name="Group 12">
            <a:extLst>
              <a:ext uri="{FF2B5EF4-FFF2-40B4-BE49-F238E27FC236}">
                <a16:creationId xmlns:a16="http://schemas.microsoft.com/office/drawing/2014/main" id="{5C13888B-04D8-8269-FF20-9B172F3D12BF}"/>
              </a:ext>
            </a:extLst>
          </p:cNvPr>
          <p:cNvGrpSpPr/>
          <p:nvPr/>
        </p:nvGrpSpPr>
        <p:grpSpPr>
          <a:xfrm>
            <a:off x="4483565" y="3071173"/>
            <a:ext cx="4701813" cy="2827745"/>
            <a:chOff x="3794967" y="2805084"/>
            <a:chExt cx="4701813" cy="2827745"/>
          </a:xfrm>
        </p:grpSpPr>
        <p:sp>
          <p:nvSpPr>
            <p:cNvPr id="14" name="Ovale 13">
              <a:extLst>
                <a:ext uri="{FF2B5EF4-FFF2-40B4-BE49-F238E27FC236}">
                  <a16:creationId xmlns:a16="http://schemas.microsoft.com/office/drawing/2014/main" id="{1FCEDAEB-E809-19F3-8902-525656921478}"/>
                </a:ext>
              </a:extLst>
            </p:cNvPr>
            <p:cNvSpPr/>
            <p:nvPr/>
          </p:nvSpPr>
          <p:spPr>
            <a:xfrm>
              <a:off x="3794967" y="3043891"/>
              <a:ext cx="1194969" cy="2392652"/>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Arco 16">
              <a:extLst>
                <a:ext uri="{FF2B5EF4-FFF2-40B4-BE49-F238E27FC236}">
                  <a16:creationId xmlns:a16="http://schemas.microsoft.com/office/drawing/2014/main" id="{4CE3AE4C-F8C5-54BB-1CE2-E3E0D68943B0}"/>
                </a:ext>
              </a:extLst>
            </p:cNvPr>
            <p:cNvSpPr/>
            <p:nvPr/>
          </p:nvSpPr>
          <p:spPr>
            <a:xfrm rot="3428525" flipV="1">
              <a:off x="5098894" y="2234943"/>
              <a:ext cx="2827745" cy="3968027"/>
            </a:xfrm>
            <a:prstGeom prst="arc">
              <a:avLst>
                <a:gd name="adj1" fmla="val 15945701"/>
                <a:gd name="adj2" fmla="val 1052481"/>
              </a:avLst>
            </a:prstGeom>
            <a:ln w="38100">
              <a:solidFill>
                <a:srgbClr val="FF0000"/>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grpSp>
    </p:spTree>
    <p:extLst>
      <p:ext uri="{BB962C8B-B14F-4D97-AF65-F5344CB8AC3E}">
        <p14:creationId xmlns:p14="http://schemas.microsoft.com/office/powerpoint/2010/main" val="1826895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43B02-EB8B-C5AA-8730-2CC03D26F02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77B2C8E-4D6B-4385-4C61-E9B67850516D}"/>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en-US" sz="4000" b="1" dirty="0">
                <a:solidFill>
                  <a:srgbClr val="002060"/>
                </a:solidFill>
              </a:rPr>
              <a:t>	CHANNELING EFFICIENCY: RESULTS</a:t>
            </a:r>
            <a:endParaRPr lang="it-IT" sz="4000" b="1" dirty="0">
              <a:solidFill>
                <a:srgbClr val="002060"/>
              </a:solidFill>
            </a:endParaRPr>
          </a:p>
        </p:txBody>
      </p:sp>
      <p:sp>
        <p:nvSpPr>
          <p:cNvPr id="4" name="Segnaposto data 3">
            <a:extLst>
              <a:ext uri="{FF2B5EF4-FFF2-40B4-BE49-F238E27FC236}">
                <a16:creationId xmlns:a16="http://schemas.microsoft.com/office/drawing/2014/main" id="{756C16D9-FBD2-0405-039C-F4B5E5E4BBEF}"/>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6D330ED7-A185-4130-4F28-81BDB36B68BF}"/>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cxnSp>
        <p:nvCxnSpPr>
          <p:cNvPr id="10" name="Connettore diritto 9">
            <a:extLst>
              <a:ext uri="{FF2B5EF4-FFF2-40B4-BE49-F238E27FC236}">
                <a16:creationId xmlns:a16="http://schemas.microsoft.com/office/drawing/2014/main" id="{64DD56D9-E1F0-16B6-8E4B-E945AF1CC446}"/>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8" name="Titolo 1">
            <a:extLst>
              <a:ext uri="{FF2B5EF4-FFF2-40B4-BE49-F238E27FC236}">
                <a16:creationId xmlns:a16="http://schemas.microsoft.com/office/drawing/2014/main" id="{4A2E6BCC-6219-878F-BE99-D270D4E865AA}"/>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ANALYSIS</a:t>
            </a:r>
            <a:endParaRPr lang="it-IT" sz="2000" b="1" i="1" dirty="0">
              <a:solidFill>
                <a:srgbClr val="002060"/>
              </a:solidFill>
              <a:ea typeface="Calibri" panose="020F0502020204030204" pitchFamily="34" charset="0"/>
              <a:cs typeface="Calibri" panose="020F0502020204030204" pitchFamily="34" charset="0"/>
            </a:endParaRPr>
          </a:p>
        </p:txBody>
      </p:sp>
      <p:sp>
        <p:nvSpPr>
          <p:cNvPr id="6" name="Segnaposto numero diapositiva 5">
            <a:extLst>
              <a:ext uri="{FF2B5EF4-FFF2-40B4-BE49-F238E27FC236}">
                <a16:creationId xmlns:a16="http://schemas.microsoft.com/office/drawing/2014/main" id="{834DDB33-F85C-06BB-5E5A-AB9537E03FD7}"/>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12</a:t>
            </a:fld>
            <a:endParaRPr lang="it-IT" sz="1500" b="1" dirty="0">
              <a:solidFill>
                <a:srgbClr val="002060"/>
              </a:solidFill>
            </a:endParaRPr>
          </a:p>
        </p:txBody>
      </p:sp>
      <mc:AlternateContent xmlns:mc="http://schemas.openxmlformats.org/markup-compatibility/2006">
        <mc:Choice xmlns:a14="http://schemas.microsoft.com/office/drawing/2010/main" Requires="a14">
          <p:sp>
            <p:nvSpPr>
              <p:cNvPr id="12" name="Rettangolo con angoli arrotondati 25">
                <a:extLst>
                  <a:ext uri="{FF2B5EF4-FFF2-40B4-BE49-F238E27FC236}">
                    <a16:creationId xmlns:a16="http://schemas.microsoft.com/office/drawing/2014/main" id="{504DFAD3-0087-196D-9FE7-4C0E7E8F3FCC}"/>
                  </a:ext>
                </a:extLst>
              </p:cNvPr>
              <p:cNvSpPr/>
              <p:nvPr/>
            </p:nvSpPr>
            <p:spPr>
              <a:xfrm>
                <a:off x="5159828" y="2265952"/>
                <a:ext cx="6336172" cy="1262544"/>
              </a:xfrm>
              <a:prstGeom prst="roundRect">
                <a:avLst/>
              </a:prstGeom>
              <a:solidFill>
                <a:srgbClr val="002060"/>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600" b="1" dirty="0">
                    <a:solidFill>
                      <a:srgbClr val="FFC000"/>
                    </a:solidFill>
                  </a:rPr>
                  <a:t>RUN 8430 (REFERENCE)</a:t>
                </a:r>
              </a:p>
              <a:p>
                <a:pPr algn="ctr"/>
                <a:endParaRPr lang="it-IT" sz="1600" b="1" dirty="0">
                  <a:solidFill>
                    <a:srgbClr val="FFC000"/>
                  </a:solidFill>
                </a:endParaRPr>
              </a:p>
              <a:p>
                <a:pPr algn="ctr"/>
                <a14:m>
                  <m:oMathPara xmlns:m="http://schemas.openxmlformats.org/officeDocument/2006/math">
                    <m:oMath>
                      <m:r>
                        <a:rPr lang="it-IT" sz="3200" b="1" i="1" dirty="0" smtClean="0">
                          <a:solidFill>
                            <a:srgbClr val="FFC000"/>
                          </a:solidFill>
                          <a:latin typeface="Cambria Math" panose="02040503050406030204" pitchFamily="18" charset="0"/>
                        </a:rPr>
                        <m:t>(</m:t>
                      </m:r>
                      <m:r>
                        <a:rPr lang="en-US" sz="3200" b="1" i="1" dirty="0" smtClean="0">
                          <a:solidFill>
                            <a:srgbClr val="FFC000"/>
                          </a:solidFill>
                          <a:latin typeface="Cambria Math" panose="02040503050406030204" pitchFamily="18" charset="0"/>
                        </a:rPr>
                        <m:t>𝟏𝟗</m:t>
                      </m:r>
                      <m:r>
                        <a:rPr lang="en-US" sz="3200" b="1" i="1" dirty="0" smtClean="0">
                          <a:solidFill>
                            <a:srgbClr val="FFC000"/>
                          </a:solidFill>
                          <a:latin typeface="Cambria Math" panose="02040503050406030204" pitchFamily="18" charset="0"/>
                        </a:rPr>
                        <m:t>.</m:t>
                      </m:r>
                      <m:r>
                        <a:rPr lang="en-US" sz="3200" b="1" i="1" dirty="0" smtClean="0">
                          <a:solidFill>
                            <a:srgbClr val="FFC000"/>
                          </a:solidFill>
                          <a:latin typeface="Cambria Math" panose="02040503050406030204" pitchFamily="18" charset="0"/>
                        </a:rPr>
                        <m:t>𝟔</m:t>
                      </m:r>
                      <m:r>
                        <a:rPr lang="en-US" sz="3200" b="1" i="1" dirty="0" smtClean="0">
                          <a:solidFill>
                            <a:srgbClr val="FFC000"/>
                          </a:solidFill>
                          <a:latin typeface="Cambria Math" panose="02040503050406030204" pitchFamily="18" charset="0"/>
                        </a:rPr>
                        <m:t>±</m:t>
                      </m:r>
                      <m:r>
                        <a:rPr lang="en-US" sz="3200" b="1" i="1" dirty="0" smtClean="0">
                          <a:solidFill>
                            <a:srgbClr val="FFC000"/>
                          </a:solidFill>
                          <a:latin typeface="Cambria Math" panose="02040503050406030204" pitchFamily="18" charset="0"/>
                        </a:rPr>
                        <m:t>𝟎</m:t>
                      </m:r>
                      <m:r>
                        <a:rPr lang="en-US" sz="3200" b="1" i="1" dirty="0" smtClean="0">
                          <a:solidFill>
                            <a:srgbClr val="FFC000"/>
                          </a:solidFill>
                          <a:latin typeface="Cambria Math" panose="02040503050406030204" pitchFamily="18" charset="0"/>
                        </a:rPr>
                        <m:t>.</m:t>
                      </m:r>
                      <m:r>
                        <a:rPr lang="en-US" sz="3200" b="1" i="1" dirty="0" smtClean="0">
                          <a:solidFill>
                            <a:srgbClr val="FFC000"/>
                          </a:solidFill>
                          <a:latin typeface="Cambria Math" panose="02040503050406030204" pitchFamily="18" charset="0"/>
                        </a:rPr>
                        <m:t>𝟏</m:t>
                      </m:r>
                      <m:r>
                        <a:rPr lang="en-US" sz="3200" b="1" i="0" dirty="0" smtClean="0">
                          <a:solidFill>
                            <a:srgbClr val="FFC000"/>
                          </a:solidFill>
                          <a:latin typeface="Cambria Math" panose="02040503050406030204" pitchFamily="18" charset="0"/>
                        </a:rPr>
                        <m:t>[</m:t>
                      </m:r>
                      <m:r>
                        <a:rPr lang="en-US" sz="3200" b="1" i="0" dirty="0" smtClean="0">
                          <a:solidFill>
                            <a:srgbClr val="FFC000"/>
                          </a:solidFill>
                          <a:latin typeface="Cambria Math" panose="02040503050406030204" pitchFamily="18" charset="0"/>
                        </a:rPr>
                        <m:t>𝐬𝐭𝐚𝐭</m:t>
                      </m:r>
                      <m:r>
                        <a:rPr lang="en-US" sz="3200" b="1" i="0" dirty="0" smtClean="0">
                          <a:solidFill>
                            <a:srgbClr val="FFC000"/>
                          </a:solidFill>
                          <a:latin typeface="Cambria Math" panose="02040503050406030204" pitchFamily="18" charset="0"/>
                        </a:rPr>
                        <m:t>]±</m:t>
                      </m:r>
                      <m:r>
                        <a:rPr lang="en-US" sz="3200" b="1" i="1" dirty="0" smtClean="0">
                          <a:solidFill>
                            <a:srgbClr val="FFC000"/>
                          </a:solidFill>
                          <a:latin typeface="Cambria Math" panose="02040503050406030204" pitchFamily="18" charset="0"/>
                        </a:rPr>
                        <m:t>𝟎</m:t>
                      </m:r>
                      <m:r>
                        <a:rPr lang="en-US" sz="3200" b="1" i="1" dirty="0" smtClean="0">
                          <a:solidFill>
                            <a:srgbClr val="FFC000"/>
                          </a:solidFill>
                          <a:latin typeface="Cambria Math" panose="02040503050406030204" pitchFamily="18" charset="0"/>
                        </a:rPr>
                        <m:t>.</m:t>
                      </m:r>
                      <m:r>
                        <a:rPr lang="en-US" sz="3200" b="1" i="1" dirty="0" smtClean="0">
                          <a:solidFill>
                            <a:srgbClr val="FFC000"/>
                          </a:solidFill>
                          <a:latin typeface="Cambria Math" panose="02040503050406030204" pitchFamily="18" charset="0"/>
                        </a:rPr>
                        <m:t>𝟐</m:t>
                      </m:r>
                      <m:r>
                        <a:rPr lang="en-US" sz="3200" b="1" i="0" dirty="0" smtClean="0">
                          <a:solidFill>
                            <a:srgbClr val="FFC000"/>
                          </a:solidFill>
                          <a:latin typeface="Cambria Math" panose="02040503050406030204" pitchFamily="18" charset="0"/>
                        </a:rPr>
                        <m:t>[</m:t>
                      </m:r>
                      <m:r>
                        <a:rPr lang="en-US" sz="3200" b="1" i="0" dirty="0" smtClean="0">
                          <a:solidFill>
                            <a:srgbClr val="FFC000"/>
                          </a:solidFill>
                          <a:latin typeface="Cambria Math" panose="02040503050406030204" pitchFamily="18" charset="0"/>
                        </a:rPr>
                        <m:t>𝐬𝐲𝐬𝐭</m:t>
                      </m:r>
                      <m:r>
                        <a:rPr lang="en-US" sz="3200" b="1" i="0" dirty="0" smtClean="0">
                          <a:solidFill>
                            <a:srgbClr val="FFC000"/>
                          </a:solidFill>
                          <a:latin typeface="Cambria Math" panose="02040503050406030204" pitchFamily="18" charset="0"/>
                        </a:rPr>
                        <m:t>])%</m:t>
                      </m:r>
                    </m:oMath>
                  </m:oMathPara>
                </a14:m>
                <a:endParaRPr lang="it-IT" sz="3200" b="1" dirty="0">
                  <a:solidFill>
                    <a:srgbClr val="FFC000"/>
                  </a:solidFill>
                </a:endParaRPr>
              </a:p>
            </p:txBody>
          </p:sp>
        </mc:Choice>
        <mc:Fallback>
          <p:sp>
            <p:nvSpPr>
              <p:cNvPr id="12" name="Rettangolo con angoli arrotondati 25">
                <a:extLst>
                  <a:ext uri="{FF2B5EF4-FFF2-40B4-BE49-F238E27FC236}">
                    <a16:creationId xmlns:a16="http://schemas.microsoft.com/office/drawing/2014/main" id="{504DFAD3-0087-196D-9FE7-4C0E7E8F3FCC}"/>
                  </a:ext>
                </a:extLst>
              </p:cNvPr>
              <p:cNvSpPr>
                <a:spLocks noRot="1" noChangeAspect="1" noMove="1" noResize="1" noEditPoints="1" noAdjustHandles="1" noChangeArrowheads="1" noChangeShapeType="1" noTextEdit="1"/>
              </p:cNvSpPr>
              <p:nvPr/>
            </p:nvSpPr>
            <p:spPr>
              <a:xfrm>
                <a:off x="5159828" y="2265952"/>
                <a:ext cx="6336172" cy="1262544"/>
              </a:xfrm>
              <a:prstGeom prst="roundRect">
                <a:avLst/>
              </a:prstGeom>
              <a:blipFill>
                <a:blip r:embed="rId3"/>
                <a:stretch>
                  <a:fillRect/>
                </a:stretch>
              </a:blipFill>
              <a:ln w="38100">
                <a:solidFill>
                  <a:srgbClr val="002060"/>
                </a:solidFill>
              </a:ln>
            </p:spPr>
            <p:txBody>
              <a:bodyPr/>
              <a:lstStyle/>
              <a:p>
                <a:r>
                  <a:rPr lang="it-IT">
                    <a:noFill/>
                  </a:rPr>
                  <a:t> </a:t>
                </a:r>
              </a:p>
            </p:txBody>
          </p:sp>
        </mc:Fallback>
      </mc:AlternateContent>
      <mc:AlternateContent xmlns:mc="http://schemas.openxmlformats.org/markup-compatibility/2006">
        <mc:Choice xmlns:a14="http://schemas.microsoft.com/office/drawing/2010/main" Requires="a14">
          <p:graphicFrame>
            <p:nvGraphicFramePr>
              <p:cNvPr id="21" name="Table 20">
                <a:extLst>
                  <a:ext uri="{FF2B5EF4-FFF2-40B4-BE49-F238E27FC236}">
                    <a16:creationId xmlns:a16="http://schemas.microsoft.com/office/drawing/2014/main" id="{AB162D1F-451D-C16D-C2C1-906BD1DDC49E}"/>
                  </a:ext>
                </a:extLst>
              </p:cNvPr>
              <p:cNvGraphicFramePr>
                <a:graphicFrameLocks noGrp="1"/>
              </p:cNvGraphicFramePr>
              <p:nvPr>
                <p:extLst>
                  <p:ext uri="{D42A27DB-BD31-4B8C-83A1-F6EECF244321}">
                    <p14:modId xmlns:p14="http://schemas.microsoft.com/office/powerpoint/2010/main" val="3578224821"/>
                  </p:ext>
                </p:extLst>
              </p:nvPr>
            </p:nvGraphicFramePr>
            <p:xfrm>
              <a:off x="4016829" y="4334987"/>
              <a:ext cx="7479171" cy="1670924"/>
            </p:xfrm>
            <a:graphic>
              <a:graphicData uri="http://schemas.openxmlformats.org/drawingml/2006/table">
                <a:tbl>
                  <a:tblPr bandRow="1">
                    <a:tableStyleId>{5C22544A-7EE6-4342-B048-85BDC9FD1C3A}</a:tableStyleId>
                  </a:tblPr>
                  <a:tblGrid>
                    <a:gridCol w="2108662">
                      <a:extLst>
                        <a:ext uri="{9D8B030D-6E8A-4147-A177-3AD203B41FA5}">
                          <a16:colId xmlns:a16="http://schemas.microsoft.com/office/drawing/2014/main" val="1396093748"/>
                        </a:ext>
                      </a:extLst>
                    </a:gridCol>
                    <a:gridCol w="2463338">
                      <a:extLst>
                        <a:ext uri="{9D8B030D-6E8A-4147-A177-3AD203B41FA5}">
                          <a16:colId xmlns:a16="http://schemas.microsoft.com/office/drawing/2014/main" val="3624033113"/>
                        </a:ext>
                      </a:extLst>
                    </a:gridCol>
                    <a:gridCol w="2907171">
                      <a:extLst>
                        <a:ext uri="{9D8B030D-6E8A-4147-A177-3AD203B41FA5}">
                          <a16:colId xmlns:a16="http://schemas.microsoft.com/office/drawing/2014/main" val="1422303490"/>
                        </a:ext>
                      </a:extLst>
                    </a:gridCol>
                  </a:tblGrid>
                  <a:tr h="578966">
                    <a:tc>
                      <a:txBody>
                        <a:bodyPr/>
                        <a:lstStyle/>
                        <a:p>
                          <a:pPr algn="ctr"/>
                          <a:endParaRPr lang="it-IT" sz="2000" dirty="0"/>
                        </a:p>
                      </a:txBody>
                      <a:tcPr anchor="ctr">
                        <a:solidFill>
                          <a:schemeClr val="bg1"/>
                        </a:solidFill>
                      </a:tcPr>
                    </a:tc>
                    <a:tc>
                      <a:txBody>
                        <a:bodyPr/>
                        <a:lstStyle/>
                        <a:p>
                          <a:pPr algn="ctr"/>
                          <a14:m>
                            <m:oMathPara xmlns:m="http://schemas.openxmlformats.org/officeDocument/2006/math">
                              <m:o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𝜖</m:t>
                                    </m:r>
                                  </m:e>
                                  <m:sub>
                                    <m:r>
                                      <a:rPr lang="en-US" sz="2000" b="0" i="1" smtClean="0">
                                        <a:latin typeface="Cambria Math" panose="02040503050406030204" pitchFamily="18" charset="0"/>
                                      </a:rPr>
                                      <m:t>𝑐ℎ</m:t>
                                    </m:r>
                                  </m:sub>
                                </m:sSub>
                              </m:oMath>
                            </m:oMathPara>
                          </a14:m>
                          <a:endParaRPr lang="it-IT" sz="2000" dirty="0"/>
                        </a:p>
                      </a:txBody>
                      <a:tcPr anchor="ctr"/>
                    </a:tc>
                    <a:tc>
                      <a:txBody>
                        <a:bodyPr/>
                        <a:lstStyle/>
                        <a:p>
                          <a:pPr algn="ctr"/>
                          <a14:m>
                            <m:oMathPara xmlns:m="http://schemas.openxmlformats.org/officeDocument/2006/math">
                              <m:o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𝜏</m:t>
                                    </m:r>
                                  </m:e>
                                  <m:sub>
                                    <m:r>
                                      <a:rPr lang="en-US" sz="2000" b="0" i="1" smtClean="0">
                                        <a:latin typeface="Cambria Math" panose="02040503050406030204" pitchFamily="18" charset="0"/>
                                      </a:rPr>
                                      <m:t>𝑦</m:t>
                                    </m:r>
                                  </m:sub>
                                </m:sSub>
                              </m:oMath>
                            </m:oMathPara>
                          </a14:m>
                          <a:endParaRPr lang="en-US" sz="2000" b="0" dirty="0"/>
                        </a:p>
                      </a:txBody>
                      <a:tcPr anchor="ctr"/>
                    </a:tc>
                    <a:extLst>
                      <a:ext uri="{0D108BD9-81ED-4DB2-BD59-A6C34878D82A}">
                        <a16:rowId xmlns:a16="http://schemas.microsoft.com/office/drawing/2014/main" val="1714112372"/>
                      </a:ext>
                    </a:extLst>
                  </a:tr>
                  <a:tr h="545979">
                    <a:tc>
                      <a:txBody>
                        <a:bodyPr/>
                        <a:lstStyle/>
                        <a:p>
                          <a:pPr algn="ctr"/>
                          <a:r>
                            <a:rPr lang="en-US" sz="2000" dirty="0"/>
                            <a:t>long crystal 1</a:t>
                          </a:r>
                          <a:endParaRPr lang="it-IT" sz="2000" dirty="0"/>
                        </a:p>
                      </a:txBody>
                      <a:tcPr anchor="ctr"/>
                    </a:tc>
                    <a:tc>
                      <a:txBody>
                        <a:bodyPr/>
                        <a:lstStyle/>
                        <a:p>
                          <a:pPr algn="ctr"/>
                          <a14:m>
                            <m:oMathPara xmlns:m="http://schemas.openxmlformats.org/officeDocument/2006/math">
                              <m:oMath>
                                <m:d>
                                  <m:dPr>
                                    <m:ctrlPr>
                                      <a:rPr lang="en-US" sz="2000" i="1" dirty="0" smtClean="0">
                                        <a:latin typeface="Cambria Math" panose="02040503050406030204" pitchFamily="18" charset="0"/>
                                      </a:rPr>
                                    </m:ctrlPr>
                                  </m:dPr>
                                  <m:e>
                                    <m:r>
                                      <a:rPr lang="en-US" sz="2000" i="1" dirty="0" smtClean="0">
                                        <a:latin typeface="Cambria Math" panose="02040503050406030204" pitchFamily="18" charset="0"/>
                                      </a:rPr>
                                      <m:t>19.4</m:t>
                                    </m:r>
                                    <m:r>
                                      <a:rPr lang="en-US" sz="2000" b="0" i="1" dirty="0" smtClean="0">
                                        <a:latin typeface="Cambria Math" panose="02040503050406030204" pitchFamily="18" charset="0"/>
                                      </a:rPr>
                                      <m:t>±0.1±0</m:t>
                                    </m:r>
                                    <m:r>
                                      <m:rPr>
                                        <m:lit/>
                                      </m:rPr>
                                      <a:rPr lang="en-US" sz="2000" b="0" i="1" dirty="0" smtClean="0">
                                        <a:latin typeface="Cambria Math" panose="02040503050406030204" pitchFamily="18" charset="0"/>
                                      </a:rPr>
                                      <m:t>.</m:t>
                                    </m:r>
                                    <m:r>
                                      <a:rPr lang="en-US" sz="2000" b="0" i="1" dirty="0" smtClean="0">
                                        <a:latin typeface="Cambria Math" panose="02040503050406030204" pitchFamily="18" charset="0"/>
                                      </a:rPr>
                                      <m:t>2</m:t>
                                    </m:r>
                                  </m:e>
                                </m:d>
                                <m:r>
                                  <a:rPr lang="en-US" sz="2000" b="0" i="1" dirty="0" smtClean="0">
                                    <a:latin typeface="Cambria Math" panose="02040503050406030204" pitchFamily="18" charset="0"/>
                                  </a:rPr>
                                  <m:t>%</m:t>
                                </m:r>
                              </m:oMath>
                            </m:oMathPara>
                          </a14:m>
                          <a:endParaRPr lang="it-IT" sz="2000" dirty="0"/>
                        </a:p>
                      </a:txBody>
                      <a:tcPr anchor="ctr"/>
                    </a:tc>
                    <a:tc>
                      <a:txBody>
                        <a:bodyPr/>
                        <a:lstStyle/>
                        <a:p>
                          <a:pPr algn="ctr"/>
                          <a14:m>
                            <m:oMathPara xmlns:m="http://schemas.openxmlformats.org/officeDocument/2006/math">
                              <m:oMath>
                                <m:d>
                                  <m:dPr>
                                    <m:ctrlPr>
                                      <a:rPr lang="en-US" sz="2000" b="0" i="1" smtClean="0">
                                        <a:latin typeface="Cambria Math" panose="02040503050406030204" pitchFamily="18" charset="0"/>
                                      </a:rPr>
                                    </m:ctrlPr>
                                  </m:dPr>
                                  <m:e>
                                    <m:r>
                                      <a:rPr lang="en-US" sz="2000" b="0" i="1" smtClean="0">
                                        <a:latin typeface="Cambria Math" panose="02040503050406030204" pitchFamily="18" charset="0"/>
                                      </a:rPr>
                                      <m:t>5.98±0.03</m:t>
                                    </m:r>
                                  </m:e>
                                </m:d>
                                <m:r>
                                  <a:rPr lang="en-US" sz="2000" b="0" i="1" smtClean="0">
                                    <a:latin typeface="Cambria Math" panose="02040503050406030204" pitchFamily="18" charset="0"/>
                                  </a:rPr>
                                  <m:t>𝜇</m:t>
                                </m:r>
                                <m:r>
                                  <m:rPr>
                                    <m:sty m:val="p"/>
                                  </m:rPr>
                                  <a:rPr lang="en-US" sz="2000" b="0" i="0" smtClean="0">
                                    <a:latin typeface="Cambria Math" panose="02040503050406030204" pitchFamily="18" charset="0"/>
                                  </a:rPr>
                                  <m:t>rad</m:t>
                                </m:r>
                                <m:r>
                                  <a:rPr lang="en-US" sz="2000" b="0" i="0" smtClean="0">
                                    <a:latin typeface="Cambria Math" panose="02040503050406030204" pitchFamily="18" charset="0"/>
                                  </a:rPr>
                                  <m:t>/</m:t>
                                </m:r>
                                <m:r>
                                  <m:rPr>
                                    <m:sty m:val="p"/>
                                  </m:rPr>
                                  <a:rPr lang="en-US" sz="2000" b="0" i="0" smtClean="0">
                                    <a:latin typeface="Cambria Math" panose="02040503050406030204" pitchFamily="18" charset="0"/>
                                  </a:rPr>
                                  <m:t>mm</m:t>
                                </m:r>
                              </m:oMath>
                            </m:oMathPara>
                          </a14:m>
                          <a:endParaRPr lang="it-IT" sz="2000" i="0" dirty="0"/>
                        </a:p>
                      </a:txBody>
                      <a:tcPr anchor="ctr"/>
                    </a:tc>
                    <a:extLst>
                      <a:ext uri="{0D108BD9-81ED-4DB2-BD59-A6C34878D82A}">
                        <a16:rowId xmlns:a16="http://schemas.microsoft.com/office/drawing/2014/main" val="1412494383"/>
                      </a:ext>
                    </a:extLst>
                  </a:tr>
                  <a:tr h="545979">
                    <a:tc>
                      <a:txBody>
                        <a:bodyPr/>
                        <a:lstStyle/>
                        <a:p>
                          <a:pPr algn="ctr"/>
                          <a:r>
                            <a:rPr lang="en-US" sz="2000" dirty="0"/>
                            <a:t>long crystal 2</a:t>
                          </a:r>
                          <a:endParaRPr lang="it-IT" sz="2000" dirty="0"/>
                        </a:p>
                      </a:txBody>
                      <a:tcPr anchor="ctr"/>
                    </a:tc>
                    <a:tc>
                      <a:txBody>
                        <a:bodyPr/>
                        <a:lstStyle/>
                        <a:p>
                          <a:pPr algn="ctr"/>
                          <a14:m>
                            <m:oMathPara xmlns:m="http://schemas.openxmlformats.org/officeDocument/2006/math">
                              <m:oMath>
                                <m:d>
                                  <m:dPr>
                                    <m:ctrlPr>
                                      <a:rPr lang="en-US" sz="2000" b="0" i="1" smtClean="0">
                                        <a:latin typeface="Cambria Math" panose="02040503050406030204" pitchFamily="18" charset="0"/>
                                      </a:rPr>
                                    </m:ctrlPr>
                                  </m:dPr>
                                  <m:e>
                                    <m:r>
                                      <a:rPr lang="en-US" sz="2000" b="0" i="1" smtClean="0">
                                        <a:latin typeface="Cambria Math" panose="02040503050406030204" pitchFamily="18" charset="0"/>
                                      </a:rPr>
                                      <m:t>18.0</m:t>
                                    </m:r>
                                    <m:r>
                                      <a:rPr lang="en-US" sz="2000" b="0" i="1" smtClean="0">
                                        <a:latin typeface="Cambria Math" panose="02040503050406030204" pitchFamily="18" charset="0"/>
                                      </a:rPr>
                                      <m:t>±0.1±0.2</m:t>
                                    </m:r>
                                  </m:e>
                                </m:d>
                                <m:r>
                                  <a:rPr lang="en-US" sz="2000" b="0" i="1" smtClean="0">
                                    <a:latin typeface="Cambria Math" panose="02040503050406030204" pitchFamily="18" charset="0"/>
                                  </a:rPr>
                                  <m:t>%</m:t>
                                </m:r>
                              </m:oMath>
                            </m:oMathPara>
                          </a14:m>
                          <a:endParaRPr lang="it-IT"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d>
                                  <m:dPr>
                                    <m:ctrlPr>
                                      <a:rPr lang="en-US" sz="2000" b="0" i="1" smtClean="0">
                                        <a:latin typeface="Cambria Math" panose="02040503050406030204" pitchFamily="18" charset="0"/>
                                      </a:rPr>
                                    </m:ctrlPr>
                                  </m:dPr>
                                  <m:e>
                                    <m:r>
                                      <a:rPr lang="en-US" sz="2000" b="0" i="1" smtClean="0">
                                        <a:latin typeface="Cambria Math" panose="02040503050406030204" pitchFamily="18" charset="0"/>
                                      </a:rPr>
                                      <m:t>3</m:t>
                                    </m:r>
                                    <m:r>
                                      <a:rPr lang="en-US" sz="2000" b="0" i="1" smtClean="0">
                                        <a:latin typeface="Cambria Math" panose="02040503050406030204" pitchFamily="18" charset="0"/>
                                      </a:rPr>
                                      <m:t>.</m:t>
                                    </m:r>
                                    <m:r>
                                      <a:rPr lang="en-US" sz="2000" b="0" i="1" smtClean="0">
                                        <a:latin typeface="Cambria Math" panose="02040503050406030204" pitchFamily="18" charset="0"/>
                                      </a:rPr>
                                      <m:t>77</m:t>
                                    </m:r>
                                    <m:r>
                                      <a:rPr lang="en-US" sz="2000" b="0" i="1" smtClean="0">
                                        <a:latin typeface="Cambria Math" panose="02040503050406030204" pitchFamily="18" charset="0"/>
                                      </a:rPr>
                                      <m:t>±0.0</m:t>
                                    </m:r>
                                    <m:r>
                                      <a:rPr lang="en-US" sz="2000" b="0" i="1" smtClean="0">
                                        <a:latin typeface="Cambria Math" panose="02040503050406030204" pitchFamily="18" charset="0"/>
                                      </a:rPr>
                                      <m:t>1</m:t>
                                    </m:r>
                                  </m:e>
                                </m:d>
                                <m:r>
                                  <a:rPr lang="en-US" sz="2000" b="0" i="1" smtClean="0">
                                    <a:latin typeface="Cambria Math" panose="02040503050406030204" pitchFamily="18" charset="0"/>
                                  </a:rPr>
                                  <m:t>𝜇</m:t>
                                </m:r>
                                <m:r>
                                  <m:rPr>
                                    <m:sty m:val="p"/>
                                  </m:rPr>
                                  <a:rPr lang="en-US" sz="2000" b="0" i="0" smtClean="0">
                                    <a:latin typeface="Cambria Math" panose="02040503050406030204" pitchFamily="18" charset="0"/>
                                  </a:rPr>
                                  <m:t>rad</m:t>
                                </m:r>
                                <m:r>
                                  <a:rPr lang="en-US" sz="2000" b="0" i="0" smtClean="0">
                                    <a:latin typeface="Cambria Math" panose="02040503050406030204" pitchFamily="18" charset="0"/>
                                  </a:rPr>
                                  <m:t>/</m:t>
                                </m:r>
                                <m:r>
                                  <m:rPr>
                                    <m:sty m:val="p"/>
                                  </m:rPr>
                                  <a:rPr lang="en-US" sz="2000" b="0" i="0" smtClean="0">
                                    <a:latin typeface="Cambria Math" panose="02040503050406030204" pitchFamily="18" charset="0"/>
                                  </a:rPr>
                                  <m:t>mm</m:t>
                                </m:r>
                              </m:oMath>
                            </m:oMathPara>
                          </a14:m>
                          <a:endParaRPr lang="it-IT" sz="2000" i="0" dirty="0"/>
                        </a:p>
                      </a:txBody>
                      <a:tcPr anchor="ctr"/>
                    </a:tc>
                    <a:extLst>
                      <a:ext uri="{0D108BD9-81ED-4DB2-BD59-A6C34878D82A}">
                        <a16:rowId xmlns:a16="http://schemas.microsoft.com/office/drawing/2014/main" val="2691790256"/>
                      </a:ext>
                    </a:extLst>
                  </a:tr>
                </a:tbl>
              </a:graphicData>
            </a:graphic>
          </p:graphicFrame>
        </mc:Choice>
        <mc:Fallback>
          <p:graphicFrame>
            <p:nvGraphicFramePr>
              <p:cNvPr id="21" name="Table 20">
                <a:extLst>
                  <a:ext uri="{FF2B5EF4-FFF2-40B4-BE49-F238E27FC236}">
                    <a16:creationId xmlns:a16="http://schemas.microsoft.com/office/drawing/2014/main" id="{AB162D1F-451D-C16D-C2C1-906BD1DDC49E}"/>
                  </a:ext>
                </a:extLst>
              </p:cNvPr>
              <p:cNvGraphicFramePr>
                <a:graphicFrameLocks noGrp="1"/>
              </p:cNvGraphicFramePr>
              <p:nvPr>
                <p:extLst>
                  <p:ext uri="{D42A27DB-BD31-4B8C-83A1-F6EECF244321}">
                    <p14:modId xmlns:p14="http://schemas.microsoft.com/office/powerpoint/2010/main" val="3578224821"/>
                  </p:ext>
                </p:extLst>
              </p:nvPr>
            </p:nvGraphicFramePr>
            <p:xfrm>
              <a:off x="4016829" y="4334987"/>
              <a:ext cx="7479171" cy="1670924"/>
            </p:xfrm>
            <a:graphic>
              <a:graphicData uri="http://schemas.openxmlformats.org/drawingml/2006/table">
                <a:tbl>
                  <a:tblPr bandRow="1">
                    <a:tableStyleId>{5C22544A-7EE6-4342-B048-85BDC9FD1C3A}</a:tableStyleId>
                  </a:tblPr>
                  <a:tblGrid>
                    <a:gridCol w="2108662">
                      <a:extLst>
                        <a:ext uri="{9D8B030D-6E8A-4147-A177-3AD203B41FA5}">
                          <a16:colId xmlns:a16="http://schemas.microsoft.com/office/drawing/2014/main" val="1396093748"/>
                        </a:ext>
                      </a:extLst>
                    </a:gridCol>
                    <a:gridCol w="2463338">
                      <a:extLst>
                        <a:ext uri="{9D8B030D-6E8A-4147-A177-3AD203B41FA5}">
                          <a16:colId xmlns:a16="http://schemas.microsoft.com/office/drawing/2014/main" val="3624033113"/>
                        </a:ext>
                      </a:extLst>
                    </a:gridCol>
                    <a:gridCol w="2907171">
                      <a:extLst>
                        <a:ext uri="{9D8B030D-6E8A-4147-A177-3AD203B41FA5}">
                          <a16:colId xmlns:a16="http://schemas.microsoft.com/office/drawing/2014/main" val="1422303490"/>
                        </a:ext>
                      </a:extLst>
                    </a:gridCol>
                  </a:tblGrid>
                  <a:tr h="578966">
                    <a:tc>
                      <a:txBody>
                        <a:bodyPr/>
                        <a:lstStyle/>
                        <a:p>
                          <a:pPr algn="ctr"/>
                          <a:endParaRPr lang="it-IT" sz="2000" dirty="0"/>
                        </a:p>
                      </a:txBody>
                      <a:tcPr anchor="ctr">
                        <a:solidFill>
                          <a:schemeClr val="bg1"/>
                        </a:solidFill>
                      </a:tcPr>
                    </a:tc>
                    <a:tc>
                      <a:txBody>
                        <a:bodyPr/>
                        <a:lstStyle/>
                        <a:p>
                          <a:endParaRPr lang="it-IT"/>
                        </a:p>
                      </a:txBody>
                      <a:tcPr anchor="ctr">
                        <a:blipFill>
                          <a:blip r:embed="rId4"/>
                          <a:stretch>
                            <a:fillRect l="-85679" t="-1053" r="-118272" b="-194737"/>
                          </a:stretch>
                        </a:blipFill>
                      </a:tcPr>
                    </a:tc>
                    <a:tc>
                      <a:txBody>
                        <a:bodyPr/>
                        <a:lstStyle/>
                        <a:p>
                          <a:endParaRPr lang="it-IT"/>
                        </a:p>
                      </a:txBody>
                      <a:tcPr anchor="ctr">
                        <a:blipFill>
                          <a:blip r:embed="rId4"/>
                          <a:stretch>
                            <a:fillRect l="-157652" t="-1053" r="-419" b="-194737"/>
                          </a:stretch>
                        </a:blipFill>
                      </a:tcPr>
                    </a:tc>
                    <a:extLst>
                      <a:ext uri="{0D108BD9-81ED-4DB2-BD59-A6C34878D82A}">
                        <a16:rowId xmlns:a16="http://schemas.microsoft.com/office/drawing/2014/main" val="1714112372"/>
                      </a:ext>
                    </a:extLst>
                  </a:tr>
                  <a:tr h="545979">
                    <a:tc>
                      <a:txBody>
                        <a:bodyPr/>
                        <a:lstStyle/>
                        <a:p>
                          <a:pPr algn="ctr"/>
                          <a:r>
                            <a:rPr lang="en-US" sz="2000" dirty="0"/>
                            <a:t>long crystal 1</a:t>
                          </a:r>
                          <a:endParaRPr lang="it-IT" sz="2000" dirty="0"/>
                        </a:p>
                      </a:txBody>
                      <a:tcPr anchor="ctr"/>
                    </a:tc>
                    <a:tc>
                      <a:txBody>
                        <a:bodyPr/>
                        <a:lstStyle/>
                        <a:p>
                          <a:endParaRPr lang="it-IT"/>
                        </a:p>
                      </a:txBody>
                      <a:tcPr anchor="ctr">
                        <a:blipFill>
                          <a:blip r:embed="rId4"/>
                          <a:stretch>
                            <a:fillRect l="-85679" t="-106667" r="-118272" b="-105556"/>
                          </a:stretch>
                        </a:blipFill>
                      </a:tcPr>
                    </a:tc>
                    <a:tc>
                      <a:txBody>
                        <a:bodyPr/>
                        <a:lstStyle/>
                        <a:p>
                          <a:endParaRPr lang="it-IT"/>
                        </a:p>
                      </a:txBody>
                      <a:tcPr anchor="ctr">
                        <a:blipFill>
                          <a:blip r:embed="rId4"/>
                          <a:stretch>
                            <a:fillRect l="-157652" t="-106667" r="-419" b="-105556"/>
                          </a:stretch>
                        </a:blipFill>
                      </a:tcPr>
                    </a:tc>
                    <a:extLst>
                      <a:ext uri="{0D108BD9-81ED-4DB2-BD59-A6C34878D82A}">
                        <a16:rowId xmlns:a16="http://schemas.microsoft.com/office/drawing/2014/main" val="1412494383"/>
                      </a:ext>
                    </a:extLst>
                  </a:tr>
                  <a:tr h="545979">
                    <a:tc>
                      <a:txBody>
                        <a:bodyPr/>
                        <a:lstStyle/>
                        <a:p>
                          <a:pPr algn="ctr"/>
                          <a:r>
                            <a:rPr lang="en-US" sz="2000" dirty="0"/>
                            <a:t>long crystal 2</a:t>
                          </a:r>
                          <a:endParaRPr lang="it-IT" sz="2000" dirty="0"/>
                        </a:p>
                      </a:txBody>
                      <a:tcPr anchor="ctr"/>
                    </a:tc>
                    <a:tc>
                      <a:txBody>
                        <a:bodyPr/>
                        <a:lstStyle/>
                        <a:p>
                          <a:endParaRPr lang="it-IT"/>
                        </a:p>
                      </a:txBody>
                      <a:tcPr anchor="ctr">
                        <a:blipFill>
                          <a:blip r:embed="rId4"/>
                          <a:stretch>
                            <a:fillRect l="-85679" t="-206667" r="-118272" b="-5556"/>
                          </a:stretch>
                        </a:blipFill>
                      </a:tcPr>
                    </a:tc>
                    <a:tc>
                      <a:txBody>
                        <a:bodyPr/>
                        <a:lstStyle/>
                        <a:p>
                          <a:endParaRPr lang="it-IT"/>
                        </a:p>
                      </a:txBody>
                      <a:tcPr anchor="ctr">
                        <a:blipFill>
                          <a:blip r:embed="rId4"/>
                          <a:stretch>
                            <a:fillRect l="-157652" t="-206667" r="-419" b="-5556"/>
                          </a:stretch>
                        </a:blipFill>
                      </a:tcPr>
                    </a:tc>
                    <a:extLst>
                      <a:ext uri="{0D108BD9-81ED-4DB2-BD59-A6C34878D82A}">
                        <a16:rowId xmlns:a16="http://schemas.microsoft.com/office/drawing/2014/main" val="2691790256"/>
                      </a:ext>
                    </a:extLst>
                  </a:tr>
                </a:tbl>
              </a:graphicData>
            </a:graphic>
          </p:graphicFrame>
        </mc:Fallback>
      </mc:AlternateContent>
      <p:graphicFrame>
        <p:nvGraphicFramePr>
          <p:cNvPr id="25" name="Chart 24">
            <a:extLst>
              <a:ext uri="{FF2B5EF4-FFF2-40B4-BE49-F238E27FC236}">
                <a16:creationId xmlns:a16="http://schemas.microsoft.com/office/drawing/2014/main" id="{6BA99E5F-712D-796A-90D1-8D412E12925C}"/>
              </a:ext>
            </a:extLst>
          </p:cNvPr>
          <p:cNvGraphicFramePr/>
          <p:nvPr>
            <p:extLst>
              <p:ext uri="{D42A27DB-BD31-4B8C-83A1-F6EECF244321}">
                <p14:modId xmlns:p14="http://schemas.microsoft.com/office/powerpoint/2010/main" val="2824205074"/>
              </p:ext>
            </p:extLst>
          </p:nvPr>
        </p:nvGraphicFramePr>
        <p:xfrm>
          <a:off x="209291" y="1549599"/>
          <a:ext cx="4895881" cy="3314073"/>
        </p:xfrm>
        <a:graphic>
          <a:graphicData uri="http://schemas.openxmlformats.org/drawingml/2006/chart">
            <c:chart xmlns:c="http://schemas.openxmlformats.org/drawingml/2006/chart" xmlns:r="http://schemas.openxmlformats.org/officeDocument/2006/relationships" r:id="rId5"/>
          </a:graphicData>
        </a:graphic>
      </p:graphicFrame>
      <p:sp>
        <p:nvSpPr>
          <p:cNvPr id="26" name="TextBox 25">
            <a:extLst>
              <a:ext uri="{FF2B5EF4-FFF2-40B4-BE49-F238E27FC236}">
                <a16:creationId xmlns:a16="http://schemas.microsoft.com/office/drawing/2014/main" id="{4785B653-A205-3195-DCFE-52287B16E511}"/>
              </a:ext>
            </a:extLst>
          </p:cNvPr>
          <p:cNvSpPr txBox="1"/>
          <p:nvPr/>
        </p:nvSpPr>
        <p:spPr>
          <a:xfrm>
            <a:off x="1786467" y="1222745"/>
            <a:ext cx="3318704" cy="369332"/>
          </a:xfrm>
          <a:prstGeom prst="rect">
            <a:avLst/>
          </a:prstGeom>
          <a:noFill/>
        </p:spPr>
        <p:txBody>
          <a:bodyPr wrap="square" rtlCol="0">
            <a:spAutoFit/>
          </a:bodyPr>
          <a:lstStyle/>
          <a:p>
            <a:r>
              <a:rPr lang="en-US" b="1" i="1" dirty="0">
                <a:solidFill>
                  <a:srgbClr val="FFC000"/>
                </a:solidFill>
              </a:rPr>
              <a:t>crystal 1	                    crystal 2</a:t>
            </a:r>
            <a:endParaRPr lang="it-IT" b="1" i="1" dirty="0">
              <a:solidFill>
                <a:srgbClr val="FFC000"/>
              </a:solidFill>
            </a:endParaRPr>
          </a:p>
        </p:txBody>
      </p:sp>
      <p:sp>
        <p:nvSpPr>
          <p:cNvPr id="27" name="Right Brace 26">
            <a:extLst>
              <a:ext uri="{FF2B5EF4-FFF2-40B4-BE49-F238E27FC236}">
                <a16:creationId xmlns:a16="http://schemas.microsoft.com/office/drawing/2014/main" id="{EB89B0A8-EC12-C7D5-897D-8B627041D8C2}"/>
              </a:ext>
            </a:extLst>
          </p:cNvPr>
          <p:cNvSpPr/>
          <p:nvPr/>
        </p:nvSpPr>
        <p:spPr>
          <a:xfrm rot="16200000" flipV="1">
            <a:off x="2025135" y="678928"/>
            <a:ext cx="369330" cy="2185088"/>
          </a:xfrm>
          <a:prstGeom prst="rightBrace">
            <a:avLst>
              <a:gd name="adj1" fmla="val 35093"/>
              <a:gd name="adj2" fmla="val 50000"/>
            </a:avLst>
          </a:prstGeom>
          <a:ln w="38100">
            <a:solidFill>
              <a:srgbClr val="FFC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29" name="Right Brace 28">
            <a:extLst>
              <a:ext uri="{FF2B5EF4-FFF2-40B4-BE49-F238E27FC236}">
                <a16:creationId xmlns:a16="http://schemas.microsoft.com/office/drawing/2014/main" id="{1B33DB2E-91E7-3650-6820-CF696400EB1A}"/>
              </a:ext>
            </a:extLst>
          </p:cNvPr>
          <p:cNvSpPr/>
          <p:nvPr/>
        </p:nvSpPr>
        <p:spPr>
          <a:xfrm rot="16200000" flipV="1">
            <a:off x="4027444" y="946029"/>
            <a:ext cx="369330" cy="1650885"/>
          </a:xfrm>
          <a:prstGeom prst="rightBrace">
            <a:avLst>
              <a:gd name="adj1" fmla="val 35093"/>
              <a:gd name="adj2" fmla="val 50000"/>
            </a:avLst>
          </a:prstGeom>
          <a:ln w="38100">
            <a:solidFill>
              <a:srgbClr val="FFC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31" name="Arco 16">
            <a:extLst>
              <a:ext uri="{FF2B5EF4-FFF2-40B4-BE49-F238E27FC236}">
                <a16:creationId xmlns:a16="http://schemas.microsoft.com/office/drawing/2014/main" id="{C6FED77F-6387-186B-A018-FE3D842D51C3}"/>
              </a:ext>
            </a:extLst>
          </p:cNvPr>
          <p:cNvSpPr/>
          <p:nvPr/>
        </p:nvSpPr>
        <p:spPr>
          <a:xfrm rot="8850232" flipV="1">
            <a:off x="2304311" y="4481560"/>
            <a:ext cx="2588045" cy="3749579"/>
          </a:xfrm>
          <a:prstGeom prst="arc">
            <a:avLst>
              <a:gd name="adj1" fmla="val 16144804"/>
              <a:gd name="adj2" fmla="val 17247337"/>
            </a:avLst>
          </a:prstGeom>
          <a:ln w="19050">
            <a:solidFill>
              <a:srgbClr val="FF0000"/>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33" name="Ovale 13">
            <a:extLst>
              <a:ext uri="{FF2B5EF4-FFF2-40B4-BE49-F238E27FC236}">
                <a16:creationId xmlns:a16="http://schemas.microsoft.com/office/drawing/2014/main" id="{95818692-E570-77C8-8B24-38F4A82ECD07}"/>
              </a:ext>
            </a:extLst>
          </p:cNvPr>
          <p:cNvSpPr/>
          <p:nvPr/>
        </p:nvSpPr>
        <p:spPr>
          <a:xfrm>
            <a:off x="2516463" y="3678664"/>
            <a:ext cx="952124" cy="1312645"/>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4" name="TextBox 33">
            <a:extLst>
              <a:ext uri="{FF2B5EF4-FFF2-40B4-BE49-F238E27FC236}">
                <a16:creationId xmlns:a16="http://schemas.microsoft.com/office/drawing/2014/main" id="{1DB2CDB1-FFEF-F214-9A0A-BDED7AB1D3C6}"/>
              </a:ext>
            </a:extLst>
          </p:cNvPr>
          <p:cNvSpPr txBox="1"/>
          <p:nvPr/>
        </p:nvSpPr>
        <p:spPr>
          <a:xfrm>
            <a:off x="1385443" y="5170449"/>
            <a:ext cx="1704890" cy="369332"/>
          </a:xfrm>
          <a:prstGeom prst="rect">
            <a:avLst/>
          </a:prstGeom>
          <a:noFill/>
        </p:spPr>
        <p:txBody>
          <a:bodyPr wrap="square" rtlCol="0">
            <a:spAutoFit/>
          </a:bodyPr>
          <a:lstStyle/>
          <a:p>
            <a:r>
              <a:rPr lang="en-US" i="1" dirty="0">
                <a:solidFill>
                  <a:srgbClr val="FF0000"/>
                </a:solidFill>
              </a:rPr>
              <a:t>anomalous run</a:t>
            </a:r>
            <a:endParaRPr lang="it-IT" i="1" dirty="0">
              <a:solidFill>
                <a:srgbClr val="FF0000"/>
              </a:solidFill>
            </a:endParaRPr>
          </a:p>
        </p:txBody>
      </p:sp>
    </p:spTree>
    <p:extLst>
      <p:ext uri="{BB962C8B-B14F-4D97-AF65-F5344CB8AC3E}">
        <p14:creationId xmlns:p14="http://schemas.microsoft.com/office/powerpoint/2010/main" val="24278646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37D31-D893-2CE6-942A-F04BB6A37AB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FC4E31E-F294-EFB3-D9AF-550A60A18156}"/>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en-US" sz="4000" b="1" dirty="0">
                <a:solidFill>
                  <a:srgbClr val="002060"/>
                </a:solidFill>
              </a:rPr>
              <a:t>	CHANNELING EFFICIENCY: RESULTS</a:t>
            </a:r>
            <a:endParaRPr lang="it-IT" sz="4000" b="1" dirty="0">
              <a:solidFill>
                <a:srgbClr val="002060"/>
              </a:solidFill>
            </a:endParaRPr>
          </a:p>
        </p:txBody>
      </p:sp>
      <p:sp>
        <p:nvSpPr>
          <p:cNvPr id="4" name="Segnaposto data 3">
            <a:extLst>
              <a:ext uri="{FF2B5EF4-FFF2-40B4-BE49-F238E27FC236}">
                <a16:creationId xmlns:a16="http://schemas.microsoft.com/office/drawing/2014/main" id="{E655B270-36C8-A247-9775-6194D1010CBE}"/>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EE9FD5BA-1AFB-F0F3-CD34-0B6F2454C018}"/>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cxnSp>
        <p:nvCxnSpPr>
          <p:cNvPr id="10" name="Connettore diritto 9">
            <a:extLst>
              <a:ext uri="{FF2B5EF4-FFF2-40B4-BE49-F238E27FC236}">
                <a16:creationId xmlns:a16="http://schemas.microsoft.com/office/drawing/2014/main" id="{880CFADA-D4FB-FA6A-F5A9-634D96675E2F}"/>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8" name="Titolo 1">
            <a:extLst>
              <a:ext uri="{FF2B5EF4-FFF2-40B4-BE49-F238E27FC236}">
                <a16:creationId xmlns:a16="http://schemas.microsoft.com/office/drawing/2014/main" id="{A46B29AF-D888-2540-0675-1E07A3A69295}"/>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ANALYSIS</a:t>
            </a:r>
            <a:endParaRPr lang="it-IT" sz="2000" b="1" i="1" dirty="0">
              <a:solidFill>
                <a:srgbClr val="002060"/>
              </a:solidFill>
              <a:ea typeface="Calibri" panose="020F0502020204030204" pitchFamily="34" charset="0"/>
              <a:cs typeface="Calibri" panose="020F0502020204030204" pitchFamily="34" charset="0"/>
            </a:endParaRPr>
          </a:p>
        </p:txBody>
      </p:sp>
      <p:sp>
        <p:nvSpPr>
          <p:cNvPr id="6" name="Segnaposto numero diapositiva 5">
            <a:extLst>
              <a:ext uri="{FF2B5EF4-FFF2-40B4-BE49-F238E27FC236}">
                <a16:creationId xmlns:a16="http://schemas.microsoft.com/office/drawing/2014/main" id="{9931B6A5-1D71-5346-5C6B-772EEB45B3B1}"/>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13</a:t>
            </a:fld>
            <a:endParaRPr lang="it-IT" sz="1500" b="1" dirty="0">
              <a:solidFill>
                <a:srgbClr val="002060"/>
              </a:solidFill>
            </a:endParaRPr>
          </a:p>
        </p:txBody>
      </p:sp>
      <p:grpSp>
        <p:nvGrpSpPr>
          <p:cNvPr id="9" name="Group 8">
            <a:extLst>
              <a:ext uri="{FF2B5EF4-FFF2-40B4-BE49-F238E27FC236}">
                <a16:creationId xmlns:a16="http://schemas.microsoft.com/office/drawing/2014/main" id="{9B960D55-6A0E-2DA2-D8AA-51FB868E5049}"/>
              </a:ext>
            </a:extLst>
          </p:cNvPr>
          <p:cNvGrpSpPr/>
          <p:nvPr/>
        </p:nvGrpSpPr>
        <p:grpSpPr>
          <a:xfrm>
            <a:off x="696000" y="2713747"/>
            <a:ext cx="5519744" cy="2329867"/>
            <a:chOff x="695999" y="2186851"/>
            <a:chExt cx="5519744" cy="2329867"/>
          </a:xfrm>
        </p:grpSpPr>
        <mc:AlternateContent xmlns:mc="http://schemas.openxmlformats.org/markup-compatibility/2006">
          <mc:Choice xmlns:a14="http://schemas.microsoft.com/office/drawing/2010/main" Requires="a14">
            <p:sp>
              <p:nvSpPr>
                <p:cNvPr id="12" name="Rettangolo con angoli arrotondati 25">
                  <a:extLst>
                    <a:ext uri="{FF2B5EF4-FFF2-40B4-BE49-F238E27FC236}">
                      <a16:creationId xmlns:a16="http://schemas.microsoft.com/office/drawing/2014/main" id="{6FACF35E-86BA-B6D8-5F74-1605F7ED0041}"/>
                    </a:ext>
                  </a:extLst>
                </p:cNvPr>
                <p:cNvSpPr/>
                <p:nvPr/>
              </p:nvSpPr>
              <p:spPr>
                <a:xfrm>
                  <a:off x="696000" y="2186851"/>
                  <a:ext cx="5519743" cy="1085980"/>
                </a:xfrm>
                <a:prstGeom prst="roundRect">
                  <a:avLst/>
                </a:prstGeom>
                <a:solidFill>
                  <a:srgbClr val="002060"/>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600" b="1" dirty="0">
                      <a:solidFill>
                        <a:srgbClr val="FFC000"/>
                      </a:solidFill>
                    </a:rPr>
                    <a:t>Long crystal 1</a:t>
                  </a:r>
                </a:p>
                <a:p>
                  <a:pPr algn="ctr"/>
                  <a14:m>
                    <m:oMathPara xmlns:m="http://schemas.openxmlformats.org/officeDocument/2006/math">
                      <m:oMath>
                        <m:r>
                          <a:rPr lang="it-IT" sz="2800" b="1" i="1" dirty="0" smtClean="0">
                            <a:solidFill>
                              <a:srgbClr val="FFC000"/>
                            </a:solidFill>
                            <a:latin typeface="Cambria Math" panose="02040503050406030204" pitchFamily="18" charset="0"/>
                          </a:rPr>
                          <m:t>(</m:t>
                        </m:r>
                        <m:r>
                          <a:rPr lang="en-US" sz="2800" b="1" i="1" dirty="0" smtClean="0">
                            <a:solidFill>
                              <a:srgbClr val="FFC000"/>
                            </a:solidFill>
                            <a:latin typeface="Cambria Math" panose="02040503050406030204" pitchFamily="18" charset="0"/>
                          </a:rPr>
                          <m:t>𝟏𝟗</m:t>
                        </m:r>
                        <m:r>
                          <a:rPr lang="en-US" sz="2800" b="1" i="1" dirty="0" smtClean="0">
                            <a:solidFill>
                              <a:srgbClr val="FFC000"/>
                            </a:solidFill>
                            <a:latin typeface="Cambria Math" panose="02040503050406030204" pitchFamily="18" charset="0"/>
                          </a:rPr>
                          <m:t>.</m:t>
                        </m:r>
                        <m:r>
                          <a:rPr lang="en-US" sz="2800" b="1" i="1" dirty="0" smtClean="0">
                            <a:solidFill>
                              <a:srgbClr val="FFC000"/>
                            </a:solidFill>
                            <a:latin typeface="Cambria Math" panose="02040503050406030204" pitchFamily="18" charset="0"/>
                          </a:rPr>
                          <m:t>𝟒</m:t>
                        </m:r>
                        <m:r>
                          <a:rPr lang="en-US" sz="2800" b="1" i="1" dirty="0" smtClean="0">
                            <a:solidFill>
                              <a:srgbClr val="FFC000"/>
                            </a:solidFill>
                            <a:latin typeface="Cambria Math" panose="02040503050406030204" pitchFamily="18" charset="0"/>
                          </a:rPr>
                          <m:t>±</m:t>
                        </m:r>
                        <m:r>
                          <a:rPr lang="en-US" sz="2800" b="1" i="1" dirty="0" smtClean="0">
                            <a:solidFill>
                              <a:srgbClr val="FFC000"/>
                            </a:solidFill>
                            <a:latin typeface="Cambria Math" panose="02040503050406030204" pitchFamily="18" charset="0"/>
                          </a:rPr>
                          <m:t>𝟎</m:t>
                        </m:r>
                        <m:r>
                          <a:rPr lang="en-US" sz="2800" b="1" i="1" dirty="0" smtClean="0">
                            <a:solidFill>
                              <a:srgbClr val="FFC000"/>
                            </a:solidFill>
                            <a:latin typeface="Cambria Math" panose="02040503050406030204" pitchFamily="18" charset="0"/>
                          </a:rPr>
                          <m:t>.</m:t>
                        </m:r>
                        <m:r>
                          <a:rPr lang="en-US" sz="2800" b="1" i="1" dirty="0" smtClean="0">
                            <a:solidFill>
                              <a:srgbClr val="FFC000"/>
                            </a:solidFill>
                            <a:latin typeface="Cambria Math" panose="02040503050406030204" pitchFamily="18" charset="0"/>
                          </a:rPr>
                          <m:t>𝟏</m:t>
                        </m:r>
                        <m:r>
                          <a:rPr lang="en-US" sz="2800" b="1" i="0" dirty="0" smtClean="0">
                            <a:solidFill>
                              <a:srgbClr val="FFC000"/>
                            </a:solidFill>
                            <a:latin typeface="Cambria Math" panose="02040503050406030204" pitchFamily="18" charset="0"/>
                          </a:rPr>
                          <m:t>[</m:t>
                        </m:r>
                        <m:r>
                          <a:rPr lang="en-US" sz="2800" b="1" i="0" dirty="0" smtClean="0">
                            <a:solidFill>
                              <a:srgbClr val="FFC000"/>
                            </a:solidFill>
                            <a:latin typeface="Cambria Math" panose="02040503050406030204" pitchFamily="18" charset="0"/>
                          </a:rPr>
                          <m:t>𝐬𝐭𝐚𝐭</m:t>
                        </m:r>
                        <m:r>
                          <a:rPr lang="en-US" sz="2800" b="1" i="0" dirty="0" smtClean="0">
                            <a:solidFill>
                              <a:srgbClr val="FFC000"/>
                            </a:solidFill>
                            <a:latin typeface="Cambria Math" panose="02040503050406030204" pitchFamily="18" charset="0"/>
                          </a:rPr>
                          <m:t>]±</m:t>
                        </m:r>
                        <m:r>
                          <a:rPr lang="en-US" sz="2800" b="1" i="1" dirty="0" smtClean="0">
                            <a:solidFill>
                              <a:srgbClr val="FFC000"/>
                            </a:solidFill>
                            <a:latin typeface="Cambria Math" panose="02040503050406030204" pitchFamily="18" charset="0"/>
                          </a:rPr>
                          <m:t>𝟎</m:t>
                        </m:r>
                        <m:r>
                          <a:rPr lang="en-US" sz="2800" b="1" i="1" dirty="0" smtClean="0">
                            <a:solidFill>
                              <a:srgbClr val="FFC000"/>
                            </a:solidFill>
                            <a:latin typeface="Cambria Math" panose="02040503050406030204" pitchFamily="18" charset="0"/>
                          </a:rPr>
                          <m:t>.</m:t>
                        </m:r>
                        <m:r>
                          <a:rPr lang="en-US" sz="2800" b="1" i="1" dirty="0" smtClean="0">
                            <a:solidFill>
                              <a:srgbClr val="FFC000"/>
                            </a:solidFill>
                            <a:latin typeface="Cambria Math" panose="02040503050406030204" pitchFamily="18" charset="0"/>
                          </a:rPr>
                          <m:t>𝟐</m:t>
                        </m:r>
                        <m:r>
                          <a:rPr lang="en-US" sz="2800" b="1" i="0" dirty="0" smtClean="0">
                            <a:solidFill>
                              <a:srgbClr val="FFC000"/>
                            </a:solidFill>
                            <a:latin typeface="Cambria Math" panose="02040503050406030204" pitchFamily="18" charset="0"/>
                          </a:rPr>
                          <m:t>[</m:t>
                        </m:r>
                        <m:r>
                          <a:rPr lang="en-US" sz="2800" b="1" i="0" dirty="0" smtClean="0">
                            <a:solidFill>
                              <a:srgbClr val="FFC000"/>
                            </a:solidFill>
                            <a:latin typeface="Cambria Math" panose="02040503050406030204" pitchFamily="18" charset="0"/>
                          </a:rPr>
                          <m:t>𝐬𝐲𝐬𝐭</m:t>
                        </m:r>
                        <m:r>
                          <a:rPr lang="en-US" sz="2800" b="1" i="0" dirty="0" smtClean="0">
                            <a:solidFill>
                              <a:srgbClr val="FFC000"/>
                            </a:solidFill>
                            <a:latin typeface="Cambria Math" panose="02040503050406030204" pitchFamily="18" charset="0"/>
                          </a:rPr>
                          <m:t>])%</m:t>
                        </m:r>
                      </m:oMath>
                    </m:oMathPara>
                  </a14:m>
                  <a:endParaRPr lang="it-IT" sz="2800" b="1" dirty="0">
                    <a:solidFill>
                      <a:srgbClr val="FFC000"/>
                    </a:solidFill>
                  </a:endParaRPr>
                </a:p>
              </p:txBody>
            </p:sp>
          </mc:Choice>
          <mc:Fallback>
            <p:sp>
              <p:nvSpPr>
                <p:cNvPr id="12" name="Rettangolo con angoli arrotondati 25">
                  <a:extLst>
                    <a:ext uri="{FF2B5EF4-FFF2-40B4-BE49-F238E27FC236}">
                      <a16:creationId xmlns:a16="http://schemas.microsoft.com/office/drawing/2014/main" id="{6FACF35E-86BA-B6D8-5F74-1605F7ED0041}"/>
                    </a:ext>
                  </a:extLst>
                </p:cNvPr>
                <p:cNvSpPr>
                  <a:spLocks noRot="1" noChangeAspect="1" noMove="1" noResize="1" noEditPoints="1" noAdjustHandles="1" noChangeArrowheads="1" noChangeShapeType="1" noTextEdit="1"/>
                </p:cNvSpPr>
                <p:nvPr/>
              </p:nvSpPr>
              <p:spPr>
                <a:xfrm>
                  <a:off x="696000" y="2186851"/>
                  <a:ext cx="5519743" cy="1085980"/>
                </a:xfrm>
                <a:prstGeom prst="roundRect">
                  <a:avLst/>
                </a:prstGeom>
                <a:blipFill>
                  <a:blip r:embed="rId3"/>
                  <a:stretch>
                    <a:fillRect/>
                  </a:stretch>
                </a:blipFill>
                <a:ln w="38100">
                  <a:solidFill>
                    <a:srgbClr val="002060"/>
                  </a:solidFill>
                </a:ln>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7" name="Rettangolo con angoli arrotondati 25">
                  <a:extLst>
                    <a:ext uri="{FF2B5EF4-FFF2-40B4-BE49-F238E27FC236}">
                      <a16:creationId xmlns:a16="http://schemas.microsoft.com/office/drawing/2014/main" id="{02A890C8-A190-EB52-E092-1BE70C55A884}"/>
                    </a:ext>
                  </a:extLst>
                </p:cNvPr>
                <p:cNvSpPr/>
                <p:nvPr/>
              </p:nvSpPr>
              <p:spPr>
                <a:xfrm>
                  <a:off x="695999" y="3430738"/>
                  <a:ext cx="5519743" cy="1085980"/>
                </a:xfrm>
                <a:prstGeom prst="roundRect">
                  <a:avLst/>
                </a:prstGeom>
                <a:solidFill>
                  <a:srgbClr val="002060"/>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600" b="1" dirty="0">
                      <a:solidFill>
                        <a:srgbClr val="FFC000"/>
                      </a:solidFill>
                    </a:rPr>
                    <a:t>Long crystal 2</a:t>
                  </a:r>
                </a:p>
                <a:p>
                  <a:pPr algn="ctr"/>
                  <a14:m>
                    <m:oMathPara xmlns:m="http://schemas.openxmlformats.org/officeDocument/2006/math">
                      <m:oMath>
                        <m:r>
                          <a:rPr lang="it-IT" sz="2800" b="1" i="1" dirty="0" smtClean="0">
                            <a:solidFill>
                              <a:srgbClr val="FFC000"/>
                            </a:solidFill>
                            <a:latin typeface="Cambria Math" panose="02040503050406030204" pitchFamily="18" charset="0"/>
                          </a:rPr>
                          <m:t>(</m:t>
                        </m:r>
                        <m:r>
                          <a:rPr lang="en-US" sz="2800" b="1" i="1" dirty="0" smtClean="0">
                            <a:solidFill>
                              <a:srgbClr val="FFC000"/>
                            </a:solidFill>
                            <a:latin typeface="Cambria Math" panose="02040503050406030204" pitchFamily="18" charset="0"/>
                          </a:rPr>
                          <m:t>𝟏</m:t>
                        </m:r>
                        <m:r>
                          <a:rPr lang="en-US" sz="2800" b="1" i="1" dirty="0" smtClean="0">
                            <a:solidFill>
                              <a:srgbClr val="FFC000"/>
                            </a:solidFill>
                            <a:latin typeface="Cambria Math" panose="02040503050406030204" pitchFamily="18" charset="0"/>
                          </a:rPr>
                          <m:t>𝟖</m:t>
                        </m:r>
                        <m:r>
                          <a:rPr lang="en-US" sz="2800" b="1" i="1" dirty="0" smtClean="0">
                            <a:solidFill>
                              <a:srgbClr val="FFC000"/>
                            </a:solidFill>
                            <a:latin typeface="Cambria Math" panose="02040503050406030204" pitchFamily="18" charset="0"/>
                          </a:rPr>
                          <m:t>.</m:t>
                        </m:r>
                        <m:r>
                          <a:rPr lang="en-US" sz="2800" b="1" i="1" dirty="0" smtClean="0">
                            <a:solidFill>
                              <a:srgbClr val="FFC000"/>
                            </a:solidFill>
                            <a:latin typeface="Cambria Math" panose="02040503050406030204" pitchFamily="18" charset="0"/>
                          </a:rPr>
                          <m:t>𝟎</m:t>
                        </m:r>
                        <m:r>
                          <a:rPr lang="en-US" sz="2800" b="1" i="1" dirty="0" smtClean="0">
                            <a:solidFill>
                              <a:srgbClr val="FFC000"/>
                            </a:solidFill>
                            <a:latin typeface="Cambria Math" panose="02040503050406030204" pitchFamily="18" charset="0"/>
                          </a:rPr>
                          <m:t>±</m:t>
                        </m:r>
                        <m:r>
                          <a:rPr lang="en-US" sz="2800" b="1" i="1" dirty="0" smtClean="0">
                            <a:solidFill>
                              <a:srgbClr val="FFC000"/>
                            </a:solidFill>
                            <a:latin typeface="Cambria Math" panose="02040503050406030204" pitchFamily="18" charset="0"/>
                          </a:rPr>
                          <m:t>𝟎</m:t>
                        </m:r>
                        <m:r>
                          <a:rPr lang="en-US" sz="2800" b="1" i="1" dirty="0" smtClean="0">
                            <a:solidFill>
                              <a:srgbClr val="FFC000"/>
                            </a:solidFill>
                            <a:latin typeface="Cambria Math" panose="02040503050406030204" pitchFamily="18" charset="0"/>
                          </a:rPr>
                          <m:t>.</m:t>
                        </m:r>
                        <m:r>
                          <a:rPr lang="en-US" sz="2800" b="1" i="1" dirty="0" smtClean="0">
                            <a:solidFill>
                              <a:srgbClr val="FFC000"/>
                            </a:solidFill>
                            <a:latin typeface="Cambria Math" panose="02040503050406030204" pitchFamily="18" charset="0"/>
                          </a:rPr>
                          <m:t>𝟏</m:t>
                        </m:r>
                        <m:r>
                          <a:rPr lang="en-US" sz="2800" b="1" i="0" dirty="0" smtClean="0">
                            <a:solidFill>
                              <a:srgbClr val="FFC000"/>
                            </a:solidFill>
                            <a:latin typeface="Cambria Math" panose="02040503050406030204" pitchFamily="18" charset="0"/>
                          </a:rPr>
                          <m:t>[</m:t>
                        </m:r>
                        <m:r>
                          <a:rPr lang="en-US" sz="2800" b="1" i="0" dirty="0" smtClean="0">
                            <a:solidFill>
                              <a:srgbClr val="FFC000"/>
                            </a:solidFill>
                            <a:latin typeface="Cambria Math" panose="02040503050406030204" pitchFamily="18" charset="0"/>
                          </a:rPr>
                          <m:t>𝐬𝐭𝐚𝐭</m:t>
                        </m:r>
                        <m:r>
                          <a:rPr lang="en-US" sz="2800" b="1" i="0" dirty="0" smtClean="0">
                            <a:solidFill>
                              <a:srgbClr val="FFC000"/>
                            </a:solidFill>
                            <a:latin typeface="Cambria Math" panose="02040503050406030204" pitchFamily="18" charset="0"/>
                          </a:rPr>
                          <m:t>]±</m:t>
                        </m:r>
                        <m:r>
                          <a:rPr lang="en-US" sz="2800" b="1" i="1" dirty="0" smtClean="0">
                            <a:solidFill>
                              <a:srgbClr val="FFC000"/>
                            </a:solidFill>
                            <a:latin typeface="Cambria Math" panose="02040503050406030204" pitchFamily="18" charset="0"/>
                          </a:rPr>
                          <m:t>𝟎</m:t>
                        </m:r>
                        <m:r>
                          <a:rPr lang="en-US" sz="2800" b="1" i="1" dirty="0" smtClean="0">
                            <a:solidFill>
                              <a:srgbClr val="FFC000"/>
                            </a:solidFill>
                            <a:latin typeface="Cambria Math" panose="02040503050406030204" pitchFamily="18" charset="0"/>
                          </a:rPr>
                          <m:t>.</m:t>
                        </m:r>
                        <m:r>
                          <a:rPr lang="en-US" sz="2800" b="1" i="1" dirty="0" smtClean="0">
                            <a:solidFill>
                              <a:srgbClr val="FFC000"/>
                            </a:solidFill>
                            <a:latin typeface="Cambria Math" panose="02040503050406030204" pitchFamily="18" charset="0"/>
                          </a:rPr>
                          <m:t>𝟐</m:t>
                        </m:r>
                        <m:r>
                          <a:rPr lang="en-US" sz="2800" b="1" i="0" dirty="0" smtClean="0">
                            <a:solidFill>
                              <a:srgbClr val="FFC000"/>
                            </a:solidFill>
                            <a:latin typeface="Cambria Math" panose="02040503050406030204" pitchFamily="18" charset="0"/>
                          </a:rPr>
                          <m:t>[</m:t>
                        </m:r>
                        <m:r>
                          <a:rPr lang="en-US" sz="2800" b="1" i="0" dirty="0" smtClean="0">
                            <a:solidFill>
                              <a:srgbClr val="FFC000"/>
                            </a:solidFill>
                            <a:latin typeface="Cambria Math" panose="02040503050406030204" pitchFamily="18" charset="0"/>
                          </a:rPr>
                          <m:t>𝐬𝐲𝐬𝐭</m:t>
                        </m:r>
                        <m:r>
                          <a:rPr lang="en-US" sz="2800" b="1" i="0" dirty="0" smtClean="0">
                            <a:solidFill>
                              <a:srgbClr val="FFC000"/>
                            </a:solidFill>
                            <a:latin typeface="Cambria Math" panose="02040503050406030204" pitchFamily="18" charset="0"/>
                          </a:rPr>
                          <m:t>])%</m:t>
                        </m:r>
                      </m:oMath>
                    </m:oMathPara>
                  </a14:m>
                  <a:endParaRPr lang="it-IT" sz="2800" b="1" dirty="0">
                    <a:solidFill>
                      <a:srgbClr val="FFC000"/>
                    </a:solidFill>
                  </a:endParaRPr>
                </a:p>
              </p:txBody>
            </p:sp>
          </mc:Choice>
          <mc:Fallback>
            <p:sp>
              <p:nvSpPr>
                <p:cNvPr id="7" name="Rettangolo con angoli arrotondati 25">
                  <a:extLst>
                    <a:ext uri="{FF2B5EF4-FFF2-40B4-BE49-F238E27FC236}">
                      <a16:creationId xmlns:a16="http://schemas.microsoft.com/office/drawing/2014/main" id="{02A890C8-A190-EB52-E092-1BE70C55A884}"/>
                    </a:ext>
                  </a:extLst>
                </p:cNvPr>
                <p:cNvSpPr>
                  <a:spLocks noRot="1" noChangeAspect="1" noMove="1" noResize="1" noEditPoints="1" noAdjustHandles="1" noChangeArrowheads="1" noChangeShapeType="1" noTextEdit="1"/>
                </p:cNvSpPr>
                <p:nvPr/>
              </p:nvSpPr>
              <p:spPr>
                <a:xfrm>
                  <a:off x="695999" y="3430738"/>
                  <a:ext cx="5519743" cy="1085980"/>
                </a:xfrm>
                <a:prstGeom prst="roundRect">
                  <a:avLst/>
                </a:prstGeom>
                <a:blipFill>
                  <a:blip r:embed="rId4"/>
                  <a:stretch>
                    <a:fillRect/>
                  </a:stretch>
                </a:blipFill>
                <a:ln w="38100">
                  <a:solidFill>
                    <a:srgbClr val="002060"/>
                  </a:solidFill>
                </a:ln>
              </p:spPr>
              <p:txBody>
                <a:bodyPr/>
                <a:lstStyle/>
                <a:p>
                  <a:r>
                    <a:rPr lang="it-IT">
                      <a:noFill/>
                    </a:rPr>
                    <a:t> </a:t>
                  </a:r>
                </a:p>
              </p:txBody>
            </p:sp>
          </mc:Fallback>
        </mc:AlternateContent>
      </p:grpSp>
      <p:sp>
        <p:nvSpPr>
          <p:cNvPr id="13" name="Right Brace 12">
            <a:extLst>
              <a:ext uri="{FF2B5EF4-FFF2-40B4-BE49-F238E27FC236}">
                <a16:creationId xmlns:a16="http://schemas.microsoft.com/office/drawing/2014/main" id="{1534B93A-C26E-2679-DCBF-D3323BA34757}"/>
              </a:ext>
            </a:extLst>
          </p:cNvPr>
          <p:cNvSpPr/>
          <p:nvPr/>
        </p:nvSpPr>
        <p:spPr>
          <a:xfrm rot="10800000" flipV="1">
            <a:off x="6792415" y="2708448"/>
            <a:ext cx="577214" cy="2335166"/>
          </a:xfrm>
          <a:prstGeom prst="rightBrace">
            <a:avLst>
              <a:gd name="adj1" fmla="val 35093"/>
              <a:gd name="adj2" fmla="val 50000"/>
            </a:avLst>
          </a:prstGeom>
          <a:ln w="38100">
            <a:solidFill>
              <a:srgbClr val="FFC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14" name="TextBox 13">
            <a:extLst>
              <a:ext uri="{FF2B5EF4-FFF2-40B4-BE49-F238E27FC236}">
                <a16:creationId xmlns:a16="http://schemas.microsoft.com/office/drawing/2014/main" id="{282FA1CC-4260-32CA-FD2D-C8434BD2B963}"/>
              </a:ext>
            </a:extLst>
          </p:cNvPr>
          <p:cNvSpPr txBox="1"/>
          <p:nvPr/>
        </p:nvSpPr>
        <p:spPr>
          <a:xfrm>
            <a:off x="6330748" y="2708448"/>
            <a:ext cx="461665" cy="2335166"/>
          </a:xfrm>
          <a:prstGeom prst="rect">
            <a:avLst/>
          </a:prstGeom>
          <a:noFill/>
        </p:spPr>
        <p:txBody>
          <a:bodyPr vert="vert270" wrap="square" rtlCol="0">
            <a:spAutoFit/>
          </a:bodyPr>
          <a:lstStyle/>
          <a:p>
            <a:pPr algn="ctr"/>
            <a:r>
              <a:rPr lang="en-US" dirty="0"/>
              <a:t>ERROR BUDGET</a:t>
            </a:r>
            <a:endParaRPr lang="it-IT" dirty="0"/>
          </a:p>
        </p:txBody>
      </p:sp>
      <p:sp>
        <p:nvSpPr>
          <p:cNvPr id="15" name="TextBox 14">
            <a:extLst>
              <a:ext uri="{FF2B5EF4-FFF2-40B4-BE49-F238E27FC236}">
                <a16:creationId xmlns:a16="http://schemas.microsoft.com/office/drawing/2014/main" id="{4B0AAE11-2E3C-91EC-5DCF-C2F301FFC2A6}"/>
              </a:ext>
            </a:extLst>
          </p:cNvPr>
          <p:cNvSpPr txBox="1"/>
          <p:nvPr/>
        </p:nvSpPr>
        <p:spPr>
          <a:xfrm>
            <a:off x="7369629" y="2752646"/>
            <a:ext cx="4126370" cy="2246769"/>
          </a:xfrm>
          <a:prstGeom prst="rect">
            <a:avLst/>
          </a:prstGeom>
          <a:noFill/>
        </p:spPr>
        <p:txBody>
          <a:bodyPr wrap="square" rtlCol="0">
            <a:spAutoFit/>
          </a:bodyPr>
          <a:lstStyle/>
          <a:p>
            <a:r>
              <a:rPr lang="en-US" sz="2000" b="1" dirty="0"/>
              <a:t>Statistical error:</a:t>
            </a:r>
          </a:p>
          <a:p>
            <a:pPr marL="342900" indent="-342900">
              <a:buFont typeface="Arial" panose="020B0604020202020204" pitchFamily="34" charset="0"/>
              <a:buChar char="•"/>
            </a:pPr>
            <a:r>
              <a:rPr lang="en-US" sz="2000" dirty="0"/>
              <a:t>Binomial error</a:t>
            </a:r>
          </a:p>
          <a:p>
            <a:pPr marL="342900" indent="-342900">
              <a:buFont typeface="Arial" panose="020B0604020202020204" pitchFamily="34" charset="0"/>
              <a:buChar char="•"/>
            </a:pPr>
            <a:r>
              <a:rPr lang="en-US" sz="2000" dirty="0"/>
              <a:t>Fit errors</a:t>
            </a:r>
          </a:p>
          <a:p>
            <a:pPr marL="342900" indent="-342900">
              <a:buFont typeface="Arial" panose="020B0604020202020204" pitchFamily="34" charset="0"/>
              <a:buChar char="•"/>
            </a:pPr>
            <a:endParaRPr lang="en-US" sz="2000" dirty="0"/>
          </a:p>
          <a:p>
            <a:r>
              <a:rPr lang="en-US" sz="2000" b="1" dirty="0"/>
              <a:t>Systematic error:</a:t>
            </a:r>
          </a:p>
          <a:p>
            <a:pPr marL="342900" indent="-342900">
              <a:buFont typeface="Arial" panose="020B0604020202020204" pitchFamily="34" charset="0"/>
              <a:buChar char="•"/>
            </a:pPr>
            <a:r>
              <a:rPr lang="en-US" sz="2000" dirty="0"/>
              <a:t>Fit model choice</a:t>
            </a:r>
          </a:p>
          <a:p>
            <a:pPr marL="342900" indent="-342900">
              <a:buFont typeface="Arial" panose="020B0604020202020204" pitchFamily="34" charset="0"/>
              <a:buChar char="•"/>
            </a:pPr>
            <a:r>
              <a:rPr lang="en-US" sz="2000" dirty="0"/>
              <a:t>Binning choices </a:t>
            </a:r>
            <a:endParaRPr lang="it-IT" sz="2000" dirty="0"/>
          </a:p>
        </p:txBody>
      </p:sp>
      <mc:AlternateContent xmlns:mc="http://schemas.openxmlformats.org/markup-compatibility/2006">
        <mc:Choice xmlns:a14="http://schemas.microsoft.com/office/drawing/2010/main" Requires="a14">
          <p:sp>
            <p:nvSpPr>
              <p:cNvPr id="16" name="Oval 15">
                <a:extLst>
                  <a:ext uri="{FF2B5EF4-FFF2-40B4-BE49-F238E27FC236}">
                    <a16:creationId xmlns:a16="http://schemas.microsoft.com/office/drawing/2014/main" id="{1B1F5D44-B91A-47AD-4119-DC0104276BB0}"/>
                  </a:ext>
                </a:extLst>
              </p:cNvPr>
              <p:cNvSpPr/>
              <p:nvPr/>
            </p:nvSpPr>
            <p:spPr>
              <a:xfrm>
                <a:off x="9895114" y="2840521"/>
                <a:ext cx="1208315" cy="871470"/>
              </a:xfrm>
              <a:prstGeom prst="ellipse">
                <a:avLst/>
              </a:prstGeom>
              <a:solidFill>
                <a:schemeClr val="bg1"/>
              </a:solid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sz="2800" b="0" i="1" smtClean="0">
                          <a:solidFill>
                            <a:schemeClr val="tx1"/>
                          </a:solidFill>
                          <a:latin typeface="Cambria Math" panose="02040503050406030204" pitchFamily="18" charset="0"/>
                        </a:rPr>
                        <m:t>0.1%</m:t>
                      </m:r>
                    </m:oMath>
                  </m:oMathPara>
                </a14:m>
                <a:endParaRPr lang="it-IT" sz="2800" dirty="0">
                  <a:solidFill>
                    <a:schemeClr val="tx1"/>
                  </a:solidFill>
                </a:endParaRPr>
              </a:p>
            </p:txBody>
          </p:sp>
        </mc:Choice>
        <mc:Fallback>
          <p:sp>
            <p:nvSpPr>
              <p:cNvPr id="16" name="Oval 15">
                <a:extLst>
                  <a:ext uri="{FF2B5EF4-FFF2-40B4-BE49-F238E27FC236}">
                    <a16:creationId xmlns:a16="http://schemas.microsoft.com/office/drawing/2014/main" id="{1B1F5D44-B91A-47AD-4119-DC0104276BB0}"/>
                  </a:ext>
                </a:extLst>
              </p:cNvPr>
              <p:cNvSpPr>
                <a:spLocks noRot="1" noChangeAspect="1" noMove="1" noResize="1" noEditPoints="1" noAdjustHandles="1" noChangeArrowheads="1" noChangeShapeType="1" noTextEdit="1"/>
              </p:cNvSpPr>
              <p:nvPr/>
            </p:nvSpPr>
            <p:spPr>
              <a:xfrm>
                <a:off x="9895114" y="2840521"/>
                <a:ext cx="1208315" cy="871470"/>
              </a:xfrm>
              <a:prstGeom prst="ellipse">
                <a:avLst/>
              </a:prstGeom>
              <a:blipFill>
                <a:blip r:embed="rId5"/>
                <a:stretch>
                  <a:fillRect/>
                </a:stretch>
              </a:blipFill>
              <a:ln w="38100">
                <a:solidFill>
                  <a:srgbClr val="FFC000"/>
                </a:solidFill>
              </a:ln>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8" name="Oval 17">
                <a:extLst>
                  <a:ext uri="{FF2B5EF4-FFF2-40B4-BE49-F238E27FC236}">
                    <a16:creationId xmlns:a16="http://schemas.microsoft.com/office/drawing/2014/main" id="{774372DA-6655-1F30-B55E-E5AC54E8F64A}"/>
                  </a:ext>
                </a:extLst>
              </p:cNvPr>
              <p:cNvSpPr/>
              <p:nvPr/>
            </p:nvSpPr>
            <p:spPr>
              <a:xfrm>
                <a:off x="9895113" y="4064889"/>
                <a:ext cx="1208315" cy="871470"/>
              </a:xfrm>
              <a:prstGeom prst="ellipse">
                <a:avLst/>
              </a:prstGeom>
              <a:solidFill>
                <a:schemeClr val="bg1"/>
              </a:solid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2800" b="0" i="1" smtClean="0">
                          <a:solidFill>
                            <a:schemeClr val="tx1"/>
                          </a:solidFill>
                          <a:latin typeface="Cambria Math" panose="02040503050406030204" pitchFamily="18" charset="0"/>
                        </a:rPr>
                        <m:t>0.2</m:t>
                      </m:r>
                      <m:r>
                        <a:rPr lang="en-US" sz="2800" b="0" i="1" smtClean="0">
                          <a:solidFill>
                            <a:schemeClr val="tx1"/>
                          </a:solidFill>
                          <a:latin typeface="Cambria Math" panose="02040503050406030204" pitchFamily="18" charset="0"/>
                        </a:rPr>
                        <m:t>%</m:t>
                      </m:r>
                    </m:oMath>
                  </m:oMathPara>
                </a14:m>
                <a:endParaRPr lang="it-IT" sz="2800" dirty="0">
                  <a:solidFill>
                    <a:schemeClr val="tx1"/>
                  </a:solidFill>
                </a:endParaRPr>
              </a:p>
            </p:txBody>
          </p:sp>
        </mc:Choice>
        <mc:Fallback>
          <p:sp>
            <p:nvSpPr>
              <p:cNvPr id="18" name="Oval 17">
                <a:extLst>
                  <a:ext uri="{FF2B5EF4-FFF2-40B4-BE49-F238E27FC236}">
                    <a16:creationId xmlns:a16="http://schemas.microsoft.com/office/drawing/2014/main" id="{774372DA-6655-1F30-B55E-E5AC54E8F64A}"/>
                  </a:ext>
                </a:extLst>
              </p:cNvPr>
              <p:cNvSpPr>
                <a:spLocks noRot="1" noChangeAspect="1" noMove="1" noResize="1" noEditPoints="1" noAdjustHandles="1" noChangeArrowheads="1" noChangeShapeType="1" noTextEdit="1"/>
              </p:cNvSpPr>
              <p:nvPr/>
            </p:nvSpPr>
            <p:spPr>
              <a:xfrm>
                <a:off x="9895113" y="4064889"/>
                <a:ext cx="1208315" cy="871470"/>
              </a:xfrm>
              <a:prstGeom prst="ellipse">
                <a:avLst/>
              </a:prstGeom>
              <a:blipFill>
                <a:blip r:embed="rId6"/>
                <a:stretch>
                  <a:fillRect/>
                </a:stretch>
              </a:blipFill>
              <a:ln w="38100">
                <a:solidFill>
                  <a:srgbClr val="FFC000"/>
                </a:solidFill>
              </a:ln>
            </p:spPr>
            <p:txBody>
              <a:bodyPr/>
              <a:lstStyle/>
              <a:p>
                <a:r>
                  <a:rPr lang="it-IT">
                    <a:noFill/>
                  </a:rPr>
                  <a:t> </a:t>
                </a:r>
              </a:p>
            </p:txBody>
          </p:sp>
        </mc:Fallback>
      </mc:AlternateContent>
    </p:spTree>
    <p:extLst>
      <p:ext uri="{BB962C8B-B14F-4D97-AF65-F5344CB8AC3E}">
        <p14:creationId xmlns:p14="http://schemas.microsoft.com/office/powerpoint/2010/main" val="316667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A0165-4818-069E-7BDC-091E3661121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77F9391-FA0A-371F-109B-E733C06A0E6A}"/>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en-US" sz="4000" b="1" dirty="0">
                <a:solidFill>
                  <a:srgbClr val="002060"/>
                </a:solidFill>
              </a:rPr>
              <a:t>	CHANNELING EFFICIENCY: RESULTS</a:t>
            </a:r>
            <a:endParaRPr lang="it-IT" sz="4000" b="1" dirty="0">
              <a:solidFill>
                <a:srgbClr val="002060"/>
              </a:solidFill>
            </a:endParaRPr>
          </a:p>
        </p:txBody>
      </p:sp>
      <p:sp>
        <p:nvSpPr>
          <p:cNvPr id="4" name="Segnaposto data 3">
            <a:extLst>
              <a:ext uri="{FF2B5EF4-FFF2-40B4-BE49-F238E27FC236}">
                <a16:creationId xmlns:a16="http://schemas.microsoft.com/office/drawing/2014/main" id="{218CC5EF-2F1C-1609-931F-C50DB9F2C7B0}"/>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597772A5-E715-AE5D-717E-6D1A7B862AA9}"/>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cxnSp>
        <p:nvCxnSpPr>
          <p:cNvPr id="10" name="Connettore diritto 9">
            <a:extLst>
              <a:ext uri="{FF2B5EF4-FFF2-40B4-BE49-F238E27FC236}">
                <a16:creationId xmlns:a16="http://schemas.microsoft.com/office/drawing/2014/main" id="{1FFF26E7-CD09-D2C8-1E51-8476F1B0A7C3}"/>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8" name="Titolo 1">
            <a:extLst>
              <a:ext uri="{FF2B5EF4-FFF2-40B4-BE49-F238E27FC236}">
                <a16:creationId xmlns:a16="http://schemas.microsoft.com/office/drawing/2014/main" id="{F58068E2-EEDD-78E0-F78F-9E9723A6F6DA}"/>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ANALYSIS</a:t>
            </a:r>
            <a:endParaRPr lang="it-IT" sz="2000" b="1" i="1" dirty="0">
              <a:solidFill>
                <a:srgbClr val="002060"/>
              </a:solidFill>
              <a:ea typeface="Calibri" panose="020F0502020204030204" pitchFamily="34" charset="0"/>
              <a:cs typeface="Calibri" panose="020F0502020204030204" pitchFamily="34" charset="0"/>
            </a:endParaRPr>
          </a:p>
        </p:txBody>
      </p:sp>
      <p:sp>
        <p:nvSpPr>
          <p:cNvPr id="6" name="Segnaposto numero diapositiva 5">
            <a:extLst>
              <a:ext uri="{FF2B5EF4-FFF2-40B4-BE49-F238E27FC236}">
                <a16:creationId xmlns:a16="http://schemas.microsoft.com/office/drawing/2014/main" id="{984837B4-2A5A-795E-E08C-AF4F72FE3E62}"/>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14</a:t>
            </a:fld>
            <a:endParaRPr lang="it-IT" sz="1500" b="1" dirty="0">
              <a:solidFill>
                <a:srgbClr val="002060"/>
              </a:solidFill>
            </a:endParaRPr>
          </a:p>
        </p:txBody>
      </p:sp>
      <mc:AlternateContent xmlns:mc="http://schemas.openxmlformats.org/markup-compatibility/2006">
        <mc:Choice xmlns:a14="http://schemas.microsoft.com/office/drawing/2010/main" Requires="a14">
          <p:graphicFrame>
            <p:nvGraphicFramePr>
              <p:cNvPr id="21" name="Table 20">
                <a:extLst>
                  <a:ext uri="{FF2B5EF4-FFF2-40B4-BE49-F238E27FC236}">
                    <a16:creationId xmlns:a16="http://schemas.microsoft.com/office/drawing/2014/main" id="{99FBCD90-BA62-B24C-8185-9C1CDBC0FA3F}"/>
                  </a:ext>
                </a:extLst>
              </p:cNvPr>
              <p:cNvGraphicFramePr>
                <a:graphicFrameLocks noGrp="1"/>
              </p:cNvGraphicFramePr>
              <p:nvPr>
                <p:extLst>
                  <p:ext uri="{D42A27DB-BD31-4B8C-83A1-F6EECF244321}">
                    <p14:modId xmlns:p14="http://schemas.microsoft.com/office/powerpoint/2010/main" val="2459577626"/>
                  </p:ext>
                </p:extLst>
              </p:nvPr>
            </p:nvGraphicFramePr>
            <p:xfrm>
              <a:off x="2355514" y="1874816"/>
              <a:ext cx="7479171" cy="1637937"/>
            </p:xfrm>
            <a:graphic>
              <a:graphicData uri="http://schemas.openxmlformats.org/drawingml/2006/table">
                <a:tbl>
                  <a:tblPr bandRow="1">
                    <a:tableStyleId>{5C22544A-7EE6-4342-B048-85BDC9FD1C3A}</a:tableStyleId>
                  </a:tblPr>
                  <a:tblGrid>
                    <a:gridCol w="2108662">
                      <a:extLst>
                        <a:ext uri="{9D8B030D-6E8A-4147-A177-3AD203B41FA5}">
                          <a16:colId xmlns:a16="http://schemas.microsoft.com/office/drawing/2014/main" val="1396093748"/>
                        </a:ext>
                      </a:extLst>
                    </a:gridCol>
                    <a:gridCol w="2463338">
                      <a:extLst>
                        <a:ext uri="{9D8B030D-6E8A-4147-A177-3AD203B41FA5}">
                          <a16:colId xmlns:a16="http://schemas.microsoft.com/office/drawing/2014/main" val="3624033113"/>
                        </a:ext>
                      </a:extLst>
                    </a:gridCol>
                    <a:gridCol w="2907171">
                      <a:extLst>
                        <a:ext uri="{9D8B030D-6E8A-4147-A177-3AD203B41FA5}">
                          <a16:colId xmlns:a16="http://schemas.microsoft.com/office/drawing/2014/main" val="1422303490"/>
                        </a:ext>
                      </a:extLst>
                    </a:gridCol>
                  </a:tblGrid>
                  <a:tr h="545979">
                    <a:tc>
                      <a:txBody>
                        <a:bodyPr/>
                        <a:lstStyle/>
                        <a:p>
                          <a:pPr algn="ctr"/>
                          <a:r>
                            <a:rPr lang="en-US" sz="2000" dirty="0"/>
                            <a:t>long crystal 1</a:t>
                          </a:r>
                          <a:endParaRPr lang="it-IT" sz="2000" dirty="0"/>
                        </a:p>
                      </a:txBody>
                      <a:tcPr anchor="ctr"/>
                    </a:tc>
                    <a:tc>
                      <a:txBody>
                        <a:bodyPr/>
                        <a:lstStyle/>
                        <a:p>
                          <a:pPr algn="ctr"/>
                          <a14:m>
                            <m:oMathPara xmlns:m="http://schemas.openxmlformats.org/officeDocument/2006/math">
                              <m:oMath>
                                <m:d>
                                  <m:dPr>
                                    <m:ctrlPr>
                                      <a:rPr lang="en-US" sz="2000" i="1" dirty="0" smtClean="0">
                                        <a:latin typeface="Cambria Math" panose="02040503050406030204" pitchFamily="18" charset="0"/>
                                      </a:rPr>
                                    </m:ctrlPr>
                                  </m:dPr>
                                  <m:e>
                                    <m:r>
                                      <a:rPr lang="en-US" sz="2000" i="1" dirty="0" smtClean="0">
                                        <a:latin typeface="Cambria Math" panose="02040503050406030204" pitchFamily="18" charset="0"/>
                                      </a:rPr>
                                      <m:t>19.4</m:t>
                                    </m:r>
                                    <m:r>
                                      <a:rPr lang="en-US" sz="2000" b="0" i="1" dirty="0" smtClean="0">
                                        <a:latin typeface="Cambria Math" panose="02040503050406030204" pitchFamily="18" charset="0"/>
                                      </a:rPr>
                                      <m:t>±0.1±0</m:t>
                                    </m:r>
                                    <m:r>
                                      <m:rPr>
                                        <m:lit/>
                                      </m:rPr>
                                      <a:rPr lang="en-US" sz="2000" b="0" i="1" dirty="0" smtClean="0">
                                        <a:latin typeface="Cambria Math" panose="02040503050406030204" pitchFamily="18" charset="0"/>
                                      </a:rPr>
                                      <m:t>.</m:t>
                                    </m:r>
                                    <m:r>
                                      <a:rPr lang="en-US" sz="2000" b="0" i="1" dirty="0" smtClean="0">
                                        <a:latin typeface="Cambria Math" panose="02040503050406030204" pitchFamily="18" charset="0"/>
                                      </a:rPr>
                                      <m:t>2</m:t>
                                    </m:r>
                                  </m:e>
                                </m:d>
                                <m:r>
                                  <a:rPr lang="en-US" sz="2000" b="0" i="1" dirty="0" smtClean="0">
                                    <a:latin typeface="Cambria Math" panose="02040503050406030204" pitchFamily="18" charset="0"/>
                                  </a:rPr>
                                  <m:t>%</m:t>
                                </m:r>
                              </m:oMath>
                            </m:oMathPara>
                          </a14:m>
                          <a:endParaRPr lang="it-IT" sz="2000" dirty="0"/>
                        </a:p>
                      </a:txBody>
                      <a:tcPr anchor="ctr"/>
                    </a:tc>
                    <a:tc>
                      <a:txBody>
                        <a:bodyPr/>
                        <a:lstStyle/>
                        <a:p>
                          <a:pPr algn="ctr"/>
                          <a14:m>
                            <m:oMathPara xmlns:m="http://schemas.openxmlformats.org/officeDocument/2006/math">
                              <m:oMath>
                                <m:d>
                                  <m:dPr>
                                    <m:ctrlPr>
                                      <a:rPr lang="en-US" sz="2000" b="0" i="1" smtClean="0">
                                        <a:latin typeface="Cambria Math" panose="02040503050406030204" pitchFamily="18" charset="0"/>
                                      </a:rPr>
                                    </m:ctrlPr>
                                  </m:dPr>
                                  <m:e>
                                    <m:r>
                                      <a:rPr lang="en-US" sz="2000" b="0" i="1" smtClean="0">
                                        <a:latin typeface="Cambria Math" panose="02040503050406030204" pitchFamily="18" charset="0"/>
                                      </a:rPr>
                                      <m:t>5.98±0.03</m:t>
                                    </m:r>
                                  </m:e>
                                </m:d>
                                <m:r>
                                  <a:rPr lang="en-US" sz="2000" b="0" i="1" smtClean="0">
                                    <a:latin typeface="Cambria Math" panose="02040503050406030204" pitchFamily="18" charset="0"/>
                                  </a:rPr>
                                  <m:t>𝜇</m:t>
                                </m:r>
                                <m:r>
                                  <m:rPr>
                                    <m:sty m:val="p"/>
                                  </m:rPr>
                                  <a:rPr lang="en-US" sz="2000" b="0" i="0" smtClean="0">
                                    <a:latin typeface="Cambria Math" panose="02040503050406030204" pitchFamily="18" charset="0"/>
                                  </a:rPr>
                                  <m:t>rad</m:t>
                                </m:r>
                                <m:r>
                                  <a:rPr lang="en-US" sz="2000" b="0" i="0" smtClean="0">
                                    <a:latin typeface="Cambria Math" panose="02040503050406030204" pitchFamily="18" charset="0"/>
                                  </a:rPr>
                                  <m:t>/</m:t>
                                </m:r>
                                <m:r>
                                  <m:rPr>
                                    <m:sty m:val="p"/>
                                  </m:rPr>
                                  <a:rPr lang="en-US" sz="2000" b="0" i="0" smtClean="0">
                                    <a:latin typeface="Cambria Math" panose="02040503050406030204" pitchFamily="18" charset="0"/>
                                  </a:rPr>
                                  <m:t>mm</m:t>
                                </m:r>
                              </m:oMath>
                            </m:oMathPara>
                          </a14:m>
                          <a:endParaRPr lang="it-IT" sz="2000" i="0" dirty="0"/>
                        </a:p>
                      </a:txBody>
                      <a:tcPr anchor="ctr"/>
                    </a:tc>
                    <a:extLst>
                      <a:ext uri="{0D108BD9-81ED-4DB2-BD59-A6C34878D82A}">
                        <a16:rowId xmlns:a16="http://schemas.microsoft.com/office/drawing/2014/main" val="1412494383"/>
                      </a:ext>
                    </a:extLst>
                  </a:tr>
                  <a:tr h="545979">
                    <a:tc>
                      <a:txBody>
                        <a:bodyPr/>
                        <a:lstStyle/>
                        <a:p>
                          <a:pPr algn="ctr"/>
                          <a:r>
                            <a:rPr lang="en-US" sz="2000" dirty="0"/>
                            <a:t>long crystal 2</a:t>
                          </a:r>
                          <a:endParaRPr lang="it-IT" sz="2000" dirty="0"/>
                        </a:p>
                      </a:txBody>
                      <a:tcPr anchor="ctr"/>
                    </a:tc>
                    <a:tc>
                      <a:txBody>
                        <a:bodyPr/>
                        <a:lstStyle/>
                        <a:p>
                          <a:pPr algn="ctr"/>
                          <a14:m>
                            <m:oMathPara xmlns:m="http://schemas.openxmlformats.org/officeDocument/2006/math">
                              <m:oMath>
                                <m:d>
                                  <m:dPr>
                                    <m:ctrlPr>
                                      <a:rPr lang="en-US" sz="2000" b="0" i="1" smtClean="0">
                                        <a:latin typeface="Cambria Math" panose="02040503050406030204" pitchFamily="18" charset="0"/>
                                      </a:rPr>
                                    </m:ctrlPr>
                                  </m:dPr>
                                  <m:e>
                                    <m:r>
                                      <a:rPr lang="en-US" sz="2000" b="0" i="1" smtClean="0">
                                        <a:latin typeface="Cambria Math" panose="02040503050406030204" pitchFamily="18" charset="0"/>
                                      </a:rPr>
                                      <m:t>18.0±0.1±0.2</m:t>
                                    </m:r>
                                  </m:e>
                                </m:d>
                                <m:r>
                                  <a:rPr lang="en-US" sz="2000" b="0" i="1" smtClean="0">
                                    <a:latin typeface="Cambria Math" panose="02040503050406030204" pitchFamily="18" charset="0"/>
                                  </a:rPr>
                                  <m:t>%</m:t>
                                </m:r>
                              </m:oMath>
                            </m:oMathPara>
                          </a14:m>
                          <a:endParaRPr lang="it-IT"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d>
                                  <m:dPr>
                                    <m:ctrlPr>
                                      <a:rPr lang="en-US" sz="2000" b="0" i="1" smtClean="0">
                                        <a:latin typeface="Cambria Math" panose="02040503050406030204" pitchFamily="18" charset="0"/>
                                      </a:rPr>
                                    </m:ctrlPr>
                                  </m:dPr>
                                  <m:e>
                                    <m:r>
                                      <a:rPr lang="en-US" sz="2000" b="0" i="1" smtClean="0">
                                        <a:latin typeface="Cambria Math" panose="02040503050406030204" pitchFamily="18" charset="0"/>
                                      </a:rPr>
                                      <m:t>3.77±0.01</m:t>
                                    </m:r>
                                  </m:e>
                                </m:d>
                                <m:r>
                                  <a:rPr lang="en-US" sz="2000" b="0" i="1" smtClean="0">
                                    <a:latin typeface="Cambria Math" panose="02040503050406030204" pitchFamily="18" charset="0"/>
                                  </a:rPr>
                                  <m:t>𝜇</m:t>
                                </m:r>
                                <m:r>
                                  <m:rPr>
                                    <m:sty m:val="p"/>
                                  </m:rPr>
                                  <a:rPr lang="en-US" sz="2000" b="0" i="0" smtClean="0">
                                    <a:latin typeface="Cambria Math" panose="02040503050406030204" pitchFamily="18" charset="0"/>
                                  </a:rPr>
                                  <m:t>rad</m:t>
                                </m:r>
                                <m:r>
                                  <a:rPr lang="en-US" sz="2000" b="0" i="0" smtClean="0">
                                    <a:latin typeface="Cambria Math" panose="02040503050406030204" pitchFamily="18" charset="0"/>
                                  </a:rPr>
                                  <m:t>/</m:t>
                                </m:r>
                                <m:r>
                                  <m:rPr>
                                    <m:sty m:val="p"/>
                                  </m:rPr>
                                  <a:rPr lang="en-US" sz="2000" b="0" i="0" smtClean="0">
                                    <a:latin typeface="Cambria Math" panose="02040503050406030204" pitchFamily="18" charset="0"/>
                                  </a:rPr>
                                  <m:t>mm</m:t>
                                </m:r>
                              </m:oMath>
                            </m:oMathPara>
                          </a14:m>
                          <a:endParaRPr lang="it-IT" sz="2000" i="0" dirty="0"/>
                        </a:p>
                      </a:txBody>
                      <a:tcPr anchor="ctr"/>
                    </a:tc>
                    <a:extLst>
                      <a:ext uri="{0D108BD9-81ED-4DB2-BD59-A6C34878D82A}">
                        <a16:rowId xmlns:a16="http://schemas.microsoft.com/office/drawing/2014/main" val="2691790256"/>
                      </a:ext>
                    </a:extLst>
                  </a:tr>
                  <a:tr h="545979">
                    <a:tc>
                      <a:txBody>
                        <a:bodyPr/>
                        <a:lstStyle/>
                        <a:p>
                          <a:pPr algn="ctr"/>
                          <a:endParaRPr lang="it-IT" sz="2000" dirty="0"/>
                        </a:p>
                      </a:txBody>
                      <a:tcPr anchor="ctr">
                        <a:solidFill>
                          <a:schemeClr val="bg1"/>
                        </a:solidFill>
                      </a:tcPr>
                    </a:tc>
                    <a:tc>
                      <a:txBody>
                        <a:bodyPr/>
                        <a:lstStyle/>
                        <a:p>
                          <a:pPr algn="ctr"/>
                          <a14:m>
                            <m:oMathPara xmlns:m="http://schemas.openxmlformats.org/officeDocument/2006/math">
                              <m:o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𝜖</m:t>
                                    </m:r>
                                  </m:e>
                                  <m:sub>
                                    <m:r>
                                      <a:rPr lang="en-US" sz="2000" b="0" i="1" smtClean="0">
                                        <a:latin typeface="Cambria Math" panose="02040503050406030204" pitchFamily="18" charset="0"/>
                                      </a:rPr>
                                      <m:t>𝑐ℎ</m:t>
                                    </m:r>
                                  </m:sub>
                                </m:sSub>
                              </m:oMath>
                            </m:oMathPara>
                          </a14:m>
                          <a:endParaRPr lang="it-IT" sz="2000" dirty="0"/>
                        </a:p>
                      </a:txBody>
                      <a:tcPr anchor="ctr"/>
                    </a:tc>
                    <a:tc>
                      <a:txBody>
                        <a:bodyPr/>
                        <a:lstStyle/>
                        <a:p>
                          <a:pPr algn="ctr"/>
                          <a14:m>
                            <m:oMathPara xmlns:m="http://schemas.openxmlformats.org/officeDocument/2006/math">
                              <m:o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𝜏</m:t>
                                    </m:r>
                                  </m:e>
                                  <m:sub>
                                    <m:r>
                                      <a:rPr lang="en-US" sz="2000" b="0" i="1" smtClean="0">
                                        <a:latin typeface="Cambria Math" panose="02040503050406030204" pitchFamily="18" charset="0"/>
                                      </a:rPr>
                                      <m:t>𝑦</m:t>
                                    </m:r>
                                  </m:sub>
                                </m:sSub>
                              </m:oMath>
                            </m:oMathPara>
                          </a14:m>
                          <a:endParaRPr lang="en-US" sz="2000" b="0" dirty="0"/>
                        </a:p>
                      </a:txBody>
                      <a:tcPr anchor="ctr"/>
                    </a:tc>
                    <a:extLst>
                      <a:ext uri="{0D108BD9-81ED-4DB2-BD59-A6C34878D82A}">
                        <a16:rowId xmlns:a16="http://schemas.microsoft.com/office/drawing/2014/main" val="1424610305"/>
                      </a:ext>
                    </a:extLst>
                  </a:tr>
                </a:tbl>
              </a:graphicData>
            </a:graphic>
          </p:graphicFrame>
        </mc:Choice>
        <mc:Fallback>
          <p:graphicFrame>
            <p:nvGraphicFramePr>
              <p:cNvPr id="21" name="Table 20">
                <a:extLst>
                  <a:ext uri="{FF2B5EF4-FFF2-40B4-BE49-F238E27FC236}">
                    <a16:creationId xmlns:a16="http://schemas.microsoft.com/office/drawing/2014/main" id="{99FBCD90-BA62-B24C-8185-9C1CDBC0FA3F}"/>
                  </a:ext>
                </a:extLst>
              </p:cNvPr>
              <p:cNvGraphicFramePr>
                <a:graphicFrameLocks noGrp="1"/>
              </p:cNvGraphicFramePr>
              <p:nvPr>
                <p:extLst>
                  <p:ext uri="{D42A27DB-BD31-4B8C-83A1-F6EECF244321}">
                    <p14:modId xmlns:p14="http://schemas.microsoft.com/office/powerpoint/2010/main" val="2459577626"/>
                  </p:ext>
                </p:extLst>
              </p:nvPr>
            </p:nvGraphicFramePr>
            <p:xfrm>
              <a:off x="2355514" y="1874816"/>
              <a:ext cx="7479171" cy="1637937"/>
            </p:xfrm>
            <a:graphic>
              <a:graphicData uri="http://schemas.openxmlformats.org/drawingml/2006/table">
                <a:tbl>
                  <a:tblPr bandRow="1">
                    <a:tableStyleId>{5C22544A-7EE6-4342-B048-85BDC9FD1C3A}</a:tableStyleId>
                  </a:tblPr>
                  <a:tblGrid>
                    <a:gridCol w="2108662">
                      <a:extLst>
                        <a:ext uri="{9D8B030D-6E8A-4147-A177-3AD203B41FA5}">
                          <a16:colId xmlns:a16="http://schemas.microsoft.com/office/drawing/2014/main" val="1396093748"/>
                        </a:ext>
                      </a:extLst>
                    </a:gridCol>
                    <a:gridCol w="2463338">
                      <a:extLst>
                        <a:ext uri="{9D8B030D-6E8A-4147-A177-3AD203B41FA5}">
                          <a16:colId xmlns:a16="http://schemas.microsoft.com/office/drawing/2014/main" val="3624033113"/>
                        </a:ext>
                      </a:extLst>
                    </a:gridCol>
                    <a:gridCol w="2907171">
                      <a:extLst>
                        <a:ext uri="{9D8B030D-6E8A-4147-A177-3AD203B41FA5}">
                          <a16:colId xmlns:a16="http://schemas.microsoft.com/office/drawing/2014/main" val="1422303490"/>
                        </a:ext>
                      </a:extLst>
                    </a:gridCol>
                  </a:tblGrid>
                  <a:tr h="545979">
                    <a:tc>
                      <a:txBody>
                        <a:bodyPr/>
                        <a:lstStyle/>
                        <a:p>
                          <a:pPr algn="ctr"/>
                          <a:r>
                            <a:rPr lang="en-US" sz="2000" dirty="0"/>
                            <a:t>long crystal 1</a:t>
                          </a:r>
                          <a:endParaRPr lang="it-IT" sz="2000" dirty="0"/>
                        </a:p>
                      </a:txBody>
                      <a:tcPr anchor="ctr"/>
                    </a:tc>
                    <a:tc>
                      <a:txBody>
                        <a:bodyPr/>
                        <a:lstStyle/>
                        <a:p>
                          <a:endParaRPr lang="it-IT"/>
                        </a:p>
                      </a:txBody>
                      <a:tcPr anchor="ctr">
                        <a:blipFill>
                          <a:blip r:embed="rId3"/>
                          <a:stretch>
                            <a:fillRect l="-85679" t="-1111" r="-118272" b="-202222"/>
                          </a:stretch>
                        </a:blipFill>
                      </a:tcPr>
                    </a:tc>
                    <a:tc>
                      <a:txBody>
                        <a:bodyPr/>
                        <a:lstStyle/>
                        <a:p>
                          <a:endParaRPr lang="it-IT"/>
                        </a:p>
                      </a:txBody>
                      <a:tcPr anchor="ctr">
                        <a:blipFill>
                          <a:blip r:embed="rId3"/>
                          <a:stretch>
                            <a:fillRect l="-157652" t="-1111" r="-419" b="-202222"/>
                          </a:stretch>
                        </a:blipFill>
                      </a:tcPr>
                    </a:tc>
                    <a:extLst>
                      <a:ext uri="{0D108BD9-81ED-4DB2-BD59-A6C34878D82A}">
                        <a16:rowId xmlns:a16="http://schemas.microsoft.com/office/drawing/2014/main" val="1412494383"/>
                      </a:ext>
                    </a:extLst>
                  </a:tr>
                  <a:tr h="545979">
                    <a:tc>
                      <a:txBody>
                        <a:bodyPr/>
                        <a:lstStyle/>
                        <a:p>
                          <a:pPr algn="ctr"/>
                          <a:r>
                            <a:rPr lang="en-US" sz="2000" dirty="0"/>
                            <a:t>long crystal 2</a:t>
                          </a:r>
                          <a:endParaRPr lang="it-IT" sz="2000" dirty="0"/>
                        </a:p>
                      </a:txBody>
                      <a:tcPr anchor="ctr"/>
                    </a:tc>
                    <a:tc>
                      <a:txBody>
                        <a:bodyPr/>
                        <a:lstStyle/>
                        <a:p>
                          <a:endParaRPr lang="it-IT"/>
                        </a:p>
                      </a:txBody>
                      <a:tcPr anchor="ctr">
                        <a:blipFill>
                          <a:blip r:embed="rId3"/>
                          <a:stretch>
                            <a:fillRect l="-85679" t="-101111" r="-118272" b="-102222"/>
                          </a:stretch>
                        </a:blipFill>
                      </a:tcPr>
                    </a:tc>
                    <a:tc>
                      <a:txBody>
                        <a:bodyPr/>
                        <a:lstStyle/>
                        <a:p>
                          <a:endParaRPr lang="it-IT"/>
                        </a:p>
                      </a:txBody>
                      <a:tcPr anchor="ctr">
                        <a:blipFill>
                          <a:blip r:embed="rId3"/>
                          <a:stretch>
                            <a:fillRect l="-157652" t="-101111" r="-419" b="-102222"/>
                          </a:stretch>
                        </a:blipFill>
                      </a:tcPr>
                    </a:tc>
                    <a:extLst>
                      <a:ext uri="{0D108BD9-81ED-4DB2-BD59-A6C34878D82A}">
                        <a16:rowId xmlns:a16="http://schemas.microsoft.com/office/drawing/2014/main" val="2691790256"/>
                      </a:ext>
                    </a:extLst>
                  </a:tr>
                  <a:tr h="545979">
                    <a:tc>
                      <a:txBody>
                        <a:bodyPr/>
                        <a:lstStyle/>
                        <a:p>
                          <a:pPr algn="ctr"/>
                          <a:endParaRPr lang="it-IT" sz="2000" dirty="0"/>
                        </a:p>
                      </a:txBody>
                      <a:tcPr anchor="ctr">
                        <a:solidFill>
                          <a:schemeClr val="bg1"/>
                        </a:solidFill>
                      </a:tcPr>
                    </a:tc>
                    <a:tc>
                      <a:txBody>
                        <a:bodyPr/>
                        <a:lstStyle/>
                        <a:p>
                          <a:endParaRPr lang="it-IT"/>
                        </a:p>
                      </a:txBody>
                      <a:tcPr anchor="ctr">
                        <a:blipFill>
                          <a:blip r:embed="rId3"/>
                          <a:stretch>
                            <a:fillRect l="-85679" t="-201111" r="-118272" b="-2222"/>
                          </a:stretch>
                        </a:blipFill>
                      </a:tcPr>
                    </a:tc>
                    <a:tc>
                      <a:txBody>
                        <a:bodyPr/>
                        <a:lstStyle/>
                        <a:p>
                          <a:endParaRPr lang="it-IT"/>
                        </a:p>
                      </a:txBody>
                      <a:tcPr anchor="ctr">
                        <a:blipFill>
                          <a:blip r:embed="rId3"/>
                          <a:stretch>
                            <a:fillRect l="-157652" t="-201111" r="-419" b="-2222"/>
                          </a:stretch>
                        </a:blipFill>
                      </a:tcPr>
                    </a:tc>
                    <a:extLst>
                      <a:ext uri="{0D108BD9-81ED-4DB2-BD59-A6C34878D82A}">
                        <a16:rowId xmlns:a16="http://schemas.microsoft.com/office/drawing/2014/main" val="1424610305"/>
                      </a:ext>
                    </a:extLst>
                  </a:tr>
                </a:tbl>
              </a:graphicData>
            </a:graphic>
          </p:graphicFrame>
        </mc:Fallback>
      </mc:AlternateContent>
      <p:cxnSp>
        <p:nvCxnSpPr>
          <p:cNvPr id="13" name="Straight Arrow Connector 12">
            <a:extLst>
              <a:ext uri="{FF2B5EF4-FFF2-40B4-BE49-F238E27FC236}">
                <a16:creationId xmlns:a16="http://schemas.microsoft.com/office/drawing/2014/main" id="{3ACF190E-DFA8-0413-FFB3-261326B5F6B7}"/>
              </a:ext>
            </a:extLst>
          </p:cNvPr>
          <p:cNvCxnSpPr>
            <a:cxnSpLocks/>
          </p:cNvCxnSpPr>
          <p:nvPr/>
        </p:nvCxnSpPr>
        <p:spPr>
          <a:xfrm>
            <a:off x="5638800" y="3455004"/>
            <a:ext cx="0" cy="792000"/>
          </a:xfrm>
          <a:prstGeom prst="straightConnector1">
            <a:avLst/>
          </a:prstGeom>
          <a:ln w="38100">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FC7C45B4-DD58-943E-0E21-9C7B68D83FF6}"/>
              </a:ext>
            </a:extLst>
          </p:cNvPr>
          <p:cNvCxnSpPr>
            <a:cxnSpLocks/>
          </p:cNvCxnSpPr>
          <p:nvPr/>
        </p:nvCxnSpPr>
        <p:spPr>
          <a:xfrm>
            <a:off x="8320617" y="3455003"/>
            <a:ext cx="0" cy="792000"/>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66F12399-717F-4B93-1D0A-C1CCC48BD01B}"/>
                  </a:ext>
                </a:extLst>
              </p:cNvPr>
              <p:cNvSpPr txBox="1"/>
              <p:nvPr/>
            </p:nvSpPr>
            <p:spPr>
              <a:xfrm>
                <a:off x="696000" y="3967239"/>
                <a:ext cx="10799997" cy="1039836"/>
              </a:xfrm>
              <a:prstGeom prst="rect">
                <a:avLst/>
              </a:prstGeom>
              <a:noFill/>
            </p:spPr>
            <p:txBody>
              <a:bodyPr wrap="square" rtlCol="0">
                <a:spAutoFit/>
              </a:bodyPr>
              <a:lstStyle/>
              <a:p>
                <a:r>
                  <a:rPr lang="en-US" sz="2000" dirty="0"/>
                  <a:t>On article … </a:t>
                </a:r>
              </a:p>
              <a:p>
                <a:r>
                  <a:rPr lang="en-US" sz="2000" dirty="0"/>
                  <a:t>It was found and efficiency of </a:t>
                </a:r>
                <a14:m>
                  <m:oMath xmlns:m="http://schemas.openxmlformats.org/officeDocument/2006/math">
                    <m:sSub>
                      <m:sSubPr>
                        <m:ctrlPr>
                          <a:rPr lang="en-US" sz="2000" b="0" i="1" smtClean="0">
                            <a:solidFill>
                              <a:srgbClr val="FFC000"/>
                            </a:solidFill>
                            <a:latin typeface="Cambria Math" panose="02040503050406030204" pitchFamily="18" charset="0"/>
                          </a:rPr>
                        </m:ctrlPr>
                      </m:sSubPr>
                      <m:e>
                        <m:r>
                          <a:rPr lang="en-US" sz="2000" b="0" i="1" smtClean="0">
                            <a:solidFill>
                              <a:srgbClr val="FFC000"/>
                            </a:solidFill>
                            <a:latin typeface="Cambria Math" panose="02040503050406030204" pitchFamily="18" charset="0"/>
                          </a:rPr>
                          <m:t>𝜖</m:t>
                        </m:r>
                      </m:e>
                      <m:sub>
                        <m:r>
                          <a:rPr lang="en-US" sz="2000" b="0" i="1" smtClean="0">
                            <a:solidFill>
                              <a:srgbClr val="FFC000"/>
                            </a:solidFill>
                            <a:latin typeface="Cambria Math" panose="02040503050406030204" pitchFamily="18" charset="0"/>
                          </a:rPr>
                          <m:t>𝑐ℎ</m:t>
                        </m:r>
                      </m:sub>
                    </m:sSub>
                    <m:r>
                      <a:rPr lang="en-US" sz="2000" b="0" i="1" smtClean="0">
                        <a:solidFill>
                          <a:srgbClr val="FFC000"/>
                        </a:solidFill>
                        <a:latin typeface="Cambria Math" panose="02040503050406030204" pitchFamily="18" charset="0"/>
                      </a:rPr>
                      <m:t>=</m:t>
                    </m:r>
                    <m:d>
                      <m:dPr>
                        <m:ctrlPr>
                          <a:rPr lang="en-US" sz="2000" b="0" i="1" smtClean="0">
                            <a:solidFill>
                              <a:srgbClr val="FFC000"/>
                            </a:solidFill>
                            <a:latin typeface="Cambria Math" panose="02040503050406030204" pitchFamily="18" charset="0"/>
                          </a:rPr>
                        </m:ctrlPr>
                      </m:dPr>
                      <m:e>
                        <m:r>
                          <a:rPr lang="en-US" sz="2000" b="0" i="1" smtClean="0">
                            <a:solidFill>
                              <a:srgbClr val="FFC000"/>
                            </a:solidFill>
                            <a:latin typeface="Cambria Math" panose="02040503050406030204" pitchFamily="18" charset="0"/>
                          </a:rPr>
                          <m:t>15.8</m:t>
                        </m:r>
                        <m:r>
                          <a:rPr lang="en-US" sz="2000" b="0" i="1" smtClean="0">
                            <a:solidFill>
                              <a:srgbClr val="FFC000"/>
                            </a:solidFill>
                            <a:latin typeface="Cambria Math" panose="02040503050406030204" pitchFamily="18" charset="0"/>
                          </a:rPr>
                          <m:t>±0.1</m:t>
                        </m:r>
                      </m:e>
                    </m:d>
                    <m:r>
                      <a:rPr lang="en-US" sz="2000" b="0" i="1" smtClean="0">
                        <a:solidFill>
                          <a:srgbClr val="FFC000"/>
                        </a:solidFill>
                        <a:latin typeface="Cambria Math" panose="02040503050406030204" pitchFamily="18" charset="0"/>
                      </a:rPr>
                      <m:t>%</m:t>
                    </m:r>
                  </m:oMath>
                </a14:m>
                <a:r>
                  <a:rPr lang="it-IT" sz="2000" dirty="0">
                    <a:solidFill>
                      <a:srgbClr val="FFC000"/>
                    </a:solidFill>
                  </a:rPr>
                  <a:t> </a:t>
                </a:r>
                <a:r>
                  <a:rPr lang="it-IT" sz="2000" dirty="0"/>
                  <a:t>and a torsion of </a:t>
                </a:r>
                <a14:m>
                  <m:oMath xmlns:m="http://schemas.openxmlformats.org/officeDocument/2006/math">
                    <m:sSub>
                      <m:sSubPr>
                        <m:ctrlPr>
                          <a:rPr lang="en-US" sz="2000" b="0" i="1" smtClean="0">
                            <a:solidFill>
                              <a:srgbClr val="FF0000"/>
                            </a:solidFill>
                            <a:latin typeface="Cambria Math" panose="02040503050406030204" pitchFamily="18" charset="0"/>
                          </a:rPr>
                        </m:ctrlPr>
                      </m:sSubPr>
                      <m:e>
                        <m:r>
                          <a:rPr lang="en-US" sz="2000" b="0" i="1" smtClean="0">
                            <a:solidFill>
                              <a:srgbClr val="FF0000"/>
                            </a:solidFill>
                            <a:latin typeface="Cambria Math" panose="02040503050406030204" pitchFamily="18" charset="0"/>
                          </a:rPr>
                          <m:t>𝜏</m:t>
                        </m:r>
                      </m:e>
                      <m:sub>
                        <m:r>
                          <a:rPr lang="en-US" sz="2000" b="0" i="1" smtClean="0">
                            <a:solidFill>
                              <a:srgbClr val="FF0000"/>
                            </a:solidFill>
                            <a:latin typeface="Cambria Math" panose="02040503050406030204" pitchFamily="18" charset="0"/>
                          </a:rPr>
                          <m:t>𝑦</m:t>
                        </m:r>
                      </m:sub>
                    </m:sSub>
                    <m:r>
                      <a:rPr lang="en-US" sz="2000" b="0" i="1" smtClean="0">
                        <a:solidFill>
                          <a:srgbClr val="FF0000"/>
                        </a:solidFill>
                        <a:latin typeface="Cambria Math" panose="02040503050406030204" pitchFamily="18" charset="0"/>
                      </a:rPr>
                      <m:t>=</m:t>
                    </m:r>
                    <m:d>
                      <m:dPr>
                        <m:ctrlPr>
                          <a:rPr lang="en-US" sz="2000" b="0" i="1" smtClean="0">
                            <a:solidFill>
                              <a:srgbClr val="FF0000"/>
                            </a:solidFill>
                            <a:latin typeface="Cambria Math" panose="02040503050406030204" pitchFamily="18" charset="0"/>
                          </a:rPr>
                        </m:ctrlPr>
                      </m:dPr>
                      <m:e>
                        <m:r>
                          <a:rPr lang="en-US" sz="2000" b="0" i="1" smtClean="0">
                            <a:solidFill>
                              <a:srgbClr val="FF0000"/>
                            </a:solidFill>
                            <a:latin typeface="Cambria Math" panose="02040503050406030204" pitchFamily="18" charset="0"/>
                          </a:rPr>
                          <m:t>24.4±0.2</m:t>
                        </m:r>
                      </m:e>
                    </m:d>
                    <m:r>
                      <a:rPr lang="en-US" sz="2000" b="0" i="1" smtClean="0">
                        <a:solidFill>
                          <a:srgbClr val="FF0000"/>
                        </a:solidFill>
                        <a:latin typeface="Cambria Math" panose="02040503050406030204" pitchFamily="18" charset="0"/>
                      </a:rPr>
                      <m:t>𝜇</m:t>
                    </m:r>
                    <m:r>
                      <m:rPr>
                        <m:sty m:val="p"/>
                      </m:rPr>
                      <a:rPr lang="en-US" sz="2000" b="0" i="0" smtClean="0">
                        <a:solidFill>
                          <a:srgbClr val="FF0000"/>
                        </a:solidFill>
                        <a:latin typeface="Cambria Math" panose="02040503050406030204" pitchFamily="18" charset="0"/>
                      </a:rPr>
                      <m:t>rad</m:t>
                    </m:r>
                    <m:r>
                      <a:rPr lang="en-US" sz="2000" b="0" i="0" smtClean="0">
                        <a:solidFill>
                          <a:srgbClr val="FF0000"/>
                        </a:solidFill>
                        <a:latin typeface="Cambria Math" panose="02040503050406030204" pitchFamily="18" charset="0"/>
                      </a:rPr>
                      <m:t>/</m:t>
                    </m:r>
                    <m:r>
                      <m:rPr>
                        <m:sty m:val="p"/>
                      </m:rPr>
                      <a:rPr lang="en-US" sz="2000" b="0" i="0" smtClean="0">
                        <a:solidFill>
                          <a:srgbClr val="FF0000"/>
                        </a:solidFill>
                        <a:latin typeface="Cambria Math" panose="02040503050406030204" pitchFamily="18" charset="0"/>
                      </a:rPr>
                      <m:t>mm</m:t>
                    </m:r>
                  </m:oMath>
                </a14:m>
                <a:r>
                  <a:rPr lang="it-IT" sz="2000" dirty="0"/>
                  <a:t> for the TCCP long crystal.</a:t>
                </a:r>
              </a:p>
            </p:txBody>
          </p:sp>
        </mc:Choice>
        <mc:Fallback>
          <p:sp>
            <p:nvSpPr>
              <p:cNvPr id="20" name="TextBox 19">
                <a:extLst>
                  <a:ext uri="{FF2B5EF4-FFF2-40B4-BE49-F238E27FC236}">
                    <a16:creationId xmlns:a16="http://schemas.microsoft.com/office/drawing/2014/main" id="{66F12399-717F-4B93-1D0A-C1CCC48BD01B}"/>
                  </a:ext>
                </a:extLst>
              </p:cNvPr>
              <p:cNvSpPr txBox="1">
                <a:spLocks noRot="1" noChangeAspect="1" noMove="1" noResize="1" noEditPoints="1" noAdjustHandles="1" noChangeArrowheads="1" noChangeShapeType="1" noTextEdit="1"/>
              </p:cNvSpPr>
              <p:nvPr/>
            </p:nvSpPr>
            <p:spPr>
              <a:xfrm>
                <a:off x="696000" y="3967239"/>
                <a:ext cx="10799997" cy="1039836"/>
              </a:xfrm>
              <a:prstGeom prst="rect">
                <a:avLst/>
              </a:prstGeom>
              <a:blipFill>
                <a:blip r:embed="rId4"/>
                <a:stretch>
                  <a:fillRect l="-564" t="-3529" r="-677" b="-10000"/>
                </a:stretch>
              </a:blipFill>
            </p:spPr>
            <p:txBody>
              <a:bodyPr/>
              <a:lstStyle/>
              <a:p>
                <a:r>
                  <a:rPr lang="it-IT">
                    <a:noFill/>
                  </a:rPr>
                  <a:t> </a:t>
                </a:r>
              </a:p>
            </p:txBody>
          </p:sp>
        </mc:Fallback>
      </mc:AlternateContent>
    </p:spTree>
    <p:extLst>
      <p:ext uri="{BB962C8B-B14F-4D97-AF65-F5344CB8AC3E}">
        <p14:creationId xmlns:p14="http://schemas.microsoft.com/office/powerpoint/2010/main" val="3778739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A56B3-EA09-9AF6-7D3E-22CD92EDDE3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13E1A33-E79F-5CEB-02A2-49E1862E8E36}"/>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en-US" sz="4000" b="1" dirty="0">
                <a:solidFill>
                  <a:srgbClr val="002060"/>
                </a:solidFill>
              </a:rPr>
              <a:t>	WHAT’S NEXT: SIMULATION</a:t>
            </a:r>
            <a:endParaRPr lang="it-IT" sz="4000" b="1" dirty="0">
              <a:solidFill>
                <a:srgbClr val="002060"/>
              </a:solidFill>
            </a:endParaRPr>
          </a:p>
        </p:txBody>
      </p:sp>
      <p:sp>
        <p:nvSpPr>
          <p:cNvPr id="4" name="Segnaposto data 3">
            <a:extLst>
              <a:ext uri="{FF2B5EF4-FFF2-40B4-BE49-F238E27FC236}">
                <a16:creationId xmlns:a16="http://schemas.microsoft.com/office/drawing/2014/main" id="{2BC7D5DC-915F-A25F-4B1E-E2DB412C5F09}"/>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64748F07-19C3-5288-4A2E-627C9D25DDB6}"/>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cxnSp>
        <p:nvCxnSpPr>
          <p:cNvPr id="10" name="Connettore diritto 9">
            <a:extLst>
              <a:ext uri="{FF2B5EF4-FFF2-40B4-BE49-F238E27FC236}">
                <a16:creationId xmlns:a16="http://schemas.microsoft.com/office/drawing/2014/main" id="{AE4B4F96-D01C-4CBC-061E-303A9C9D3561}"/>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8" name="Titolo 1">
            <a:extLst>
              <a:ext uri="{FF2B5EF4-FFF2-40B4-BE49-F238E27FC236}">
                <a16:creationId xmlns:a16="http://schemas.microsoft.com/office/drawing/2014/main" id="{254FF390-66E9-5FA5-6247-83E973868DEC}"/>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NEXT STEPS</a:t>
            </a:r>
            <a:endParaRPr lang="it-IT" sz="2000" b="1" i="1" dirty="0">
              <a:solidFill>
                <a:srgbClr val="002060"/>
              </a:solidFill>
              <a:ea typeface="Calibri" panose="020F0502020204030204" pitchFamily="34" charset="0"/>
              <a:cs typeface="Calibri" panose="020F0502020204030204" pitchFamily="34" charset="0"/>
            </a:endParaRPr>
          </a:p>
        </p:txBody>
      </p:sp>
      <p:sp>
        <p:nvSpPr>
          <p:cNvPr id="6" name="Segnaposto numero diapositiva 5">
            <a:extLst>
              <a:ext uri="{FF2B5EF4-FFF2-40B4-BE49-F238E27FC236}">
                <a16:creationId xmlns:a16="http://schemas.microsoft.com/office/drawing/2014/main" id="{FED09D81-39EA-78F2-E329-7C86317B7DD4}"/>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15</a:t>
            </a:fld>
            <a:endParaRPr lang="it-IT" sz="1500" b="1" dirty="0">
              <a:solidFill>
                <a:srgbClr val="002060"/>
              </a:solidFill>
            </a:endParaRPr>
          </a:p>
        </p:txBody>
      </p:sp>
      <p:sp>
        <p:nvSpPr>
          <p:cNvPr id="3" name="Segnaposto contenuto 2">
            <a:extLst>
              <a:ext uri="{FF2B5EF4-FFF2-40B4-BE49-F238E27FC236}">
                <a16:creationId xmlns:a16="http://schemas.microsoft.com/office/drawing/2014/main" id="{61924F33-67BC-65BA-E711-DB1FB725E40C}"/>
              </a:ext>
            </a:extLst>
          </p:cNvPr>
          <p:cNvSpPr>
            <a:spLocks noGrp="1"/>
          </p:cNvSpPr>
          <p:nvPr>
            <p:ph idx="1"/>
          </p:nvPr>
        </p:nvSpPr>
        <p:spPr>
          <a:xfrm>
            <a:off x="838200" y="1401288"/>
            <a:ext cx="10515600" cy="4776227"/>
          </a:xfrm>
        </p:spPr>
        <p:txBody>
          <a:bodyPr>
            <a:normAutofit/>
          </a:bodyPr>
          <a:lstStyle/>
          <a:p>
            <a:pPr marL="0" indent="0">
              <a:buNone/>
            </a:pPr>
            <a:endParaRPr lang="en-US" sz="2600" dirty="0"/>
          </a:p>
        </p:txBody>
      </p:sp>
    </p:spTree>
    <p:extLst>
      <p:ext uri="{BB962C8B-B14F-4D97-AF65-F5344CB8AC3E}">
        <p14:creationId xmlns:p14="http://schemas.microsoft.com/office/powerpoint/2010/main" val="36500377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E89F9-D1FA-1576-64FD-A2EB689BC090}"/>
            </a:ext>
          </a:extLst>
        </p:cNvPr>
        <p:cNvGrpSpPr/>
        <p:nvPr/>
      </p:nvGrpSpPr>
      <p:grpSpPr>
        <a:xfrm>
          <a:off x="0" y="0"/>
          <a:ext cx="0" cy="0"/>
          <a:chOff x="0" y="0"/>
          <a:chExt cx="0" cy="0"/>
        </a:xfrm>
      </p:grpSpPr>
      <p:pic>
        <p:nvPicPr>
          <p:cNvPr id="26" name="Immagine 25">
            <a:extLst>
              <a:ext uri="{FF2B5EF4-FFF2-40B4-BE49-F238E27FC236}">
                <a16:creationId xmlns:a16="http://schemas.microsoft.com/office/drawing/2014/main" id="{8E94EB5A-4F43-6CBD-4C92-4CA9F1757A3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651267" y="3242140"/>
            <a:ext cx="3918670" cy="3418932"/>
          </a:xfrm>
          <a:prstGeom prst="rect">
            <a:avLst/>
          </a:prstGeom>
        </p:spPr>
      </p:pic>
      <p:pic>
        <p:nvPicPr>
          <p:cNvPr id="28" name="Segnaposto contenuto 13">
            <a:extLst>
              <a:ext uri="{FF2B5EF4-FFF2-40B4-BE49-F238E27FC236}">
                <a16:creationId xmlns:a16="http://schemas.microsoft.com/office/drawing/2014/main" id="{F000813B-5FBF-D20E-DACE-03AC95F5394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622066" y="3242885"/>
            <a:ext cx="3918667" cy="3417441"/>
          </a:xfrm>
          <a:prstGeom prst="rect">
            <a:avLst/>
          </a:prstGeom>
        </p:spPr>
      </p:pic>
      <p:sp>
        <p:nvSpPr>
          <p:cNvPr id="2" name="Titolo 1">
            <a:extLst>
              <a:ext uri="{FF2B5EF4-FFF2-40B4-BE49-F238E27FC236}">
                <a16:creationId xmlns:a16="http://schemas.microsoft.com/office/drawing/2014/main" id="{B4565F3B-3ED1-0D04-5BA8-550046893FDE}"/>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it-IT" b="1" dirty="0">
                <a:solidFill>
                  <a:srgbClr val="002060"/>
                </a:solidFill>
              </a:rPr>
              <a:t>	2. PREVIOUS ANALYSIS: CRYSTAL EDGES</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72EEC9D3-1E73-78F7-9E6A-5F7C3C212E79}"/>
                  </a:ext>
                </a:extLst>
              </p:cNvPr>
              <p:cNvSpPr>
                <a:spLocks noGrp="1"/>
              </p:cNvSpPr>
              <p:nvPr>
                <p:ph idx="1"/>
              </p:nvPr>
            </p:nvSpPr>
            <p:spPr>
              <a:xfrm>
                <a:off x="838200" y="1401288"/>
                <a:ext cx="10515600" cy="4776227"/>
              </a:xfrm>
            </p:spPr>
            <p:txBody>
              <a:bodyPr>
                <a:noAutofit/>
              </a:bodyPr>
              <a:lstStyle/>
              <a:p>
                <a:r>
                  <a:rPr lang="it-IT" sz="2400" dirty="0"/>
                  <a:t>To </a:t>
                </a:r>
                <a:r>
                  <a:rPr lang="it-IT" sz="2400" dirty="0" err="1"/>
                  <a:t>define</a:t>
                </a:r>
                <a:r>
                  <a:rPr lang="it-IT" sz="2400" dirty="0"/>
                  <a:t> the </a:t>
                </a:r>
                <a:r>
                  <a:rPr lang="it-IT" sz="2400" dirty="0" err="1"/>
                  <a:t>true</a:t>
                </a:r>
                <a:r>
                  <a:rPr lang="it-IT" sz="2400" dirty="0"/>
                  <a:t> footprint </a:t>
                </a:r>
                <a:r>
                  <a:rPr lang="it-IT" sz="2400" dirty="0" err="1"/>
                  <a:t>at</a:t>
                </a:r>
                <a:r>
                  <a:rPr lang="it-IT" sz="2400" dirty="0"/>
                  <a:t> the </a:t>
                </a:r>
                <a:r>
                  <a:rPr lang="it-IT" sz="2400" dirty="0" err="1"/>
                  <a:t>entrance</a:t>
                </a:r>
                <a:r>
                  <a:rPr lang="it-IT" sz="2400" dirty="0"/>
                  <a:t> face we must project the downstream </a:t>
                </a:r>
                <a:r>
                  <a:rPr lang="it-IT" sz="2400" dirty="0" err="1"/>
                  <a:t>edges</a:t>
                </a:r>
                <a:r>
                  <a:rPr lang="it-IT" sz="2400" dirty="0"/>
                  <a:t> back upstream.</a:t>
                </a:r>
              </a:p>
              <a:p>
                <a:r>
                  <a:rPr lang="it-IT" sz="2400" dirty="0"/>
                  <a:t>We </a:t>
                </a:r>
                <a:r>
                  <a:rPr lang="it-IT" sz="2400" dirty="0" err="1"/>
                  <a:t>need</a:t>
                </a:r>
                <a:r>
                  <a:rPr lang="it-IT" sz="2400" dirty="0"/>
                  <a:t> to </a:t>
                </a:r>
                <a:r>
                  <a:rPr lang="it-IT" sz="2400" dirty="0" err="1"/>
                  <a:t>subtract</a:t>
                </a:r>
                <a:r>
                  <a:rPr lang="it-IT" sz="2400" dirty="0"/>
                  <a:t> a shift </a:t>
                </a:r>
                <a14:m>
                  <m:oMath xmlns:m="http://schemas.openxmlformats.org/officeDocument/2006/math">
                    <m:r>
                      <m:rPr>
                        <m:sty m:val="p"/>
                      </m:rPr>
                      <a:rPr lang="it-IT" sz="2400" b="0" i="0" smtClean="0">
                        <a:latin typeface="Cambria Math" panose="02040503050406030204" pitchFamily="18" charset="0"/>
                      </a:rPr>
                      <m:t>Δ</m:t>
                    </m:r>
                    <m:r>
                      <a:rPr lang="it-IT" sz="2400" b="0" i="1" smtClean="0">
                        <a:latin typeface="Cambria Math" panose="02040503050406030204" pitchFamily="18" charset="0"/>
                      </a:rPr>
                      <m:t>𝑥</m:t>
                    </m:r>
                  </m:oMath>
                </a14:m>
                <a:r>
                  <a:rPr lang="it-IT" sz="2400" dirty="0"/>
                  <a:t> from the downstream </a:t>
                </a:r>
                <a:r>
                  <a:rPr lang="it-IT" sz="2400" dirty="0" err="1"/>
                  <a:t>edge</a:t>
                </a:r>
                <a:r>
                  <a:rPr lang="it-IT" sz="2400" dirty="0"/>
                  <a:t> position.</a:t>
                </a:r>
              </a:p>
              <a:p>
                <a:r>
                  <a:rPr lang="it-IT" sz="2400" dirty="0" err="1"/>
                  <a:t>Channeled</a:t>
                </a:r>
                <a:r>
                  <a:rPr lang="it-IT" sz="2400" dirty="0"/>
                  <a:t> </a:t>
                </a:r>
                <a:r>
                  <a:rPr lang="it-IT" sz="2400" dirty="0" err="1"/>
                  <a:t>particles</a:t>
                </a:r>
                <a:r>
                  <a:rPr lang="it-IT" sz="2400" dirty="0"/>
                  <a:t> follow the </a:t>
                </a:r>
                <a:r>
                  <a:rPr lang="it-IT" sz="2400" dirty="0" err="1"/>
                  <a:t>bent</a:t>
                </a:r>
                <a:r>
                  <a:rPr lang="it-IT" sz="2400" dirty="0"/>
                  <a:t> lattice </a:t>
                </a:r>
                <a:r>
                  <a:rPr lang="it-IT" sz="2400" dirty="0" err="1"/>
                  <a:t>planes</a:t>
                </a:r>
                <a:r>
                  <a:rPr lang="it-IT" sz="2400" dirty="0"/>
                  <a:t>, </a:t>
                </a:r>
                <a:r>
                  <a:rPr lang="it-IT" sz="2400" dirty="0" err="1"/>
                  <a:t>resulting</a:t>
                </a:r>
                <a:r>
                  <a:rPr lang="it-IT" sz="2400" dirty="0"/>
                  <a:t> in a </a:t>
                </a:r>
                <a:r>
                  <a:rPr lang="it-IT" sz="2400" dirty="0" err="1"/>
                  <a:t>lateral</a:t>
                </a:r>
                <a:r>
                  <a:rPr lang="it-IT" sz="2400" dirty="0"/>
                  <a:t> </a:t>
                </a:r>
                <a:r>
                  <a:rPr lang="it-IT" sz="2400" dirty="0" err="1"/>
                  <a:t>geometric</a:t>
                </a:r>
                <a:r>
                  <a:rPr lang="it-IT" sz="2400" dirty="0"/>
                  <a:t> drift </a:t>
                </a:r>
                <a:r>
                  <a:rPr lang="it-IT" sz="2400" dirty="0" err="1"/>
                  <a:t>along</a:t>
                </a:r>
                <a:r>
                  <a:rPr lang="it-IT" sz="2400" dirty="0"/>
                  <a:t> the </a:t>
                </a:r>
                <a14:m>
                  <m:oMath xmlns:m="http://schemas.openxmlformats.org/officeDocument/2006/math">
                    <m:r>
                      <a:rPr lang="it-IT" sz="2400" i="1" dirty="0" smtClean="0">
                        <a:latin typeface="Cambria Math" panose="02040503050406030204" pitchFamily="18" charset="0"/>
                      </a:rPr>
                      <m:t>𝑥</m:t>
                    </m:r>
                  </m:oMath>
                </a14:m>
                <a:r>
                  <a:rPr lang="it-IT" sz="2400" dirty="0"/>
                  <a:t>-</a:t>
                </a:r>
                <a:r>
                  <a:rPr lang="it-IT" sz="2400" dirty="0" err="1"/>
                  <a:t>axis</a:t>
                </a:r>
                <a:r>
                  <a:rPr lang="it-IT" sz="2400" dirty="0"/>
                  <a:t> </a:t>
                </a:r>
                <a:r>
                  <a:rPr lang="it-IT" sz="2400" dirty="0" err="1"/>
                  <a:t>as</a:t>
                </a:r>
                <a:r>
                  <a:rPr lang="it-IT" sz="2400" dirty="0"/>
                  <a:t> </a:t>
                </a:r>
                <a:r>
                  <a:rPr lang="it-IT" sz="2400" dirty="0" err="1"/>
                  <a:t>they</a:t>
                </a:r>
                <a:r>
                  <a:rPr lang="it-IT" sz="2400" dirty="0"/>
                  <a:t> traverse the </a:t>
                </a:r>
                <a:r>
                  <a:rPr lang="it-IT" sz="2400" dirty="0" err="1"/>
                  <a:t>crystal</a:t>
                </a:r>
                <a:r>
                  <a:rPr lang="it-IT" sz="2400" dirty="0"/>
                  <a:t>.</a:t>
                </a:r>
              </a:p>
            </p:txBody>
          </p:sp>
        </mc:Choice>
        <mc:Fallback xmlns="">
          <p:sp>
            <p:nvSpPr>
              <p:cNvPr id="3" name="Segnaposto contenuto 2">
                <a:extLst>
                  <a:ext uri="{FF2B5EF4-FFF2-40B4-BE49-F238E27FC236}">
                    <a16:creationId xmlns:a16="http://schemas.microsoft.com/office/drawing/2014/main" id="{72EEC9D3-1E73-78F7-9E6A-5F7C3C212E79}"/>
                  </a:ext>
                </a:extLst>
              </p:cNvPr>
              <p:cNvSpPr>
                <a:spLocks noGrp="1" noRot="1" noChangeAspect="1" noMove="1" noResize="1" noEditPoints="1" noAdjustHandles="1" noChangeArrowheads="1" noChangeShapeType="1" noTextEdit="1"/>
              </p:cNvSpPr>
              <p:nvPr>
                <p:ph idx="1"/>
              </p:nvPr>
            </p:nvSpPr>
            <p:spPr>
              <a:xfrm>
                <a:off x="838200" y="1401288"/>
                <a:ext cx="10515600" cy="4776227"/>
              </a:xfrm>
              <a:blipFill>
                <a:blip r:embed="rId5"/>
                <a:stretch>
                  <a:fillRect l="-812" t="-1660"/>
                </a:stretch>
              </a:blipFill>
            </p:spPr>
            <p:txBody>
              <a:bodyPr/>
              <a:lstStyle/>
              <a:p>
                <a:r>
                  <a:rPr lang="it-IT">
                    <a:noFill/>
                  </a:rPr>
                  <a:t> </a:t>
                </a:r>
              </a:p>
            </p:txBody>
          </p:sp>
        </mc:Fallback>
      </mc:AlternateContent>
      <p:sp>
        <p:nvSpPr>
          <p:cNvPr id="4" name="Segnaposto data 3">
            <a:extLst>
              <a:ext uri="{FF2B5EF4-FFF2-40B4-BE49-F238E27FC236}">
                <a16:creationId xmlns:a16="http://schemas.microsoft.com/office/drawing/2014/main" id="{AE8817D2-0A9B-0FAF-36DE-4A11DA6A530E}"/>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968EBD17-4982-87E2-3CDB-90B5380C2171}"/>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6107B5E3-3B9D-1082-353B-3394C8D104D8}"/>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16</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CC47FAF3-C921-892C-9CA4-BE050B1D5E9B}"/>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7" name="Rettangolo 6">
            <a:extLst>
              <a:ext uri="{FF2B5EF4-FFF2-40B4-BE49-F238E27FC236}">
                <a16:creationId xmlns:a16="http://schemas.microsoft.com/office/drawing/2014/main" id="{0188A4B1-7E67-D966-06CE-BDB22631CF37}"/>
              </a:ext>
            </a:extLst>
          </p:cNvPr>
          <p:cNvSpPr/>
          <p:nvPr/>
        </p:nvSpPr>
        <p:spPr>
          <a:xfrm>
            <a:off x="2235201" y="4792137"/>
            <a:ext cx="815636" cy="134196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2" name="Connettore diritto 11">
            <a:extLst>
              <a:ext uri="{FF2B5EF4-FFF2-40B4-BE49-F238E27FC236}">
                <a16:creationId xmlns:a16="http://schemas.microsoft.com/office/drawing/2014/main" id="{FE88FD1A-5454-5AA8-1606-1C9938301A25}"/>
              </a:ext>
            </a:extLst>
          </p:cNvPr>
          <p:cNvCxnSpPr>
            <a:cxnSpLocks/>
          </p:cNvCxnSpPr>
          <p:nvPr/>
        </p:nvCxnSpPr>
        <p:spPr>
          <a:xfrm>
            <a:off x="2245785" y="3429000"/>
            <a:ext cx="0" cy="1038225"/>
          </a:xfrm>
          <a:prstGeom prst="line">
            <a:avLst/>
          </a:prstGeom>
          <a:ln>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15" name="Connettore diritto 14">
            <a:extLst>
              <a:ext uri="{FF2B5EF4-FFF2-40B4-BE49-F238E27FC236}">
                <a16:creationId xmlns:a16="http://schemas.microsoft.com/office/drawing/2014/main" id="{AE15623F-17A3-2E34-83DC-B4A12FAAEE97}"/>
              </a:ext>
            </a:extLst>
          </p:cNvPr>
          <p:cNvCxnSpPr>
            <a:cxnSpLocks/>
          </p:cNvCxnSpPr>
          <p:nvPr/>
        </p:nvCxnSpPr>
        <p:spPr>
          <a:xfrm>
            <a:off x="3057187" y="3440113"/>
            <a:ext cx="0" cy="1038225"/>
          </a:xfrm>
          <a:prstGeom prst="line">
            <a:avLst/>
          </a:prstGeom>
          <a:ln>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18" name="Connettore diritto 17">
            <a:extLst>
              <a:ext uri="{FF2B5EF4-FFF2-40B4-BE49-F238E27FC236}">
                <a16:creationId xmlns:a16="http://schemas.microsoft.com/office/drawing/2014/main" id="{E1A732FF-C639-A178-1422-EF6F95A240D8}"/>
              </a:ext>
            </a:extLst>
          </p:cNvPr>
          <p:cNvCxnSpPr>
            <a:cxnSpLocks/>
          </p:cNvCxnSpPr>
          <p:nvPr/>
        </p:nvCxnSpPr>
        <p:spPr>
          <a:xfrm flipH="1">
            <a:off x="4138613" y="4792136"/>
            <a:ext cx="1203325" cy="0"/>
          </a:xfrm>
          <a:prstGeom prst="line">
            <a:avLst/>
          </a:prstGeom>
          <a:ln>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22" name="Connettore diritto 21">
            <a:extLst>
              <a:ext uri="{FF2B5EF4-FFF2-40B4-BE49-F238E27FC236}">
                <a16:creationId xmlns:a16="http://schemas.microsoft.com/office/drawing/2014/main" id="{F694E3CB-E4C0-FA0D-7F1C-B294C58F5FD2}"/>
              </a:ext>
            </a:extLst>
          </p:cNvPr>
          <p:cNvCxnSpPr>
            <a:cxnSpLocks/>
          </p:cNvCxnSpPr>
          <p:nvPr/>
        </p:nvCxnSpPr>
        <p:spPr>
          <a:xfrm flipH="1">
            <a:off x="4138613" y="6134098"/>
            <a:ext cx="1203325" cy="0"/>
          </a:xfrm>
          <a:prstGeom prst="line">
            <a:avLst/>
          </a:prstGeom>
          <a:ln>
            <a:solidFill>
              <a:srgbClr val="FF0000"/>
            </a:solidFill>
            <a:prstDash val="sysDot"/>
          </a:ln>
        </p:spPr>
        <p:style>
          <a:lnRef idx="2">
            <a:schemeClr val="accent1"/>
          </a:lnRef>
          <a:fillRef idx="0">
            <a:schemeClr val="accent1"/>
          </a:fillRef>
          <a:effectRef idx="1">
            <a:schemeClr val="accent1"/>
          </a:effectRef>
          <a:fontRef idx="minor">
            <a:schemeClr val="tx1"/>
          </a:fontRef>
        </p:style>
      </p:cxnSp>
      <p:sp>
        <p:nvSpPr>
          <p:cNvPr id="11" name="Rettangolo 10">
            <a:extLst>
              <a:ext uri="{FF2B5EF4-FFF2-40B4-BE49-F238E27FC236}">
                <a16:creationId xmlns:a16="http://schemas.microsoft.com/office/drawing/2014/main" id="{4C842739-3CDC-C45E-E714-D97D9BED5D0F}"/>
              </a:ext>
            </a:extLst>
          </p:cNvPr>
          <p:cNvSpPr/>
          <p:nvPr/>
        </p:nvSpPr>
        <p:spPr>
          <a:xfrm>
            <a:off x="7266789" y="4792137"/>
            <a:ext cx="810071" cy="1341962"/>
          </a:xfrm>
          <a:prstGeom prst="rect">
            <a:avLst/>
          </a:prstGeom>
          <a:noFill/>
          <a:ln w="28575">
            <a:solidFill>
              <a:srgbClr val="FFC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xmlns:a14="http://schemas.microsoft.com/office/drawing/2010/main">
        <mc:Choice Requires="a14">
          <p:sp>
            <p:nvSpPr>
              <p:cNvPr id="13" name="Rettangolo con angoli arrotondati 12">
                <a:extLst>
                  <a:ext uri="{FF2B5EF4-FFF2-40B4-BE49-F238E27FC236}">
                    <a16:creationId xmlns:a16="http://schemas.microsoft.com/office/drawing/2014/main" id="{80D6D794-BEF0-5EB5-B731-DADE666780B1}"/>
                  </a:ext>
                </a:extLst>
              </p:cNvPr>
              <p:cNvSpPr/>
              <p:nvPr/>
            </p:nvSpPr>
            <p:spPr>
              <a:xfrm>
                <a:off x="9164638" y="3332747"/>
                <a:ext cx="2331362" cy="1134475"/>
              </a:xfrm>
              <a:prstGeom prst="round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m:rPr>
                          <m:sty m:val="p"/>
                        </m:rPr>
                        <a:rPr lang="it-IT" b="0" i="0" smtClean="0">
                          <a:solidFill>
                            <a:schemeClr val="tx1"/>
                          </a:solidFill>
                          <a:latin typeface="Cambria Math" panose="02040503050406030204" pitchFamily="18" charset="0"/>
                        </a:rPr>
                        <m:t>Δ</m:t>
                      </m:r>
                      <m:r>
                        <a:rPr lang="it-IT" b="0" i="1" smtClean="0">
                          <a:solidFill>
                            <a:schemeClr val="tx1"/>
                          </a:solidFill>
                          <a:latin typeface="Cambria Math" panose="02040503050406030204" pitchFamily="18" charset="0"/>
                        </a:rPr>
                        <m:t>𝑥</m:t>
                      </m:r>
                      <m:r>
                        <a:rPr lang="it-IT" b="0" i="1" smtClean="0">
                          <a:solidFill>
                            <a:schemeClr val="tx1"/>
                          </a:solidFill>
                          <a:latin typeface="Cambria Math" panose="02040503050406030204" pitchFamily="18" charset="0"/>
                        </a:rPr>
                        <m:t>=</m:t>
                      </m:r>
                      <m:f>
                        <m:fPr>
                          <m:ctrlPr>
                            <a:rPr lang="it-IT" b="0" i="1" smtClean="0">
                              <a:solidFill>
                                <a:schemeClr val="tx1"/>
                              </a:solidFill>
                              <a:latin typeface="Cambria Math" panose="02040503050406030204" pitchFamily="18" charset="0"/>
                            </a:rPr>
                          </m:ctrlPr>
                        </m:fPr>
                        <m:num>
                          <m:sSub>
                            <m:sSubPr>
                              <m:ctrlPr>
                                <a:rPr lang="it-IT" b="0" i="1" smtClean="0">
                                  <a:solidFill>
                                    <a:schemeClr val="tx1"/>
                                  </a:solidFill>
                                  <a:latin typeface="Cambria Math" panose="02040503050406030204" pitchFamily="18" charset="0"/>
                                </a:rPr>
                              </m:ctrlPr>
                            </m:sSubPr>
                            <m:e>
                              <m:r>
                                <a:rPr lang="it-IT" b="0" i="1" smtClean="0">
                                  <a:solidFill>
                                    <a:schemeClr val="tx1"/>
                                  </a:solidFill>
                                  <a:latin typeface="Cambria Math" panose="02040503050406030204" pitchFamily="18" charset="0"/>
                                </a:rPr>
                                <m:t>𝜃</m:t>
                              </m:r>
                            </m:e>
                            <m:sub>
                              <m:r>
                                <a:rPr lang="it-IT" b="0" i="1" smtClean="0">
                                  <a:solidFill>
                                    <a:schemeClr val="tx1"/>
                                  </a:solidFill>
                                  <a:latin typeface="Cambria Math" panose="02040503050406030204" pitchFamily="18" charset="0"/>
                                </a:rPr>
                                <m:t>𝑏</m:t>
                              </m:r>
                            </m:sub>
                          </m:sSub>
                          <m:r>
                            <a:rPr lang="it-IT" b="0" i="1" smtClean="0">
                              <a:solidFill>
                                <a:schemeClr val="tx1"/>
                              </a:solidFill>
                              <a:latin typeface="Cambria Math" panose="02040503050406030204" pitchFamily="18" charset="0"/>
                            </a:rPr>
                            <m:t>⋅</m:t>
                          </m:r>
                          <m:r>
                            <a:rPr lang="it-IT" b="0" i="1" smtClean="0">
                              <a:solidFill>
                                <a:schemeClr val="tx1"/>
                              </a:solidFill>
                              <a:latin typeface="Cambria Math" panose="02040503050406030204" pitchFamily="18" charset="0"/>
                            </a:rPr>
                            <m:t>𝐿</m:t>
                          </m:r>
                        </m:num>
                        <m:den>
                          <m:r>
                            <a:rPr lang="it-IT" b="0" i="1" smtClean="0">
                              <a:solidFill>
                                <a:schemeClr val="tx1"/>
                              </a:solidFill>
                              <a:latin typeface="Cambria Math" panose="02040503050406030204" pitchFamily="18" charset="0"/>
                            </a:rPr>
                            <m:t>2</m:t>
                          </m:r>
                        </m:den>
                      </m:f>
                      <m:r>
                        <a:rPr lang="it-IT" b="0" i="1" smtClean="0">
                          <a:solidFill>
                            <a:schemeClr val="tx1"/>
                          </a:solidFill>
                          <a:latin typeface="Cambria Math" panose="02040503050406030204" pitchFamily="18" charset="0"/>
                        </a:rPr>
                        <m:t>∼0.22 </m:t>
                      </m:r>
                      <m:r>
                        <m:rPr>
                          <m:sty m:val="p"/>
                        </m:rPr>
                        <a:rPr lang="it-IT" b="0" i="0" smtClean="0">
                          <a:solidFill>
                            <a:schemeClr val="tx1"/>
                          </a:solidFill>
                          <a:latin typeface="Cambria Math" panose="02040503050406030204" pitchFamily="18" charset="0"/>
                        </a:rPr>
                        <m:t>mm</m:t>
                      </m:r>
                    </m:oMath>
                  </m:oMathPara>
                </a14:m>
                <a:endParaRPr lang="it-IT" dirty="0">
                  <a:solidFill>
                    <a:schemeClr val="tx1"/>
                  </a:solidFill>
                </a:endParaRPr>
              </a:p>
            </p:txBody>
          </p:sp>
        </mc:Choice>
        <mc:Fallback xmlns="">
          <p:sp>
            <p:nvSpPr>
              <p:cNvPr id="13" name="Rettangolo con angoli arrotondati 12">
                <a:extLst>
                  <a:ext uri="{FF2B5EF4-FFF2-40B4-BE49-F238E27FC236}">
                    <a16:creationId xmlns:a16="http://schemas.microsoft.com/office/drawing/2014/main" id="{80D6D794-BEF0-5EB5-B731-DADE666780B1}"/>
                  </a:ext>
                </a:extLst>
              </p:cNvPr>
              <p:cNvSpPr>
                <a:spLocks noRot="1" noChangeAspect="1" noMove="1" noResize="1" noEditPoints="1" noAdjustHandles="1" noChangeArrowheads="1" noChangeShapeType="1" noTextEdit="1"/>
              </p:cNvSpPr>
              <p:nvPr/>
            </p:nvSpPr>
            <p:spPr>
              <a:xfrm>
                <a:off x="9164638" y="3332747"/>
                <a:ext cx="2331362" cy="1134475"/>
              </a:xfrm>
              <a:prstGeom prst="roundRect">
                <a:avLst/>
              </a:prstGeom>
              <a:blipFill>
                <a:blip r:embed="rId6"/>
                <a:stretch>
                  <a:fillRect/>
                </a:stretch>
              </a:blipFill>
              <a:ln w="38100">
                <a:solidFill>
                  <a:srgbClr val="FFC000"/>
                </a:solidFill>
              </a:ln>
            </p:spPr>
            <p:txBody>
              <a:bodyPr/>
              <a:lstStyle/>
              <a:p>
                <a:r>
                  <a:rPr lang="it-IT">
                    <a:noFill/>
                  </a:rPr>
                  <a:t> </a:t>
                </a:r>
              </a:p>
            </p:txBody>
          </p:sp>
        </mc:Fallback>
      </mc:AlternateContent>
      <p:sp>
        <p:nvSpPr>
          <p:cNvPr id="14" name="Rettangolo 13">
            <a:extLst>
              <a:ext uri="{FF2B5EF4-FFF2-40B4-BE49-F238E27FC236}">
                <a16:creationId xmlns:a16="http://schemas.microsoft.com/office/drawing/2014/main" id="{F66C269B-AD02-FB23-A310-25CFF046CF84}"/>
              </a:ext>
            </a:extLst>
          </p:cNvPr>
          <p:cNvSpPr/>
          <p:nvPr/>
        </p:nvSpPr>
        <p:spPr>
          <a:xfrm>
            <a:off x="7359920" y="4792136"/>
            <a:ext cx="810072" cy="134196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9" name="Connettore diritto 18">
            <a:extLst>
              <a:ext uri="{FF2B5EF4-FFF2-40B4-BE49-F238E27FC236}">
                <a16:creationId xmlns:a16="http://schemas.microsoft.com/office/drawing/2014/main" id="{CF40EFBB-9592-14FD-FD6F-31C44D6F346A}"/>
              </a:ext>
            </a:extLst>
          </p:cNvPr>
          <p:cNvCxnSpPr>
            <a:cxnSpLocks/>
          </p:cNvCxnSpPr>
          <p:nvPr/>
        </p:nvCxnSpPr>
        <p:spPr>
          <a:xfrm>
            <a:off x="7359920" y="3440113"/>
            <a:ext cx="0" cy="1038225"/>
          </a:xfrm>
          <a:prstGeom prst="line">
            <a:avLst/>
          </a:prstGeom>
          <a:ln>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20" name="Connettore diritto 19">
            <a:extLst>
              <a:ext uri="{FF2B5EF4-FFF2-40B4-BE49-F238E27FC236}">
                <a16:creationId xmlns:a16="http://schemas.microsoft.com/office/drawing/2014/main" id="{C97A30C5-F6A4-B200-3F6A-B463F6AC4C02}"/>
              </a:ext>
            </a:extLst>
          </p:cNvPr>
          <p:cNvCxnSpPr>
            <a:cxnSpLocks/>
          </p:cNvCxnSpPr>
          <p:nvPr/>
        </p:nvCxnSpPr>
        <p:spPr>
          <a:xfrm>
            <a:off x="8169992" y="3440113"/>
            <a:ext cx="0" cy="1038225"/>
          </a:xfrm>
          <a:prstGeom prst="line">
            <a:avLst/>
          </a:prstGeom>
          <a:ln>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21" name="Connettore diritto 20">
            <a:extLst>
              <a:ext uri="{FF2B5EF4-FFF2-40B4-BE49-F238E27FC236}">
                <a16:creationId xmlns:a16="http://schemas.microsoft.com/office/drawing/2014/main" id="{7DD34DDB-64B3-960E-FD00-1EC88B81EB0E}"/>
              </a:ext>
            </a:extLst>
          </p:cNvPr>
          <p:cNvCxnSpPr>
            <a:cxnSpLocks/>
          </p:cNvCxnSpPr>
          <p:nvPr/>
        </p:nvCxnSpPr>
        <p:spPr>
          <a:xfrm flipH="1">
            <a:off x="9164637" y="6134098"/>
            <a:ext cx="1203325" cy="0"/>
          </a:xfrm>
          <a:prstGeom prst="line">
            <a:avLst/>
          </a:prstGeom>
          <a:ln>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ttore diritto 24">
            <a:extLst>
              <a:ext uri="{FF2B5EF4-FFF2-40B4-BE49-F238E27FC236}">
                <a16:creationId xmlns:a16="http://schemas.microsoft.com/office/drawing/2014/main" id="{666D2C75-53F9-9B27-CD77-AA750A933C68}"/>
              </a:ext>
            </a:extLst>
          </p:cNvPr>
          <p:cNvCxnSpPr>
            <a:cxnSpLocks/>
          </p:cNvCxnSpPr>
          <p:nvPr/>
        </p:nvCxnSpPr>
        <p:spPr>
          <a:xfrm flipH="1">
            <a:off x="9164637" y="4792136"/>
            <a:ext cx="1203325" cy="0"/>
          </a:xfrm>
          <a:prstGeom prst="line">
            <a:avLst/>
          </a:prstGeom>
          <a:ln>
            <a:solidFill>
              <a:srgbClr val="FF0000"/>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729379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76D01-217C-59DD-756C-C159F3DD329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736224C-472C-0BFC-A1A7-3DC5DCDAA79D}"/>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it-IT" b="1" dirty="0">
                <a:solidFill>
                  <a:srgbClr val="002060"/>
                </a:solidFill>
              </a:rPr>
              <a:t>	3. ANALYSIS: TORSION EFFECT</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C36D42AD-3DE8-BB3A-DB3E-573D0B4E7A80}"/>
                  </a:ext>
                </a:extLst>
              </p:cNvPr>
              <p:cNvSpPr>
                <a:spLocks noGrp="1"/>
              </p:cNvSpPr>
              <p:nvPr>
                <p:ph idx="1"/>
              </p:nvPr>
            </p:nvSpPr>
            <p:spPr>
              <a:xfrm>
                <a:off x="838200" y="1401288"/>
                <a:ext cx="10515600" cy="4776227"/>
              </a:xfrm>
            </p:spPr>
            <p:txBody>
              <a:bodyPr>
                <a:normAutofit/>
              </a:bodyPr>
              <a:lstStyle/>
              <a:p>
                <a:pPr marL="0" indent="0">
                  <a:buNone/>
                </a:pPr>
                <a:r>
                  <a:rPr lang="it-IT" sz="2600" i="1" dirty="0" err="1"/>
                  <a:t>Torsion</a:t>
                </a:r>
                <a:r>
                  <a:rPr lang="it-IT" sz="2600" i="1" dirty="0"/>
                  <a:t> </a:t>
                </a:r>
                <a:r>
                  <a:rPr lang="it-IT" sz="2600" i="1" dirty="0" err="1"/>
                  <a:t>effect</a:t>
                </a:r>
                <a:r>
                  <a:rPr lang="it-IT" sz="2600" i="1" dirty="0"/>
                  <a:t>:</a:t>
                </a:r>
                <a:r>
                  <a:rPr lang="it-IT" sz="2600" dirty="0"/>
                  <a:t> in long </a:t>
                </a:r>
                <a:r>
                  <a:rPr lang="it-IT" sz="2600" dirty="0" err="1"/>
                  <a:t>crystals</a:t>
                </a:r>
                <a:r>
                  <a:rPr lang="it-IT" sz="2600" dirty="0"/>
                  <a:t> (&gt;1 cm), </a:t>
                </a:r>
                <a:r>
                  <a:rPr lang="it-IT" sz="2600" dirty="0" err="1"/>
                  <a:t>structural</a:t>
                </a:r>
                <a:r>
                  <a:rPr lang="it-IT" sz="2600" dirty="0"/>
                  <a:t> </a:t>
                </a:r>
                <a:r>
                  <a:rPr lang="it-IT" sz="2600" dirty="0" err="1"/>
                  <a:t>torsion</a:t>
                </a:r>
                <a:r>
                  <a:rPr lang="it-IT" sz="2600" dirty="0"/>
                  <a:t> </a:t>
                </a:r>
                <a:r>
                  <a:rPr lang="it-IT" sz="2600" dirty="0" err="1"/>
                  <a:t>is</a:t>
                </a:r>
                <a:r>
                  <a:rPr lang="it-IT" sz="2600" dirty="0"/>
                  <a:t> non-</a:t>
                </a:r>
                <a:r>
                  <a:rPr lang="it-IT" sz="2600" dirty="0" err="1"/>
                  <a:t>negligible</a:t>
                </a:r>
                <a:r>
                  <a:rPr lang="it-IT" sz="2600" dirty="0"/>
                  <a:t> and </a:t>
                </a:r>
                <a:r>
                  <a:rPr lang="en-US" sz="2600" dirty="0"/>
                  <a:t>must be incorporated into the analysis.</a:t>
                </a:r>
              </a:p>
              <a:p>
                <a:pPr marL="0" indent="0">
                  <a:buNone/>
                </a:pPr>
                <a:endParaRPr lang="en-US" sz="2600" dirty="0"/>
              </a:p>
              <a:p>
                <a:r>
                  <a:rPr lang="it-IT" sz="2600" dirty="0"/>
                  <a:t>The </a:t>
                </a:r>
                <a:r>
                  <a:rPr lang="it-IT" sz="2600" dirty="0" err="1"/>
                  <a:t>different</a:t>
                </a:r>
                <a:r>
                  <a:rPr lang="it-IT" sz="2600" dirty="0"/>
                  <a:t> </a:t>
                </a:r>
                <a:r>
                  <a:rPr lang="it-IT" sz="2600" dirty="0" err="1"/>
                  <a:t>orientations</a:t>
                </a:r>
                <a:r>
                  <a:rPr lang="it-IT" sz="2600" dirty="0"/>
                  <a:t> of the </a:t>
                </a:r>
                <a:r>
                  <a:rPr lang="it-IT" sz="2600" dirty="0" err="1"/>
                  <a:t>crystallographic</a:t>
                </a:r>
                <a:r>
                  <a:rPr lang="it-IT" sz="2600" dirty="0"/>
                  <a:t> </a:t>
                </a:r>
                <a:r>
                  <a:rPr lang="it-IT" sz="2600" dirty="0" err="1"/>
                  <a:t>planes</a:t>
                </a:r>
                <a:r>
                  <a:rPr lang="it-IT" sz="2600" dirty="0"/>
                  <a:t> </a:t>
                </a:r>
                <a:r>
                  <a:rPr lang="it-IT" sz="2600" dirty="0" err="1"/>
                  <a:t>along</a:t>
                </a:r>
                <a:r>
                  <a:rPr lang="it-IT" sz="2600" dirty="0"/>
                  <a:t> the </a:t>
                </a:r>
                <a:r>
                  <a:rPr lang="it-IT" sz="2600" dirty="0" err="1"/>
                  <a:t>crystal</a:t>
                </a:r>
                <a:r>
                  <a:rPr lang="it-IT" sz="2600" dirty="0"/>
                  <a:t> front </a:t>
                </a:r>
                <a:r>
                  <a:rPr lang="it-IT" sz="2600" dirty="0" err="1"/>
                  <a:t>surface</a:t>
                </a:r>
                <a:r>
                  <a:rPr lang="it-IT" sz="2600" dirty="0"/>
                  <a:t> </a:t>
                </a:r>
                <a:r>
                  <a:rPr lang="it-IT" sz="2600" dirty="0" err="1"/>
                  <a:t>influence</a:t>
                </a:r>
                <a:r>
                  <a:rPr lang="it-IT" sz="2600" dirty="0"/>
                  <a:t> the </a:t>
                </a:r>
                <a:r>
                  <a:rPr lang="it-IT" sz="2600" dirty="0" err="1"/>
                  <a:t>angular</a:t>
                </a:r>
                <a:r>
                  <a:rPr lang="it-IT" sz="2600" dirty="0"/>
                  <a:t> range in </a:t>
                </a:r>
                <a:r>
                  <a:rPr lang="it-IT" sz="2600" dirty="0" err="1"/>
                  <a:t>which</a:t>
                </a:r>
                <a:r>
                  <a:rPr lang="it-IT" sz="2600" dirty="0"/>
                  <a:t> </a:t>
                </a:r>
                <a:r>
                  <a:rPr lang="it-IT" sz="2600" dirty="0" err="1"/>
                  <a:t>particles</a:t>
                </a:r>
                <a:r>
                  <a:rPr lang="it-IT" sz="2600" dirty="0"/>
                  <a:t> can be </a:t>
                </a:r>
                <a:r>
                  <a:rPr lang="it-IT" sz="2600" dirty="0" err="1"/>
                  <a:t>channelled</a:t>
                </a:r>
                <a:r>
                  <a:rPr lang="it-IT" sz="2600" dirty="0"/>
                  <a:t>.</a:t>
                </a:r>
              </a:p>
              <a:p>
                <a:r>
                  <a:rPr lang="it-IT" sz="2600" dirty="0" err="1"/>
                  <a:t>Before</a:t>
                </a:r>
                <a:r>
                  <a:rPr lang="it-IT" sz="2600" dirty="0"/>
                  <a:t> </a:t>
                </a:r>
                <a:r>
                  <a:rPr lang="it-IT" sz="2600" dirty="0" err="1"/>
                  <a:t>selecting</a:t>
                </a:r>
                <a:r>
                  <a:rPr lang="it-IT" sz="2600" dirty="0"/>
                  <a:t> the </a:t>
                </a:r>
                <a:r>
                  <a:rPr lang="it-IT" sz="2600" dirty="0" err="1"/>
                  <a:t>particles</a:t>
                </a:r>
                <a:r>
                  <a:rPr lang="it-IT" sz="2600" dirty="0"/>
                  <a:t> that </a:t>
                </a:r>
                <a:r>
                  <a:rPr lang="it-IT" sz="2600" dirty="0" err="1"/>
                  <a:t>have</a:t>
                </a:r>
                <a:r>
                  <a:rPr lang="it-IT" sz="2600" dirty="0"/>
                  <a:t> </a:t>
                </a:r>
                <a:r>
                  <a:rPr lang="it-IT" sz="2600" dirty="0" err="1"/>
                  <a:t>entered</a:t>
                </a:r>
                <a:r>
                  <a:rPr lang="it-IT" sz="2600" dirty="0"/>
                  <a:t> with the right angle (</a:t>
                </a:r>
                <a:r>
                  <a:rPr lang="it-IT" sz="2600" dirty="0" err="1"/>
                  <a:t>within</a:t>
                </a:r>
                <a:r>
                  <a:rPr lang="it-IT" sz="2600" dirty="0"/>
                  <a:t> </a:t>
                </a:r>
                <a14:m>
                  <m:oMath xmlns:m="http://schemas.openxmlformats.org/officeDocument/2006/math">
                    <m:r>
                      <a:rPr lang="it-IT" sz="2600" i="1">
                        <a:latin typeface="Cambria Math" panose="02040503050406030204" pitchFamily="18" charset="0"/>
                      </a:rPr>
                      <m:t>±</m:t>
                    </m:r>
                    <m:f>
                      <m:fPr>
                        <m:ctrlPr>
                          <a:rPr lang="it-IT" sz="2600" i="1">
                            <a:latin typeface="Cambria Math" panose="02040503050406030204" pitchFamily="18" charset="0"/>
                          </a:rPr>
                        </m:ctrlPr>
                      </m:fPr>
                      <m:num>
                        <m:r>
                          <a:rPr lang="it-IT" sz="2600" i="1">
                            <a:latin typeface="Cambria Math" panose="02040503050406030204" pitchFamily="18" charset="0"/>
                          </a:rPr>
                          <m:t>1</m:t>
                        </m:r>
                      </m:num>
                      <m:den>
                        <m:r>
                          <a:rPr lang="it-IT" sz="2600" i="1">
                            <a:latin typeface="Cambria Math" panose="02040503050406030204" pitchFamily="18" charset="0"/>
                          </a:rPr>
                          <m:t>2</m:t>
                        </m:r>
                      </m:den>
                    </m:f>
                    <m:sSub>
                      <m:sSubPr>
                        <m:ctrlPr>
                          <a:rPr lang="it-IT" sz="2600" i="1">
                            <a:latin typeface="Cambria Math" panose="02040503050406030204" pitchFamily="18" charset="0"/>
                          </a:rPr>
                        </m:ctrlPr>
                      </m:sSubPr>
                      <m:e>
                        <m:r>
                          <a:rPr lang="it-IT" sz="2600" i="1">
                            <a:latin typeface="Cambria Math" panose="02040503050406030204" pitchFamily="18" charset="0"/>
                          </a:rPr>
                          <m:t>𝜃</m:t>
                        </m:r>
                      </m:e>
                      <m:sub>
                        <m:r>
                          <a:rPr lang="it-IT" sz="2600" i="1">
                            <a:latin typeface="Cambria Math" panose="02040503050406030204" pitchFamily="18" charset="0"/>
                          </a:rPr>
                          <m:t>𝐿</m:t>
                        </m:r>
                      </m:sub>
                    </m:sSub>
                  </m:oMath>
                </a14:m>
                <a:r>
                  <a:rPr lang="it-IT" sz="2600" dirty="0"/>
                  <a:t>) we </a:t>
                </a:r>
                <a:r>
                  <a:rPr lang="it-IT" sz="2600" dirty="0" err="1"/>
                  <a:t>need</a:t>
                </a:r>
                <a:r>
                  <a:rPr lang="it-IT" sz="2600" dirty="0"/>
                  <a:t> to </a:t>
                </a:r>
                <a:r>
                  <a:rPr lang="it-IT" sz="2600" dirty="0" err="1"/>
                  <a:t>apply</a:t>
                </a:r>
                <a:r>
                  <a:rPr lang="it-IT" sz="2600" dirty="0"/>
                  <a:t> a </a:t>
                </a:r>
                <a:r>
                  <a:rPr lang="it-IT" sz="2600" dirty="0" err="1"/>
                  <a:t>correction</a:t>
                </a:r>
                <a:r>
                  <a:rPr lang="it-IT" sz="2600" dirty="0"/>
                  <a:t> </a:t>
                </a:r>
                <a14:m>
                  <m:oMath xmlns:m="http://schemas.openxmlformats.org/officeDocument/2006/math">
                    <m:sSub>
                      <m:sSubPr>
                        <m:ctrlPr>
                          <a:rPr lang="it-IT" sz="2600" i="1">
                            <a:latin typeface="Cambria Math" panose="02040503050406030204" pitchFamily="18" charset="0"/>
                          </a:rPr>
                        </m:ctrlPr>
                      </m:sSubPr>
                      <m:e>
                        <m:r>
                          <a:rPr lang="it-IT" sz="2600" i="1">
                            <a:latin typeface="Cambria Math" panose="02040503050406030204" pitchFamily="18" charset="0"/>
                          </a:rPr>
                          <m:t>𝜃</m:t>
                        </m:r>
                      </m:e>
                      <m:sub>
                        <m:r>
                          <a:rPr lang="it-IT" sz="2600" i="1">
                            <a:latin typeface="Cambria Math" panose="02040503050406030204" pitchFamily="18" charset="0"/>
                          </a:rPr>
                          <m:t>0</m:t>
                        </m:r>
                      </m:sub>
                    </m:sSub>
                  </m:oMath>
                </a14:m>
                <a:r>
                  <a:rPr lang="it-IT" sz="2600" dirty="0"/>
                  <a:t> </a:t>
                </a:r>
                <a:r>
                  <a:rPr lang="it-IT" sz="2600" dirty="0" err="1"/>
                  <a:t>because</a:t>
                </a:r>
                <a:r>
                  <a:rPr lang="it-IT" sz="2600" dirty="0"/>
                  <a:t> the cut </a:t>
                </a:r>
                <a:r>
                  <a:rPr lang="it-IT" sz="2600" dirty="0" err="1"/>
                  <a:t>may</a:t>
                </a:r>
                <a:r>
                  <a:rPr lang="it-IT" sz="2600" dirty="0"/>
                  <a:t> not be </a:t>
                </a:r>
                <a:r>
                  <a:rPr lang="it-IT" sz="2600" dirty="0" err="1"/>
                  <a:t>centered</a:t>
                </a:r>
                <a:r>
                  <a:rPr lang="it-IT" sz="2600" dirty="0"/>
                  <a:t> </a:t>
                </a:r>
                <a:r>
                  <a:rPr lang="it-IT" sz="2600" dirty="0" err="1"/>
                  <a:t>at</a:t>
                </a:r>
                <a:r>
                  <a:rPr lang="it-IT" sz="2600" dirty="0"/>
                  <a:t> zero.</a:t>
                </a:r>
              </a:p>
              <a:p>
                <a:r>
                  <a:rPr lang="it-IT" sz="2600" dirty="0"/>
                  <a:t>We do not </a:t>
                </a:r>
                <a:r>
                  <a:rPr lang="it-IT" sz="2600" dirty="0" err="1"/>
                  <a:t>choose</a:t>
                </a:r>
                <a:r>
                  <a:rPr lang="it-IT" sz="2600" dirty="0"/>
                  <a:t> a single </a:t>
                </a:r>
                <a14:m>
                  <m:oMath xmlns:m="http://schemas.openxmlformats.org/officeDocument/2006/math">
                    <m:sSub>
                      <m:sSubPr>
                        <m:ctrlPr>
                          <a:rPr lang="it-IT" sz="2600" i="1">
                            <a:latin typeface="Cambria Math" panose="02040503050406030204" pitchFamily="18" charset="0"/>
                          </a:rPr>
                        </m:ctrlPr>
                      </m:sSubPr>
                      <m:e>
                        <m:r>
                          <a:rPr lang="it-IT" sz="2600" i="1">
                            <a:latin typeface="Cambria Math" panose="02040503050406030204" pitchFamily="18" charset="0"/>
                          </a:rPr>
                          <m:t>𝜃</m:t>
                        </m:r>
                      </m:e>
                      <m:sub>
                        <m:r>
                          <a:rPr lang="it-IT" sz="2600" i="1">
                            <a:latin typeface="Cambria Math" panose="02040503050406030204" pitchFamily="18" charset="0"/>
                          </a:rPr>
                          <m:t>0</m:t>
                        </m:r>
                      </m:sub>
                    </m:sSub>
                  </m:oMath>
                </a14:m>
                <a:r>
                  <a:rPr lang="it-IT" sz="2600" dirty="0"/>
                  <a:t> </a:t>
                </a:r>
                <a:r>
                  <a:rPr lang="it-IT" sz="2600" dirty="0" err="1"/>
                  <a:t>value</a:t>
                </a:r>
                <a:r>
                  <a:rPr lang="it-IT" sz="2600" dirty="0"/>
                  <a:t> </a:t>
                </a:r>
                <a:r>
                  <a:rPr lang="it-IT" sz="2600" dirty="0" err="1"/>
                  <a:t>but</a:t>
                </a:r>
                <a:r>
                  <a:rPr lang="it-IT" sz="2600" dirty="0"/>
                  <a:t> </a:t>
                </a:r>
                <a:r>
                  <a:rPr lang="it-IT" sz="2600" dirty="0" err="1"/>
                  <a:t>rather</a:t>
                </a:r>
                <a:r>
                  <a:rPr lang="it-IT" sz="2600" dirty="0"/>
                  <a:t> </a:t>
                </a:r>
                <a14:m>
                  <m:oMath xmlns:m="http://schemas.openxmlformats.org/officeDocument/2006/math">
                    <m:sSub>
                      <m:sSubPr>
                        <m:ctrlPr>
                          <a:rPr lang="it-IT" sz="2600" i="1">
                            <a:latin typeface="Cambria Math" panose="02040503050406030204" pitchFamily="18" charset="0"/>
                          </a:rPr>
                        </m:ctrlPr>
                      </m:sSubPr>
                      <m:e>
                        <m:r>
                          <a:rPr lang="it-IT" sz="2600" i="1">
                            <a:latin typeface="Cambria Math" panose="02040503050406030204" pitchFamily="18" charset="0"/>
                          </a:rPr>
                          <m:t>𝜃</m:t>
                        </m:r>
                      </m:e>
                      <m:sub>
                        <m:r>
                          <a:rPr lang="it-IT" sz="2600" i="1">
                            <a:latin typeface="Cambria Math" panose="02040503050406030204" pitchFamily="18" charset="0"/>
                          </a:rPr>
                          <m:t>0</m:t>
                        </m:r>
                      </m:sub>
                    </m:sSub>
                    <m:r>
                      <a:rPr lang="it-IT" sz="2600" i="1">
                        <a:latin typeface="Cambria Math" panose="02040503050406030204" pitchFamily="18" charset="0"/>
                      </a:rPr>
                      <m:t>(</m:t>
                    </m:r>
                    <m:r>
                      <a:rPr lang="it-IT" sz="2600" i="1">
                        <a:latin typeface="Cambria Math" panose="02040503050406030204" pitchFamily="18" charset="0"/>
                      </a:rPr>
                      <m:t>𝑥</m:t>
                    </m:r>
                    <m:r>
                      <a:rPr lang="it-IT" sz="2600" i="1">
                        <a:latin typeface="Cambria Math" panose="02040503050406030204" pitchFamily="18" charset="0"/>
                      </a:rPr>
                      <m:t>,</m:t>
                    </m:r>
                    <m:r>
                      <a:rPr lang="it-IT" sz="2600" i="1">
                        <a:latin typeface="Cambria Math" panose="02040503050406030204" pitchFamily="18" charset="0"/>
                      </a:rPr>
                      <m:t>𝑦</m:t>
                    </m:r>
                    <m:r>
                      <a:rPr lang="it-IT" sz="2600" i="1">
                        <a:latin typeface="Cambria Math" panose="02040503050406030204" pitchFamily="18" charset="0"/>
                      </a:rPr>
                      <m:t>)</m:t>
                    </m:r>
                  </m:oMath>
                </a14:m>
                <a:r>
                  <a:rPr lang="it-IT" sz="2600" dirty="0"/>
                  <a:t> in </a:t>
                </a:r>
                <a:r>
                  <a:rPr lang="it-IT" sz="2600" dirty="0" err="1"/>
                  <a:t>order</a:t>
                </a:r>
                <a:r>
                  <a:rPr lang="it-IT" sz="2600" dirty="0"/>
                  <a:t> to </a:t>
                </a:r>
                <a:r>
                  <a:rPr lang="it-IT" sz="2600" dirty="0" err="1"/>
                  <a:t>also</a:t>
                </a:r>
                <a:r>
                  <a:rPr lang="it-IT" sz="2600" dirty="0"/>
                  <a:t> </a:t>
                </a:r>
                <a:r>
                  <a:rPr lang="it-IT" sz="2600" dirty="0" err="1"/>
                  <a:t>apply</a:t>
                </a:r>
                <a:r>
                  <a:rPr lang="it-IT" sz="2600" dirty="0"/>
                  <a:t> a </a:t>
                </a:r>
                <a:r>
                  <a:rPr lang="it-IT" sz="2600" dirty="0" err="1"/>
                  <a:t>torsion</a:t>
                </a:r>
                <a:r>
                  <a:rPr lang="it-IT" sz="2600" dirty="0"/>
                  <a:t> </a:t>
                </a:r>
                <a:r>
                  <a:rPr lang="it-IT" sz="2600" dirty="0" err="1"/>
                  <a:t>correction</a:t>
                </a:r>
                <a:r>
                  <a:rPr lang="it-IT" sz="2600" dirty="0"/>
                  <a:t> </a:t>
                </a:r>
                <a:r>
                  <a:rPr lang="it-IT" sz="2600" dirty="0" err="1"/>
                  <a:t>which</a:t>
                </a:r>
                <a:r>
                  <a:rPr lang="it-IT" sz="2600" dirty="0"/>
                  <a:t> </a:t>
                </a:r>
                <a:r>
                  <a:rPr lang="it-IT" sz="2600" dirty="0" err="1"/>
                  <a:t>is</a:t>
                </a:r>
                <a:r>
                  <a:rPr lang="it-IT" sz="2600" dirty="0"/>
                  <a:t> not </a:t>
                </a:r>
                <a:r>
                  <a:rPr lang="it-IT" sz="2600" dirty="0" err="1"/>
                  <a:t>negligible</a:t>
                </a:r>
                <a:r>
                  <a:rPr lang="it-IT" sz="2600" dirty="0"/>
                  <a:t> in the long </a:t>
                </a:r>
                <a:r>
                  <a:rPr lang="it-IT" sz="2600" dirty="0" err="1"/>
                  <a:t>crystals</a:t>
                </a:r>
                <a:r>
                  <a:rPr lang="it-IT" sz="2600" dirty="0"/>
                  <a:t>.</a:t>
                </a:r>
              </a:p>
              <a:p>
                <a:endParaRPr lang="en-US" sz="2600" dirty="0"/>
              </a:p>
            </p:txBody>
          </p:sp>
        </mc:Choice>
        <mc:Fallback xmlns="">
          <p:sp>
            <p:nvSpPr>
              <p:cNvPr id="3" name="Segnaposto contenuto 2">
                <a:extLst>
                  <a:ext uri="{FF2B5EF4-FFF2-40B4-BE49-F238E27FC236}">
                    <a16:creationId xmlns:a16="http://schemas.microsoft.com/office/drawing/2014/main" id="{C36D42AD-3DE8-BB3A-DB3E-573D0B4E7A80}"/>
                  </a:ext>
                </a:extLst>
              </p:cNvPr>
              <p:cNvSpPr>
                <a:spLocks noGrp="1" noRot="1" noChangeAspect="1" noMove="1" noResize="1" noEditPoints="1" noAdjustHandles="1" noChangeArrowheads="1" noChangeShapeType="1" noTextEdit="1"/>
              </p:cNvSpPr>
              <p:nvPr>
                <p:ph idx="1"/>
              </p:nvPr>
            </p:nvSpPr>
            <p:spPr>
              <a:xfrm>
                <a:off x="838200" y="1401288"/>
                <a:ext cx="10515600" cy="4776227"/>
              </a:xfrm>
              <a:blipFill>
                <a:blip r:embed="rId3"/>
                <a:stretch>
                  <a:fillRect l="-1043" t="-1916" r="-174" b="-1022"/>
                </a:stretch>
              </a:blipFill>
            </p:spPr>
            <p:txBody>
              <a:bodyPr/>
              <a:lstStyle/>
              <a:p>
                <a:r>
                  <a:rPr lang="it-IT">
                    <a:noFill/>
                  </a:rPr>
                  <a:t> </a:t>
                </a:r>
              </a:p>
            </p:txBody>
          </p:sp>
        </mc:Fallback>
      </mc:AlternateContent>
      <p:sp>
        <p:nvSpPr>
          <p:cNvPr id="4" name="Segnaposto data 3">
            <a:extLst>
              <a:ext uri="{FF2B5EF4-FFF2-40B4-BE49-F238E27FC236}">
                <a16:creationId xmlns:a16="http://schemas.microsoft.com/office/drawing/2014/main" id="{5024B76F-2B5A-A365-1DB2-E063075868A9}"/>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E92672AC-E987-DC85-7818-4A23BEB34F36}"/>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7A23CF9B-73B6-496F-F418-16CC8B346E30}"/>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17</a:t>
            </a:fld>
            <a:endParaRPr lang="it-IT" sz="1500" b="1" dirty="0">
              <a:solidFill>
                <a:srgbClr val="002060"/>
              </a:solidFill>
            </a:endParaRPr>
          </a:p>
        </p:txBody>
      </p:sp>
      <p:sp>
        <p:nvSpPr>
          <p:cNvPr id="8" name="CasellaDiTesto 7">
            <a:extLst>
              <a:ext uri="{FF2B5EF4-FFF2-40B4-BE49-F238E27FC236}">
                <a16:creationId xmlns:a16="http://schemas.microsoft.com/office/drawing/2014/main" id="{3F893F73-D8A8-FA7B-CF8A-27F6A5D42D5D}"/>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11" name="CasellaDiTesto 10">
            <a:extLst>
              <a:ext uri="{FF2B5EF4-FFF2-40B4-BE49-F238E27FC236}">
                <a16:creationId xmlns:a16="http://schemas.microsoft.com/office/drawing/2014/main" id="{4BB42D59-8988-FF51-91B5-95ADA046BA21}"/>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13" name="CasellaDiTesto 12">
            <a:extLst>
              <a:ext uri="{FF2B5EF4-FFF2-40B4-BE49-F238E27FC236}">
                <a16:creationId xmlns:a16="http://schemas.microsoft.com/office/drawing/2014/main" id="{E413B42E-6FEF-6243-0FD1-23423BD1D805}"/>
              </a:ext>
            </a:extLst>
          </p:cNvPr>
          <p:cNvSpPr txBox="1"/>
          <p:nvPr/>
        </p:nvSpPr>
        <p:spPr>
          <a:xfrm>
            <a:off x="3048886" y="3244334"/>
            <a:ext cx="6097772" cy="369332"/>
          </a:xfrm>
          <a:prstGeom prst="rect">
            <a:avLst/>
          </a:prstGeom>
          <a:noFill/>
        </p:spPr>
        <p:txBody>
          <a:bodyPr wrap="square">
            <a:spAutoFit/>
          </a:bodyPr>
          <a:lstStyle/>
          <a:p>
            <a:endParaRPr lang="it-IT" dirty="0"/>
          </a:p>
        </p:txBody>
      </p:sp>
      <p:pic>
        <p:nvPicPr>
          <p:cNvPr id="14" name="Immagine 13">
            <a:extLst>
              <a:ext uri="{FF2B5EF4-FFF2-40B4-BE49-F238E27FC236}">
                <a16:creationId xmlns:a16="http://schemas.microsoft.com/office/drawing/2014/main" id="{72A55CC9-B254-F7E0-BA4B-E6798570C0A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105466" y="69651"/>
            <a:ext cx="2154418" cy="1148742"/>
          </a:xfrm>
          <a:prstGeom prst="rect">
            <a:avLst/>
          </a:prstGeom>
        </p:spPr>
      </p:pic>
      <p:sp>
        <p:nvSpPr>
          <p:cNvPr id="16" name="CasellaDiTesto 15">
            <a:extLst>
              <a:ext uri="{FF2B5EF4-FFF2-40B4-BE49-F238E27FC236}">
                <a16:creationId xmlns:a16="http://schemas.microsoft.com/office/drawing/2014/main" id="{F57D110E-CCDE-7140-11DB-AB1EC9B06756}"/>
              </a:ext>
            </a:extLst>
          </p:cNvPr>
          <p:cNvSpPr txBox="1"/>
          <p:nvPr/>
        </p:nvSpPr>
        <p:spPr>
          <a:xfrm>
            <a:off x="3048886" y="3244334"/>
            <a:ext cx="6097772" cy="369332"/>
          </a:xfrm>
          <a:prstGeom prst="rect">
            <a:avLst/>
          </a:prstGeom>
          <a:noFill/>
        </p:spPr>
        <p:txBody>
          <a:bodyPr wrap="square">
            <a:spAutoFit/>
          </a:bodyPr>
          <a:lstStyle/>
          <a:p>
            <a:endParaRPr lang="it-IT" dirty="0"/>
          </a:p>
        </p:txBody>
      </p:sp>
      <p:cxnSp>
        <p:nvCxnSpPr>
          <p:cNvPr id="10" name="Connettore diritto 9">
            <a:extLst>
              <a:ext uri="{FF2B5EF4-FFF2-40B4-BE49-F238E27FC236}">
                <a16:creationId xmlns:a16="http://schemas.microsoft.com/office/drawing/2014/main" id="{27E35FD3-526F-767A-3541-C3577FD9AA1D}"/>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460671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1969C-555A-9CE3-366A-93E47451536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9862AA0-1034-A96A-11F8-4B9F4F626EC0}"/>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it-IT" b="1" dirty="0">
                <a:solidFill>
                  <a:srgbClr val="002060"/>
                </a:solidFill>
              </a:rPr>
              <a:t>	4. FINAL RESULTS</a:t>
            </a:r>
          </a:p>
        </p:txBody>
      </p:sp>
      <p:sp>
        <p:nvSpPr>
          <p:cNvPr id="4" name="Segnaposto data 3">
            <a:extLst>
              <a:ext uri="{FF2B5EF4-FFF2-40B4-BE49-F238E27FC236}">
                <a16:creationId xmlns:a16="http://schemas.microsoft.com/office/drawing/2014/main" id="{B4D952E5-EAD7-C566-D07F-BCF009E6CF00}"/>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41E82E26-A18F-E4B2-16DC-4F15DFA1D99D}"/>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8C954C07-8E44-B103-9820-F6FC940E788A}"/>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18</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B844E650-12D4-EFF3-7840-141428F50368}"/>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CasellaDiTesto 12">
            <a:extLst>
              <a:ext uri="{FF2B5EF4-FFF2-40B4-BE49-F238E27FC236}">
                <a16:creationId xmlns:a16="http://schemas.microsoft.com/office/drawing/2014/main" id="{09E15CB5-7181-A2A3-5662-F06C5C13F146}"/>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15" name="CasellaDiTesto 14">
            <a:extLst>
              <a:ext uri="{FF2B5EF4-FFF2-40B4-BE49-F238E27FC236}">
                <a16:creationId xmlns:a16="http://schemas.microsoft.com/office/drawing/2014/main" id="{F65F5B79-6256-2B6D-4DA3-A35E035B5C8D}"/>
              </a:ext>
            </a:extLst>
          </p:cNvPr>
          <p:cNvSpPr txBox="1"/>
          <p:nvPr/>
        </p:nvSpPr>
        <p:spPr>
          <a:xfrm>
            <a:off x="3048886" y="3244334"/>
            <a:ext cx="6097772" cy="369332"/>
          </a:xfrm>
          <a:prstGeom prst="rect">
            <a:avLst/>
          </a:prstGeom>
          <a:noFill/>
        </p:spPr>
        <p:txBody>
          <a:bodyPr wrap="square">
            <a:spAutoFit/>
          </a:bodyPr>
          <a:lstStyle/>
          <a:p>
            <a:endParaRPr lang="it-IT" dirty="0"/>
          </a:p>
        </p:txBody>
      </p:sp>
      <mc:AlternateContent xmlns:mc="http://schemas.openxmlformats.org/markup-compatibility/2006" xmlns:a14="http://schemas.microsoft.com/office/drawing/2010/main">
        <mc:Choice Requires="a14">
          <p:sp>
            <p:nvSpPr>
              <p:cNvPr id="7" name="Segnaposto contenuto 6">
                <a:extLst>
                  <a:ext uri="{FF2B5EF4-FFF2-40B4-BE49-F238E27FC236}">
                    <a16:creationId xmlns:a16="http://schemas.microsoft.com/office/drawing/2014/main" id="{63E1780A-3EA9-670E-66EE-AD225EA2348C}"/>
                  </a:ext>
                </a:extLst>
              </p:cNvPr>
              <p:cNvSpPr>
                <a:spLocks noGrp="1"/>
              </p:cNvSpPr>
              <p:nvPr>
                <p:ph idx="1"/>
              </p:nvPr>
            </p:nvSpPr>
            <p:spPr>
              <a:xfrm>
                <a:off x="838200" y="1528011"/>
                <a:ext cx="10515600" cy="4648952"/>
              </a:xfrm>
            </p:spPr>
            <p:txBody>
              <a:bodyPr>
                <a:normAutofit/>
              </a:bodyPr>
              <a:lstStyle/>
              <a:p>
                <a:endParaRPr lang="it-IT" sz="2600" dirty="0"/>
              </a:p>
              <a:p>
                <a:r>
                  <a:rPr lang="it-IT" sz="2600" dirty="0"/>
                  <a:t>Crystal 1 </a:t>
                </a:r>
                <a:r>
                  <a:rPr lang="it-IT" sz="2600" dirty="0" err="1"/>
                  <a:t>does</a:t>
                </a:r>
                <a:r>
                  <a:rPr lang="it-IT" sz="2600" dirty="0"/>
                  <a:t> show </a:t>
                </a:r>
                <a:r>
                  <a:rPr lang="it-IT" sz="2600" dirty="0" err="1"/>
                  <a:t>inconsistencies</a:t>
                </a:r>
                <a:r>
                  <a:rPr lang="it-IT" sz="2600" dirty="0"/>
                  <a:t> in </a:t>
                </a:r>
                <a:r>
                  <a:rPr lang="it-IT" sz="2600" dirty="0" err="1"/>
                  <a:t>different</a:t>
                </a:r>
                <a:r>
                  <a:rPr lang="it-IT" sz="2600" dirty="0"/>
                  <a:t> </a:t>
                </a:r>
                <a:r>
                  <a:rPr lang="it-IT" sz="2600" dirty="0" err="1"/>
                  <a:t>runs</a:t>
                </a:r>
                <a:r>
                  <a:rPr lang="it-IT" sz="2600" dirty="0"/>
                  <a:t> (8430 and 8650 </a:t>
                </a:r>
                <a:r>
                  <a:rPr lang="it-IT" sz="2600" dirty="0" err="1"/>
                  <a:t>have</a:t>
                </a:r>
                <a:r>
                  <a:rPr lang="it-IT" sz="2600" dirty="0"/>
                  <a:t> </a:t>
                </a:r>
                <a:r>
                  <a:rPr lang="it-IT" sz="2600" dirty="0" err="1"/>
                  <a:t>different</a:t>
                </a:r>
                <a:r>
                  <a:rPr lang="it-IT" sz="2600" dirty="0"/>
                  <a:t> energies)</a:t>
                </a:r>
              </a:p>
              <a:p>
                <a:endParaRPr lang="it-IT" sz="2600" dirty="0"/>
              </a:p>
              <a:p>
                <a:r>
                  <a:rPr lang="it-IT" sz="2600" dirty="0"/>
                  <a:t>Crystal 1 shows a maximum </a:t>
                </a:r>
                <a:r>
                  <a:rPr lang="it-IT" sz="2600" dirty="0" err="1"/>
                  <a:t>efficiency</a:t>
                </a:r>
                <a:r>
                  <a:rPr lang="it-IT" sz="2600" dirty="0"/>
                  <a:t> of </a:t>
                </a:r>
                <a14:m>
                  <m:oMath xmlns:m="http://schemas.openxmlformats.org/officeDocument/2006/math">
                    <m:r>
                      <a:rPr lang="it-IT" sz="2600" b="0" i="1" smtClean="0">
                        <a:latin typeface="Cambria Math" panose="02040503050406030204" pitchFamily="18" charset="0"/>
                      </a:rPr>
                      <m:t>∼25.4%</m:t>
                    </m:r>
                  </m:oMath>
                </a14:m>
                <a:r>
                  <a:rPr lang="it-IT" sz="2600" dirty="0"/>
                  <a:t> </a:t>
                </a:r>
              </a:p>
              <a:p>
                <a:r>
                  <a:rPr lang="it-IT" sz="2600" dirty="0"/>
                  <a:t>Crystal 2 shows a maximum </a:t>
                </a:r>
                <a:r>
                  <a:rPr lang="it-IT" sz="2600" dirty="0" err="1"/>
                  <a:t>efficiency</a:t>
                </a:r>
                <a:r>
                  <a:rPr lang="it-IT" sz="2600" dirty="0"/>
                  <a:t> of </a:t>
                </a:r>
                <a14:m>
                  <m:oMath xmlns:m="http://schemas.openxmlformats.org/officeDocument/2006/math">
                    <m:r>
                      <a:rPr lang="it-IT" sz="2600" i="1">
                        <a:latin typeface="Cambria Math" panose="02040503050406030204" pitchFamily="18" charset="0"/>
                      </a:rPr>
                      <m:t>∼2</m:t>
                    </m:r>
                    <m:r>
                      <a:rPr lang="it-IT" sz="2600" b="0" i="1" smtClean="0">
                        <a:latin typeface="Cambria Math" panose="02040503050406030204" pitchFamily="18" charset="0"/>
                      </a:rPr>
                      <m:t>3.1</m:t>
                    </m:r>
                    <m:r>
                      <a:rPr lang="it-IT" sz="2600" i="1">
                        <a:latin typeface="Cambria Math" panose="02040503050406030204" pitchFamily="18" charset="0"/>
                      </a:rPr>
                      <m:t>%</m:t>
                    </m:r>
                  </m:oMath>
                </a14:m>
                <a:endParaRPr lang="it-IT" sz="2600" dirty="0"/>
              </a:p>
              <a:p>
                <a:endParaRPr lang="it-IT" sz="2600" dirty="0"/>
              </a:p>
            </p:txBody>
          </p:sp>
        </mc:Choice>
        <mc:Fallback xmlns="">
          <p:sp>
            <p:nvSpPr>
              <p:cNvPr id="7" name="Segnaposto contenuto 6">
                <a:extLst>
                  <a:ext uri="{FF2B5EF4-FFF2-40B4-BE49-F238E27FC236}">
                    <a16:creationId xmlns:a16="http://schemas.microsoft.com/office/drawing/2014/main" id="{63E1780A-3EA9-670E-66EE-AD225EA2348C}"/>
                  </a:ext>
                </a:extLst>
              </p:cNvPr>
              <p:cNvSpPr>
                <a:spLocks noGrp="1" noRot="1" noChangeAspect="1" noMove="1" noResize="1" noEditPoints="1" noAdjustHandles="1" noChangeArrowheads="1" noChangeShapeType="1" noTextEdit="1"/>
              </p:cNvSpPr>
              <p:nvPr>
                <p:ph idx="1"/>
              </p:nvPr>
            </p:nvSpPr>
            <p:spPr>
              <a:xfrm>
                <a:off x="838200" y="1528011"/>
                <a:ext cx="10515600" cy="4648952"/>
              </a:xfrm>
              <a:blipFill>
                <a:blip r:embed="rId3"/>
                <a:stretch>
                  <a:fillRect l="-928"/>
                </a:stretch>
              </a:blipFill>
            </p:spPr>
            <p:txBody>
              <a:bodyPr/>
              <a:lstStyle/>
              <a:p>
                <a:r>
                  <a:rPr lang="it-IT">
                    <a:noFill/>
                  </a:rPr>
                  <a:t> </a:t>
                </a:r>
              </a:p>
            </p:txBody>
          </p:sp>
        </mc:Fallback>
      </mc:AlternateContent>
    </p:spTree>
    <p:extLst>
      <p:ext uri="{BB962C8B-B14F-4D97-AF65-F5344CB8AC3E}">
        <p14:creationId xmlns:p14="http://schemas.microsoft.com/office/powerpoint/2010/main" val="34690718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C6EFF-B9B4-605B-23DF-EDC01FF419F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5797431-BBE5-CB25-093B-D04D3DF2F194}"/>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it-IT" sz="4000" b="1" dirty="0">
                <a:solidFill>
                  <a:srgbClr val="002060"/>
                </a:solidFill>
              </a:rPr>
              <a:t>	BACKUP SLIDES</a:t>
            </a:r>
          </a:p>
        </p:txBody>
      </p:sp>
      <p:sp>
        <p:nvSpPr>
          <p:cNvPr id="4" name="Segnaposto data 3">
            <a:extLst>
              <a:ext uri="{FF2B5EF4-FFF2-40B4-BE49-F238E27FC236}">
                <a16:creationId xmlns:a16="http://schemas.microsoft.com/office/drawing/2014/main" id="{EB987156-1AA3-606D-F960-F5521BB0A14D}"/>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789376CE-2672-8B5F-17F8-C7FABE69F6E5}"/>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F518D8F0-CFAD-5A22-0C45-35621E72D2EB}"/>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19</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19CCD89B-D23E-B601-CB0F-35F735A548A8}"/>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CasellaDiTesto 12">
            <a:extLst>
              <a:ext uri="{FF2B5EF4-FFF2-40B4-BE49-F238E27FC236}">
                <a16:creationId xmlns:a16="http://schemas.microsoft.com/office/drawing/2014/main" id="{4868D235-E176-E7CA-EEBD-17788382E362}"/>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15" name="CasellaDiTesto 14">
            <a:extLst>
              <a:ext uri="{FF2B5EF4-FFF2-40B4-BE49-F238E27FC236}">
                <a16:creationId xmlns:a16="http://schemas.microsoft.com/office/drawing/2014/main" id="{BB2D0B5E-0AD3-1AC2-900A-351764AC43C1}"/>
              </a:ext>
            </a:extLst>
          </p:cNvPr>
          <p:cNvSpPr txBox="1"/>
          <p:nvPr/>
        </p:nvSpPr>
        <p:spPr>
          <a:xfrm>
            <a:off x="3048886" y="3244334"/>
            <a:ext cx="6097772" cy="369332"/>
          </a:xfrm>
          <a:prstGeom prst="rect">
            <a:avLst/>
          </a:prstGeom>
          <a:noFill/>
        </p:spPr>
        <p:txBody>
          <a:bodyPr wrap="square">
            <a:spAutoFit/>
          </a:bodyPr>
          <a:lstStyle/>
          <a:p>
            <a:endParaRPr lang="it-IT" dirty="0"/>
          </a:p>
        </p:txBody>
      </p:sp>
    </p:spTree>
    <p:extLst>
      <p:ext uri="{BB962C8B-B14F-4D97-AF65-F5344CB8AC3E}">
        <p14:creationId xmlns:p14="http://schemas.microsoft.com/office/powerpoint/2010/main" val="4634786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64030-A8AB-756E-7B6F-E15ADDA9E93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059094B-98B8-79C6-D910-E49A6676953A}"/>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it-IT" sz="4000" b="1" dirty="0">
                <a:solidFill>
                  <a:srgbClr val="002060"/>
                </a:solidFill>
              </a:rPr>
              <a:t>	SCHEMATIC LAYOUT</a:t>
            </a:r>
          </a:p>
        </p:txBody>
      </p:sp>
      <p:sp>
        <p:nvSpPr>
          <p:cNvPr id="4" name="Segnaposto data 3">
            <a:extLst>
              <a:ext uri="{FF2B5EF4-FFF2-40B4-BE49-F238E27FC236}">
                <a16:creationId xmlns:a16="http://schemas.microsoft.com/office/drawing/2014/main" id="{5FD001E6-BE12-0E1C-E34E-F8F3589F2108}"/>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97936A48-A600-E3BE-4414-86FAF9CF8150}"/>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FBD475C3-3B66-B577-42F5-6585EDDD6309}"/>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20</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3B26D157-5346-067C-2B45-7F428AF580FB}"/>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CasellaDiTesto 12">
            <a:extLst>
              <a:ext uri="{FF2B5EF4-FFF2-40B4-BE49-F238E27FC236}">
                <a16:creationId xmlns:a16="http://schemas.microsoft.com/office/drawing/2014/main" id="{4B1B2EDD-5C24-17A1-EC00-F4E9170F2D61}"/>
              </a:ext>
            </a:extLst>
          </p:cNvPr>
          <p:cNvSpPr txBox="1"/>
          <p:nvPr/>
        </p:nvSpPr>
        <p:spPr>
          <a:xfrm>
            <a:off x="3048886" y="3599934"/>
            <a:ext cx="6097772" cy="369332"/>
          </a:xfrm>
          <a:prstGeom prst="rect">
            <a:avLst/>
          </a:prstGeom>
          <a:noFill/>
        </p:spPr>
        <p:txBody>
          <a:bodyPr wrap="square">
            <a:spAutoFit/>
          </a:bodyPr>
          <a:lstStyle/>
          <a:p>
            <a:endParaRPr lang="it-IT" dirty="0"/>
          </a:p>
        </p:txBody>
      </p:sp>
      <p:sp>
        <p:nvSpPr>
          <p:cNvPr id="15" name="CasellaDiTesto 14">
            <a:extLst>
              <a:ext uri="{FF2B5EF4-FFF2-40B4-BE49-F238E27FC236}">
                <a16:creationId xmlns:a16="http://schemas.microsoft.com/office/drawing/2014/main" id="{50351722-4EA8-0597-4ABC-52AA3FC95A0A}"/>
              </a:ext>
            </a:extLst>
          </p:cNvPr>
          <p:cNvSpPr txBox="1"/>
          <p:nvPr/>
        </p:nvSpPr>
        <p:spPr>
          <a:xfrm>
            <a:off x="3048886" y="3599934"/>
            <a:ext cx="6097772" cy="369332"/>
          </a:xfrm>
          <a:prstGeom prst="rect">
            <a:avLst/>
          </a:prstGeom>
          <a:noFill/>
        </p:spPr>
        <p:txBody>
          <a:bodyPr wrap="square">
            <a:spAutoFit/>
          </a:bodyPr>
          <a:lstStyle/>
          <a:p>
            <a:endParaRPr lang="it-IT" dirty="0"/>
          </a:p>
        </p:txBody>
      </p:sp>
      <p:sp>
        <p:nvSpPr>
          <p:cNvPr id="3" name="Rectangle: Rounded Corners 2">
            <a:extLst>
              <a:ext uri="{FF2B5EF4-FFF2-40B4-BE49-F238E27FC236}">
                <a16:creationId xmlns:a16="http://schemas.microsoft.com/office/drawing/2014/main" id="{F750D853-3E25-ECC8-09EE-F01F4D7525D7}"/>
              </a:ext>
            </a:extLst>
          </p:cNvPr>
          <p:cNvSpPr/>
          <p:nvPr/>
        </p:nvSpPr>
        <p:spPr>
          <a:xfrm>
            <a:off x="696000" y="2809043"/>
            <a:ext cx="1785943" cy="772761"/>
          </a:xfrm>
          <a:prstGeom prst="round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Station 1</a:t>
            </a:r>
          </a:p>
          <a:p>
            <a:pPr algn="ctr"/>
            <a:r>
              <a:rPr lang="it-IT" dirty="0">
                <a:solidFill>
                  <a:schemeClr val="tx1"/>
                </a:solidFill>
              </a:rPr>
              <a:t>z ~ -12.4 m</a:t>
            </a:r>
          </a:p>
        </p:txBody>
      </p:sp>
      <p:sp>
        <p:nvSpPr>
          <p:cNvPr id="21" name="Rectangle: Rounded Corners 20">
            <a:extLst>
              <a:ext uri="{FF2B5EF4-FFF2-40B4-BE49-F238E27FC236}">
                <a16:creationId xmlns:a16="http://schemas.microsoft.com/office/drawing/2014/main" id="{D25120B7-CD7D-1D69-0AB8-7C9C80459C75}"/>
              </a:ext>
            </a:extLst>
          </p:cNvPr>
          <p:cNvSpPr/>
          <p:nvPr/>
        </p:nvSpPr>
        <p:spPr>
          <a:xfrm>
            <a:off x="2955175" y="2809043"/>
            <a:ext cx="1785943" cy="772761"/>
          </a:xfrm>
          <a:prstGeom prst="round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Station 2</a:t>
            </a:r>
          </a:p>
          <a:p>
            <a:pPr algn="ctr"/>
            <a:r>
              <a:rPr lang="it-IT" dirty="0">
                <a:solidFill>
                  <a:schemeClr val="tx1"/>
                </a:solidFill>
              </a:rPr>
              <a:t>z ~ -10.4 m</a:t>
            </a:r>
          </a:p>
        </p:txBody>
      </p:sp>
      <p:sp>
        <p:nvSpPr>
          <p:cNvPr id="24" name="Rectangle: Rounded Corners 23">
            <a:extLst>
              <a:ext uri="{FF2B5EF4-FFF2-40B4-BE49-F238E27FC236}">
                <a16:creationId xmlns:a16="http://schemas.microsoft.com/office/drawing/2014/main" id="{58E1A454-66A3-17B6-13E9-76F57C85B558}"/>
              </a:ext>
            </a:extLst>
          </p:cNvPr>
          <p:cNvSpPr/>
          <p:nvPr/>
        </p:nvSpPr>
        <p:spPr>
          <a:xfrm>
            <a:off x="5198795" y="2809043"/>
            <a:ext cx="1785943" cy="772761"/>
          </a:xfrm>
          <a:prstGeom prst="round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crystal</a:t>
            </a:r>
          </a:p>
          <a:p>
            <a:pPr algn="ctr"/>
            <a:r>
              <a:rPr lang="it-IT" dirty="0">
                <a:solidFill>
                  <a:schemeClr val="tx1"/>
                </a:solidFill>
              </a:rPr>
              <a:t>z = 0 m</a:t>
            </a:r>
          </a:p>
        </p:txBody>
      </p:sp>
      <p:sp>
        <p:nvSpPr>
          <p:cNvPr id="26" name="Rectangle: Rounded Corners 25">
            <a:extLst>
              <a:ext uri="{FF2B5EF4-FFF2-40B4-BE49-F238E27FC236}">
                <a16:creationId xmlns:a16="http://schemas.microsoft.com/office/drawing/2014/main" id="{AF24E37D-C093-D1EC-F9D6-3260C33D719E}"/>
              </a:ext>
            </a:extLst>
          </p:cNvPr>
          <p:cNvSpPr/>
          <p:nvPr/>
        </p:nvSpPr>
        <p:spPr>
          <a:xfrm>
            <a:off x="7454426" y="2809043"/>
            <a:ext cx="1785943" cy="772761"/>
          </a:xfrm>
          <a:prstGeom prst="round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Station 3</a:t>
            </a:r>
          </a:p>
          <a:p>
            <a:pPr algn="ctr"/>
            <a:r>
              <a:rPr lang="it-IT" dirty="0">
                <a:solidFill>
                  <a:schemeClr val="tx1"/>
                </a:solidFill>
              </a:rPr>
              <a:t>z ~ 0.5 m</a:t>
            </a:r>
          </a:p>
        </p:txBody>
      </p:sp>
      <p:sp>
        <p:nvSpPr>
          <p:cNvPr id="28" name="Rectangle: Rounded Corners 27">
            <a:extLst>
              <a:ext uri="{FF2B5EF4-FFF2-40B4-BE49-F238E27FC236}">
                <a16:creationId xmlns:a16="http://schemas.microsoft.com/office/drawing/2014/main" id="{41B532E1-DA99-182C-90E4-4DB41FC919F6}"/>
              </a:ext>
            </a:extLst>
          </p:cNvPr>
          <p:cNvSpPr/>
          <p:nvPr/>
        </p:nvSpPr>
        <p:spPr>
          <a:xfrm>
            <a:off x="9710057" y="2809043"/>
            <a:ext cx="1785943" cy="772761"/>
          </a:xfrm>
          <a:prstGeom prst="round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Station 4</a:t>
            </a:r>
          </a:p>
          <a:p>
            <a:pPr algn="ctr"/>
            <a:r>
              <a:rPr lang="it-IT" dirty="0">
                <a:solidFill>
                  <a:schemeClr val="tx1"/>
                </a:solidFill>
              </a:rPr>
              <a:t>z ~ 4.7 m</a:t>
            </a:r>
          </a:p>
        </p:txBody>
      </p:sp>
      <p:sp>
        <p:nvSpPr>
          <p:cNvPr id="35" name="Rectangle: Rounded Corners 34">
            <a:extLst>
              <a:ext uri="{FF2B5EF4-FFF2-40B4-BE49-F238E27FC236}">
                <a16:creationId xmlns:a16="http://schemas.microsoft.com/office/drawing/2014/main" id="{1F85D0FE-C569-AA98-BFD2-570144BC2493}"/>
              </a:ext>
            </a:extLst>
          </p:cNvPr>
          <p:cNvSpPr/>
          <p:nvPr/>
        </p:nvSpPr>
        <p:spPr>
          <a:xfrm>
            <a:off x="2740837" y="5840855"/>
            <a:ext cx="3060934" cy="534218"/>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Incoming arm vacuum pipe</a:t>
            </a:r>
          </a:p>
        </p:txBody>
      </p:sp>
      <p:sp>
        <p:nvSpPr>
          <p:cNvPr id="37" name="Rectangle: Rounded Corners 36">
            <a:extLst>
              <a:ext uri="{FF2B5EF4-FFF2-40B4-BE49-F238E27FC236}">
                <a16:creationId xmlns:a16="http://schemas.microsoft.com/office/drawing/2014/main" id="{11F48CD1-0863-4C8F-C0AC-DCB07C53C10B}"/>
              </a:ext>
            </a:extLst>
          </p:cNvPr>
          <p:cNvSpPr/>
          <p:nvPr/>
        </p:nvSpPr>
        <p:spPr>
          <a:xfrm>
            <a:off x="6590985" y="5840855"/>
            <a:ext cx="3433300" cy="534216"/>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Downstream arm vacuum pipe</a:t>
            </a:r>
          </a:p>
        </p:txBody>
      </p:sp>
      <p:grpSp>
        <p:nvGrpSpPr>
          <p:cNvPr id="44" name="Group 43">
            <a:extLst>
              <a:ext uri="{FF2B5EF4-FFF2-40B4-BE49-F238E27FC236}">
                <a16:creationId xmlns:a16="http://schemas.microsoft.com/office/drawing/2014/main" id="{698D6E1D-B587-F8F6-07D7-328F0D43AA3D}"/>
              </a:ext>
            </a:extLst>
          </p:cNvPr>
          <p:cNvGrpSpPr/>
          <p:nvPr/>
        </p:nvGrpSpPr>
        <p:grpSpPr>
          <a:xfrm>
            <a:off x="401771" y="3784600"/>
            <a:ext cx="11379989" cy="1629275"/>
            <a:chOff x="658586" y="3936191"/>
            <a:chExt cx="11379989" cy="1629275"/>
          </a:xfrm>
        </p:grpSpPr>
        <p:cxnSp>
          <p:nvCxnSpPr>
            <p:cNvPr id="7" name="Straight Arrow Connector 6">
              <a:extLst>
                <a:ext uri="{FF2B5EF4-FFF2-40B4-BE49-F238E27FC236}">
                  <a16:creationId xmlns:a16="http://schemas.microsoft.com/office/drawing/2014/main" id="{F79BBDFA-E4CA-D3B2-4D78-E57706BA8F27}"/>
                </a:ext>
              </a:extLst>
            </p:cNvPr>
            <p:cNvCxnSpPr>
              <a:cxnSpLocks/>
            </p:cNvCxnSpPr>
            <p:nvPr/>
          </p:nvCxnSpPr>
          <p:spPr>
            <a:xfrm>
              <a:off x="658586" y="4973562"/>
              <a:ext cx="10800000" cy="0"/>
            </a:xfrm>
            <a:prstGeom prst="straightConnector1">
              <a:avLst/>
            </a:prstGeom>
            <a:ln w="38100">
              <a:solidFill>
                <a:srgbClr val="FF0000"/>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9" name="Rectangle: Rounded Corners 8">
              <a:extLst>
                <a:ext uri="{FF2B5EF4-FFF2-40B4-BE49-F238E27FC236}">
                  <a16:creationId xmlns:a16="http://schemas.microsoft.com/office/drawing/2014/main" id="{1E4228AB-141A-A392-8988-D12EAA0C03BE}"/>
                </a:ext>
              </a:extLst>
            </p:cNvPr>
            <p:cNvSpPr/>
            <p:nvPr/>
          </p:nvSpPr>
          <p:spPr>
            <a:xfrm>
              <a:off x="1426029" y="4434836"/>
              <a:ext cx="174171" cy="1130630"/>
            </a:xfrm>
            <a:prstGeom prst="round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2" name="Rectangle: Rounded Corners 11">
              <a:extLst>
                <a:ext uri="{FF2B5EF4-FFF2-40B4-BE49-F238E27FC236}">
                  <a16:creationId xmlns:a16="http://schemas.microsoft.com/office/drawing/2014/main" id="{3333B110-1C10-5F2F-1244-95B57A49D9C7}"/>
                </a:ext>
              </a:extLst>
            </p:cNvPr>
            <p:cNvSpPr/>
            <p:nvPr/>
          </p:nvSpPr>
          <p:spPr>
            <a:xfrm>
              <a:off x="2367643" y="4434836"/>
              <a:ext cx="174171" cy="1130630"/>
            </a:xfrm>
            <a:prstGeom prst="round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6" name="Rectangle: Rounded Corners 15">
              <a:extLst>
                <a:ext uri="{FF2B5EF4-FFF2-40B4-BE49-F238E27FC236}">
                  <a16:creationId xmlns:a16="http://schemas.microsoft.com/office/drawing/2014/main" id="{69175891-15C6-D445-D99D-79A521952D9A}"/>
                </a:ext>
              </a:extLst>
            </p:cNvPr>
            <p:cNvSpPr/>
            <p:nvPr/>
          </p:nvSpPr>
          <p:spPr>
            <a:xfrm>
              <a:off x="6673629" y="4434836"/>
              <a:ext cx="174171" cy="1130630"/>
            </a:xfrm>
            <a:prstGeom prst="round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8" name="Rectangle: Rounded Corners 17">
              <a:extLst>
                <a:ext uri="{FF2B5EF4-FFF2-40B4-BE49-F238E27FC236}">
                  <a16:creationId xmlns:a16="http://schemas.microsoft.com/office/drawing/2014/main" id="{61493E57-5D00-058D-B38F-4AEE81470707}"/>
                </a:ext>
              </a:extLst>
            </p:cNvPr>
            <p:cNvSpPr/>
            <p:nvPr/>
          </p:nvSpPr>
          <p:spPr>
            <a:xfrm>
              <a:off x="8523514" y="4419238"/>
              <a:ext cx="174171" cy="1130630"/>
            </a:xfrm>
            <a:prstGeom prst="round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3" name="Rectangle: Rounded Corners 22">
              <a:extLst>
                <a:ext uri="{FF2B5EF4-FFF2-40B4-BE49-F238E27FC236}">
                  <a16:creationId xmlns:a16="http://schemas.microsoft.com/office/drawing/2014/main" id="{D6370486-EF26-3AF2-4A68-075A7B3BC08B}"/>
                </a:ext>
              </a:extLst>
            </p:cNvPr>
            <p:cNvSpPr/>
            <p:nvPr/>
          </p:nvSpPr>
          <p:spPr>
            <a:xfrm>
              <a:off x="2693528" y="4660626"/>
              <a:ext cx="3419422" cy="625871"/>
            </a:xfrm>
            <a:prstGeom prst="round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7" name="Rectangle: Rounded Corners 26">
              <a:extLst>
                <a:ext uri="{FF2B5EF4-FFF2-40B4-BE49-F238E27FC236}">
                  <a16:creationId xmlns:a16="http://schemas.microsoft.com/office/drawing/2014/main" id="{5F8ED58A-372D-827C-7F8B-F81AFE3615CA}"/>
                </a:ext>
              </a:extLst>
            </p:cNvPr>
            <p:cNvSpPr/>
            <p:nvPr/>
          </p:nvSpPr>
          <p:spPr>
            <a:xfrm>
              <a:off x="7002266" y="4660625"/>
              <a:ext cx="1366781" cy="625871"/>
            </a:xfrm>
            <a:prstGeom prst="round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6" name="Rectangle: Rounded Corners 35">
              <a:extLst>
                <a:ext uri="{FF2B5EF4-FFF2-40B4-BE49-F238E27FC236}">
                  <a16:creationId xmlns:a16="http://schemas.microsoft.com/office/drawing/2014/main" id="{91CB113D-C53D-FB48-569B-9ED897091C42}"/>
                </a:ext>
              </a:extLst>
            </p:cNvPr>
            <p:cNvSpPr/>
            <p:nvPr/>
          </p:nvSpPr>
          <p:spPr>
            <a:xfrm>
              <a:off x="6306204" y="4604500"/>
              <a:ext cx="174171" cy="760103"/>
            </a:xfrm>
            <a:prstGeom prst="round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5F3A5ED9-9156-7D0A-A69C-C5BC6E44CFAA}"/>
                    </a:ext>
                  </a:extLst>
                </p:cNvPr>
                <p:cNvSpPr txBox="1"/>
                <p:nvPr/>
              </p:nvSpPr>
              <p:spPr>
                <a:xfrm>
                  <a:off x="11118956" y="4475958"/>
                  <a:ext cx="469688" cy="369332"/>
                </a:xfrm>
                <a:prstGeom prst="rect">
                  <a:avLst/>
                </a:prstGeom>
                <a:noFill/>
              </p:spPr>
              <p:txBody>
                <a:bodyPr wrap="square" rtlCol="0">
                  <a:spAutoFit/>
                </a:bodyPr>
                <a:lstStyle/>
                <a:p>
                  <a:pPr/>
                  <a14:m>
                    <m:oMathPara xmlns:m="http://schemas.openxmlformats.org/officeDocument/2006/math">
                      <m:oMath>
                        <m:r>
                          <a:rPr lang="en-US" b="1" i="1" dirty="0" smtClean="0">
                            <a:latin typeface="Cambria Math" panose="02040503050406030204" pitchFamily="18" charset="0"/>
                          </a:rPr>
                          <m:t>𝒛</m:t>
                        </m:r>
                      </m:oMath>
                    </m:oMathPara>
                  </a14:m>
                  <a:endParaRPr lang="it-IT" b="1" dirty="0"/>
                </a:p>
              </p:txBody>
            </p:sp>
          </mc:Choice>
          <mc:Fallback xmlns="">
            <p:sp>
              <p:nvSpPr>
                <p:cNvPr id="41" name="TextBox 40">
                  <a:extLst>
                    <a:ext uri="{FF2B5EF4-FFF2-40B4-BE49-F238E27FC236}">
                      <a16:creationId xmlns:a16="http://schemas.microsoft.com/office/drawing/2014/main" id="{5F3A5ED9-9156-7D0A-A69C-C5BC6E44CFAA}"/>
                    </a:ext>
                  </a:extLst>
                </p:cNvPr>
                <p:cNvSpPr txBox="1">
                  <a:spLocks noRot="1" noChangeAspect="1" noMove="1" noResize="1" noEditPoints="1" noAdjustHandles="1" noChangeArrowheads="1" noChangeShapeType="1" noTextEdit="1"/>
                </p:cNvSpPr>
                <p:nvPr/>
              </p:nvSpPr>
              <p:spPr>
                <a:xfrm>
                  <a:off x="11118956" y="4475958"/>
                  <a:ext cx="469688" cy="369332"/>
                </a:xfrm>
                <a:prstGeom prst="rect">
                  <a:avLst/>
                </a:prstGeom>
                <a:blipFill>
                  <a:blip r:embed="rId2"/>
                  <a:stretch>
                    <a:fillRect/>
                  </a:stretch>
                </a:blipFill>
              </p:spPr>
              <p:txBody>
                <a:bodyPr/>
                <a:lstStyle/>
                <a:p>
                  <a:r>
                    <a:rPr lang="it-IT">
                      <a:noFill/>
                    </a:rPr>
                    <a:t> </a:t>
                  </a:r>
                </a:p>
              </p:txBody>
            </p:sp>
          </mc:Fallback>
        </mc:AlternateContent>
        <p:sp>
          <p:nvSpPr>
            <p:cNvPr id="43" name="TextBox 42">
              <a:extLst>
                <a:ext uri="{FF2B5EF4-FFF2-40B4-BE49-F238E27FC236}">
                  <a16:creationId xmlns:a16="http://schemas.microsoft.com/office/drawing/2014/main" id="{39685CF0-FAD7-F521-35BA-EFA05D5DB957}"/>
                </a:ext>
              </a:extLst>
            </p:cNvPr>
            <p:cNvSpPr txBox="1"/>
            <p:nvPr/>
          </p:nvSpPr>
          <p:spPr>
            <a:xfrm>
              <a:off x="10671794" y="3936191"/>
              <a:ext cx="1366781" cy="646331"/>
            </a:xfrm>
            <a:prstGeom prst="rect">
              <a:avLst/>
            </a:prstGeom>
            <a:noFill/>
          </p:spPr>
          <p:txBody>
            <a:bodyPr wrap="square" rtlCol="0">
              <a:spAutoFit/>
            </a:bodyPr>
            <a:lstStyle/>
            <a:p>
              <a:pPr algn="ctr"/>
              <a:r>
                <a:rPr lang="en-US" b="1" dirty="0"/>
                <a:t>Beam</a:t>
              </a:r>
            </a:p>
            <a:p>
              <a:pPr algn="ctr"/>
              <a:r>
                <a:rPr lang="en-US" b="1" dirty="0"/>
                <a:t>direction</a:t>
              </a:r>
              <a:endParaRPr lang="it-IT" b="1" dirty="0"/>
            </a:p>
          </p:txBody>
        </p:sp>
      </p:grpSp>
      <p:cxnSp>
        <p:nvCxnSpPr>
          <p:cNvPr id="45" name="Straight Arrow Connector 44">
            <a:extLst>
              <a:ext uri="{FF2B5EF4-FFF2-40B4-BE49-F238E27FC236}">
                <a16:creationId xmlns:a16="http://schemas.microsoft.com/office/drawing/2014/main" id="{C911A1F4-B289-588A-B70F-96D16C169526}"/>
              </a:ext>
            </a:extLst>
          </p:cNvPr>
          <p:cNvCxnSpPr>
            <a:cxnSpLocks/>
            <a:stCxn id="3" idx="2"/>
          </p:cNvCxnSpPr>
          <p:nvPr/>
        </p:nvCxnSpPr>
        <p:spPr>
          <a:xfrm flipH="1">
            <a:off x="1343385" y="3581804"/>
            <a:ext cx="245587" cy="648264"/>
          </a:xfrm>
          <a:prstGeom prst="straightConnector1">
            <a:avLst/>
          </a:prstGeom>
          <a:ln w="38100">
            <a:solidFill>
              <a:srgbClr val="FFC000"/>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3EFCAA7B-A105-9BD4-26F9-87F74BD84BA6}"/>
              </a:ext>
            </a:extLst>
          </p:cNvPr>
          <p:cNvCxnSpPr>
            <a:cxnSpLocks/>
            <a:stCxn id="21" idx="2"/>
          </p:cNvCxnSpPr>
          <p:nvPr/>
        </p:nvCxnSpPr>
        <p:spPr>
          <a:xfrm flipH="1">
            <a:off x="2304387" y="3581804"/>
            <a:ext cx="1543760" cy="682008"/>
          </a:xfrm>
          <a:prstGeom prst="straightConnector1">
            <a:avLst/>
          </a:prstGeom>
          <a:ln w="38100">
            <a:solidFill>
              <a:srgbClr val="FFC000"/>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74280D7C-DDF6-8D3E-F022-6E7B9DC26AAD}"/>
              </a:ext>
            </a:extLst>
          </p:cNvPr>
          <p:cNvCxnSpPr>
            <a:cxnSpLocks/>
            <a:stCxn id="26" idx="2"/>
          </p:cNvCxnSpPr>
          <p:nvPr/>
        </p:nvCxnSpPr>
        <p:spPr>
          <a:xfrm flipH="1">
            <a:off x="6641286" y="3581804"/>
            <a:ext cx="1706112" cy="682008"/>
          </a:xfrm>
          <a:prstGeom prst="straightConnector1">
            <a:avLst/>
          </a:prstGeom>
          <a:ln w="38100">
            <a:solidFill>
              <a:srgbClr val="FFC000"/>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13D2C29E-3B28-1C80-FF69-A3D86852808D}"/>
              </a:ext>
            </a:extLst>
          </p:cNvPr>
          <p:cNvCxnSpPr>
            <a:cxnSpLocks/>
            <a:stCxn id="28" idx="2"/>
          </p:cNvCxnSpPr>
          <p:nvPr/>
        </p:nvCxnSpPr>
        <p:spPr>
          <a:xfrm flipH="1">
            <a:off x="8501440" y="3581804"/>
            <a:ext cx="2101589" cy="668000"/>
          </a:xfrm>
          <a:prstGeom prst="straightConnector1">
            <a:avLst/>
          </a:prstGeom>
          <a:ln w="38100">
            <a:solidFill>
              <a:srgbClr val="FFC000"/>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32AA7C04-B2FD-28B1-8D71-C8503B04E3DF}"/>
              </a:ext>
            </a:extLst>
          </p:cNvPr>
          <p:cNvCxnSpPr>
            <a:cxnSpLocks/>
            <a:stCxn id="24" idx="2"/>
          </p:cNvCxnSpPr>
          <p:nvPr/>
        </p:nvCxnSpPr>
        <p:spPr>
          <a:xfrm>
            <a:off x="6091767" y="3581804"/>
            <a:ext cx="44707" cy="804116"/>
          </a:xfrm>
          <a:prstGeom prst="straightConnector1">
            <a:avLst/>
          </a:prstGeom>
          <a:ln w="38100">
            <a:solidFill>
              <a:schemeClr val="accent4"/>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B8004C26-DF47-9F1B-D130-5B1428BFD5FC}"/>
              </a:ext>
            </a:extLst>
          </p:cNvPr>
          <p:cNvCxnSpPr>
            <a:cxnSpLocks/>
            <a:stCxn id="35" idx="0"/>
          </p:cNvCxnSpPr>
          <p:nvPr/>
        </p:nvCxnSpPr>
        <p:spPr>
          <a:xfrm flipH="1" flipV="1">
            <a:off x="4215144" y="5233287"/>
            <a:ext cx="56160" cy="607568"/>
          </a:xfrm>
          <a:prstGeom prst="straightConnector1">
            <a:avLst/>
          </a:prstGeom>
          <a:ln w="38100">
            <a:solidFill>
              <a:schemeClr val="accent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B5C40DD8-C829-9CAC-EC85-0076DC92B1F1}"/>
              </a:ext>
            </a:extLst>
          </p:cNvPr>
          <p:cNvCxnSpPr>
            <a:cxnSpLocks/>
            <a:stCxn id="37" idx="0"/>
          </p:cNvCxnSpPr>
          <p:nvPr/>
        </p:nvCxnSpPr>
        <p:spPr>
          <a:xfrm flipH="1" flipV="1">
            <a:off x="7586432" y="5189361"/>
            <a:ext cx="721203" cy="651494"/>
          </a:xfrm>
          <a:prstGeom prst="straightConnector1">
            <a:avLst/>
          </a:prstGeom>
          <a:ln w="38100">
            <a:solidFill>
              <a:schemeClr val="accent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25" name="Rectangle: Rounded Corners 24">
                <a:extLst>
                  <a:ext uri="{FF2B5EF4-FFF2-40B4-BE49-F238E27FC236}">
                    <a16:creationId xmlns:a16="http://schemas.microsoft.com/office/drawing/2014/main" id="{A55B34FE-23C4-AED1-BE05-138EC3BC9BFD}"/>
                  </a:ext>
                </a:extLst>
              </p:cNvPr>
              <p:cNvSpPr/>
              <p:nvPr/>
            </p:nvSpPr>
            <p:spPr>
              <a:xfrm>
                <a:off x="696000" y="1388018"/>
                <a:ext cx="5353389" cy="125131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Beam:</a:t>
                </a:r>
                <a:r>
                  <a:rPr lang="en-US" dirty="0">
                    <a:solidFill>
                      <a:schemeClr val="tx1"/>
                    </a:solidFill>
                  </a:rPr>
                  <a:t> H8 secondary beamline off the SPS, driven by 400 GeV protons</a:t>
                </a:r>
              </a:p>
              <a:p>
                <a:r>
                  <a:rPr lang="en-US" dirty="0">
                    <a:solidFill>
                      <a:schemeClr val="tx1"/>
                    </a:solidFill>
                  </a:rPr>
                  <a:t>Spectrometer selection 180 GeV hadrons (30% </a:t>
                </a:r>
                <a14:m>
                  <m:oMath xmlns:m="http://schemas.openxmlformats.org/officeDocument/2006/math">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𝜋</m:t>
                        </m:r>
                      </m:e>
                      <m:sup>
                        <m:r>
                          <a:rPr lang="en-US" i="1">
                            <a:solidFill>
                              <a:schemeClr val="tx1"/>
                            </a:solidFill>
                            <a:latin typeface="Cambria Math" panose="02040503050406030204" pitchFamily="18" charset="0"/>
                          </a:rPr>
                          <m:t>+</m:t>
                        </m:r>
                      </m:sup>
                    </m:sSup>
                  </m:oMath>
                </a14:m>
                <a:r>
                  <a:rPr lang="en-US" dirty="0">
                    <a:solidFill>
                      <a:schemeClr val="tx1"/>
                    </a:solidFill>
                  </a:rPr>
                  <a:t> and 70% </a:t>
                </a:r>
                <a14:m>
                  <m:oMath xmlns:m="http://schemas.openxmlformats.org/officeDocument/2006/math">
                    <m:r>
                      <a:rPr lang="en-US" i="1" dirty="0">
                        <a:solidFill>
                          <a:schemeClr val="tx1"/>
                        </a:solidFill>
                        <a:latin typeface="Cambria Math" panose="02040503050406030204" pitchFamily="18" charset="0"/>
                      </a:rPr>
                      <m:t>𝑝</m:t>
                    </m:r>
                  </m:oMath>
                </a14:m>
                <a:r>
                  <a:rPr lang="en-US" dirty="0">
                    <a:solidFill>
                      <a:schemeClr val="tx1"/>
                    </a:solidFill>
                  </a:rPr>
                  <a:t>)</a:t>
                </a:r>
                <a:endParaRPr lang="it-IT" dirty="0">
                  <a:solidFill>
                    <a:schemeClr val="tx1"/>
                  </a:solidFill>
                </a:endParaRPr>
              </a:p>
            </p:txBody>
          </p:sp>
        </mc:Choice>
        <mc:Fallback>
          <p:sp>
            <p:nvSpPr>
              <p:cNvPr id="25" name="Rectangle: Rounded Corners 24">
                <a:extLst>
                  <a:ext uri="{FF2B5EF4-FFF2-40B4-BE49-F238E27FC236}">
                    <a16:creationId xmlns:a16="http://schemas.microsoft.com/office/drawing/2014/main" id="{A55B34FE-23C4-AED1-BE05-138EC3BC9BFD}"/>
                  </a:ext>
                </a:extLst>
              </p:cNvPr>
              <p:cNvSpPr>
                <a:spLocks noRot="1" noChangeAspect="1" noMove="1" noResize="1" noEditPoints="1" noAdjustHandles="1" noChangeArrowheads="1" noChangeShapeType="1" noTextEdit="1"/>
              </p:cNvSpPr>
              <p:nvPr/>
            </p:nvSpPr>
            <p:spPr>
              <a:xfrm>
                <a:off x="696000" y="1388018"/>
                <a:ext cx="5353389" cy="1251312"/>
              </a:xfrm>
              <a:prstGeom prst="roundRect">
                <a:avLst/>
              </a:prstGeom>
              <a:blipFill>
                <a:blip r:embed="rId3"/>
                <a:stretch>
                  <a:fillRect b="-4265"/>
                </a:stretch>
              </a:blipFill>
              <a:ln w="38100">
                <a:solidFill>
                  <a:srgbClr val="FF0000"/>
                </a:solidFill>
              </a:ln>
            </p:spPr>
            <p:txBody>
              <a:bodyPr/>
              <a:lstStyle/>
              <a:p>
                <a:r>
                  <a:rPr lang="it-IT">
                    <a:noFill/>
                  </a:rPr>
                  <a:t> </a:t>
                </a:r>
              </a:p>
            </p:txBody>
          </p:sp>
        </mc:Fallback>
      </mc:AlternateContent>
      <p:sp>
        <p:nvSpPr>
          <p:cNvPr id="40" name="Rectangle: Rounded Corners 39">
            <a:extLst>
              <a:ext uri="{FF2B5EF4-FFF2-40B4-BE49-F238E27FC236}">
                <a16:creationId xmlns:a16="http://schemas.microsoft.com/office/drawing/2014/main" id="{FB9ECF49-E6F7-0C3B-48A8-BA01944FCE43}"/>
              </a:ext>
            </a:extLst>
          </p:cNvPr>
          <p:cNvSpPr/>
          <p:nvPr/>
        </p:nvSpPr>
        <p:spPr>
          <a:xfrm>
            <a:off x="6136474" y="1388018"/>
            <a:ext cx="5359528" cy="1251312"/>
          </a:xfrm>
          <a:prstGeom prst="round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Trackers:</a:t>
            </a:r>
          </a:p>
          <a:p>
            <a:r>
              <a:rPr lang="en-US" dirty="0">
                <a:solidFill>
                  <a:schemeClr val="tx1"/>
                </a:solidFill>
              </a:rPr>
              <a:t>2 silicon microstrip sensors</a:t>
            </a:r>
          </a:p>
          <a:p>
            <a:r>
              <a:rPr lang="en-US" dirty="0">
                <a:solidFill>
                  <a:schemeClr val="tx1"/>
                </a:solidFill>
              </a:rPr>
              <a:t>639 strips, 98 mm length</a:t>
            </a:r>
          </a:p>
          <a:p>
            <a:r>
              <a:rPr lang="en-US" dirty="0">
                <a:solidFill>
                  <a:schemeClr val="tx1"/>
                </a:solidFill>
              </a:rPr>
              <a:t>with a </a:t>
            </a:r>
            <a:r>
              <a:rPr lang="it-IT" dirty="0">
                <a:solidFill>
                  <a:schemeClr val="tx1"/>
                </a:solidFill>
              </a:rPr>
              <a:t>~ 7 um resolution</a:t>
            </a:r>
          </a:p>
        </p:txBody>
      </p:sp>
      <p:pic>
        <p:nvPicPr>
          <p:cNvPr id="46" name="Picture 45">
            <a:extLst>
              <a:ext uri="{FF2B5EF4-FFF2-40B4-BE49-F238E27FC236}">
                <a16:creationId xmlns:a16="http://schemas.microsoft.com/office/drawing/2014/main" id="{CFA8C621-CD68-D14A-26FC-0ADE40F4B7BD}"/>
              </a:ext>
            </a:extLst>
          </p:cNvPr>
          <p:cNvPicPr>
            <a:picLocks noChangeAspect="1"/>
          </p:cNvPicPr>
          <p:nvPr/>
        </p:nvPicPr>
        <p:blipFill>
          <a:blip r:embed="rId4"/>
          <a:stretch>
            <a:fillRect/>
          </a:stretch>
        </p:blipFill>
        <p:spPr>
          <a:xfrm>
            <a:off x="9096348" y="1561396"/>
            <a:ext cx="2105423" cy="893356"/>
          </a:xfrm>
          <a:prstGeom prst="rect">
            <a:avLst/>
          </a:prstGeom>
        </p:spPr>
      </p:pic>
      <p:sp>
        <p:nvSpPr>
          <p:cNvPr id="49" name="Titolo 1">
            <a:extLst>
              <a:ext uri="{FF2B5EF4-FFF2-40B4-BE49-F238E27FC236}">
                <a16:creationId xmlns:a16="http://schemas.microsoft.com/office/drawing/2014/main" id="{C581B828-EE4B-D4CF-B108-F533B07C1903}"/>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BACKUP SLIDE</a:t>
            </a:r>
            <a:endParaRPr lang="it-IT" sz="2000" b="1" i="1" dirty="0">
              <a:solidFill>
                <a:srgbClr val="002060"/>
              </a:solidFill>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907390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1A478-2C97-10B4-34B5-10A734949A4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0AC2323-4074-7D2D-42E4-448B5D17288B}"/>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it-IT" sz="4000" b="1" dirty="0">
                <a:solidFill>
                  <a:srgbClr val="002060"/>
                </a:solidFill>
              </a:rPr>
              <a:t>	SCHEMATIC LAYOUT</a:t>
            </a:r>
          </a:p>
        </p:txBody>
      </p:sp>
      <p:sp>
        <p:nvSpPr>
          <p:cNvPr id="4" name="Segnaposto data 3">
            <a:extLst>
              <a:ext uri="{FF2B5EF4-FFF2-40B4-BE49-F238E27FC236}">
                <a16:creationId xmlns:a16="http://schemas.microsoft.com/office/drawing/2014/main" id="{C8305303-D450-DE41-FD4D-E965DB4B9962}"/>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B932D726-6862-785A-B00C-19309D53BB9C}"/>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1318A926-43E2-8B1A-948C-DD69E1680453}"/>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21</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2EB45A51-E901-915B-0293-EC5A0957C2FE}"/>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CasellaDiTesto 12">
            <a:extLst>
              <a:ext uri="{FF2B5EF4-FFF2-40B4-BE49-F238E27FC236}">
                <a16:creationId xmlns:a16="http://schemas.microsoft.com/office/drawing/2014/main" id="{523A421A-CF34-DE89-C38E-406198ECC43D}"/>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15" name="CasellaDiTesto 14">
            <a:extLst>
              <a:ext uri="{FF2B5EF4-FFF2-40B4-BE49-F238E27FC236}">
                <a16:creationId xmlns:a16="http://schemas.microsoft.com/office/drawing/2014/main" id="{5A3A2D6F-A325-D7E7-DEFD-6EE799EFE079}"/>
              </a:ext>
            </a:extLst>
          </p:cNvPr>
          <p:cNvSpPr txBox="1"/>
          <p:nvPr/>
        </p:nvSpPr>
        <p:spPr>
          <a:xfrm>
            <a:off x="3048886" y="3244334"/>
            <a:ext cx="6097772" cy="369332"/>
          </a:xfrm>
          <a:prstGeom prst="rect">
            <a:avLst/>
          </a:prstGeom>
          <a:noFill/>
        </p:spPr>
        <p:txBody>
          <a:bodyPr wrap="square">
            <a:spAutoFit/>
          </a:bodyPr>
          <a:lstStyle/>
          <a:p>
            <a:endParaRPr lang="it-IT" dirty="0"/>
          </a:p>
        </p:txBody>
      </p:sp>
      <p:pic>
        <p:nvPicPr>
          <p:cNvPr id="8" name="Immagine 7">
            <a:extLst>
              <a:ext uri="{FF2B5EF4-FFF2-40B4-BE49-F238E27FC236}">
                <a16:creationId xmlns:a16="http://schemas.microsoft.com/office/drawing/2014/main" id="{8C19DACC-8BF8-944F-AFBE-0BF9ECAB57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5100" y="1486933"/>
            <a:ext cx="9000000" cy="4605228"/>
          </a:xfrm>
          <a:prstGeom prst="rect">
            <a:avLst/>
          </a:prstGeom>
          <a:solidFill>
            <a:srgbClr val="FFFFFF">
              <a:shade val="85000"/>
            </a:srgbClr>
          </a:solidFill>
          <a:ln w="88900" cap="sq">
            <a:noFill/>
            <a:miter lim="800000"/>
          </a:ln>
          <a:effectLst/>
        </p:spPr>
      </p:pic>
      <p:sp>
        <p:nvSpPr>
          <p:cNvPr id="7" name="Titolo 1">
            <a:extLst>
              <a:ext uri="{FF2B5EF4-FFF2-40B4-BE49-F238E27FC236}">
                <a16:creationId xmlns:a16="http://schemas.microsoft.com/office/drawing/2014/main" id="{4782EE9B-3092-A7CF-581C-788617F861AA}"/>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BACKUP SLIDE</a:t>
            </a:r>
            <a:endParaRPr lang="it-IT" sz="2000" b="1" i="1" dirty="0">
              <a:solidFill>
                <a:srgbClr val="002060"/>
              </a:solidFill>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793652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0868C-48AA-624D-FC8E-B8A0F7FD8BA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E81BE3F-761B-C031-718C-B937798DE753}"/>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it-IT" sz="4000" b="1" dirty="0">
                <a:solidFill>
                  <a:srgbClr val="002060"/>
                </a:solidFill>
              </a:rPr>
              <a:t>	SPATIAL CUT</a:t>
            </a:r>
          </a:p>
        </p:txBody>
      </p:sp>
      <p:sp>
        <p:nvSpPr>
          <p:cNvPr id="4" name="Segnaposto data 3">
            <a:extLst>
              <a:ext uri="{FF2B5EF4-FFF2-40B4-BE49-F238E27FC236}">
                <a16:creationId xmlns:a16="http://schemas.microsoft.com/office/drawing/2014/main" id="{E83A6044-8191-1821-ADA3-B644EAE134EC}"/>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BA0F2C72-5ABE-0EBA-2479-43E5859BBA63}"/>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2506C0F3-F1DF-3C2C-B4EF-0115636BFC95}"/>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22</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B9F4022D-EA7D-42B8-B590-F13E113B4373}"/>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CasellaDiTesto 12">
            <a:extLst>
              <a:ext uri="{FF2B5EF4-FFF2-40B4-BE49-F238E27FC236}">
                <a16:creationId xmlns:a16="http://schemas.microsoft.com/office/drawing/2014/main" id="{C9037BDD-8530-1C71-AC3D-B5E42866C854}"/>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15" name="CasellaDiTesto 14">
            <a:extLst>
              <a:ext uri="{FF2B5EF4-FFF2-40B4-BE49-F238E27FC236}">
                <a16:creationId xmlns:a16="http://schemas.microsoft.com/office/drawing/2014/main" id="{D6BFC361-AD21-8A45-4798-C3D7486AEAE4}"/>
              </a:ext>
            </a:extLst>
          </p:cNvPr>
          <p:cNvSpPr txBox="1"/>
          <p:nvPr/>
        </p:nvSpPr>
        <p:spPr>
          <a:xfrm>
            <a:off x="3048886" y="3244334"/>
            <a:ext cx="6097772" cy="369332"/>
          </a:xfrm>
          <a:prstGeom prst="rect">
            <a:avLst/>
          </a:prstGeom>
          <a:noFill/>
        </p:spPr>
        <p:txBody>
          <a:bodyPr wrap="square">
            <a:spAutoFit/>
          </a:bodyPr>
          <a:lstStyle/>
          <a:p>
            <a:endParaRPr lang="it-IT" dirty="0"/>
          </a:p>
        </p:txBody>
      </p:sp>
      <p:grpSp>
        <p:nvGrpSpPr>
          <p:cNvPr id="7" name="Gruppo 6">
            <a:extLst>
              <a:ext uri="{FF2B5EF4-FFF2-40B4-BE49-F238E27FC236}">
                <a16:creationId xmlns:a16="http://schemas.microsoft.com/office/drawing/2014/main" id="{8D788910-F3D0-9CC6-0AAB-A1C89CE3D485}"/>
              </a:ext>
            </a:extLst>
          </p:cNvPr>
          <p:cNvGrpSpPr/>
          <p:nvPr/>
        </p:nvGrpSpPr>
        <p:grpSpPr>
          <a:xfrm>
            <a:off x="2629724" y="1358900"/>
            <a:ext cx="6932552" cy="4818615"/>
            <a:chOff x="3357897" y="2667753"/>
            <a:chExt cx="5476207" cy="3688596"/>
          </a:xfrm>
        </p:grpSpPr>
        <p:pic>
          <p:nvPicPr>
            <p:cNvPr id="8" name="Immagine 7">
              <a:extLst>
                <a:ext uri="{FF2B5EF4-FFF2-40B4-BE49-F238E27FC236}">
                  <a16:creationId xmlns:a16="http://schemas.microsoft.com/office/drawing/2014/main" id="{3B885F0C-3A52-E818-1FFE-79CA8492B8D7}"/>
                </a:ext>
              </a:extLst>
            </p:cNvPr>
            <p:cNvPicPr>
              <a:picLocks noChangeAspect="1"/>
            </p:cNvPicPr>
            <p:nvPr/>
          </p:nvPicPr>
          <p:blipFill>
            <a:blip r:embed="rId2">
              <a:extLst>
                <a:ext uri="{28A0092B-C50C-407E-A947-70E740481C1C}">
                  <a14:useLocalDpi xmlns:a14="http://schemas.microsoft.com/office/drawing/2010/main" val="0"/>
                </a:ext>
              </a:extLst>
            </a:blip>
            <a:srcRect t="2210" b="2210"/>
            <a:stretch/>
          </p:blipFill>
          <p:spPr>
            <a:xfrm>
              <a:off x="3357897" y="2667753"/>
              <a:ext cx="5476207" cy="3688596"/>
            </a:xfrm>
            <a:prstGeom prst="rect">
              <a:avLst/>
            </a:prstGeom>
          </p:spPr>
        </p:pic>
        <p:sp>
          <p:nvSpPr>
            <p:cNvPr id="9" name="Rettangolo 8">
              <a:extLst>
                <a:ext uri="{FF2B5EF4-FFF2-40B4-BE49-F238E27FC236}">
                  <a16:creationId xmlns:a16="http://schemas.microsoft.com/office/drawing/2014/main" id="{171A131D-410B-0265-ADB7-86EA3B4EFF2F}"/>
                </a:ext>
              </a:extLst>
            </p:cNvPr>
            <p:cNvSpPr/>
            <p:nvPr/>
          </p:nvSpPr>
          <p:spPr>
            <a:xfrm>
              <a:off x="5196417" y="3907271"/>
              <a:ext cx="302683" cy="99161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sp>
        <p:nvSpPr>
          <p:cNvPr id="12" name="CasellaDiTesto 11">
            <a:extLst>
              <a:ext uri="{FF2B5EF4-FFF2-40B4-BE49-F238E27FC236}">
                <a16:creationId xmlns:a16="http://schemas.microsoft.com/office/drawing/2014/main" id="{2F82BAFF-9135-53DE-9837-BE4B01F3EB56}"/>
              </a:ext>
            </a:extLst>
          </p:cNvPr>
          <p:cNvSpPr txBox="1"/>
          <p:nvPr/>
        </p:nvSpPr>
        <p:spPr>
          <a:xfrm>
            <a:off x="4694745" y="4341592"/>
            <a:ext cx="908050" cy="369332"/>
          </a:xfrm>
          <a:prstGeom prst="rect">
            <a:avLst/>
          </a:prstGeom>
          <a:noFill/>
        </p:spPr>
        <p:txBody>
          <a:bodyPr wrap="square" rtlCol="0">
            <a:spAutoFit/>
          </a:bodyPr>
          <a:lstStyle/>
          <a:p>
            <a:pPr algn="ctr"/>
            <a:r>
              <a:rPr lang="it-IT" b="1" dirty="0">
                <a:solidFill>
                  <a:schemeClr val="bg1"/>
                </a:solidFill>
              </a:rPr>
              <a:t>2 mm</a:t>
            </a:r>
          </a:p>
        </p:txBody>
      </p:sp>
      <p:sp>
        <p:nvSpPr>
          <p:cNvPr id="16" name="CasellaDiTesto 15">
            <a:extLst>
              <a:ext uri="{FF2B5EF4-FFF2-40B4-BE49-F238E27FC236}">
                <a16:creationId xmlns:a16="http://schemas.microsoft.com/office/drawing/2014/main" id="{70D2CBEF-B1E0-9EA7-A712-FF2A323B86DA}"/>
              </a:ext>
            </a:extLst>
          </p:cNvPr>
          <p:cNvSpPr txBox="1"/>
          <p:nvPr/>
        </p:nvSpPr>
        <p:spPr>
          <a:xfrm>
            <a:off x="5305496" y="3398875"/>
            <a:ext cx="1158803" cy="369332"/>
          </a:xfrm>
          <a:prstGeom prst="rect">
            <a:avLst/>
          </a:prstGeom>
          <a:noFill/>
        </p:spPr>
        <p:txBody>
          <a:bodyPr wrap="square" rtlCol="0">
            <a:spAutoFit/>
          </a:bodyPr>
          <a:lstStyle/>
          <a:p>
            <a:pPr algn="ctr"/>
            <a:r>
              <a:rPr lang="it-IT" b="1" dirty="0">
                <a:solidFill>
                  <a:schemeClr val="bg1"/>
                </a:solidFill>
              </a:rPr>
              <a:t>12.8 mm</a:t>
            </a:r>
          </a:p>
        </p:txBody>
      </p:sp>
      <p:sp>
        <p:nvSpPr>
          <p:cNvPr id="11" name="Titolo 1">
            <a:extLst>
              <a:ext uri="{FF2B5EF4-FFF2-40B4-BE49-F238E27FC236}">
                <a16:creationId xmlns:a16="http://schemas.microsoft.com/office/drawing/2014/main" id="{289761BE-ACAC-D270-7C27-4EB530F8E413}"/>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BACKUP SLIDE</a:t>
            </a:r>
            <a:endParaRPr lang="it-IT" sz="2000" b="1" i="1" dirty="0">
              <a:solidFill>
                <a:srgbClr val="002060"/>
              </a:solidFill>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443400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199CC-8B86-B2EE-64BF-98C6CD9A380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ADCB4FE-C26E-1D5A-A916-88AE81A45AC1}"/>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it-IT" sz="4000" b="1" dirty="0">
                <a:solidFill>
                  <a:srgbClr val="002060"/>
                </a:solidFill>
              </a:rPr>
              <a:t>	TORSION FIT</a:t>
            </a:r>
          </a:p>
        </p:txBody>
      </p:sp>
      <mc:AlternateContent xmlns:mc="http://schemas.openxmlformats.org/markup-compatibility/2006">
        <mc:Choice xmlns:a14="http://schemas.microsoft.com/office/drawing/2010/main" Requires="a14">
          <p:sp>
            <p:nvSpPr>
              <p:cNvPr id="3" name="Segnaposto contenuto 2">
                <a:extLst>
                  <a:ext uri="{FF2B5EF4-FFF2-40B4-BE49-F238E27FC236}">
                    <a16:creationId xmlns:a16="http://schemas.microsoft.com/office/drawing/2014/main" id="{8CB05CB6-18C8-AD14-0450-7E39FC76E19B}"/>
                  </a:ext>
                </a:extLst>
              </p:cNvPr>
              <p:cNvSpPr>
                <a:spLocks noGrp="1"/>
              </p:cNvSpPr>
              <p:nvPr>
                <p:ph idx="1"/>
              </p:nvPr>
            </p:nvSpPr>
            <p:spPr>
              <a:xfrm>
                <a:off x="838200" y="1401288"/>
                <a:ext cx="10515600" cy="4929964"/>
              </a:xfrm>
            </p:spPr>
            <p:txBody>
              <a:bodyPr>
                <a:normAutofit fontScale="92500" lnSpcReduction="20000"/>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The 2d map is fitted through a parabolic function:</a:t>
                </a:r>
                <a:endParaRPr lang="it-IT" i="1" dirty="0">
                  <a:latin typeface="Cambria Math" panose="02040503050406030204" pitchFamily="18" charset="0"/>
                </a:endParaRPr>
              </a:p>
              <a:p>
                <a:pPr marL="0" indent="0">
                  <a:buNone/>
                </a:pPr>
                <a14:m>
                  <m:oMathPara xmlns:m="http://schemas.openxmlformats.org/officeDocument/2006/math">
                    <m:oMathParaPr>
                      <m:jc m:val="center"/>
                    </m:oMathParaPr>
                    <m:oMath>
                      <m:sSub>
                        <m:sSubPr>
                          <m:ctrlPr>
                            <a:rPr lang="it-IT" i="1">
                              <a:latin typeface="Cambria Math" panose="02040503050406030204" pitchFamily="18" charset="0"/>
                            </a:rPr>
                          </m:ctrlPr>
                        </m:sSubPr>
                        <m:e>
                          <m:r>
                            <a:rPr lang="it-IT" i="1">
                              <a:latin typeface="Cambria Math" panose="02040503050406030204" pitchFamily="18" charset="0"/>
                            </a:rPr>
                            <m:t>𝜃</m:t>
                          </m:r>
                        </m:e>
                        <m:sub>
                          <m:r>
                            <a:rPr lang="it-IT" i="1">
                              <a:latin typeface="Cambria Math" panose="02040503050406030204" pitchFamily="18" charset="0"/>
                            </a:rPr>
                            <m:t>𝑐𝑜𝑟𝑟</m:t>
                          </m:r>
                        </m:sub>
                      </m:sSub>
                      <m:d>
                        <m:dPr>
                          <m:ctrlPr>
                            <a:rPr lang="it-IT" i="1">
                              <a:latin typeface="Cambria Math" panose="02040503050406030204" pitchFamily="18" charset="0"/>
                            </a:rPr>
                          </m:ctrlPr>
                        </m:dPr>
                        <m:e>
                          <m:r>
                            <a:rPr lang="it-IT" i="1">
                              <a:latin typeface="Cambria Math" panose="02040503050406030204" pitchFamily="18" charset="0"/>
                            </a:rPr>
                            <m:t>𝑥</m:t>
                          </m:r>
                          <m:r>
                            <a:rPr lang="it-IT" i="1">
                              <a:latin typeface="Cambria Math" panose="02040503050406030204" pitchFamily="18" charset="0"/>
                            </a:rPr>
                            <m:t>,</m:t>
                          </m:r>
                          <m:r>
                            <a:rPr lang="it-IT" i="1">
                              <a:latin typeface="Cambria Math" panose="02040503050406030204" pitchFamily="18" charset="0"/>
                            </a:rPr>
                            <m:t>𝑦</m:t>
                          </m:r>
                        </m:e>
                      </m:d>
                      <m: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𝜃</m:t>
                          </m:r>
                        </m:e>
                        <m:sub>
                          <m:r>
                            <a:rPr lang="it-IT" i="1">
                              <a:latin typeface="Cambria Math" panose="02040503050406030204" pitchFamily="18" charset="0"/>
                            </a:rPr>
                            <m:t>0</m:t>
                          </m:r>
                        </m:sub>
                      </m:sSub>
                      <m: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𝜏</m:t>
                          </m:r>
                        </m:e>
                        <m:sub>
                          <m:r>
                            <a:rPr lang="it-IT" i="1">
                              <a:latin typeface="Cambria Math" panose="02040503050406030204" pitchFamily="18" charset="0"/>
                            </a:rPr>
                            <m:t>𝑥</m:t>
                          </m:r>
                        </m:sub>
                      </m:sSub>
                      <m:r>
                        <a:rPr lang="it-IT" i="1">
                          <a:latin typeface="Cambria Math" panose="02040503050406030204" pitchFamily="18" charset="0"/>
                        </a:rPr>
                        <m:t>⋅</m:t>
                      </m:r>
                      <m:r>
                        <a:rPr lang="it-IT" i="1">
                          <a:latin typeface="Cambria Math" panose="02040503050406030204" pitchFamily="18" charset="0"/>
                        </a:rPr>
                        <m:t>𝑥</m:t>
                      </m:r>
                      <m: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𝜏</m:t>
                          </m:r>
                        </m:e>
                        <m:sub>
                          <m:r>
                            <a:rPr lang="it-IT" i="1">
                              <a:latin typeface="Cambria Math" panose="02040503050406030204" pitchFamily="18" charset="0"/>
                            </a:rPr>
                            <m:t>𝑦</m:t>
                          </m:r>
                        </m:sub>
                      </m:sSub>
                      <m:r>
                        <a:rPr lang="it-IT" i="1">
                          <a:latin typeface="Cambria Math" panose="02040503050406030204" pitchFamily="18" charset="0"/>
                        </a:rPr>
                        <m:t>⋅</m:t>
                      </m:r>
                      <m:r>
                        <a:rPr lang="it-IT" i="1">
                          <a:latin typeface="Cambria Math" panose="02040503050406030204" pitchFamily="18" charset="0"/>
                        </a:rPr>
                        <m:t>𝑦</m:t>
                      </m:r>
                      <m: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𝑝</m:t>
                          </m:r>
                        </m:e>
                        <m:sub>
                          <m:r>
                            <a:rPr lang="it-IT" i="1">
                              <a:latin typeface="Cambria Math" panose="02040503050406030204" pitchFamily="18" charset="0"/>
                            </a:rPr>
                            <m:t>3</m:t>
                          </m:r>
                        </m:sub>
                      </m:sSub>
                      <m:sSup>
                        <m:sSupPr>
                          <m:ctrlPr>
                            <a:rPr lang="it-IT" i="1">
                              <a:latin typeface="Cambria Math" panose="02040503050406030204" pitchFamily="18" charset="0"/>
                            </a:rPr>
                          </m:ctrlPr>
                        </m:sSupPr>
                        <m:e>
                          <m:r>
                            <a:rPr lang="it-IT" i="1">
                              <a:latin typeface="Cambria Math" panose="02040503050406030204" pitchFamily="18" charset="0"/>
                            </a:rPr>
                            <m:t>𝑦</m:t>
                          </m:r>
                        </m:e>
                        <m:sup>
                          <m:r>
                            <a:rPr lang="it-IT" i="1">
                              <a:latin typeface="Cambria Math" panose="02040503050406030204" pitchFamily="18" charset="0"/>
                            </a:rPr>
                            <m:t>2</m:t>
                          </m:r>
                        </m:sup>
                      </m:sSup>
                    </m:oMath>
                  </m:oMathPara>
                </a14:m>
                <a:endParaRPr lang="it-IT" dirty="0"/>
              </a:p>
              <a:p>
                <a:pPr marL="0" indent="0">
                  <a:buNone/>
                </a:pPr>
                <a:endParaRPr lang="it-IT" dirty="0"/>
              </a:p>
              <a:p>
                <a:pPr marL="0" indent="0">
                  <a:buNone/>
                </a:pPr>
                <a:r>
                  <a:rPr lang="en-US" dirty="0"/>
                  <a:t>Now we correct the effect of torsion using the parameter </a:t>
                </a: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𝜃</m:t>
                        </m:r>
                      </m:e>
                      <m:sub>
                        <m:r>
                          <a:rPr lang="it-IT" b="0" i="1" smtClean="0">
                            <a:latin typeface="Cambria Math" panose="02040503050406030204" pitchFamily="18" charset="0"/>
                          </a:rPr>
                          <m:t>0</m:t>
                        </m:r>
                      </m:sub>
                    </m:sSub>
                    <m:r>
                      <a:rPr lang="it-IT" i="1">
                        <a:latin typeface="Cambria Math" panose="02040503050406030204" pitchFamily="18" charset="0"/>
                      </a:rPr>
                      <m:t>(</m:t>
                    </m:r>
                    <m:r>
                      <a:rPr lang="it-IT" i="1">
                        <a:latin typeface="Cambria Math" panose="02040503050406030204" pitchFamily="18" charset="0"/>
                      </a:rPr>
                      <m:t>𝑥</m:t>
                    </m:r>
                    <m:r>
                      <a:rPr lang="it-IT" i="1">
                        <a:latin typeface="Cambria Math" panose="02040503050406030204" pitchFamily="18" charset="0"/>
                      </a:rPr>
                      <m:t>,</m:t>
                    </m:r>
                    <m:r>
                      <a:rPr lang="it-IT" i="1">
                        <a:latin typeface="Cambria Math" panose="02040503050406030204" pitchFamily="18" charset="0"/>
                      </a:rPr>
                      <m:t>𝑦</m:t>
                    </m:r>
                    <m:r>
                      <a:rPr lang="it-IT" i="1">
                        <a:latin typeface="Cambria Math" panose="02040503050406030204" pitchFamily="18" charset="0"/>
                      </a:rPr>
                      <m:t>)</m:t>
                    </m:r>
                  </m:oMath>
                </a14:m>
                <a:r>
                  <a:rPr lang="en-US" dirty="0"/>
                  <a:t> found for each bin:</a:t>
                </a:r>
              </a:p>
              <a:p>
                <a:pPr marL="0" indent="0" algn="ctr">
                  <a:buNone/>
                </a:pPr>
                <a:r>
                  <a:rPr lang="en-US" dirty="0"/>
                  <a:t>instead of the Lindhard cut </a:t>
                </a:r>
                <a14:m>
                  <m:oMath xmlns:m="http://schemas.openxmlformats.org/officeDocument/2006/math">
                    <m:sSub>
                      <m:sSubPr>
                        <m:ctrlPr>
                          <a:rPr lang="it-IT" i="1">
                            <a:latin typeface="Cambria Math" panose="02040503050406030204" pitchFamily="18" charset="0"/>
                          </a:rPr>
                        </m:ctrlPr>
                      </m:sSubPr>
                      <m:e>
                        <m:r>
                          <a:rPr lang="it-IT" i="1">
                            <a:latin typeface="Cambria Math" panose="02040503050406030204" pitchFamily="18" charset="0"/>
                          </a:rPr>
                          <m:t>|</m:t>
                        </m:r>
                        <m:r>
                          <a:rPr lang="it-IT" i="1">
                            <a:latin typeface="Cambria Math" panose="02040503050406030204" pitchFamily="18" charset="0"/>
                          </a:rPr>
                          <m:t>𝜃</m:t>
                        </m:r>
                      </m:e>
                      <m:sub>
                        <m:r>
                          <a:rPr lang="it-IT" i="1">
                            <a:latin typeface="Cambria Math" panose="02040503050406030204" pitchFamily="18" charset="0"/>
                          </a:rPr>
                          <m:t>𝑖𝑛</m:t>
                        </m:r>
                        <m:r>
                          <a:rPr lang="it-IT" i="1">
                            <a:latin typeface="Cambria Math" panose="02040503050406030204" pitchFamily="18" charset="0"/>
                          </a:rPr>
                          <m:t>,</m:t>
                        </m:r>
                        <m:r>
                          <a:rPr lang="it-IT" i="1">
                            <a:latin typeface="Cambria Math" panose="02040503050406030204" pitchFamily="18" charset="0"/>
                          </a:rPr>
                          <m:t>𝑥</m:t>
                        </m:r>
                      </m:sub>
                    </m:sSub>
                    <m:r>
                      <a:rPr lang="it-IT" i="1">
                        <a:latin typeface="Cambria Math" panose="02040503050406030204" pitchFamily="18" charset="0"/>
                      </a:rPr>
                      <m:t>|≤</m:t>
                    </m:r>
                    <m:f>
                      <m:fPr>
                        <m:ctrlPr>
                          <a:rPr lang="it-IT" i="1">
                            <a:latin typeface="Cambria Math" panose="02040503050406030204" pitchFamily="18" charset="0"/>
                          </a:rPr>
                        </m:ctrlPr>
                      </m:fPr>
                      <m:num>
                        <m:r>
                          <a:rPr lang="it-IT" i="1">
                            <a:latin typeface="Cambria Math" panose="02040503050406030204" pitchFamily="18" charset="0"/>
                          </a:rPr>
                          <m:t>1</m:t>
                        </m:r>
                      </m:num>
                      <m:den>
                        <m:r>
                          <a:rPr lang="it-IT" i="1">
                            <a:latin typeface="Cambria Math" panose="02040503050406030204" pitchFamily="18" charset="0"/>
                          </a:rPr>
                          <m:t>2</m:t>
                        </m:r>
                      </m:den>
                    </m:f>
                    <m:sSub>
                      <m:sSubPr>
                        <m:ctrlPr>
                          <a:rPr lang="it-IT" i="1">
                            <a:latin typeface="Cambria Math" panose="02040503050406030204" pitchFamily="18" charset="0"/>
                          </a:rPr>
                        </m:ctrlPr>
                      </m:sSubPr>
                      <m:e>
                        <m:r>
                          <a:rPr lang="it-IT" i="1">
                            <a:latin typeface="Cambria Math" panose="02040503050406030204" pitchFamily="18" charset="0"/>
                          </a:rPr>
                          <m:t>𝜃</m:t>
                        </m:r>
                      </m:e>
                      <m:sub>
                        <m:r>
                          <a:rPr lang="it-IT" i="1">
                            <a:latin typeface="Cambria Math" panose="02040503050406030204" pitchFamily="18" charset="0"/>
                          </a:rPr>
                          <m:t>𝐿</m:t>
                        </m:r>
                      </m:sub>
                    </m:sSub>
                  </m:oMath>
                </a14:m>
                <a:r>
                  <a:rPr lang="en-US" dirty="0"/>
                  <a:t> we will use</a:t>
                </a:r>
                <a:endParaRPr lang="it-IT" i="1" dirty="0">
                  <a:latin typeface="Cambria Math" panose="02040503050406030204" pitchFamily="18" charset="0"/>
                </a:endParaRPr>
              </a:p>
              <a:p>
                <a:pPr marL="0" indent="0" algn="ctr">
                  <a:buNone/>
                </a:pPr>
                <a14:m>
                  <m:oMath xmlns:m="http://schemas.openxmlformats.org/officeDocument/2006/math">
                    <m:d>
                      <m:dPr>
                        <m:begChr m:val="|"/>
                        <m:endChr m:val="|"/>
                        <m:ctrlPr>
                          <a:rPr lang="it-IT" i="1">
                            <a:latin typeface="Cambria Math" panose="02040503050406030204" pitchFamily="18" charset="0"/>
                          </a:rPr>
                        </m:ctrlPr>
                      </m:dPr>
                      <m:e>
                        <m:sSubSup>
                          <m:sSubSupPr>
                            <m:ctrlPr>
                              <a:rPr lang="it-IT" i="1">
                                <a:latin typeface="Cambria Math" panose="02040503050406030204" pitchFamily="18" charset="0"/>
                              </a:rPr>
                            </m:ctrlPr>
                          </m:sSubSupPr>
                          <m:e>
                            <m:r>
                              <a:rPr lang="it-IT" i="1">
                                <a:latin typeface="Cambria Math" panose="02040503050406030204" pitchFamily="18" charset="0"/>
                              </a:rPr>
                              <m:t>𝜃</m:t>
                            </m:r>
                          </m:e>
                          <m:sub>
                            <m:r>
                              <a:rPr lang="it-IT" i="1">
                                <a:latin typeface="Cambria Math" panose="02040503050406030204" pitchFamily="18" charset="0"/>
                              </a:rPr>
                              <m:t>𝑥</m:t>
                            </m:r>
                          </m:sub>
                          <m:sup>
                            <m:r>
                              <a:rPr lang="it-IT" i="1">
                                <a:latin typeface="Cambria Math" panose="02040503050406030204" pitchFamily="18" charset="0"/>
                              </a:rPr>
                              <m:t>𝑖𝑛</m:t>
                            </m:r>
                          </m:sup>
                        </m:sSubSup>
                        <m:r>
                          <a:rPr lang="it-IT" i="1">
                            <a:latin typeface="Cambria Math" panose="02040503050406030204" pitchFamily="18" charset="0"/>
                          </a:rPr>
                          <m:t>−</m:t>
                        </m:r>
                        <m:d>
                          <m:dPr>
                            <m:ctrlPr>
                              <a:rPr lang="it-IT" i="1">
                                <a:latin typeface="Cambria Math" panose="02040503050406030204" pitchFamily="18" charset="0"/>
                              </a:rPr>
                            </m:ctrlPr>
                          </m:dPr>
                          <m:e>
                            <m:sSubSup>
                              <m:sSubSupPr>
                                <m:ctrlPr>
                                  <a:rPr lang="it-IT" i="1">
                                    <a:latin typeface="Cambria Math" panose="02040503050406030204" pitchFamily="18" charset="0"/>
                                  </a:rPr>
                                </m:ctrlPr>
                              </m:sSubSupPr>
                              <m:e>
                                <m:r>
                                  <a:rPr lang="it-IT" i="1">
                                    <a:latin typeface="Cambria Math" panose="02040503050406030204" pitchFamily="18" charset="0"/>
                                  </a:rPr>
                                  <m:t>𝜃</m:t>
                                </m:r>
                              </m:e>
                              <m:sub>
                                <m:r>
                                  <a:rPr lang="it-IT" i="1">
                                    <a:latin typeface="Cambria Math" panose="02040503050406030204" pitchFamily="18" charset="0"/>
                                  </a:rPr>
                                  <m:t>𝑥</m:t>
                                </m:r>
                              </m:sub>
                              <m:sup>
                                <m:r>
                                  <a:rPr lang="it-IT" i="1">
                                    <a:latin typeface="Cambria Math" panose="02040503050406030204" pitchFamily="18" charset="0"/>
                                  </a:rPr>
                                  <m:t>𝑜𝑓𝑓</m:t>
                                </m:r>
                              </m:sup>
                            </m:sSubSup>
                            <m: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𝜏</m:t>
                                </m:r>
                              </m:e>
                              <m:sub>
                                <m:r>
                                  <a:rPr lang="it-IT" i="1">
                                    <a:latin typeface="Cambria Math" panose="02040503050406030204" pitchFamily="18" charset="0"/>
                                  </a:rPr>
                                  <m:t>𝑦</m:t>
                                </m:r>
                              </m:sub>
                            </m:sSub>
                            <m: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𝑑</m:t>
                                </m:r>
                              </m:e>
                              <m:sub>
                                <m:r>
                                  <a:rPr lang="it-IT" i="1">
                                    <a:latin typeface="Cambria Math" panose="02040503050406030204" pitchFamily="18" charset="0"/>
                                  </a:rPr>
                                  <m:t>𝑦</m:t>
                                </m:r>
                              </m:sub>
                            </m:sSub>
                            <m:r>
                              <a:rPr lang="it-IT" i="1">
                                <a:solidFill>
                                  <a:schemeClr val="bg1">
                                    <a:lumMod val="65000"/>
                                  </a:schemeClr>
                                </a:solidFill>
                                <a:latin typeface="Cambria Math" panose="02040503050406030204" pitchFamily="18" charset="0"/>
                              </a:rPr>
                              <m:t>+</m:t>
                            </m:r>
                            <m:sSub>
                              <m:sSubPr>
                                <m:ctrlPr>
                                  <a:rPr lang="it-IT" i="1">
                                    <a:solidFill>
                                      <a:schemeClr val="bg1">
                                        <a:lumMod val="65000"/>
                                      </a:schemeClr>
                                    </a:solidFill>
                                    <a:latin typeface="Cambria Math" panose="02040503050406030204" pitchFamily="18" charset="0"/>
                                  </a:rPr>
                                </m:ctrlPr>
                              </m:sSubPr>
                              <m:e>
                                <m:r>
                                  <a:rPr lang="it-IT" i="1">
                                    <a:solidFill>
                                      <a:schemeClr val="bg1">
                                        <a:lumMod val="65000"/>
                                      </a:schemeClr>
                                    </a:solidFill>
                                    <a:latin typeface="Cambria Math" panose="02040503050406030204" pitchFamily="18" charset="0"/>
                                  </a:rPr>
                                  <m:t>𝜏</m:t>
                                </m:r>
                              </m:e>
                              <m:sub>
                                <m:r>
                                  <a:rPr lang="it-IT" i="1">
                                    <a:solidFill>
                                      <a:schemeClr val="bg1">
                                        <a:lumMod val="65000"/>
                                      </a:schemeClr>
                                    </a:solidFill>
                                    <a:latin typeface="Cambria Math" panose="02040503050406030204" pitchFamily="18" charset="0"/>
                                  </a:rPr>
                                  <m:t>𝑥</m:t>
                                </m:r>
                              </m:sub>
                            </m:sSub>
                            <m:r>
                              <a:rPr lang="it-IT" i="1">
                                <a:solidFill>
                                  <a:schemeClr val="bg1">
                                    <a:lumMod val="65000"/>
                                  </a:schemeClr>
                                </a:solidFill>
                                <a:latin typeface="Cambria Math" panose="02040503050406030204" pitchFamily="18" charset="0"/>
                              </a:rPr>
                              <m:t>⋅</m:t>
                            </m:r>
                            <m:sSub>
                              <m:sSubPr>
                                <m:ctrlPr>
                                  <a:rPr lang="it-IT" i="1">
                                    <a:solidFill>
                                      <a:schemeClr val="bg1">
                                        <a:lumMod val="65000"/>
                                      </a:schemeClr>
                                    </a:solidFill>
                                    <a:latin typeface="Cambria Math" panose="02040503050406030204" pitchFamily="18" charset="0"/>
                                  </a:rPr>
                                </m:ctrlPr>
                              </m:sSubPr>
                              <m:e>
                                <m:r>
                                  <a:rPr lang="it-IT" i="1">
                                    <a:solidFill>
                                      <a:schemeClr val="bg1">
                                        <a:lumMod val="65000"/>
                                      </a:schemeClr>
                                    </a:solidFill>
                                    <a:latin typeface="Cambria Math" panose="02040503050406030204" pitchFamily="18" charset="0"/>
                                  </a:rPr>
                                  <m:t>𝑑</m:t>
                                </m:r>
                              </m:e>
                              <m:sub>
                                <m:r>
                                  <a:rPr lang="it-IT" i="1">
                                    <a:solidFill>
                                      <a:schemeClr val="bg1">
                                        <a:lumMod val="65000"/>
                                      </a:schemeClr>
                                    </a:solidFill>
                                    <a:latin typeface="Cambria Math" panose="02040503050406030204" pitchFamily="18" charset="0"/>
                                  </a:rPr>
                                  <m:t>𝑥</m:t>
                                </m:r>
                              </m:sub>
                            </m:sSub>
                          </m:e>
                        </m:d>
                      </m:e>
                    </m:d>
                    <m:r>
                      <a:rPr lang="it-IT" i="1">
                        <a:latin typeface="Cambria Math" panose="02040503050406030204" pitchFamily="18" charset="0"/>
                      </a:rPr>
                      <m:t>≤</m:t>
                    </m:r>
                    <m:f>
                      <m:fPr>
                        <m:ctrlPr>
                          <a:rPr lang="it-IT" i="1">
                            <a:latin typeface="Cambria Math" panose="02040503050406030204" pitchFamily="18" charset="0"/>
                          </a:rPr>
                        </m:ctrlPr>
                      </m:fPr>
                      <m:num>
                        <m:r>
                          <a:rPr lang="it-IT" i="1">
                            <a:latin typeface="Cambria Math" panose="02040503050406030204" pitchFamily="18" charset="0"/>
                          </a:rPr>
                          <m:t>1</m:t>
                        </m:r>
                      </m:num>
                      <m:den>
                        <m:r>
                          <a:rPr lang="it-IT" i="1">
                            <a:latin typeface="Cambria Math" panose="02040503050406030204" pitchFamily="18" charset="0"/>
                          </a:rPr>
                          <m:t>2</m:t>
                        </m:r>
                      </m:den>
                    </m:f>
                    <m:sSub>
                      <m:sSubPr>
                        <m:ctrlPr>
                          <a:rPr lang="it-IT" i="1">
                            <a:latin typeface="Cambria Math" panose="02040503050406030204" pitchFamily="18" charset="0"/>
                          </a:rPr>
                        </m:ctrlPr>
                      </m:sSubPr>
                      <m:e>
                        <m:r>
                          <a:rPr lang="it-IT" i="1">
                            <a:latin typeface="Cambria Math" panose="02040503050406030204" pitchFamily="18" charset="0"/>
                          </a:rPr>
                          <m:t>𝜃</m:t>
                        </m:r>
                      </m:e>
                      <m:sub>
                        <m:r>
                          <a:rPr lang="it-IT" i="1">
                            <a:latin typeface="Cambria Math" panose="02040503050406030204" pitchFamily="18" charset="0"/>
                          </a:rPr>
                          <m:t>𝐿</m:t>
                        </m:r>
                      </m:sub>
                    </m:sSub>
                  </m:oMath>
                </a14:m>
                <a:r>
                  <a:rPr lang="en-US" dirty="0"/>
                  <a:t> </a:t>
                </a:r>
              </a:p>
              <a:p>
                <a:pPr marL="0" indent="0">
                  <a:buNone/>
                </a:pPr>
                <a:endParaRPr lang="it-IT" dirty="0"/>
              </a:p>
            </p:txBody>
          </p:sp>
        </mc:Choice>
        <mc:Fallback>
          <p:sp>
            <p:nvSpPr>
              <p:cNvPr id="3" name="Segnaposto contenuto 2">
                <a:extLst>
                  <a:ext uri="{FF2B5EF4-FFF2-40B4-BE49-F238E27FC236}">
                    <a16:creationId xmlns:a16="http://schemas.microsoft.com/office/drawing/2014/main" id="{8CB05CB6-18C8-AD14-0450-7E39FC76E19B}"/>
                  </a:ext>
                </a:extLst>
              </p:cNvPr>
              <p:cNvSpPr>
                <a:spLocks noGrp="1" noRot="1" noChangeAspect="1" noMove="1" noResize="1" noEditPoints="1" noAdjustHandles="1" noChangeArrowheads="1" noChangeShapeType="1" noTextEdit="1"/>
              </p:cNvSpPr>
              <p:nvPr>
                <p:ph idx="1"/>
              </p:nvPr>
            </p:nvSpPr>
            <p:spPr>
              <a:xfrm>
                <a:off x="838200" y="1401288"/>
                <a:ext cx="10515600" cy="4929964"/>
              </a:xfrm>
              <a:blipFill>
                <a:blip r:embed="rId3"/>
                <a:stretch>
                  <a:fillRect l="-1043"/>
                </a:stretch>
              </a:blipFill>
            </p:spPr>
            <p:txBody>
              <a:bodyPr/>
              <a:lstStyle/>
              <a:p>
                <a:r>
                  <a:rPr lang="it-IT">
                    <a:noFill/>
                  </a:rPr>
                  <a:t> </a:t>
                </a:r>
              </a:p>
            </p:txBody>
          </p:sp>
        </mc:Fallback>
      </mc:AlternateContent>
      <p:sp>
        <p:nvSpPr>
          <p:cNvPr id="4" name="Segnaposto data 3">
            <a:extLst>
              <a:ext uri="{FF2B5EF4-FFF2-40B4-BE49-F238E27FC236}">
                <a16:creationId xmlns:a16="http://schemas.microsoft.com/office/drawing/2014/main" id="{0FBA471C-F0EE-5F04-A29E-E0CB002E4942}"/>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58ABB026-FA86-A760-183A-FE10D536EF3B}"/>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77FD25C1-5937-F4CD-E5E1-898A8851E179}"/>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23</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B2A6038D-432C-2F4A-7030-A075D3CF4C2B}"/>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CasellaDiTesto 12">
            <a:extLst>
              <a:ext uri="{FF2B5EF4-FFF2-40B4-BE49-F238E27FC236}">
                <a16:creationId xmlns:a16="http://schemas.microsoft.com/office/drawing/2014/main" id="{D6ECE314-D833-6651-B033-28F4F1798FAC}"/>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15" name="CasellaDiTesto 14">
            <a:extLst>
              <a:ext uri="{FF2B5EF4-FFF2-40B4-BE49-F238E27FC236}">
                <a16:creationId xmlns:a16="http://schemas.microsoft.com/office/drawing/2014/main" id="{E4B96A90-5280-D2F9-54F4-EC33C69AA886}"/>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8" name="Titolo 1">
            <a:extLst>
              <a:ext uri="{FF2B5EF4-FFF2-40B4-BE49-F238E27FC236}">
                <a16:creationId xmlns:a16="http://schemas.microsoft.com/office/drawing/2014/main" id="{740B1A72-9455-287D-DECF-5E6F95D0EE2E}"/>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BACKUP SLIDE</a:t>
            </a:r>
            <a:endParaRPr lang="it-IT" sz="2000" b="1" i="1" dirty="0">
              <a:solidFill>
                <a:srgbClr val="002060"/>
              </a:solidFill>
              <a:ea typeface="Calibri" panose="020F0502020204030204" pitchFamily="34" charset="0"/>
              <a:cs typeface="Calibri" panose="020F0502020204030204" pitchFamily="34" charset="0"/>
            </a:endParaRPr>
          </a:p>
        </p:txBody>
      </p:sp>
      <p:pic>
        <p:nvPicPr>
          <p:cNvPr id="12" name="Immagine 7">
            <a:extLst>
              <a:ext uri="{FF2B5EF4-FFF2-40B4-BE49-F238E27FC236}">
                <a16:creationId xmlns:a16="http://schemas.microsoft.com/office/drawing/2014/main" id="{2FA6EA3C-6EC2-380D-171B-F258E4E6CBBD}"/>
              </a:ext>
            </a:extLst>
          </p:cNvPr>
          <p:cNvPicPr>
            <a:picLocks noChangeAspect="1"/>
          </p:cNvPicPr>
          <p:nvPr/>
        </p:nvPicPr>
        <p:blipFill>
          <a:blip r:embed="rId4">
            <a:extLst>
              <a:ext uri="{28A0092B-C50C-407E-A947-70E740481C1C}">
                <a14:useLocalDpi xmlns:a14="http://schemas.microsoft.com/office/drawing/2010/main" val="0"/>
              </a:ext>
            </a:extLst>
          </a:blip>
          <a:srcRect l="227" t="6850" r="10040" b="1950"/>
          <a:stretch>
            <a:fillRect/>
          </a:stretch>
        </p:blipFill>
        <p:spPr>
          <a:xfrm>
            <a:off x="8963964" y="2536372"/>
            <a:ext cx="2389836" cy="1959552"/>
          </a:xfrm>
          <a:prstGeom prst="rect">
            <a:avLst/>
          </a:prstGeom>
        </p:spPr>
      </p:pic>
      <p:pic>
        <p:nvPicPr>
          <p:cNvPr id="16" name="Immagine 6">
            <a:extLst>
              <a:ext uri="{FF2B5EF4-FFF2-40B4-BE49-F238E27FC236}">
                <a16:creationId xmlns:a16="http://schemas.microsoft.com/office/drawing/2014/main" id="{4CFFF36D-29E8-A80D-1E20-BE73617832F8}"/>
              </a:ext>
            </a:extLst>
          </p:cNvPr>
          <p:cNvPicPr>
            <a:picLocks noChangeAspect="1"/>
          </p:cNvPicPr>
          <p:nvPr/>
        </p:nvPicPr>
        <p:blipFill>
          <a:blip r:embed="rId5">
            <a:extLst>
              <a:ext uri="{28A0092B-C50C-407E-A947-70E740481C1C}">
                <a14:useLocalDpi xmlns:a14="http://schemas.microsoft.com/office/drawing/2010/main" val="0"/>
              </a:ext>
            </a:extLst>
          </a:blip>
          <a:srcRect t="7880"/>
          <a:stretch>
            <a:fillRect/>
          </a:stretch>
        </p:blipFill>
        <p:spPr>
          <a:xfrm>
            <a:off x="3273853" y="1363969"/>
            <a:ext cx="2614998" cy="1800000"/>
          </a:xfrm>
          <a:prstGeom prst="rect">
            <a:avLst/>
          </a:prstGeom>
        </p:spPr>
      </p:pic>
      <p:pic>
        <p:nvPicPr>
          <p:cNvPr id="18" name="Segnaposto contenuto 9">
            <a:extLst>
              <a:ext uri="{FF2B5EF4-FFF2-40B4-BE49-F238E27FC236}">
                <a16:creationId xmlns:a16="http://schemas.microsoft.com/office/drawing/2014/main" id="{4EDDF7DA-5323-30FC-99AD-298DDC7FFCBB}"/>
              </a:ext>
            </a:extLst>
          </p:cNvPr>
          <p:cNvPicPr>
            <a:picLocks noChangeAspect="1"/>
          </p:cNvPicPr>
          <p:nvPr/>
        </p:nvPicPr>
        <p:blipFill>
          <a:blip r:embed="rId6">
            <a:extLst>
              <a:ext uri="{28A0092B-C50C-407E-A947-70E740481C1C}">
                <a14:useLocalDpi xmlns:a14="http://schemas.microsoft.com/office/drawing/2010/main" val="0"/>
              </a:ext>
            </a:extLst>
          </a:blip>
          <a:srcRect t="7880"/>
          <a:stretch>
            <a:fillRect/>
          </a:stretch>
        </p:blipFill>
        <p:spPr>
          <a:xfrm>
            <a:off x="5995602" y="1376191"/>
            <a:ext cx="2614998" cy="1800000"/>
          </a:xfrm>
          <a:prstGeom prst="rect">
            <a:avLst/>
          </a:prstGeom>
        </p:spPr>
      </p:pic>
    </p:spTree>
    <p:extLst>
      <p:ext uri="{BB962C8B-B14F-4D97-AF65-F5344CB8AC3E}">
        <p14:creationId xmlns:p14="http://schemas.microsoft.com/office/powerpoint/2010/main" val="7952500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2309F-6E05-F667-14F8-EAA07050308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D942CA6-F172-2F55-ECB0-5D3E5C8DF012}"/>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en-US" sz="4000" b="1" dirty="0">
                <a:solidFill>
                  <a:srgbClr val="002060"/>
                </a:solidFill>
              </a:rPr>
              <a:t>	ANOMALOUS RUN 8650</a:t>
            </a:r>
            <a:endParaRPr lang="it-IT" sz="4000" b="1" dirty="0">
              <a:solidFill>
                <a:srgbClr val="002060"/>
              </a:solidFill>
            </a:endParaRPr>
          </a:p>
        </p:txBody>
      </p:sp>
      <mc:AlternateContent xmlns:mc="http://schemas.openxmlformats.org/markup-compatibility/2006">
        <mc:Choice xmlns:a14="http://schemas.microsoft.com/office/drawing/2010/main" Requires="a14">
          <p:sp>
            <p:nvSpPr>
              <p:cNvPr id="3" name="Segnaposto contenuto 2">
                <a:extLst>
                  <a:ext uri="{FF2B5EF4-FFF2-40B4-BE49-F238E27FC236}">
                    <a16:creationId xmlns:a16="http://schemas.microsoft.com/office/drawing/2014/main" id="{186CC956-69A6-1407-AB8B-30EA49A19D6E}"/>
                  </a:ext>
                </a:extLst>
              </p:cNvPr>
              <p:cNvSpPr>
                <a:spLocks noGrp="1"/>
              </p:cNvSpPr>
              <p:nvPr>
                <p:ph idx="1"/>
              </p:nvPr>
            </p:nvSpPr>
            <p:spPr>
              <a:xfrm>
                <a:off x="838200" y="1401288"/>
                <a:ext cx="10515600" cy="4929964"/>
              </a:xfrm>
            </p:spPr>
            <p:txBody>
              <a:bodyPr>
                <a:normAutofit/>
              </a:bodyPr>
              <a:lstStyle/>
              <a:p>
                <a:pPr marL="0" indent="0">
                  <a:buNone/>
                </a:pPr>
                <a:r>
                  <a:rPr lang="en-US" dirty="0"/>
                  <a:t>Due to an issue, the run was taken at 150 GeV instead of 180 GeV.</a:t>
                </a:r>
              </a:p>
              <a:p>
                <a:pPr marL="0" indent="0">
                  <a:buNone/>
                </a:pPr>
                <a:endParaRPr lang="en-US" dirty="0"/>
              </a:p>
              <a:p>
                <a:r>
                  <a:rPr lang="en-US" dirty="0"/>
                  <a:t>Wider channeling peak</a:t>
                </a:r>
              </a:p>
              <a:p>
                <a:pPr lvl="1"/>
                <a:r>
                  <a:rPr lang="en-US" dirty="0"/>
                  <a:t>More multiple scattering </a:t>
                </a: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𝑝</m:t>
                    </m:r>
                    <m:r>
                      <a:rPr lang="en-US" b="0" i="1" smtClean="0">
                        <a:latin typeface="Cambria Math" panose="02040503050406030204" pitchFamily="18" charset="0"/>
                      </a:rPr>
                      <m:t>)</m:t>
                    </m:r>
                  </m:oMath>
                </a14:m>
                <a:endParaRPr lang="en-US" dirty="0"/>
              </a:p>
              <a:p>
                <a:r>
                  <a:rPr lang="en-US" dirty="0"/>
                  <a:t>Lower efficiency</a:t>
                </a:r>
              </a:p>
              <a:p>
                <a:pPr lvl="1"/>
                <a:r>
                  <a:rPr lang="en-US" dirty="0"/>
                  <a:t>De-channeling more likely at lower energies</a:t>
                </a:r>
              </a:p>
              <a:p>
                <a:r>
                  <a:rPr lang="en-US" dirty="0"/>
                  <a:t>Larger critical Lindhard angle </a:t>
                </a:r>
              </a:p>
            </p:txBody>
          </p:sp>
        </mc:Choice>
        <mc:Fallback>
          <p:sp>
            <p:nvSpPr>
              <p:cNvPr id="3" name="Segnaposto contenuto 2">
                <a:extLst>
                  <a:ext uri="{FF2B5EF4-FFF2-40B4-BE49-F238E27FC236}">
                    <a16:creationId xmlns:a16="http://schemas.microsoft.com/office/drawing/2014/main" id="{186CC956-69A6-1407-AB8B-30EA49A19D6E}"/>
                  </a:ext>
                </a:extLst>
              </p:cNvPr>
              <p:cNvSpPr>
                <a:spLocks noGrp="1" noRot="1" noChangeAspect="1" noMove="1" noResize="1" noEditPoints="1" noAdjustHandles="1" noChangeArrowheads="1" noChangeShapeType="1" noTextEdit="1"/>
              </p:cNvSpPr>
              <p:nvPr>
                <p:ph idx="1"/>
              </p:nvPr>
            </p:nvSpPr>
            <p:spPr>
              <a:xfrm>
                <a:off x="838200" y="1401288"/>
                <a:ext cx="10515600" cy="4929964"/>
              </a:xfrm>
              <a:blipFill>
                <a:blip r:embed="rId3"/>
                <a:stretch>
                  <a:fillRect l="-1217" t="-2225"/>
                </a:stretch>
              </a:blipFill>
            </p:spPr>
            <p:txBody>
              <a:bodyPr/>
              <a:lstStyle/>
              <a:p>
                <a:r>
                  <a:rPr lang="it-IT">
                    <a:noFill/>
                  </a:rPr>
                  <a:t> </a:t>
                </a:r>
              </a:p>
            </p:txBody>
          </p:sp>
        </mc:Fallback>
      </mc:AlternateContent>
      <p:sp>
        <p:nvSpPr>
          <p:cNvPr id="4" name="Segnaposto data 3">
            <a:extLst>
              <a:ext uri="{FF2B5EF4-FFF2-40B4-BE49-F238E27FC236}">
                <a16:creationId xmlns:a16="http://schemas.microsoft.com/office/drawing/2014/main" id="{65BC57B7-D774-D984-360D-D88BA07E09C4}"/>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76EB6265-206E-76F8-875C-7B66465CD77C}"/>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731CF861-0A65-29DE-2F43-6BE126A3F4E4}"/>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24</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0C26D3BA-E6E5-AEC4-4905-A18CD9653680}"/>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CasellaDiTesto 12">
            <a:extLst>
              <a:ext uri="{FF2B5EF4-FFF2-40B4-BE49-F238E27FC236}">
                <a16:creationId xmlns:a16="http://schemas.microsoft.com/office/drawing/2014/main" id="{098BAF2E-CB50-B6B5-7C3A-E2481C8E2ADB}"/>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15" name="CasellaDiTesto 14">
            <a:extLst>
              <a:ext uri="{FF2B5EF4-FFF2-40B4-BE49-F238E27FC236}">
                <a16:creationId xmlns:a16="http://schemas.microsoft.com/office/drawing/2014/main" id="{6B8DA642-668C-A4A2-A213-5B8DD3966DCF}"/>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8" name="Titolo 1">
            <a:extLst>
              <a:ext uri="{FF2B5EF4-FFF2-40B4-BE49-F238E27FC236}">
                <a16:creationId xmlns:a16="http://schemas.microsoft.com/office/drawing/2014/main" id="{F7D004A7-724C-CDEA-7A8E-EB98B7493C6A}"/>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BACKUP SLIDE</a:t>
            </a:r>
            <a:endParaRPr lang="it-IT" sz="2000" b="1" i="1" dirty="0">
              <a:solidFill>
                <a:srgbClr val="002060"/>
              </a:solidFill>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4930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39A26-B793-2D85-3CAD-E2D79658EF2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DF88687-BF13-F647-4364-E442CA10987C}"/>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it-IT" sz="4000" b="1" dirty="0">
                <a:solidFill>
                  <a:srgbClr val="002060"/>
                </a:solidFill>
              </a:rPr>
              <a:t>	ANGLE SELECTION</a:t>
            </a:r>
          </a:p>
        </p:txBody>
      </p:sp>
      <p:sp>
        <p:nvSpPr>
          <p:cNvPr id="4" name="Segnaposto data 3">
            <a:extLst>
              <a:ext uri="{FF2B5EF4-FFF2-40B4-BE49-F238E27FC236}">
                <a16:creationId xmlns:a16="http://schemas.microsoft.com/office/drawing/2014/main" id="{A2385FB3-6561-5C04-3B4A-79D0186CC22A}"/>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C1AACA59-250E-7219-30FF-8FCF7919E8F3}"/>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6550E125-E034-E05A-7A7B-63CD2B3E507A}"/>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25</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CDCFE4DC-AED6-5073-176B-DAA7D9E6B258}"/>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CasellaDiTesto 12">
            <a:extLst>
              <a:ext uri="{FF2B5EF4-FFF2-40B4-BE49-F238E27FC236}">
                <a16:creationId xmlns:a16="http://schemas.microsoft.com/office/drawing/2014/main" id="{3766DD3B-A09B-2B03-760F-4FD2350D7465}"/>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15" name="CasellaDiTesto 14">
            <a:extLst>
              <a:ext uri="{FF2B5EF4-FFF2-40B4-BE49-F238E27FC236}">
                <a16:creationId xmlns:a16="http://schemas.microsoft.com/office/drawing/2014/main" id="{CCB820BB-33C0-FD49-8310-C67C15646B1F}"/>
              </a:ext>
            </a:extLst>
          </p:cNvPr>
          <p:cNvSpPr txBox="1"/>
          <p:nvPr/>
        </p:nvSpPr>
        <p:spPr>
          <a:xfrm>
            <a:off x="3048886" y="3244334"/>
            <a:ext cx="6097772" cy="369332"/>
          </a:xfrm>
          <a:prstGeom prst="rect">
            <a:avLst/>
          </a:prstGeom>
          <a:noFill/>
        </p:spPr>
        <p:txBody>
          <a:bodyPr wrap="square">
            <a:spAutoFit/>
          </a:bodyPr>
          <a:lstStyle/>
          <a:p>
            <a:endParaRPr lang="it-IT" dirty="0"/>
          </a:p>
        </p:txBody>
      </p:sp>
      <p:pic>
        <p:nvPicPr>
          <p:cNvPr id="7" name="Immagine 6">
            <a:extLst>
              <a:ext uri="{FF2B5EF4-FFF2-40B4-BE49-F238E27FC236}">
                <a16:creationId xmlns:a16="http://schemas.microsoft.com/office/drawing/2014/main" id="{1BBF9FFD-F79D-AA1B-DF5A-87466EEE68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88750" y="1222745"/>
            <a:ext cx="8432572" cy="5253769"/>
          </a:xfrm>
          <a:prstGeom prst="rect">
            <a:avLst/>
          </a:prstGeom>
        </p:spPr>
      </p:pic>
      <p:grpSp>
        <p:nvGrpSpPr>
          <p:cNvPr id="8" name="Gruppo 7">
            <a:extLst>
              <a:ext uri="{FF2B5EF4-FFF2-40B4-BE49-F238E27FC236}">
                <a16:creationId xmlns:a16="http://schemas.microsoft.com/office/drawing/2014/main" id="{33CB32C7-0FCA-E3A2-3F6E-CA232C9F465D}"/>
              </a:ext>
            </a:extLst>
          </p:cNvPr>
          <p:cNvGrpSpPr/>
          <p:nvPr/>
        </p:nvGrpSpPr>
        <p:grpSpPr>
          <a:xfrm>
            <a:off x="5650030" y="1568918"/>
            <a:ext cx="1822739" cy="567891"/>
            <a:chOff x="4340994" y="1588168"/>
            <a:chExt cx="1822739" cy="567891"/>
          </a:xfrm>
        </p:grpSpPr>
        <p:cxnSp>
          <p:nvCxnSpPr>
            <p:cNvPr id="9" name="Connettore 2 8">
              <a:extLst>
                <a:ext uri="{FF2B5EF4-FFF2-40B4-BE49-F238E27FC236}">
                  <a16:creationId xmlns:a16="http://schemas.microsoft.com/office/drawing/2014/main" id="{D8CF927E-5FAC-04F9-9C12-62E9DAC2A3CC}"/>
                </a:ext>
              </a:extLst>
            </p:cNvPr>
            <p:cNvCxnSpPr/>
            <p:nvPr/>
          </p:nvCxnSpPr>
          <p:spPr>
            <a:xfrm flipH="1">
              <a:off x="4340994" y="1876926"/>
              <a:ext cx="625642" cy="192506"/>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 name="Rettangolo con angoli arrotondati 10">
                  <a:extLst>
                    <a:ext uri="{FF2B5EF4-FFF2-40B4-BE49-F238E27FC236}">
                      <a16:creationId xmlns:a16="http://schemas.microsoft.com/office/drawing/2014/main" id="{BB4D091A-960D-5AFF-1B6D-37F1F84E8EA1}"/>
                    </a:ext>
                  </a:extLst>
                </p:cNvPr>
                <p:cNvSpPr/>
                <p:nvPr/>
              </p:nvSpPr>
              <p:spPr>
                <a:xfrm>
                  <a:off x="4966636" y="1588168"/>
                  <a:ext cx="1197097" cy="567891"/>
                </a:xfrm>
                <a:prstGeom prst="roundRect">
                  <a:avLst/>
                </a:prstGeom>
                <a:solidFill>
                  <a:schemeClr val="bg1"/>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it-IT" b="0" i="1" smtClean="0">
                          <a:solidFill>
                            <a:schemeClr val="tx1"/>
                          </a:solidFill>
                          <a:latin typeface="Cambria Math" panose="02040503050406030204" pitchFamily="18" charset="0"/>
                        </a:rPr>
                        <m:t>±</m:t>
                      </m:r>
                      <m:f>
                        <m:fPr>
                          <m:ctrlPr>
                            <a:rPr lang="it-IT" b="0" i="1" smtClean="0">
                              <a:solidFill>
                                <a:schemeClr val="tx1"/>
                              </a:solidFill>
                              <a:latin typeface="Cambria Math" panose="02040503050406030204" pitchFamily="18" charset="0"/>
                            </a:rPr>
                          </m:ctrlPr>
                        </m:fPr>
                        <m:num>
                          <m:r>
                            <a:rPr lang="it-IT" b="0" i="1" smtClean="0">
                              <a:solidFill>
                                <a:schemeClr val="tx1"/>
                              </a:solidFill>
                              <a:latin typeface="Cambria Math" panose="02040503050406030204" pitchFamily="18" charset="0"/>
                            </a:rPr>
                            <m:t>1</m:t>
                          </m:r>
                        </m:num>
                        <m:den>
                          <m:r>
                            <a:rPr lang="it-IT" b="0" i="1" smtClean="0">
                              <a:solidFill>
                                <a:schemeClr val="tx1"/>
                              </a:solidFill>
                              <a:latin typeface="Cambria Math" panose="02040503050406030204" pitchFamily="18" charset="0"/>
                            </a:rPr>
                            <m:t>2</m:t>
                          </m:r>
                        </m:den>
                      </m:f>
                      <m:sSub>
                        <m:sSubPr>
                          <m:ctrlPr>
                            <a:rPr lang="it-IT" b="0" i="1" smtClean="0">
                              <a:solidFill>
                                <a:schemeClr val="tx1"/>
                              </a:solidFill>
                              <a:latin typeface="Cambria Math" panose="02040503050406030204" pitchFamily="18" charset="0"/>
                            </a:rPr>
                          </m:ctrlPr>
                        </m:sSubPr>
                        <m:e>
                          <m:r>
                            <a:rPr lang="it-IT" b="0" i="1" smtClean="0">
                              <a:solidFill>
                                <a:schemeClr val="tx1"/>
                              </a:solidFill>
                              <a:latin typeface="Cambria Math" panose="02040503050406030204" pitchFamily="18" charset="0"/>
                            </a:rPr>
                            <m:t>𝜃</m:t>
                          </m:r>
                        </m:e>
                        <m:sub>
                          <m:r>
                            <a:rPr lang="it-IT" b="0" i="1" smtClean="0">
                              <a:solidFill>
                                <a:schemeClr val="tx1"/>
                              </a:solidFill>
                              <a:latin typeface="Cambria Math" panose="02040503050406030204" pitchFamily="18" charset="0"/>
                            </a:rPr>
                            <m:t>𝐿</m:t>
                          </m:r>
                        </m:sub>
                      </m:sSub>
                    </m:oMath>
                  </a14:m>
                  <a:r>
                    <a:rPr lang="it-IT" dirty="0">
                      <a:solidFill>
                        <a:schemeClr val="tx1"/>
                      </a:solidFill>
                    </a:rPr>
                    <a:t> cut</a:t>
                  </a:r>
                </a:p>
              </p:txBody>
            </p:sp>
          </mc:Choice>
          <mc:Fallback xmlns="">
            <p:sp>
              <p:nvSpPr>
                <p:cNvPr id="11" name="Rettangolo con angoli arrotondati 10">
                  <a:extLst>
                    <a:ext uri="{FF2B5EF4-FFF2-40B4-BE49-F238E27FC236}">
                      <a16:creationId xmlns:a16="http://schemas.microsoft.com/office/drawing/2014/main" id="{BB4D091A-960D-5AFF-1B6D-37F1F84E8EA1}"/>
                    </a:ext>
                  </a:extLst>
                </p:cNvPr>
                <p:cNvSpPr>
                  <a:spLocks noRot="1" noChangeAspect="1" noMove="1" noResize="1" noEditPoints="1" noAdjustHandles="1" noChangeArrowheads="1" noChangeShapeType="1" noTextEdit="1"/>
                </p:cNvSpPr>
                <p:nvPr/>
              </p:nvSpPr>
              <p:spPr>
                <a:xfrm>
                  <a:off x="4966636" y="1588168"/>
                  <a:ext cx="1197097" cy="567891"/>
                </a:xfrm>
                <a:prstGeom prst="roundRect">
                  <a:avLst/>
                </a:prstGeom>
                <a:blipFill>
                  <a:blip r:embed="rId4"/>
                  <a:stretch>
                    <a:fillRect/>
                  </a:stretch>
                </a:blipFill>
                <a:ln w="38100">
                  <a:solidFill>
                    <a:srgbClr val="FF0000"/>
                  </a:solidFill>
                </a:ln>
              </p:spPr>
              <p:txBody>
                <a:bodyPr/>
                <a:lstStyle/>
                <a:p>
                  <a:r>
                    <a:rPr lang="it-IT">
                      <a:noFill/>
                    </a:rPr>
                    <a:t> </a:t>
                  </a:r>
                </a:p>
              </p:txBody>
            </p:sp>
          </mc:Fallback>
        </mc:AlternateContent>
      </p:grpSp>
      <mc:AlternateContent xmlns:mc="http://schemas.openxmlformats.org/markup-compatibility/2006" xmlns:a14="http://schemas.microsoft.com/office/drawing/2010/main">
        <mc:Choice Requires="a14">
          <p:sp>
            <p:nvSpPr>
              <p:cNvPr id="12" name="CasellaDiTesto 11">
                <a:extLst>
                  <a:ext uri="{FF2B5EF4-FFF2-40B4-BE49-F238E27FC236}">
                    <a16:creationId xmlns:a16="http://schemas.microsoft.com/office/drawing/2014/main" id="{A8798A75-C305-1750-5F2B-933C372D6414}"/>
                  </a:ext>
                </a:extLst>
              </p:cNvPr>
              <p:cNvSpPr txBox="1"/>
              <p:nvPr/>
            </p:nvSpPr>
            <p:spPr>
              <a:xfrm>
                <a:off x="696000" y="2269944"/>
                <a:ext cx="2601609" cy="3296928"/>
              </a:xfrm>
              <a:prstGeom prst="rect">
                <a:avLst/>
              </a:prstGeom>
              <a:noFill/>
            </p:spPr>
            <p:txBody>
              <a:bodyPr wrap="square" rtlCol="0">
                <a:spAutoFit/>
              </a:bodyPr>
              <a:lstStyle/>
              <a:p>
                <a:r>
                  <a:rPr lang="it-IT" sz="2000" dirty="0"/>
                  <a:t>For </a:t>
                </a:r>
                <a:r>
                  <a:rPr lang="it-IT" sz="2000" dirty="0" err="1"/>
                  <a:t>each</a:t>
                </a:r>
                <a:r>
                  <a:rPr lang="it-IT" sz="2000" dirty="0"/>
                  <a:t> </a:t>
                </a:r>
                <a:r>
                  <a:rPr lang="it-IT" sz="2000" dirty="0" err="1"/>
                  <a:t>square</a:t>
                </a:r>
                <a:r>
                  <a:rPr lang="it-IT" sz="2000" dirty="0"/>
                  <a:t> bin:</a:t>
                </a:r>
              </a:p>
              <a:p>
                <a:endParaRPr lang="it-IT" sz="2000" dirty="0"/>
              </a:p>
              <a:p>
                <a:pPr marL="342900" indent="-342900">
                  <a:buFont typeface="Arial" panose="020B0604020202020204" pitchFamily="34" charset="0"/>
                  <a:buChar char="•"/>
                </a:pPr>
                <a:r>
                  <a:rPr lang="it-IT" sz="2000" dirty="0"/>
                  <a:t>variation of </a:t>
                </a:r>
                <a14:m>
                  <m:oMath xmlns:m="http://schemas.openxmlformats.org/officeDocument/2006/math">
                    <m:sSub>
                      <m:sSubPr>
                        <m:ctrlPr>
                          <a:rPr lang="it-IT" sz="2000" i="1">
                            <a:latin typeface="Cambria Math" panose="02040503050406030204" pitchFamily="18" charset="0"/>
                          </a:rPr>
                        </m:ctrlPr>
                      </m:sSubPr>
                      <m:e>
                        <m:r>
                          <a:rPr lang="it-IT" sz="2000" i="1">
                            <a:latin typeface="Cambria Math" panose="02040503050406030204" pitchFamily="18" charset="0"/>
                          </a:rPr>
                          <m:t>𝜃</m:t>
                        </m:r>
                      </m:e>
                      <m:sub>
                        <m:r>
                          <a:rPr lang="it-IT" sz="2000" i="1">
                            <a:latin typeface="Cambria Math" panose="02040503050406030204" pitchFamily="18" charset="0"/>
                          </a:rPr>
                          <m:t>0</m:t>
                        </m:r>
                      </m:sub>
                    </m:sSub>
                  </m:oMath>
                </a14:m>
                <a:endParaRPr lang="it-IT" sz="2000" dirty="0"/>
              </a:p>
              <a:p>
                <a:pPr marL="342900" indent="-342900">
                  <a:buFont typeface="Arial" panose="020B0604020202020204" pitchFamily="34" charset="0"/>
                  <a:buChar char="•"/>
                </a:pPr>
                <a:r>
                  <a:rPr lang="it-IT" sz="2000" dirty="0" err="1"/>
                  <a:t>select</a:t>
                </a:r>
                <a:r>
                  <a:rPr lang="it-IT" sz="2000" dirty="0"/>
                  <a:t> </a:t>
                </a:r>
                <a:r>
                  <a:rPr lang="it-IT" sz="2000" dirty="0" err="1"/>
                  <a:t>particles</a:t>
                </a:r>
                <a:r>
                  <a:rPr lang="it-IT" sz="2000" dirty="0"/>
                  <a:t> </a:t>
                </a:r>
                <a14:m>
                  <m:oMath xmlns:m="http://schemas.openxmlformats.org/officeDocument/2006/math">
                    <m:d>
                      <m:dPr>
                        <m:begChr m:val="|"/>
                        <m:endChr m:val="|"/>
                        <m:ctrlPr>
                          <a:rPr lang="it-IT" sz="2000" i="1">
                            <a:latin typeface="Cambria Math" panose="02040503050406030204" pitchFamily="18" charset="0"/>
                          </a:rPr>
                        </m:ctrlPr>
                      </m:dPr>
                      <m:e>
                        <m:sSub>
                          <m:sSubPr>
                            <m:ctrlPr>
                              <a:rPr lang="it-IT" sz="2000" i="1">
                                <a:latin typeface="Cambria Math" panose="02040503050406030204" pitchFamily="18" charset="0"/>
                              </a:rPr>
                            </m:ctrlPr>
                          </m:sSubPr>
                          <m:e>
                            <m:r>
                              <a:rPr lang="it-IT" sz="2000" i="1">
                                <a:latin typeface="Cambria Math" panose="02040503050406030204" pitchFamily="18" charset="0"/>
                              </a:rPr>
                              <m:t>𝜃</m:t>
                            </m:r>
                          </m:e>
                          <m:sub>
                            <m:r>
                              <a:rPr lang="it-IT" sz="2000" i="1">
                                <a:latin typeface="Cambria Math" panose="02040503050406030204" pitchFamily="18" charset="0"/>
                              </a:rPr>
                              <m:t>𝑖𝑛</m:t>
                            </m:r>
                          </m:sub>
                        </m:sSub>
                        <m:r>
                          <a:rPr lang="it-IT" sz="2000" i="1">
                            <a:latin typeface="Cambria Math" panose="02040503050406030204" pitchFamily="18" charset="0"/>
                          </a:rPr>
                          <m:t>−</m:t>
                        </m:r>
                        <m:sSub>
                          <m:sSubPr>
                            <m:ctrlPr>
                              <a:rPr lang="it-IT" sz="2000" i="1">
                                <a:latin typeface="Cambria Math" panose="02040503050406030204" pitchFamily="18" charset="0"/>
                              </a:rPr>
                            </m:ctrlPr>
                          </m:sSubPr>
                          <m:e>
                            <m:r>
                              <a:rPr lang="it-IT" sz="2000" i="1">
                                <a:latin typeface="Cambria Math" panose="02040503050406030204" pitchFamily="18" charset="0"/>
                              </a:rPr>
                              <m:t>𝜃</m:t>
                            </m:r>
                          </m:e>
                          <m:sub>
                            <m:r>
                              <a:rPr lang="it-IT" sz="2000" i="1">
                                <a:latin typeface="Cambria Math" panose="02040503050406030204" pitchFamily="18" charset="0"/>
                              </a:rPr>
                              <m:t>0</m:t>
                            </m:r>
                          </m:sub>
                        </m:sSub>
                      </m:e>
                    </m:d>
                    <m:r>
                      <a:rPr lang="it-IT" sz="2000" i="1">
                        <a:latin typeface="Cambria Math" panose="02040503050406030204" pitchFamily="18" charset="0"/>
                      </a:rPr>
                      <m:t>≤</m:t>
                    </m:r>
                    <m:f>
                      <m:fPr>
                        <m:ctrlPr>
                          <a:rPr lang="it-IT" sz="2000" i="1">
                            <a:latin typeface="Cambria Math" panose="02040503050406030204" pitchFamily="18" charset="0"/>
                          </a:rPr>
                        </m:ctrlPr>
                      </m:fPr>
                      <m:num>
                        <m:r>
                          <a:rPr lang="it-IT" sz="2000" i="1">
                            <a:latin typeface="Cambria Math" panose="02040503050406030204" pitchFamily="18" charset="0"/>
                          </a:rPr>
                          <m:t>1</m:t>
                        </m:r>
                      </m:num>
                      <m:den>
                        <m:r>
                          <a:rPr lang="it-IT" sz="2000" i="1">
                            <a:latin typeface="Cambria Math" panose="02040503050406030204" pitchFamily="18" charset="0"/>
                          </a:rPr>
                          <m:t>2</m:t>
                        </m:r>
                      </m:den>
                    </m:f>
                    <m:sSub>
                      <m:sSubPr>
                        <m:ctrlPr>
                          <a:rPr lang="it-IT" sz="2000" i="1">
                            <a:latin typeface="Cambria Math" panose="02040503050406030204" pitchFamily="18" charset="0"/>
                          </a:rPr>
                        </m:ctrlPr>
                      </m:sSubPr>
                      <m:e>
                        <m:r>
                          <a:rPr lang="it-IT" sz="2000" i="1">
                            <a:latin typeface="Cambria Math" panose="02040503050406030204" pitchFamily="18" charset="0"/>
                          </a:rPr>
                          <m:t>𝜃</m:t>
                        </m:r>
                      </m:e>
                      <m:sub>
                        <m:r>
                          <a:rPr lang="it-IT" sz="2000" i="1">
                            <a:latin typeface="Cambria Math" panose="02040503050406030204" pitchFamily="18" charset="0"/>
                          </a:rPr>
                          <m:t>𝐿</m:t>
                        </m:r>
                      </m:sub>
                    </m:sSub>
                  </m:oMath>
                </a14:m>
                <a:endParaRPr lang="it-IT" sz="2000" dirty="0"/>
              </a:p>
              <a:p>
                <a:pPr marL="342900" indent="-342900">
                  <a:buFont typeface="Arial" panose="020B0604020202020204" pitchFamily="34" charset="0"/>
                  <a:buChar char="•"/>
                </a:pPr>
                <a:r>
                  <a:rPr lang="it-IT" sz="2000" dirty="0"/>
                  <a:t>compute </a:t>
                </a:r>
                <a14:m>
                  <m:oMath xmlns:m="http://schemas.openxmlformats.org/officeDocument/2006/math">
                    <m:sSub>
                      <m:sSubPr>
                        <m:ctrlPr>
                          <a:rPr lang="it-IT" sz="2000" i="1">
                            <a:latin typeface="Cambria Math" panose="02040503050406030204" pitchFamily="18" charset="0"/>
                          </a:rPr>
                        </m:ctrlPr>
                      </m:sSubPr>
                      <m:e>
                        <m:r>
                          <a:rPr lang="it-IT" sz="2000" i="1">
                            <a:latin typeface="Cambria Math" panose="02040503050406030204" pitchFamily="18" charset="0"/>
                          </a:rPr>
                          <m:t>𝜖</m:t>
                        </m:r>
                      </m:e>
                      <m:sub>
                        <m:r>
                          <a:rPr lang="it-IT" sz="2000" i="1">
                            <a:latin typeface="Cambria Math" panose="02040503050406030204" pitchFamily="18" charset="0"/>
                          </a:rPr>
                          <m:t>𝑐ℎ</m:t>
                        </m:r>
                      </m:sub>
                    </m:sSub>
                  </m:oMath>
                </a14:m>
                <a:endParaRPr lang="it-IT" sz="2000" dirty="0"/>
              </a:p>
              <a:p>
                <a:pPr marL="342900" indent="-342900">
                  <a:buFont typeface="Arial" panose="020B0604020202020204" pitchFamily="34" charset="0"/>
                  <a:buChar char="•"/>
                </a:pPr>
                <a:r>
                  <a:rPr lang="it-IT" sz="2000" dirty="0"/>
                  <a:t>select </a:t>
                </a:r>
                <a14:m>
                  <m:oMath xmlns:m="http://schemas.openxmlformats.org/officeDocument/2006/math">
                    <m:sSub>
                      <m:sSubPr>
                        <m:ctrlPr>
                          <a:rPr lang="it-IT" sz="2000" i="1">
                            <a:latin typeface="Cambria Math" panose="02040503050406030204" pitchFamily="18" charset="0"/>
                          </a:rPr>
                        </m:ctrlPr>
                      </m:sSubPr>
                      <m:e>
                        <m:r>
                          <a:rPr lang="it-IT" sz="2000" i="1">
                            <a:latin typeface="Cambria Math" panose="02040503050406030204" pitchFamily="18" charset="0"/>
                          </a:rPr>
                          <m:t>𝜃</m:t>
                        </m:r>
                      </m:e>
                      <m:sub>
                        <m:r>
                          <a:rPr lang="it-IT" sz="2000" i="1">
                            <a:latin typeface="Cambria Math" panose="02040503050406030204" pitchFamily="18" charset="0"/>
                          </a:rPr>
                          <m:t>0</m:t>
                        </m:r>
                      </m:sub>
                    </m:sSub>
                  </m:oMath>
                </a14:m>
                <a:r>
                  <a:rPr lang="it-IT" sz="2000" dirty="0"/>
                  <a:t> that </a:t>
                </a:r>
                <a:r>
                  <a:rPr lang="it-IT" sz="2000" dirty="0" err="1"/>
                  <a:t>maximizes</a:t>
                </a:r>
                <a:r>
                  <a:rPr lang="it-IT" sz="2000" dirty="0"/>
                  <a:t> </a:t>
                </a:r>
                <a14:m>
                  <m:oMath xmlns:m="http://schemas.openxmlformats.org/officeDocument/2006/math">
                    <m:sSub>
                      <m:sSubPr>
                        <m:ctrlPr>
                          <a:rPr lang="it-IT" sz="2000" i="1">
                            <a:latin typeface="Cambria Math" panose="02040503050406030204" pitchFamily="18" charset="0"/>
                          </a:rPr>
                        </m:ctrlPr>
                      </m:sSubPr>
                      <m:e>
                        <m:r>
                          <a:rPr lang="it-IT" sz="2000" i="1">
                            <a:latin typeface="Cambria Math" panose="02040503050406030204" pitchFamily="18" charset="0"/>
                          </a:rPr>
                          <m:t>𝜖</m:t>
                        </m:r>
                      </m:e>
                      <m:sub>
                        <m:r>
                          <a:rPr lang="it-IT" sz="2000" i="1">
                            <a:latin typeface="Cambria Math" panose="02040503050406030204" pitchFamily="18" charset="0"/>
                          </a:rPr>
                          <m:t>𝑐ℎ</m:t>
                        </m:r>
                      </m:sub>
                    </m:sSub>
                  </m:oMath>
                </a14:m>
                <a:r>
                  <a:rPr lang="it-IT" sz="2000" dirty="0"/>
                  <a:t> (through </a:t>
                </a:r>
                <a:r>
                  <a:rPr lang="it-IT" sz="2000" dirty="0" err="1"/>
                  <a:t>gaussian</a:t>
                </a:r>
                <a:r>
                  <a:rPr lang="it-IT" sz="2000" dirty="0"/>
                  <a:t> </a:t>
                </a:r>
                <a:r>
                  <a:rPr lang="it-IT" sz="2000" dirty="0" err="1"/>
                  <a:t>fit</a:t>
                </a:r>
                <a:r>
                  <a:rPr lang="it-IT" sz="2000" dirty="0"/>
                  <a:t>)</a:t>
                </a:r>
              </a:p>
            </p:txBody>
          </p:sp>
        </mc:Choice>
        <mc:Fallback xmlns="">
          <p:sp>
            <p:nvSpPr>
              <p:cNvPr id="12" name="CasellaDiTesto 11">
                <a:extLst>
                  <a:ext uri="{FF2B5EF4-FFF2-40B4-BE49-F238E27FC236}">
                    <a16:creationId xmlns:a16="http://schemas.microsoft.com/office/drawing/2014/main" id="{A8798A75-C305-1750-5F2B-933C372D6414}"/>
                  </a:ext>
                </a:extLst>
              </p:cNvPr>
              <p:cNvSpPr txBox="1">
                <a:spLocks noRot="1" noChangeAspect="1" noMove="1" noResize="1" noEditPoints="1" noAdjustHandles="1" noChangeArrowheads="1" noChangeShapeType="1" noTextEdit="1"/>
              </p:cNvSpPr>
              <p:nvPr/>
            </p:nvSpPr>
            <p:spPr>
              <a:xfrm>
                <a:off x="696000" y="2269944"/>
                <a:ext cx="2601609" cy="3296928"/>
              </a:xfrm>
              <a:prstGeom prst="rect">
                <a:avLst/>
              </a:prstGeom>
              <a:blipFill>
                <a:blip r:embed="rId5"/>
                <a:stretch>
                  <a:fillRect l="-2342" t="-924" b="-2403"/>
                </a:stretch>
              </a:blipFill>
            </p:spPr>
            <p:txBody>
              <a:bodyPr/>
              <a:lstStyle/>
              <a:p>
                <a:r>
                  <a:rPr lang="it-IT">
                    <a:noFill/>
                  </a:rPr>
                  <a:t> </a:t>
                </a:r>
              </a:p>
            </p:txBody>
          </p:sp>
        </mc:Fallback>
      </mc:AlternateContent>
      <p:cxnSp>
        <p:nvCxnSpPr>
          <p:cNvPr id="16" name="Connettore diritto 15">
            <a:extLst>
              <a:ext uri="{FF2B5EF4-FFF2-40B4-BE49-F238E27FC236}">
                <a16:creationId xmlns:a16="http://schemas.microsoft.com/office/drawing/2014/main" id="{ABD559CF-BD2C-1502-6F8B-FB36F8027603}"/>
              </a:ext>
            </a:extLst>
          </p:cNvPr>
          <p:cNvCxnSpPr>
            <a:cxnSpLocks/>
          </p:cNvCxnSpPr>
          <p:nvPr/>
        </p:nvCxnSpPr>
        <p:spPr>
          <a:xfrm>
            <a:off x="5393267" y="1764543"/>
            <a:ext cx="0" cy="4179057"/>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ttore diritto 17">
            <a:extLst>
              <a:ext uri="{FF2B5EF4-FFF2-40B4-BE49-F238E27FC236}">
                <a16:creationId xmlns:a16="http://schemas.microsoft.com/office/drawing/2014/main" id="{643DCC27-ABDA-24AC-98A5-A793CC17F949}"/>
              </a:ext>
            </a:extLst>
          </p:cNvPr>
          <p:cNvCxnSpPr>
            <a:cxnSpLocks/>
          </p:cNvCxnSpPr>
          <p:nvPr/>
        </p:nvCxnSpPr>
        <p:spPr>
          <a:xfrm>
            <a:off x="5590762" y="1764543"/>
            <a:ext cx="0" cy="4179057"/>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ttore 2 18">
            <a:extLst>
              <a:ext uri="{FF2B5EF4-FFF2-40B4-BE49-F238E27FC236}">
                <a16:creationId xmlns:a16="http://schemas.microsoft.com/office/drawing/2014/main" id="{B1A2FFA3-AE10-BF56-E55F-8018EA1DA0E5}"/>
              </a:ext>
            </a:extLst>
          </p:cNvPr>
          <p:cNvCxnSpPr>
            <a:cxnSpLocks/>
          </p:cNvCxnSpPr>
          <p:nvPr/>
        </p:nvCxnSpPr>
        <p:spPr>
          <a:xfrm>
            <a:off x="5590762" y="3660685"/>
            <a:ext cx="465021" cy="0"/>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4" name="Titolo 1">
            <a:extLst>
              <a:ext uri="{FF2B5EF4-FFF2-40B4-BE49-F238E27FC236}">
                <a16:creationId xmlns:a16="http://schemas.microsoft.com/office/drawing/2014/main" id="{37BC37BA-6AAD-84A0-EA99-1B83102FDE2E}"/>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BACKUP SLIDE</a:t>
            </a:r>
            <a:endParaRPr lang="it-IT" sz="2000" b="1" i="1" dirty="0">
              <a:solidFill>
                <a:srgbClr val="002060"/>
              </a:solidFill>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732843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2EFCC-47DC-1162-54F2-1B8DF657530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196BC2B-5C4B-CD38-A1A5-363F4108DE15}"/>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it-IT" sz="4000" b="1" dirty="0">
                <a:solidFill>
                  <a:srgbClr val="002060"/>
                </a:solidFill>
              </a:rPr>
              <a:t>	ANGLE SELECTION</a:t>
            </a:r>
          </a:p>
        </p:txBody>
      </p:sp>
      <p:sp>
        <p:nvSpPr>
          <p:cNvPr id="4" name="Segnaposto data 3">
            <a:extLst>
              <a:ext uri="{FF2B5EF4-FFF2-40B4-BE49-F238E27FC236}">
                <a16:creationId xmlns:a16="http://schemas.microsoft.com/office/drawing/2014/main" id="{414AF170-F176-9150-4073-056685596409}"/>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E49DEB46-A533-2AC7-392E-2F4478CBBF24}"/>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D227A459-8A5B-60AF-EF50-B5495304981F}"/>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26</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57D3CE6C-5AA2-896F-F7AB-61E7C827AFDC}"/>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CasellaDiTesto 12">
            <a:extLst>
              <a:ext uri="{FF2B5EF4-FFF2-40B4-BE49-F238E27FC236}">
                <a16:creationId xmlns:a16="http://schemas.microsoft.com/office/drawing/2014/main" id="{CBF332A9-23E4-43A9-2288-004948EB3BD1}"/>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15" name="CasellaDiTesto 14">
            <a:extLst>
              <a:ext uri="{FF2B5EF4-FFF2-40B4-BE49-F238E27FC236}">
                <a16:creationId xmlns:a16="http://schemas.microsoft.com/office/drawing/2014/main" id="{437B5CC6-6908-1CBA-19DF-AD28984B32C2}"/>
              </a:ext>
            </a:extLst>
          </p:cNvPr>
          <p:cNvSpPr txBox="1"/>
          <p:nvPr/>
        </p:nvSpPr>
        <p:spPr>
          <a:xfrm>
            <a:off x="3048886" y="3244334"/>
            <a:ext cx="6097772" cy="369332"/>
          </a:xfrm>
          <a:prstGeom prst="rect">
            <a:avLst/>
          </a:prstGeom>
          <a:noFill/>
        </p:spPr>
        <p:txBody>
          <a:bodyPr wrap="square">
            <a:spAutoFit/>
          </a:bodyPr>
          <a:lstStyle/>
          <a:p>
            <a:endParaRPr lang="it-IT" dirty="0"/>
          </a:p>
        </p:txBody>
      </p:sp>
      <p:pic>
        <p:nvPicPr>
          <p:cNvPr id="7" name="Immagine 6">
            <a:extLst>
              <a:ext uri="{FF2B5EF4-FFF2-40B4-BE49-F238E27FC236}">
                <a16:creationId xmlns:a16="http://schemas.microsoft.com/office/drawing/2014/main" id="{DC84D201-A301-E833-2DD3-94A7118EF9A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491809" y="1222745"/>
            <a:ext cx="7826453" cy="5253769"/>
          </a:xfrm>
          <a:prstGeom prst="rect">
            <a:avLst/>
          </a:prstGeom>
        </p:spPr>
      </p:pic>
      <mc:AlternateContent xmlns:mc="http://schemas.openxmlformats.org/markup-compatibility/2006" xmlns:a14="http://schemas.microsoft.com/office/drawing/2010/main">
        <mc:Choice Requires="a14">
          <p:sp>
            <p:nvSpPr>
              <p:cNvPr id="12" name="CasellaDiTesto 11">
                <a:extLst>
                  <a:ext uri="{FF2B5EF4-FFF2-40B4-BE49-F238E27FC236}">
                    <a16:creationId xmlns:a16="http://schemas.microsoft.com/office/drawing/2014/main" id="{284AF226-3491-ED5E-32BB-BC47BA62E462}"/>
                  </a:ext>
                </a:extLst>
              </p:cNvPr>
              <p:cNvSpPr txBox="1"/>
              <p:nvPr/>
            </p:nvSpPr>
            <p:spPr>
              <a:xfrm>
                <a:off x="696000" y="2269944"/>
                <a:ext cx="2601609" cy="3296928"/>
              </a:xfrm>
              <a:prstGeom prst="rect">
                <a:avLst/>
              </a:prstGeom>
              <a:noFill/>
            </p:spPr>
            <p:txBody>
              <a:bodyPr wrap="square" rtlCol="0">
                <a:spAutoFit/>
              </a:bodyPr>
              <a:lstStyle/>
              <a:p>
                <a:r>
                  <a:rPr lang="it-IT" sz="2000" dirty="0"/>
                  <a:t>For </a:t>
                </a:r>
                <a:r>
                  <a:rPr lang="it-IT" sz="2000" dirty="0" err="1"/>
                  <a:t>each</a:t>
                </a:r>
                <a:r>
                  <a:rPr lang="it-IT" sz="2000" dirty="0"/>
                  <a:t> </a:t>
                </a:r>
                <a:r>
                  <a:rPr lang="it-IT" sz="2000" dirty="0" err="1"/>
                  <a:t>square</a:t>
                </a:r>
                <a:r>
                  <a:rPr lang="it-IT" sz="2000" dirty="0"/>
                  <a:t> bin:</a:t>
                </a:r>
              </a:p>
              <a:p>
                <a:endParaRPr lang="it-IT" sz="2000" dirty="0"/>
              </a:p>
              <a:p>
                <a:pPr marL="342900" indent="-342900">
                  <a:buFont typeface="Arial" panose="020B0604020202020204" pitchFamily="34" charset="0"/>
                  <a:buChar char="•"/>
                </a:pPr>
                <a:r>
                  <a:rPr lang="it-IT" sz="2000" dirty="0"/>
                  <a:t>variation of </a:t>
                </a:r>
                <a14:m>
                  <m:oMath xmlns:m="http://schemas.openxmlformats.org/officeDocument/2006/math">
                    <m:sSub>
                      <m:sSubPr>
                        <m:ctrlPr>
                          <a:rPr lang="it-IT" sz="2000" i="1">
                            <a:latin typeface="Cambria Math" panose="02040503050406030204" pitchFamily="18" charset="0"/>
                          </a:rPr>
                        </m:ctrlPr>
                      </m:sSubPr>
                      <m:e>
                        <m:r>
                          <a:rPr lang="it-IT" sz="2000" i="1">
                            <a:latin typeface="Cambria Math" panose="02040503050406030204" pitchFamily="18" charset="0"/>
                          </a:rPr>
                          <m:t>𝜃</m:t>
                        </m:r>
                      </m:e>
                      <m:sub>
                        <m:r>
                          <a:rPr lang="it-IT" sz="2000" i="1">
                            <a:latin typeface="Cambria Math" panose="02040503050406030204" pitchFamily="18" charset="0"/>
                          </a:rPr>
                          <m:t>0</m:t>
                        </m:r>
                      </m:sub>
                    </m:sSub>
                  </m:oMath>
                </a14:m>
                <a:endParaRPr lang="it-IT" sz="2000" dirty="0"/>
              </a:p>
              <a:p>
                <a:pPr marL="342900" indent="-342900">
                  <a:buFont typeface="Arial" panose="020B0604020202020204" pitchFamily="34" charset="0"/>
                  <a:buChar char="•"/>
                </a:pPr>
                <a:r>
                  <a:rPr lang="it-IT" sz="2000" dirty="0" err="1"/>
                  <a:t>select</a:t>
                </a:r>
                <a:r>
                  <a:rPr lang="it-IT" sz="2000" dirty="0"/>
                  <a:t> </a:t>
                </a:r>
                <a:r>
                  <a:rPr lang="it-IT" sz="2000" dirty="0" err="1"/>
                  <a:t>particles</a:t>
                </a:r>
                <a:r>
                  <a:rPr lang="it-IT" sz="2000" dirty="0"/>
                  <a:t> </a:t>
                </a:r>
                <a14:m>
                  <m:oMath xmlns:m="http://schemas.openxmlformats.org/officeDocument/2006/math">
                    <m:d>
                      <m:dPr>
                        <m:begChr m:val="|"/>
                        <m:endChr m:val="|"/>
                        <m:ctrlPr>
                          <a:rPr lang="it-IT" sz="2000" i="1">
                            <a:latin typeface="Cambria Math" panose="02040503050406030204" pitchFamily="18" charset="0"/>
                          </a:rPr>
                        </m:ctrlPr>
                      </m:dPr>
                      <m:e>
                        <m:sSub>
                          <m:sSubPr>
                            <m:ctrlPr>
                              <a:rPr lang="it-IT" sz="2000" i="1">
                                <a:latin typeface="Cambria Math" panose="02040503050406030204" pitchFamily="18" charset="0"/>
                              </a:rPr>
                            </m:ctrlPr>
                          </m:sSubPr>
                          <m:e>
                            <m:r>
                              <a:rPr lang="it-IT" sz="2000" i="1">
                                <a:latin typeface="Cambria Math" panose="02040503050406030204" pitchFamily="18" charset="0"/>
                              </a:rPr>
                              <m:t>𝜃</m:t>
                            </m:r>
                          </m:e>
                          <m:sub>
                            <m:r>
                              <a:rPr lang="it-IT" sz="2000" i="1">
                                <a:latin typeface="Cambria Math" panose="02040503050406030204" pitchFamily="18" charset="0"/>
                              </a:rPr>
                              <m:t>𝑖𝑛</m:t>
                            </m:r>
                          </m:sub>
                        </m:sSub>
                        <m:r>
                          <a:rPr lang="it-IT" sz="2000" i="1">
                            <a:latin typeface="Cambria Math" panose="02040503050406030204" pitchFamily="18" charset="0"/>
                          </a:rPr>
                          <m:t>−</m:t>
                        </m:r>
                        <m:sSub>
                          <m:sSubPr>
                            <m:ctrlPr>
                              <a:rPr lang="it-IT" sz="2000" i="1">
                                <a:latin typeface="Cambria Math" panose="02040503050406030204" pitchFamily="18" charset="0"/>
                              </a:rPr>
                            </m:ctrlPr>
                          </m:sSubPr>
                          <m:e>
                            <m:r>
                              <a:rPr lang="it-IT" sz="2000" i="1">
                                <a:latin typeface="Cambria Math" panose="02040503050406030204" pitchFamily="18" charset="0"/>
                              </a:rPr>
                              <m:t>𝜃</m:t>
                            </m:r>
                          </m:e>
                          <m:sub>
                            <m:r>
                              <a:rPr lang="it-IT" sz="2000" i="1">
                                <a:latin typeface="Cambria Math" panose="02040503050406030204" pitchFamily="18" charset="0"/>
                              </a:rPr>
                              <m:t>0</m:t>
                            </m:r>
                          </m:sub>
                        </m:sSub>
                      </m:e>
                    </m:d>
                    <m:r>
                      <a:rPr lang="it-IT" sz="2000" i="1">
                        <a:latin typeface="Cambria Math" panose="02040503050406030204" pitchFamily="18" charset="0"/>
                      </a:rPr>
                      <m:t>≤</m:t>
                    </m:r>
                    <m:f>
                      <m:fPr>
                        <m:ctrlPr>
                          <a:rPr lang="it-IT" sz="2000" i="1">
                            <a:latin typeface="Cambria Math" panose="02040503050406030204" pitchFamily="18" charset="0"/>
                          </a:rPr>
                        </m:ctrlPr>
                      </m:fPr>
                      <m:num>
                        <m:r>
                          <a:rPr lang="it-IT" sz="2000" i="1">
                            <a:latin typeface="Cambria Math" panose="02040503050406030204" pitchFamily="18" charset="0"/>
                          </a:rPr>
                          <m:t>1</m:t>
                        </m:r>
                      </m:num>
                      <m:den>
                        <m:r>
                          <a:rPr lang="it-IT" sz="2000" i="1">
                            <a:latin typeface="Cambria Math" panose="02040503050406030204" pitchFamily="18" charset="0"/>
                          </a:rPr>
                          <m:t>2</m:t>
                        </m:r>
                      </m:den>
                    </m:f>
                    <m:sSub>
                      <m:sSubPr>
                        <m:ctrlPr>
                          <a:rPr lang="it-IT" sz="2000" i="1">
                            <a:latin typeface="Cambria Math" panose="02040503050406030204" pitchFamily="18" charset="0"/>
                          </a:rPr>
                        </m:ctrlPr>
                      </m:sSubPr>
                      <m:e>
                        <m:r>
                          <a:rPr lang="it-IT" sz="2000" i="1">
                            <a:latin typeface="Cambria Math" panose="02040503050406030204" pitchFamily="18" charset="0"/>
                          </a:rPr>
                          <m:t>𝜃</m:t>
                        </m:r>
                      </m:e>
                      <m:sub>
                        <m:r>
                          <a:rPr lang="it-IT" sz="2000" i="1">
                            <a:latin typeface="Cambria Math" panose="02040503050406030204" pitchFamily="18" charset="0"/>
                          </a:rPr>
                          <m:t>𝐿</m:t>
                        </m:r>
                      </m:sub>
                    </m:sSub>
                  </m:oMath>
                </a14:m>
                <a:endParaRPr lang="it-IT" sz="2000" dirty="0"/>
              </a:p>
              <a:p>
                <a:pPr marL="342900" indent="-342900">
                  <a:buFont typeface="Arial" panose="020B0604020202020204" pitchFamily="34" charset="0"/>
                  <a:buChar char="•"/>
                </a:pPr>
                <a:r>
                  <a:rPr lang="it-IT" sz="2000" dirty="0"/>
                  <a:t>compute </a:t>
                </a:r>
                <a14:m>
                  <m:oMath xmlns:m="http://schemas.openxmlformats.org/officeDocument/2006/math">
                    <m:sSub>
                      <m:sSubPr>
                        <m:ctrlPr>
                          <a:rPr lang="it-IT" sz="2000" i="1">
                            <a:latin typeface="Cambria Math" panose="02040503050406030204" pitchFamily="18" charset="0"/>
                          </a:rPr>
                        </m:ctrlPr>
                      </m:sSubPr>
                      <m:e>
                        <m:r>
                          <a:rPr lang="it-IT" sz="2000" i="1">
                            <a:latin typeface="Cambria Math" panose="02040503050406030204" pitchFamily="18" charset="0"/>
                          </a:rPr>
                          <m:t>𝜖</m:t>
                        </m:r>
                      </m:e>
                      <m:sub>
                        <m:r>
                          <a:rPr lang="it-IT" sz="2000" i="1">
                            <a:latin typeface="Cambria Math" panose="02040503050406030204" pitchFamily="18" charset="0"/>
                          </a:rPr>
                          <m:t>𝑐ℎ</m:t>
                        </m:r>
                      </m:sub>
                    </m:sSub>
                  </m:oMath>
                </a14:m>
                <a:endParaRPr lang="it-IT" sz="2000" dirty="0"/>
              </a:p>
              <a:p>
                <a:pPr marL="342900" indent="-342900">
                  <a:buFont typeface="Arial" panose="020B0604020202020204" pitchFamily="34" charset="0"/>
                  <a:buChar char="•"/>
                </a:pPr>
                <a:r>
                  <a:rPr lang="it-IT" sz="2000" dirty="0"/>
                  <a:t>select </a:t>
                </a:r>
                <a14:m>
                  <m:oMath xmlns:m="http://schemas.openxmlformats.org/officeDocument/2006/math">
                    <m:sSub>
                      <m:sSubPr>
                        <m:ctrlPr>
                          <a:rPr lang="it-IT" sz="2000" i="1">
                            <a:latin typeface="Cambria Math" panose="02040503050406030204" pitchFamily="18" charset="0"/>
                          </a:rPr>
                        </m:ctrlPr>
                      </m:sSubPr>
                      <m:e>
                        <m:r>
                          <a:rPr lang="it-IT" sz="2000" i="1">
                            <a:latin typeface="Cambria Math" panose="02040503050406030204" pitchFamily="18" charset="0"/>
                          </a:rPr>
                          <m:t>𝜃</m:t>
                        </m:r>
                      </m:e>
                      <m:sub>
                        <m:r>
                          <a:rPr lang="it-IT" sz="2000" i="1">
                            <a:latin typeface="Cambria Math" panose="02040503050406030204" pitchFamily="18" charset="0"/>
                          </a:rPr>
                          <m:t>0</m:t>
                        </m:r>
                      </m:sub>
                    </m:sSub>
                  </m:oMath>
                </a14:m>
                <a:r>
                  <a:rPr lang="it-IT" sz="2000" dirty="0"/>
                  <a:t> that </a:t>
                </a:r>
                <a:r>
                  <a:rPr lang="it-IT" sz="2000" dirty="0" err="1"/>
                  <a:t>maximizes</a:t>
                </a:r>
                <a:r>
                  <a:rPr lang="it-IT" sz="2000" dirty="0"/>
                  <a:t> </a:t>
                </a:r>
                <a14:m>
                  <m:oMath xmlns:m="http://schemas.openxmlformats.org/officeDocument/2006/math">
                    <m:sSub>
                      <m:sSubPr>
                        <m:ctrlPr>
                          <a:rPr lang="it-IT" sz="2000" i="1">
                            <a:latin typeface="Cambria Math" panose="02040503050406030204" pitchFamily="18" charset="0"/>
                          </a:rPr>
                        </m:ctrlPr>
                      </m:sSubPr>
                      <m:e>
                        <m:r>
                          <a:rPr lang="it-IT" sz="2000" i="1">
                            <a:latin typeface="Cambria Math" panose="02040503050406030204" pitchFamily="18" charset="0"/>
                          </a:rPr>
                          <m:t>𝜖</m:t>
                        </m:r>
                      </m:e>
                      <m:sub>
                        <m:r>
                          <a:rPr lang="it-IT" sz="2000" i="1">
                            <a:latin typeface="Cambria Math" panose="02040503050406030204" pitchFamily="18" charset="0"/>
                          </a:rPr>
                          <m:t>𝑐ℎ</m:t>
                        </m:r>
                      </m:sub>
                    </m:sSub>
                  </m:oMath>
                </a14:m>
                <a:r>
                  <a:rPr lang="it-IT" sz="2000" dirty="0"/>
                  <a:t> (through </a:t>
                </a:r>
                <a:r>
                  <a:rPr lang="it-IT" sz="2000" dirty="0" err="1"/>
                  <a:t>gaussian</a:t>
                </a:r>
                <a:r>
                  <a:rPr lang="it-IT" sz="2000" dirty="0"/>
                  <a:t> </a:t>
                </a:r>
                <a:r>
                  <a:rPr lang="it-IT" sz="2000" dirty="0" err="1"/>
                  <a:t>fit</a:t>
                </a:r>
                <a:r>
                  <a:rPr lang="it-IT" sz="2000" dirty="0"/>
                  <a:t>)</a:t>
                </a:r>
              </a:p>
            </p:txBody>
          </p:sp>
        </mc:Choice>
        <mc:Fallback xmlns="">
          <p:sp>
            <p:nvSpPr>
              <p:cNvPr id="12" name="CasellaDiTesto 11">
                <a:extLst>
                  <a:ext uri="{FF2B5EF4-FFF2-40B4-BE49-F238E27FC236}">
                    <a16:creationId xmlns:a16="http://schemas.microsoft.com/office/drawing/2014/main" id="{284AF226-3491-ED5E-32BB-BC47BA62E462}"/>
                  </a:ext>
                </a:extLst>
              </p:cNvPr>
              <p:cNvSpPr txBox="1">
                <a:spLocks noRot="1" noChangeAspect="1" noMove="1" noResize="1" noEditPoints="1" noAdjustHandles="1" noChangeArrowheads="1" noChangeShapeType="1" noTextEdit="1"/>
              </p:cNvSpPr>
              <p:nvPr/>
            </p:nvSpPr>
            <p:spPr>
              <a:xfrm>
                <a:off x="696000" y="2269944"/>
                <a:ext cx="2601609" cy="3296928"/>
              </a:xfrm>
              <a:prstGeom prst="rect">
                <a:avLst/>
              </a:prstGeom>
              <a:blipFill>
                <a:blip r:embed="rId3"/>
                <a:stretch>
                  <a:fillRect l="-2342" t="-924" b="-2403"/>
                </a:stretch>
              </a:blipFill>
            </p:spPr>
            <p:txBody>
              <a:bodyPr/>
              <a:lstStyle/>
              <a:p>
                <a:r>
                  <a:rPr lang="it-IT">
                    <a:noFill/>
                  </a:rPr>
                  <a:t> </a:t>
                </a:r>
              </a:p>
            </p:txBody>
          </p:sp>
        </mc:Fallback>
      </mc:AlternateContent>
      <p:sp>
        <p:nvSpPr>
          <p:cNvPr id="3" name="Rettangolo 2">
            <a:extLst>
              <a:ext uri="{FF2B5EF4-FFF2-40B4-BE49-F238E27FC236}">
                <a16:creationId xmlns:a16="http://schemas.microsoft.com/office/drawing/2014/main" id="{125C8486-5386-1A71-D52D-81CFE52FC7BC}"/>
              </a:ext>
            </a:extLst>
          </p:cNvPr>
          <p:cNvSpPr/>
          <p:nvPr/>
        </p:nvSpPr>
        <p:spPr>
          <a:xfrm>
            <a:off x="7708477" y="1774499"/>
            <a:ext cx="2814320" cy="12293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 name="Titolo 1">
            <a:extLst>
              <a:ext uri="{FF2B5EF4-FFF2-40B4-BE49-F238E27FC236}">
                <a16:creationId xmlns:a16="http://schemas.microsoft.com/office/drawing/2014/main" id="{351172FA-5E93-7203-6B2E-B1F712A71D76}"/>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BACKUP SLIDE</a:t>
            </a:r>
            <a:endParaRPr lang="it-IT" sz="2000" b="1" i="1" dirty="0">
              <a:solidFill>
                <a:srgbClr val="002060"/>
              </a:solidFill>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420700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E96DB-8D5D-03C7-3FA3-2580E7433EC0}"/>
            </a:ext>
          </a:extLst>
        </p:cNvPr>
        <p:cNvGrpSpPr/>
        <p:nvPr/>
      </p:nvGrpSpPr>
      <p:grpSpPr>
        <a:xfrm>
          <a:off x="0" y="0"/>
          <a:ext cx="0" cy="0"/>
          <a:chOff x="0" y="0"/>
          <a:chExt cx="0" cy="0"/>
        </a:xfrm>
      </p:grpSpPr>
      <p:sp>
        <p:nvSpPr>
          <p:cNvPr id="11" name="Segnaposto contenuto 2">
            <a:extLst>
              <a:ext uri="{FF2B5EF4-FFF2-40B4-BE49-F238E27FC236}">
                <a16:creationId xmlns:a16="http://schemas.microsoft.com/office/drawing/2014/main" id="{B6C1CD1E-43F2-2E63-AEC6-105AF05F8CA8}"/>
              </a:ext>
            </a:extLst>
          </p:cNvPr>
          <p:cNvSpPr>
            <a:spLocks noGrp="1"/>
          </p:cNvSpPr>
          <p:nvPr>
            <p:ph idx="1"/>
          </p:nvPr>
        </p:nvSpPr>
        <p:spPr>
          <a:xfrm>
            <a:off x="838200" y="1401288"/>
            <a:ext cx="10515600" cy="4776227"/>
          </a:xfrm>
        </p:spPr>
        <p:txBody>
          <a:bodyPr>
            <a:normAutofit/>
          </a:bodyPr>
          <a:lstStyle/>
          <a:p>
            <a:pPr marL="0" indent="0">
              <a:buNone/>
            </a:pPr>
            <a:r>
              <a:rPr lang="it-IT" sz="2400" dirty="0"/>
              <a:t>Crystal </a:t>
            </a:r>
            <a:r>
              <a:rPr lang="it-IT" sz="2400" dirty="0" err="1"/>
              <a:t>efficiency</a:t>
            </a:r>
            <a:r>
              <a:rPr lang="it-IT" sz="2400" dirty="0"/>
              <a:t> </a:t>
            </a:r>
            <a:r>
              <a:rPr lang="it-IT" sz="2400" dirty="0" err="1"/>
              <a:t>as</a:t>
            </a:r>
            <a:r>
              <a:rPr lang="it-IT" sz="2400" dirty="0"/>
              <a:t> a function of the incoming angle, after </a:t>
            </a:r>
            <a:r>
              <a:rPr lang="it-IT" sz="2400" dirty="0" err="1"/>
              <a:t>application</a:t>
            </a:r>
            <a:r>
              <a:rPr lang="it-IT" sz="2400" dirty="0"/>
              <a:t> of the </a:t>
            </a:r>
            <a:r>
              <a:rPr lang="it-IT" sz="2400" dirty="0" err="1"/>
              <a:t>torsion</a:t>
            </a:r>
            <a:r>
              <a:rPr lang="it-IT" sz="2400" dirty="0"/>
              <a:t> </a:t>
            </a:r>
            <a:r>
              <a:rPr lang="it-IT" sz="2400" dirty="0" err="1"/>
              <a:t>correction</a:t>
            </a:r>
            <a:r>
              <a:rPr lang="it-IT" sz="2400" dirty="0"/>
              <a:t>. The </a:t>
            </a:r>
            <a:r>
              <a:rPr lang="it-IT" sz="2400" dirty="0" err="1"/>
              <a:t>value</a:t>
            </a:r>
            <a:r>
              <a:rPr lang="it-IT" sz="2400" dirty="0"/>
              <a:t> of the </a:t>
            </a:r>
            <a:r>
              <a:rPr lang="it-IT" sz="2400" dirty="0" err="1"/>
              <a:t>peak</a:t>
            </a:r>
            <a:r>
              <a:rPr lang="it-IT" sz="2400" dirty="0"/>
              <a:t> </a:t>
            </a:r>
            <a:r>
              <a:rPr lang="it-IT" sz="2400" dirty="0" err="1"/>
              <a:t>is</a:t>
            </a:r>
            <a:r>
              <a:rPr lang="it-IT" sz="2400" dirty="0"/>
              <a:t> the </a:t>
            </a:r>
            <a:r>
              <a:rPr lang="it-IT" sz="2400" dirty="0" err="1"/>
              <a:t>efficiency</a:t>
            </a:r>
            <a:r>
              <a:rPr lang="it-IT" sz="2400" dirty="0"/>
              <a:t> of the </a:t>
            </a:r>
            <a:r>
              <a:rPr lang="it-IT" sz="2400" dirty="0" err="1"/>
              <a:t>crystal</a:t>
            </a:r>
            <a:r>
              <a:rPr lang="it-IT" sz="2400" dirty="0"/>
              <a:t> </a:t>
            </a:r>
            <a:r>
              <a:rPr lang="it-IT" sz="2400" dirty="0" err="1"/>
              <a:t>when</a:t>
            </a:r>
            <a:r>
              <a:rPr lang="it-IT" sz="2400" dirty="0"/>
              <a:t> it </a:t>
            </a:r>
            <a:r>
              <a:rPr lang="it-IT" sz="2400" dirty="0" err="1"/>
              <a:t>is</a:t>
            </a:r>
            <a:r>
              <a:rPr lang="it-IT" sz="2400" dirty="0"/>
              <a:t> </a:t>
            </a:r>
            <a:r>
              <a:rPr lang="it-IT" sz="2400" dirty="0" err="1"/>
              <a:t>perfectly</a:t>
            </a:r>
            <a:r>
              <a:rPr lang="it-IT" sz="2400" dirty="0"/>
              <a:t> </a:t>
            </a:r>
            <a:r>
              <a:rPr lang="it-IT" sz="2400" dirty="0" err="1"/>
              <a:t>aligned</a:t>
            </a:r>
            <a:r>
              <a:rPr lang="it-IT" sz="2400" dirty="0"/>
              <a:t> to the </a:t>
            </a:r>
            <a:r>
              <a:rPr lang="it-IT" sz="2400" dirty="0" err="1"/>
              <a:t>beam</a:t>
            </a:r>
            <a:r>
              <a:rPr lang="it-IT" sz="2400" dirty="0"/>
              <a:t>.</a:t>
            </a:r>
          </a:p>
        </p:txBody>
      </p:sp>
      <p:sp>
        <p:nvSpPr>
          <p:cNvPr id="2" name="Titolo 1">
            <a:extLst>
              <a:ext uri="{FF2B5EF4-FFF2-40B4-BE49-F238E27FC236}">
                <a16:creationId xmlns:a16="http://schemas.microsoft.com/office/drawing/2014/main" id="{4441F033-41FF-9EC2-CD18-6C1065E72A6E}"/>
              </a:ext>
            </a:extLst>
          </p:cNvPr>
          <p:cNvSpPr>
            <a:spLocks noGrp="1"/>
          </p:cNvSpPr>
          <p:nvPr>
            <p:ph type="title"/>
          </p:nvPr>
        </p:nvSpPr>
        <p:spPr>
          <a:xfrm>
            <a:off x="38100" y="69651"/>
            <a:ext cx="12114000" cy="1153094"/>
          </a:xfrm>
          <a:prstGeom prst="roundRect">
            <a:avLst>
              <a:gd name="adj" fmla="val 36459"/>
            </a:avLst>
          </a:prstGeom>
          <a:noFill/>
        </p:spPr>
        <p:txBody>
          <a:bodyPr>
            <a:normAutofit/>
          </a:bodyPr>
          <a:lstStyle/>
          <a:p>
            <a:r>
              <a:rPr lang="it-IT" sz="4000" b="1" dirty="0">
                <a:solidFill>
                  <a:srgbClr val="002060"/>
                </a:solidFill>
              </a:rPr>
              <a:t>	EFFICIENCY CURVE</a:t>
            </a:r>
          </a:p>
        </p:txBody>
      </p:sp>
      <p:sp>
        <p:nvSpPr>
          <p:cNvPr id="4" name="Segnaposto data 3">
            <a:extLst>
              <a:ext uri="{FF2B5EF4-FFF2-40B4-BE49-F238E27FC236}">
                <a16:creationId xmlns:a16="http://schemas.microsoft.com/office/drawing/2014/main" id="{A005E3A4-151D-9A1F-8186-E743AE292FD1}"/>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24.08.2026</a:t>
            </a:r>
          </a:p>
        </p:txBody>
      </p:sp>
      <p:sp>
        <p:nvSpPr>
          <p:cNvPr id="5" name="Segnaposto piè di pagina 4">
            <a:extLst>
              <a:ext uri="{FF2B5EF4-FFF2-40B4-BE49-F238E27FC236}">
                <a16:creationId xmlns:a16="http://schemas.microsoft.com/office/drawing/2014/main" id="{80ABE22A-648C-CB6A-CB96-BA0870020FE5}"/>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B6ED4E80-CE57-A7C6-53FF-A878B0C1F6FB}"/>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27</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A2604C5D-7C9A-C092-C1C1-6CF4E44DA8A3}"/>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CasellaDiTesto 12">
            <a:extLst>
              <a:ext uri="{FF2B5EF4-FFF2-40B4-BE49-F238E27FC236}">
                <a16:creationId xmlns:a16="http://schemas.microsoft.com/office/drawing/2014/main" id="{25503126-5228-0AF4-215B-A7729A20AE8B}"/>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15" name="CasellaDiTesto 14">
            <a:extLst>
              <a:ext uri="{FF2B5EF4-FFF2-40B4-BE49-F238E27FC236}">
                <a16:creationId xmlns:a16="http://schemas.microsoft.com/office/drawing/2014/main" id="{062E0088-D7C6-1059-05D7-BD2076C40D27}"/>
              </a:ext>
            </a:extLst>
          </p:cNvPr>
          <p:cNvSpPr txBox="1"/>
          <p:nvPr/>
        </p:nvSpPr>
        <p:spPr>
          <a:xfrm>
            <a:off x="3048886" y="3244334"/>
            <a:ext cx="6097772" cy="369332"/>
          </a:xfrm>
          <a:prstGeom prst="rect">
            <a:avLst/>
          </a:prstGeom>
          <a:noFill/>
        </p:spPr>
        <p:txBody>
          <a:bodyPr wrap="square">
            <a:spAutoFit/>
          </a:bodyPr>
          <a:lstStyle/>
          <a:p>
            <a:endParaRPr lang="it-IT" dirty="0"/>
          </a:p>
        </p:txBody>
      </p:sp>
      <p:pic>
        <p:nvPicPr>
          <p:cNvPr id="8" name="Immagine 7">
            <a:extLst>
              <a:ext uri="{FF2B5EF4-FFF2-40B4-BE49-F238E27FC236}">
                <a16:creationId xmlns:a16="http://schemas.microsoft.com/office/drawing/2014/main" id="{013A8E72-F1F7-0929-4122-8EF64E4A4553}"/>
              </a:ext>
            </a:extLst>
          </p:cNvPr>
          <p:cNvPicPr>
            <a:picLocks noChangeAspect="1"/>
          </p:cNvPicPr>
          <p:nvPr/>
        </p:nvPicPr>
        <p:blipFill>
          <a:blip r:embed="rId3">
            <a:extLst>
              <a:ext uri="{28A0092B-C50C-407E-A947-70E740481C1C}">
                <a14:useLocalDpi xmlns:a14="http://schemas.microsoft.com/office/drawing/2010/main" val="0"/>
              </a:ext>
            </a:extLst>
          </a:blip>
          <a:srcRect t="8831"/>
          <a:stretch>
            <a:fillRect/>
          </a:stretch>
        </p:blipFill>
        <p:spPr>
          <a:xfrm>
            <a:off x="2992774" y="2452841"/>
            <a:ext cx="6204651" cy="4047596"/>
          </a:xfrm>
          <a:prstGeom prst="rect">
            <a:avLst/>
          </a:prstGeom>
        </p:spPr>
      </p:pic>
      <p:sp>
        <p:nvSpPr>
          <p:cNvPr id="7" name="Titolo 1">
            <a:extLst>
              <a:ext uri="{FF2B5EF4-FFF2-40B4-BE49-F238E27FC236}">
                <a16:creationId xmlns:a16="http://schemas.microsoft.com/office/drawing/2014/main" id="{0D475A32-EFAB-0480-2F82-0F3835B1E3BB}"/>
              </a:ext>
            </a:extLst>
          </p:cNvPr>
          <p:cNvSpPr txBox="1">
            <a:spLocks/>
          </p:cNvSpPr>
          <p:nvPr/>
        </p:nvSpPr>
        <p:spPr>
          <a:xfrm>
            <a:off x="696000" y="688243"/>
            <a:ext cx="10800000" cy="559599"/>
          </a:xfrm>
          <a:prstGeom prst="roundRect">
            <a:avLst>
              <a:gd name="adj" fmla="val 0"/>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000" b="1" i="1" dirty="0">
                <a:solidFill>
                  <a:srgbClr val="002060"/>
                </a:solidFill>
                <a:ea typeface="Calibri" panose="020F0502020204030204" pitchFamily="34" charset="0"/>
                <a:cs typeface="Calibri" panose="020F0502020204030204" pitchFamily="34" charset="0"/>
              </a:rPr>
              <a:t>BACKUP SLIDE</a:t>
            </a:r>
            <a:endParaRPr lang="it-IT" sz="2000" b="1" i="1" dirty="0">
              <a:solidFill>
                <a:srgbClr val="002060"/>
              </a:solidFill>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33494900"/>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6786</TotalTime>
  <Words>2027</Words>
  <Application>Microsoft Office PowerPoint</Application>
  <PresentationFormat>Widescreen</PresentationFormat>
  <Paragraphs>409</Paragraphs>
  <Slides>27</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Aptos</vt:lpstr>
      <vt:lpstr>Aptos Display</vt:lpstr>
      <vt:lpstr>Arial</vt:lpstr>
      <vt:lpstr>Calibri</vt:lpstr>
      <vt:lpstr>Cambria Math</vt:lpstr>
      <vt:lpstr>Tema di Office</vt:lpstr>
      <vt:lpstr>PowerPoint Presentation</vt:lpstr>
      <vt:lpstr> WHAT IS ‘CHANNELING’ IN CRYSTALS?</vt:lpstr>
      <vt:lpstr> THE TWOCRYST EXPERIMENT</vt:lpstr>
      <vt:lpstr> MY ANALYSIS</vt:lpstr>
      <vt:lpstr> MY ANALYSIS</vt:lpstr>
      <vt:lpstr> THE ANALYSIS PIPELINE</vt:lpstr>
      <vt:lpstr> ANALYSIS: DETECTOR ALIGNMENT</vt:lpstr>
      <vt:lpstr> ANALYSIS: CRYSTAL EDGES</vt:lpstr>
      <vt:lpstr> ANALYSIS: CRYSTAL EDGES</vt:lpstr>
      <vt:lpstr> ANALYSIS: MAPPING THE TORSION</vt:lpstr>
      <vt:lpstr> CHANNELING EFFICIENCY</vt:lpstr>
      <vt:lpstr> CHANNELING EFFICIENCY: RESULTS</vt:lpstr>
      <vt:lpstr> CHANNELING EFFICIENCY: RESULTS</vt:lpstr>
      <vt:lpstr> CHANNELING EFFICIENCY: RESULTS</vt:lpstr>
      <vt:lpstr> WHAT’S NEXT: SIMULATION</vt:lpstr>
      <vt:lpstr> 2. PREVIOUS ANALYSIS: CRYSTAL EDGES</vt:lpstr>
      <vt:lpstr> 3. ANALYSIS: TORSION EFFECT</vt:lpstr>
      <vt:lpstr> 4. FINAL RESULTS</vt:lpstr>
      <vt:lpstr> BACKUP SLIDES</vt:lpstr>
      <vt:lpstr> SCHEMATIC LAYOUT</vt:lpstr>
      <vt:lpstr> SCHEMATIC LAYOUT</vt:lpstr>
      <vt:lpstr> SPATIAL CUT</vt:lpstr>
      <vt:lpstr> TORSION FIT</vt:lpstr>
      <vt:lpstr> ANOMALOUS RUN 8650</vt:lpstr>
      <vt:lpstr> ANGLE SELECTION</vt:lpstr>
      <vt:lpstr> ANGLE SELECTION</vt:lpstr>
      <vt:lpstr> EFFICIENCY CURVE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Sofia Moro</dc:creator>
  <cp:lastModifiedBy>Anna Sofia Moro</cp:lastModifiedBy>
  <cp:revision>46</cp:revision>
  <dcterms:created xsi:type="dcterms:W3CDTF">2026-07-09T15:21:04Z</dcterms:created>
  <dcterms:modified xsi:type="dcterms:W3CDTF">2026-08-21T14:49:06Z</dcterms:modified>
</cp:coreProperties>
</file>