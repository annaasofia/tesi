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6"/>
  </p:notesMasterIdLst>
  <p:sldIdLst>
    <p:sldId id="256" r:id="rId2"/>
    <p:sldId id="286" r:id="rId3"/>
    <p:sldId id="329" r:id="rId4"/>
    <p:sldId id="330" r:id="rId5"/>
    <p:sldId id="332" r:id="rId6"/>
    <p:sldId id="336" r:id="rId7"/>
    <p:sldId id="337" r:id="rId8"/>
    <p:sldId id="338" r:id="rId9"/>
    <p:sldId id="340" r:id="rId10"/>
    <p:sldId id="339" r:id="rId11"/>
    <p:sldId id="289" r:id="rId12"/>
    <p:sldId id="291" r:id="rId13"/>
    <p:sldId id="318" r:id="rId14"/>
    <p:sldId id="316" r:id="rId15"/>
    <p:sldId id="295" r:id="rId16"/>
    <p:sldId id="322" r:id="rId17"/>
    <p:sldId id="299" r:id="rId18"/>
    <p:sldId id="298" r:id="rId19"/>
    <p:sldId id="303" r:id="rId20"/>
    <p:sldId id="301" r:id="rId21"/>
    <p:sldId id="308" r:id="rId22"/>
    <p:sldId id="304" r:id="rId23"/>
    <p:sldId id="327" r:id="rId24"/>
    <p:sldId id="323" r:id="rId25"/>
    <p:sldId id="324" r:id="rId26"/>
    <p:sldId id="326" r:id="rId27"/>
    <p:sldId id="305" r:id="rId28"/>
    <p:sldId id="335" r:id="rId29"/>
    <p:sldId id="319" r:id="rId30"/>
    <p:sldId id="310" r:id="rId31"/>
    <p:sldId id="306" r:id="rId32"/>
    <p:sldId id="307" r:id="rId33"/>
    <p:sldId id="314" r:id="rId34"/>
    <p:sldId id="315" r:id="rId35"/>
  </p:sldIdLst>
  <p:sldSz cx="12192000" cy="6858000"/>
  <p:notesSz cx="6858000" cy="9144000"/>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2060"/>
    <a:srgbClr val="3366FF"/>
    <a:srgbClr val="FFB24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ile medio 2 - Color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essuno stile, nessuna griglia">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essuno stile, griglia tabella">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286" autoAdjust="0"/>
    <p:restoredTop sz="93162" autoAdjust="0"/>
  </p:normalViewPr>
  <p:slideViewPr>
    <p:cSldViewPr snapToGrid="0">
      <p:cViewPr varScale="1">
        <p:scale>
          <a:sx n="59" d="100"/>
          <a:sy n="59" d="100"/>
        </p:scale>
        <p:origin x="836" y="4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it-IT"/>
          </a:p>
        </p:txBody>
      </p:sp>
      <p:sp>
        <p:nvSpPr>
          <p:cNvPr id="3" name="Segnaposto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7A422DF-4847-4D6E-BB97-9B75D56F5D74}" type="datetimeFigureOut">
              <a:rPr lang="it-IT" smtClean="0"/>
              <a:t>19/08/2026</a:t>
            </a:fld>
            <a:endParaRPr lang="it-IT"/>
          </a:p>
        </p:txBody>
      </p:sp>
      <p:sp>
        <p:nvSpPr>
          <p:cNvPr id="4" name="Segnaposto immagin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it-IT"/>
          </a:p>
        </p:txBody>
      </p:sp>
      <p:sp>
        <p:nvSpPr>
          <p:cNvPr id="5" name="Segnaposto note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6" name="Segnaposto piè di pa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it-IT"/>
          </a:p>
        </p:txBody>
      </p:sp>
      <p:sp>
        <p:nvSpPr>
          <p:cNvPr id="7" name="Segnaposto numero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205392F-55BF-4B8E-AF01-45F81C88C286}" type="slidenum">
              <a:rPr lang="it-IT" smtClean="0"/>
              <a:t>‹#›</a:t>
            </a:fld>
            <a:endParaRPr lang="it-IT"/>
          </a:p>
        </p:txBody>
      </p:sp>
    </p:spTree>
    <p:extLst>
      <p:ext uri="{BB962C8B-B14F-4D97-AF65-F5344CB8AC3E}">
        <p14:creationId xmlns:p14="http://schemas.microsoft.com/office/powerpoint/2010/main" val="19707561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dirty="0"/>
          </a:p>
        </p:txBody>
      </p:sp>
      <p:sp>
        <p:nvSpPr>
          <p:cNvPr id="4" name="Segnaposto numero diapositiva 3"/>
          <p:cNvSpPr>
            <a:spLocks noGrp="1"/>
          </p:cNvSpPr>
          <p:nvPr>
            <p:ph type="sldNum" sz="quarter" idx="5"/>
          </p:nvPr>
        </p:nvSpPr>
        <p:spPr/>
        <p:txBody>
          <a:bodyPr/>
          <a:lstStyle/>
          <a:p>
            <a:fld id="{C205392F-55BF-4B8E-AF01-45F81C88C286}" type="slidenum">
              <a:rPr lang="it-IT" smtClean="0"/>
              <a:t>2</a:t>
            </a:fld>
            <a:endParaRPr lang="it-IT"/>
          </a:p>
        </p:txBody>
      </p:sp>
    </p:spTree>
    <p:extLst>
      <p:ext uri="{BB962C8B-B14F-4D97-AF65-F5344CB8AC3E}">
        <p14:creationId xmlns:p14="http://schemas.microsoft.com/office/powerpoint/2010/main" val="42340378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63B66E-326D-AD04-5FCA-205BF81AABFD}"/>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97EB9839-9517-6898-FE86-3B43CDF0FB30}"/>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6B41770D-457C-C243-E408-0872EE012A28}"/>
              </a:ext>
            </a:extLst>
          </p:cNvPr>
          <p:cNvSpPr>
            <a:spLocks noGrp="1"/>
          </p:cNvSpPr>
          <p:nvPr>
            <p:ph type="body" idx="1"/>
          </p:nvPr>
        </p:nvSpPr>
        <p:spPr/>
        <p:txBody>
          <a:bodyPr/>
          <a:lstStyle/>
          <a:p>
            <a:endParaRPr lang="it-IT" dirty="0"/>
          </a:p>
        </p:txBody>
      </p:sp>
      <p:sp>
        <p:nvSpPr>
          <p:cNvPr id="4" name="Segnaposto numero diapositiva 3">
            <a:extLst>
              <a:ext uri="{FF2B5EF4-FFF2-40B4-BE49-F238E27FC236}">
                <a16:creationId xmlns:a16="http://schemas.microsoft.com/office/drawing/2014/main" id="{A6CEA48B-8F5E-2B22-0223-AF2CD15BFE7B}"/>
              </a:ext>
            </a:extLst>
          </p:cNvPr>
          <p:cNvSpPr>
            <a:spLocks noGrp="1"/>
          </p:cNvSpPr>
          <p:nvPr>
            <p:ph type="sldNum" sz="quarter" idx="5"/>
          </p:nvPr>
        </p:nvSpPr>
        <p:spPr/>
        <p:txBody>
          <a:bodyPr/>
          <a:lstStyle/>
          <a:p>
            <a:fld id="{C205392F-55BF-4B8E-AF01-45F81C88C286}" type="slidenum">
              <a:rPr lang="it-IT" smtClean="0"/>
              <a:t>3</a:t>
            </a:fld>
            <a:endParaRPr lang="it-IT"/>
          </a:p>
        </p:txBody>
      </p:sp>
    </p:spTree>
    <p:extLst>
      <p:ext uri="{BB962C8B-B14F-4D97-AF65-F5344CB8AC3E}">
        <p14:creationId xmlns:p14="http://schemas.microsoft.com/office/powerpoint/2010/main" val="140280743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599611-5A3C-561F-B26E-3823D4E0CD7C}"/>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B8A75BB9-E712-75E6-D470-2CD344D292FC}"/>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BE429AC5-F0C7-CC11-618D-0017723CB1D0}"/>
              </a:ext>
            </a:extLst>
          </p:cNvPr>
          <p:cNvSpPr>
            <a:spLocks noGrp="1"/>
          </p:cNvSpPr>
          <p:nvPr>
            <p:ph type="body" idx="1"/>
          </p:nvPr>
        </p:nvSpPr>
        <p:spPr/>
        <p:txBody>
          <a:bodyPr/>
          <a:lstStyle/>
          <a:p>
            <a:endParaRPr lang="it-IT" dirty="0"/>
          </a:p>
        </p:txBody>
      </p:sp>
      <p:sp>
        <p:nvSpPr>
          <p:cNvPr id="4" name="Segnaposto numero diapositiva 3">
            <a:extLst>
              <a:ext uri="{FF2B5EF4-FFF2-40B4-BE49-F238E27FC236}">
                <a16:creationId xmlns:a16="http://schemas.microsoft.com/office/drawing/2014/main" id="{D4C4EB7C-05E4-3671-01DB-9B5DA46E6762}"/>
              </a:ext>
            </a:extLst>
          </p:cNvPr>
          <p:cNvSpPr>
            <a:spLocks noGrp="1"/>
          </p:cNvSpPr>
          <p:nvPr>
            <p:ph type="sldNum" sz="quarter" idx="5"/>
          </p:nvPr>
        </p:nvSpPr>
        <p:spPr/>
        <p:txBody>
          <a:bodyPr/>
          <a:lstStyle/>
          <a:p>
            <a:fld id="{C205392F-55BF-4B8E-AF01-45F81C88C286}" type="slidenum">
              <a:rPr lang="it-IT" smtClean="0"/>
              <a:t>4</a:t>
            </a:fld>
            <a:endParaRPr lang="it-IT"/>
          </a:p>
        </p:txBody>
      </p:sp>
    </p:spTree>
    <p:extLst>
      <p:ext uri="{BB962C8B-B14F-4D97-AF65-F5344CB8AC3E}">
        <p14:creationId xmlns:p14="http://schemas.microsoft.com/office/powerpoint/2010/main" val="22369138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CEF183-8FB4-A481-12DD-D064142CC20E}"/>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B25E31ED-EA35-1028-F14F-50117AAB798F}"/>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0DC09ABD-62A6-0180-C849-0D6D9416C776}"/>
              </a:ext>
            </a:extLst>
          </p:cNvPr>
          <p:cNvSpPr>
            <a:spLocks noGrp="1"/>
          </p:cNvSpPr>
          <p:nvPr>
            <p:ph type="body" idx="1"/>
          </p:nvPr>
        </p:nvSpPr>
        <p:spPr/>
        <p:txBody>
          <a:bodyPr/>
          <a:lstStyle/>
          <a:p>
            <a:endParaRPr lang="it-IT" dirty="0"/>
          </a:p>
        </p:txBody>
      </p:sp>
      <p:sp>
        <p:nvSpPr>
          <p:cNvPr id="4" name="Segnaposto numero diapositiva 3">
            <a:extLst>
              <a:ext uri="{FF2B5EF4-FFF2-40B4-BE49-F238E27FC236}">
                <a16:creationId xmlns:a16="http://schemas.microsoft.com/office/drawing/2014/main" id="{D6F503A9-8AF6-A7A9-DD99-6E890C368A56}"/>
              </a:ext>
            </a:extLst>
          </p:cNvPr>
          <p:cNvSpPr>
            <a:spLocks noGrp="1"/>
          </p:cNvSpPr>
          <p:nvPr>
            <p:ph type="sldNum" sz="quarter" idx="5"/>
          </p:nvPr>
        </p:nvSpPr>
        <p:spPr/>
        <p:txBody>
          <a:bodyPr/>
          <a:lstStyle/>
          <a:p>
            <a:fld id="{C205392F-55BF-4B8E-AF01-45F81C88C286}" type="slidenum">
              <a:rPr lang="it-IT" smtClean="0"/>
              <a:t>5</a:t>
            </a:fld>
            <a:endParaRPr lang="it-IT"/>
          </a:p>
        </p:txBody>
      </p:sp>
    </p:spTree>
    <p:extLst>
      <p:ext uri="{BB962C8B-B14F-4D97-AF65-F5344CB8AC3E}">
        <p14:creationId xmlns:p14="http://schemas.microsoft.com/office/powerpoint/2010/main" val="88674196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4E3706-CCF1-F1BD-7FF5-37E9E1364C62}"/>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AFD50039-F4EC-91B6-2FEF-FAC16B0FDDD1}"/>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F5C03E5C-A0B9-D650-2BC9-3D64A36000FF}"/>
              </a:ext>
            </a:extLst>
          </p:cNvPr>
          <p:cNvSpPr>
            <a:spLocks noGrp="1"/>
          </p:cNvSpPr>
          <p:nvPr>
            <p:ph type="body" idx="1"/>
          </p:nvPr>
        </p:nvSpPr>
        <p:spPr/>
        <p:txBody>
          <a:bodyPr/>
          <a:lstStyle/>
          <a:p>
            <a:endParaRPr lang="it-IT" dirty="0"/>
          </a:p>
        </p:txBody>
      </p:sp>
      <p:sp>
        <p:nvSpPr>
          <p:cNvPr id="4" name="Segnaposto numero diapositiva 3">
            <a:extLst>
              <a:ext uri="{FF2B5EF4-FFF2-40B4-BE49-F238E27FC236}">
                <a16:creationId xmlns:a16="http://schemas.microsoft.com/office/drawing/2014/main" id="{94F019EE-DF93-EF47-CE0E-F0B6177A47E9}"/>
              </a:ext>
            </a:extLst>
          </p:cNvPr>
          <p:cNvSpPr>
            <a:spLocks noGrp="1"/>
          </p:cNvSpPr>
          <p:nvPr>
            <p:ph type="sldNum" sz="quarter" idx="5"/>
          </p:nvPr>
        </p:nvSpPr>
        <p:spPr/>
        <p:txBody>
          <a:bodyPr/>
          <a:lstStyle/>
          <a:p>
            <a:fld id="{C205392F-55BF-4B8E-AF01-45F81C88C286}" type="slidenum">
              <a:rPr lang="it-IT" smtClean="0"/>
              <a:t>6</a:t>
            </a:fld>
            <a:endParaRPr lang="it-IT"/>
          </a:p>
        </p:txBody>
      </p:sp>
    </p:spTree>
    <p:extLst>
      <p:ext uri="{BB962C8B-B14F-4D97-AF65-F5344CB8AC3E}">
        <p14:creationId xmlns:p14="http://schemas.microsoft.com/office/powerpoint/2010/main" val="15760625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72ECF2-F2F7-02D8-41B8-C5989399C1AF}"/>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E31141CC-29EC-B25A-5A25-454EAAFF7843}"/>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351A456D-EBE7-4B50-82A5-179690F493C3}"/>
              </a:ext>
            </a:extLst>
          </p:cNvPr>
          <p:cNvSpPr>
            <a:spLocks noGrp="1"/>
          </p:cNvSpPr>
          <p:nvPr>
            <p:ph type="body" idx="1"/>
          </p:nvPr>
        </p:nvSpPr>
        <p:spPr/>
        <p:txBody>
          <a:bodyPr/>
          <a:lstStyle/>
          <a:p>
            <a:endParaRPr lang="it-IT" dirty="0"/>
          </a:p>
        </p:txBody>
      </p:sp>
      <p:sp>
        <p:nvSpPr>
          <p:cNvPr id="4" name="Segnaposto numero diapositiva 3">
            <a:extLst>
              <a:ext uri="{FF2B5EF4-FFF2-40B4-BE49-F238E27FC236}">
                <a16:creationId xmlns:a16="http://schemas.microsoft.com/office/drawing/2014/main" id="{DAFEA273-B27C-17EC-E01F-AB1F8C496038}"/>
              </a:ext>
            </a:extLst>
          </p:cNvPr>
          <p:cNvSpPr>
            <a:spLocks noGrp="1"/>
          </p:cNvSpPr>
          <p:nvPr>
            <p:ph type="sldNum" sz="quarter" idx="5"/>
          </p:nvPr>
        </p:nvSpPr>
        <p:spPr/>
        <p:txBody>
          <a:bodyPr/>
          <a:lstStyle/>
          <a:p>
            <a:fld id="{C205392F-55BF-4B8E-AF01-45F81C88C286}" type="slidenum">
              <a:rPr lang="it-IT" smtClean="0"/>
              <a:t>7</a:t>
            </a:fld>
            <a:endParaRPr lang="it-IT"/>
          </a:p>
        </p:txBody>
      </p:sp>
    </p:spTree>
    <p:extLst>
      <p:ext uri="{BB962C8B-B14F-4D97-AF65-F5344CB8AC3E}">
        <p14:creationId xmlns:p14="http://schemas.microsoft.com/office/powerpoint/2010/main" val="189583770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74D496-77A0-606B-AC87-B3878B9C9F05}"/>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D876FAE5-6FA4-1578-CD47-EDDD37896BA2}"/>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3DC3D6FB-6C6D-3695-D9C3-1038FE3DA92A}"/>
              </a:ext>
            </a:extLst>
          </p:cNvPr>
          <p:cNvSpPr>
            <a:spLocks noGrp="1"/>
          </p:cNvSpPr>
          <p:nvPr>
            <p:ph type="body" idx="1"/>
          </p:nvPr>
        </p:nvSpPr>
        <p:spPr/>
        <p:txBody>
          <a:bodyPr/>
          <a:lstStyle/>
          <a:p>
            <a:endParaRPr lang="it-IT" dirty="0"/>
          </a:p>
        </p:txBody>
      </p:sp>
      <p:sp>
        <p:nvSpPr>
          <p:cNvPr id="4" name="Segnaposto numero diapositiva 3">
            <a:extLst>
              <a:ext uri="{FF2B5EF4-FFF2-40B4-BE49-F238E27FC236}">
                <a16:creationId xmlns:a16="http://schemas.microsoft.com/office/drawing/2014/main" id="{18B00306-1722-D589-8ADA-1F3C0AAAFECB}"/>
              </a:ext>
            </a:extLst>
          </p:cNvPr>
          <p:cNvSpPr>
            <a:spLocks noGrp="1"/>
          </p:cNvSpPr>
          <p:nvPr>
            <p:ph type="sldNum" sz="quarter" idx="5"/>
          </p:nvPr>
        </p:nvSpPr>
        <p:spPr/>
        <p:txBody>
          <a:bodyPr/>
          <a:lstStyle/>
          <a:p>
            <a:fld id="{C205392F-55BF-4B8E-AF01-45F81C88C286}" type="slidenum">
              <a:rPr lang="it-IT" smtClean="0"/>
              <a:t>8</a:t>
            </a:fld>
            <a:endParaRPr lang="it-IT"/>
          </a:p>
        </p:txBody>
      </p:sp>
    </p:spTree>
    <p:extLst>
      <p:ext uri="{BB962C8B-B14F-4D97-AF65-F5344CB8AC3E}">
        <p14:creationId xmlns:p14="http://schemas.microsoft.com/office/powerpoint/2010/main" val="356888423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402879-4B1B-9C17-094B-F5765074296D}"/>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810EB90D-9E90-26C1-04D6-B30608F49579}"/>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BBB55BC0-E5B6-EBA4-F6C9-7BFAEE0BEBF3}"/>
              </a:ext>
            </a:extLst>
          </p:cNvPr>
          <p:cNvSpPr>
            <a:spLocks noGrp="1"/>
          </p:cNvSpPr>
          <p:nvPr>
            <p:ph type="body" idx="1"/>
          </p:nvPr>
        </p:nvSpPr>
        <p:spPr/>
        <p:txBody>
          <a:bodyPr/>
          <a:lstStyle/>
          <a:p>
            <a:endParaRPr lang="it-IT" dirty="0"/>
          </a:p>
        </p:txBody>
      </p:sp>
      <p:sp>
        <p:nvSpPr>
          <p:cNvPr id="4" name="Segnaposto numero diapositiva 3">
            <a:extLst>
              <a:ext uri="{FF2B5EF4-FFF2-40B4-BE49-F238E27FC236}">
                <a16:creationId xmlns:a16="http://schemas.microsoft.com/office/drawing/2014/main" id="{205CD48A-B57B-3675-9AD3-2CC1930AC2B3}"/>
              </a:ext>
            </a:extLst>
          </p:cNvPr>
          <p:cNvSpPr>
            <a:spLocks noGrp="1"/>
          </p:cNvSpPr>
          <p:nvPr>
            <p:ph type="sldNum" sz="quarter" idx="5"/>
          </p:nvPr>
        </p:nvSpPr>
        <p:spPr/>
        <p:txBody>
          <a:bodyPr/>
          <a:lstStyle/>
          <a:p>
            <a:fld id="{C205392F-55BF-4B8E-AF01-45F81C88C286}" type="slidenum">
              <a:rPr lang="it-IT" smtClean="0"/>
              <a:t>9</a:t>
            </a:fld>
            <a:endParaRPr lang="it-IT"/>
          </a:p>
        </p:txBody>
      </p:sp>
    </p:spTree>
    <p:extLst>
      <p:ext uri="{BB962C8B-B14F-4D97-AF65-F5344CB8AC3E}">
        <p14:creationId xmlns:p14="http://schemas.microsoft.com/office/powerpoint/2010/main" val="310486099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CC9400-DEB2-5D10-7269-08DB51F9D2CF}"/>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F7947CD2-8F23-B8DE-0F21-DF19D58685E7}"/>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E13C93F0-6750-8A3D-09A2-897DA29AD412}"/>
              </a:ext>
            </a:extLst>
          </p:cNvPr>
          <p:cNvSpPr>
            <a:spLocks noGrp="1"/>
          </p:cNvSpPr>
          <p:nvPr>
            <p:ph type="body" idx="1"/>
          </p:nvPr>
        </p:nvSpPr>
        <p:spPr/>
        <p:txBody>
          <a:bodyPr/>
          <a:lstStyle/>
          <a:p>
            <a:endParaRPr lang="it-IT" dirty="0"/>
          </a:p>
        </p:txBody>
      </p:sp>
      <p:sp>
        <p:nvSpPr>
          <p:cNvPr id="4" name="Segnaposto numero diapositiva 3">
            <a:extLst>
              <a:ext uri="{FF2B5EF4-FFF2-40B4-BE49-F238E27FC236}">
                <a16:creationId xmlns:a16="http://schemas.microsoft.com/office/drawing/2014/main" id="{EEFF5685-94FB-C0AE-9BF6-C064656648A7}"/>
              </a:ext>
            </a:extLst>
          </p:cNvPr>
          <p:cNvSpPr>
            <a:spLocks noGrp="1"/>
          </p:cNvSpPr>
          <p:nvPr>
            <p:ph type="sldNum" sz="quarter" idx="5"/>
          </p:nvPr>
        </p:nvSpPr>
        <p:spPr/>
        <p:txBody>
          <a:bodyPr/>
          <a:lstStyle/>
          <a:p>
            <a:fld id="{C205392F-55BF-4B8E-AF01-45F81C88C286}" type="slidenum">
              <a:rPr lang="it-IT" smtClean="0"/>
              <a:t>10</a:t>
            </a:fld>
            <a:endParaRPr lang="it-IT"/>
          </a:p>
        </p:txBody>
      </p:sp>
    </p:spTree>
    <p:extLst>
      <p:ext uri="{BB962C8B-B14F-4D97-AF65-F5344CB8AC3E}">
        <p14:creationId xmlns:p14="http://schemas.microsoft.com/office/powerpoint/2010/main" val="29711102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dirty="0"/>
              <a:t>To </a:t>
            </a:r>
            <a:r>
              <a:rPr lang="it-IT" dirty="0" err="1"/>
              <a:t>define</a:t>
            </a:r>
            <a:r>
              <a:rPr lang="it-IT" dirty="0"/>
              <a:t> the position of the </a:t>
            </a:r>
            <a:r>
              <a:rPr lang="it-IT" dirty="0" err="1"/>
              <a:t>crystal</a:t>
            </a:r>
            <a:r>
              <a:rPr lang="it-IT" dirty="0"/>
              <a:t> with </a:t>
            </a:r>
            <a:r>
              <a:rPr lang="it-IT" dirty="0" err="1"/>
              <a:t>respect</a:t>
            </a:r>
            <a:r>
              <a:rPr lang="it-IT" dirty="0"/>
              <a:t> to the </a:t>
            </a:r>
            <a:r>
              <a:rPr lang="it-IT" dirty="0" err="1"/>
              <a:t>beam</a:t>
            </a:r>
            <a:r>
              <a:rPr lang="it-IT" dirty="0"/>
              <a:t>, we </a:t>
            </a:r>
            <a:r>
              <a:rPr lang="it-IT" dirty="0" err="1"/>
              <a:t>looked</a:t>
            </a:r>
            <a:r>
              <a:rPr lang="it-IT" dirty="0"/>
              <a:t> </a:t>
            </a:r>
            <a:r>
              <a:rPr lang="it-IT" dirty="0" err="1"/>
              <a:t>specifically</a:t>
            </a:r>
            <a:r>
              <a:rPr lang="it-IT" dirty="0"/>
              <a:t> </a:t>
            </a:r>
            <a:r>
              <a:rPr lang="it-IT" dirty="0" err="1"/>
              <a:t>at</a:t>
            </a:r>
            <a:r>
              <a:rPr lang="it-IT" dirty="0"/>
              <a:t> </a:t>
            </a:r>
            <a:r>
              <a:rPr lang="it-IT" dirty="0" err="1"/>
              <a:t>channeled</a:t>
            </a:r>
            <a:r>
              <a:rPr lang="it-IT" dirty="0"/>
              <a:t> </a:t>
            </a:r>
            <a:r>
              <a:rPr lang="it-IT" dirty="0" err="1"/>
              <a:t>particles</a:t>
            </a:r>
            <a:r>
              <a:rPr lang="it-IT" dirty="0"/>
              <a:t>.</a:t>
            </a:r>
          </a:p>
          <a:p>
            <a:r>
              <a:rPr lang="it-IT" dirty="0"/>
              <a:t>The impact points of </a:t>
            </a:r>
            <a:r>
              <a:rPr lang="it-IT" dirty="0" err="1"/>
              <a:t>these</a:t>
            </a:r>
            <a:r>
              <a:rPr lang="it-IT" dirty="0"/>
              <a:t> </a:t>
            </a:r>
            <a:r>
              <a:rPr lang="it-IT" dirty="0" err="1"/>
              <a:t>particles</a:t>
            </a:r>
            <a:r>
              <a:rPr lang="it-IT" dirty="0"/>
              <a:t> </a:t>
            </a:r>
            <a:r>
              <a:rPr lang="it-IT" dirty="0" err="1"/>
              <a:t>revealed</a:t>
            </a:r>
            <a:r>
              <a:rPr lang="it-IT" dirty="0"/>
              <a:t> the </a:t>
            </a:r>
            <a:r>
              <a:rPr lang="it-IT" dirty="0" err="1"/>
              <a:t>physical</a:t>
            </a:r>
            <a:r>
              <a:rPr lang="it-IT" dirty="0"/>
              <a:t> location of the </a:t>
            </a:r>
            <a:r>
              <a:rPr lang="it-IT" dirty="0" err="1"/>
              <a:t>crystal</a:t>
            </a:r>
            <a:r>
              <a:rPr lang="it-IT" dirty="0"/>
              <a:t>, matching </a:t>
            </a:r>
            <a:r>
              <a:rPr lang="it-IT" dirty="0" err="1"/>
              <a:t>its</a:t>
            </a:r>
            <a:r>
              <a:rPr lang="it-IT" dirty="0"/>
              <a:t> </a:t>
            </a:r>
            <a:r>
              <a:rPr lang="it-IT" dirty="0" err="1"/>
              <a:t>expected</a:t>
            </a:r>
            <a:r>
              <a:rPr lang="it-IT" dirty="0"/>
              <a:t> </a:t>
            </a:r>
            <a:r>
              <a:rPr lang="it-IT" dirty="0" err="1"/>
              <a:t>dimensions</a:t>
            </a:r>
            <a:r>
              <a:rPr lang="it-IT" dirty="0"/>
              <a:t> of 2 by 8 </a:t>
            </a:r>
            <a:r>
              <a:rPr lang="it-IT" dirty="0" err="1"/>
              <a:t>millimeters</a:t>
            </a:r>
            <a:endParaRPr lang="it-IT" dirty="0"/>
          </a:p>
        </p:txBody>
      </p:sp>
      <p:sp>
        <p:nvSpPr>
          <p:cNvPr id="4" name="Segnaposto numero diapositiva 3"/>
          <p:cNvSpPr>
            <a:spLocks noGrp="1"/>
          </p:cNvSpPr>
          <p:nvPr>
            <p:ph type="sldNum" sz="quarter" idx="5"/>
          </p:nvPr>
        </p:nvSpPr>
        <p:spPr/>
        <p:txBody>
          <a:bodyPr/>
          <a:lstStyle/>
          <a:p>
            <a:fld id="{C205392F-55BF-4B8E-AF01-45F81C88C286}" type="slidenum">
              <a:rPr lang="it-IT" smtClean="0"/>
              <a:t>11</a:t>
            </a:fld>
            <a:endParaRPr lang="it-IT"/>
          </a:p>
        </p:txBody>
      </p:sp>
    </p:spTree>
    <p:extLst>
      <p:ext uri="{BB962C8B-B14F-4D97-AF65-F5344CB8AC3E}">
        <p14:creationId xmlns:p14="http://schemas.microsoft.com/office/powerpoint/2010/main" val="251121175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sz="1200" b="0" i="0" kern="1200" dirty="0">
                <a:solidFill>
                  <a:schemeClr val="tx1"/>
                </a:solidFill>
                <a:effectLst/>
                <a:latin typeface="+mn-lt"/>
                <a:ea typeface="+mn-ea"/>
                <a:cs typeface="+mn-cs"/>
              </a:rPr>
              <a:t>While the </a:t>
            </a:r>
            <a:r>
              <a:rPr lang="it-IT" sz="1200" b="0" i="0" kern="1200" dirty="0" err="1">
                <a:solidFill>
                  <a:schemeClr val="tx1"/>
                </a:solidFill>
                <a:effectLst/>
                <a:latin typeface="+mn-lt"/>
                <a:ea typeface="+mn-ea"/>
                <a:cs typeface="+mn-cs"/>
              </a:rPr>
              <a:t>crystal</a:t>
            </a:r>
            <a:r>
              <a:rPr lang="it-IT" sz="1200" b="0" i="0" kern="1200" dirty="0">
                <a:solidFill>
                  <a:schemeClr val="tx1"/>
                </a:solidFill>
                <a:effectLst/>
                <a:latin typeface="+mn-lt"/>
                <a:ea typeface="+mn-ea"/>
                <a:cs typeface="+mn-cs"/>
              </a:rPr>
              <a:t> </a:t>
            </a:r>
            <a:r>
              <a:rPr lang="it-IT" sz="1200" b="0" i="0" kern="1200" dirty="0" err="1">
                <a:solidFill>
                  <a:schemeClr val="tx1"/>
                </a:solidFill>
                <a:effectLst/>
                <a:latin typeface="+mn-lt"/>
                <a:ea typeface="+mn-ea"/>
                <a:cs typeface="+mn-cs"/>
              </a:rPr>
              <a:t>edges</a:t>
            </a:r>
            <a:r>
              <a:rPr lang="it-IT" sz="1200" b="0" i="0" kern="1200" dirty="0">
                <a:solidFill>
                  <a:schemeClr val="tx1"/>
                </a:solidFill>
                <a:effectLst/>
                <a:latin typeface="+mn-lt"/>
                <a:ea typeface="+mn-ea"/>
                <a:cs typeface="+mn-cs"/>
              </a:rPr>
              <a:t> are </a:t>
            </a:r>
            <a:r>
              <a:rPr lang="it-IT" sz="1200" b="0" i="0" kern="1200" dirty="0" err="1">
                <a:solidFill>
                  <a:schemeClr val="tx1"/>
                </a:solidFill>
                <a:effectLst/>
                <a:latin typeface="+mn-lt"/>
                <a:ea typeface="+mn-ea"/>
                <a:cs typeface="+mn-cs"/>
              </a:rPr>
              <a:t>identified</a:t>
            </a:r>
            <a:r>
              <a:rPr lang="it-IT" sz="1200" b="0" i="0" kern="1200" dirty="0">
                <a:solidFill>
                  <a:schemeClr val="tx1"/>
                </a:solidFill>
                <a:effectLst/>
                <a:latin typeface="+mn-lt"/>
                <a:ea typeface="+mn-ea"/>
                <a:cs typeface="+mn-cs"/>
              </a:rPr>
              <a:t> using the </a:t>
            </a:r>
            <a:r>
              <a:rPr lang="it-IT" sz="1200" b="0" i="1" kern="1200" dirty="0">
                <a:solidFill>
                  <a:schemeClr val="tx1"/>
                </a:solidFill>
                <a:effectLst/>
                <a:latin typeface="+mn-lt"/>
                <a:ea typeface="+mn-ea"/>
                <a:cs typeface="+mn-cs"/>
              </a:rPr>
              <a:t>downstream</a:t>
            </a:r>
            <a:r>
              <a:rPr lang="it-IT" sz="1200" b="0" i="0" kern="1200" dirty="0">
                <a:solidFill>
                  <a:schemeClr val="tx1"/>
                </a:solidFill>
                <a:effectLst/>
                <a:latin typeface="+mn-lt"/>
                <a:ea typeface="+mn-ea"/>
                <a:cs typeface="+mn-cs"/>
              </a:rPr>
              <a:t> </a:t>
            </a:r>
            <a:r>
              <a:rPr lang="it-IT" sz="1200" b="0" i="0" kern="1200" dirty="0" err="1">
                <a:solidFill>
                  <a:schemeClr val="tx1"/>
                </a:solidFill>
                <a:effectLst/>
                <a:latin typeface="+mn-lt"/>
                <a:ea typeface="+mn-ea"/>
                <a:cs typeface="+mn-cs"/>
              </a:rPr>
              <a:t>particle</a:t>
            </a:r>
            <a:r>
              <a:rPr lang="it-IT" sz="1200" b="0" i="0" kern="1200" dirty="0">
                <a:solidFill>
                  <a:schemeClr val="tx1"/>
                </a:solidFill>
                <a:effectLst/>
                <a:latin typeface="+mn-lt"/>
                <a:ea typeface="+mn-ea"/>
                <a:cs typeface="+mn-cs"/>
              </a:rPr>
              <a:t> </a:t>
            </a:r>
            <a:r>
              <a:rPr lang="it-IT" sz="1200" b="0" i="0" kern="1200" dirty="0" err="1">
                <a:solidFill>
                  <a:schemeClr val="tx1"/>
                </a:solidFill>
                <a:effectLst/>
                <a:latin typeface="+mn-lt"/>
                <a:ea typeface="+mn-ea"/>
                <a:cs typeface="+mn-cs"/>
              </a:rPr>
              <a:t>profiles</a:t>
            </a:r>
            <a:r>
              <a:rPr lang="it-IT" sz="1200" b="0" i="0" kern="1200" dirty="0">
                <a:solidFill>
                  <a:schemeClr val="tx1"/>
                </a:solidFill>
                <a:effectLst/>
                <a:latin typeface="+mn-lt"/>
                <a:ea typeface="+mn-ea"/>
                <a:cs typeface="+mn-cs"/>
              </a:rPr>
              <a:t> (</a:t>
            </a:r>
            <a:r>
              <a:rPr lang="it-IT" sz="1200" b="0" i="0" kern="1200" dirty="0" err="1">
                <a:solidFill>
                  <a:schemeClr val="tx1"/>
                </a:solidFill>
                <a:effectLst/>
                <a:latin typeface="+mn-lt"/>
                <a:ea typeface="+mn-ea"/>
                <a:cs typeface="+mn-cs"/>
              </a:rPr>
              <a:t>where</a:t>
            </a:r>
            <a:r>
              <a:rPr lang="it-IT" sz="1200" b="0" i="0" kern="1200" dirty="0">
                <a:solidFill>
                  <a:schemeClr val="tx1"/>
                </a:solidFill>
                <a:effectLst/>
                <a:latin typeface="+mn-lt"/>
                <a:ea typeface="+mn-ea"/>
                <a:cs typeface="+mn-cs"/>
              </a:rPr>
              <a:t> </a:t>
            </a:r>
            <a:r>
              <a:rPr lang="it-IT" sz="1200" b="0" i="0" kern="1200" dirty="0" err="1">
                <a:solidFill>
                  <a:schemeClr val="tx1"/>
                </a:solidFill>
                <a:effectLst/>
                <a:latin typeface="+mn-lt"/>
                <a:ea typeface="+mn-ea"/>
                <a:cs typeface="+mn-cs"/>
              </a:rPr>
              <a:t>channeled</a:t>
            </a:r>
            <a:r>
              <a:rPr lang="it-IT" sz="1200" b="0" i="0" kern="1200" dirty="0">
                <a:solidFill>
                  <a:schemeClr val="tx1"/>
                </a:solidFill>
                <a:effectLst/>
                <a:latin typeface="+mn-lt"/>
                <a:ea typeface="+mn-ea"/>
                <a:cs typeface="+mn-cs"/>
              </a:rPr>
              <a:t> </a:t>
            </a:r>
            <a:r>
              <a:rPr lang="it-IT" sz="1200" b="0" i="0" kern="1200" dirty="0" err="1">
                <a:solidFill>
                  <a:schemeClr val="tx1"/>
                </a:solidFill>
                <a:effectLst/>
                <a:latin typeface="+mn-lt"/>
                <a:ea typeface="+mn-ea"/>
                <a:cs typeface="+mn-cs"/>
              </a:rPr>
              <a:t>particles</a:t>
            </a:r>
            <a:r>
              <a:rPr lang="it-IT" sz="1200" b="0" i="0" kern="1200" dirty="0">
                <a:solidFill>
                  <a:schemeClr val="tx1"/>
                </a:solidFill>
                <a:effectLst/>
                <a:latin typeface="+mn-lt"/>
                <a:ea typeface="+mn-ea"/>
                <a:cs typeface="+mn-cs"/>
              </a:rPr>
              <a:t> are </a:t>
            </a:r>
            <a:r>
              <a:rPr lang="it-IT" sz="1200" b="0" i="0" kern="1200" dirty="0" err="1">
                <a:solidFill>
                  <a:schemeClr val="tx1"/>
                </a:solidFill>
                <a:effectLst/>
                <a:latin typeface="+mn-lt"/>
                <a:ea typeface="+mn-ea"/>
                <a:cs typeface="+mn-cs"/>
              </a:rPr>
              <a:t>distinctly</a:t>
            </a:r>
            <a:r>
              <a:rPr lang="it-IT" sz="1200" b="0" i="0" kern="1200" dirty="0">
                <a:solidFill>
                  <a:schemeClr val="tx1"/>
                </a:solidFill>
                <a:effectLst/>
                <a:latin typeface="+mn-lt"/>
                <a:ea typeface="+mn-ea"/>
                <a:cs typeface="+mn-cs"/>
              </a:rPr>
              <a:t> </a:t>
            </a:r>
            <a:r>
              <a:rPr lang="it-IT" sz="1200" b="0" i="0" kern="1200" dirty="0" err="1">
                <a:solidFill>
                  <a:schemeClr val="tx1"/>
                </a:solidFill>
                <a:effectLst/>
                <a:latin typeface="+mn-lt"/>
                <a:ea typeface="+mn-ea"/>
                <a:cs typeface="+mn-cs"/>
              </a:rPr>
              <a:t>separated</a:t>
            </a:r>
            <a:r>
              <a:rPr lang="it-IT" sz="1200" b="0" i="0" kern="1200" dirty="0">
                <a:solidFill>
                  <a:schemeClr val="tx1"/>
                </a:solidFill>
                <a:effectLst/>
                <a:latin typeface="+mn-lt"/>
                <a:ea typeface="+mn-ea"/>
                <a:cs typeface="+mn-cs"/>
              </a:rPr>
              <a:t>), </a:t>
            </a:r>
            <a:r>
              <a:rPr lang="it-IT" sz="1200" b="0" i="0" kern="1200" dirty="0" err="1">
                <a:solidFill>
                  <a:schemeClr val="tx1"/>
                </a:solidFill>
                <a:effectLst/>
                <a:latin typeface="+mn-lt"/>
                <a:ea typeface="+mn-ea"/>
                <a:cs typeface="+mn-cs"/>
              </a:rPr>
              <a:t>our</a:t>
            </a:r>
            <a:r>
              <a:rPr lang="it-IT" sz="1200" b="0" i="0" kern="1200" dirty="0">
                <a:solidFill>
                  <a:schemeClr val="tx1"/>
                </a:solidFill>
                <a:effectLst/>
                <a:latin typeface="+mn-lt"/>
                <a:ea typeface="+mn-ea"/>
                <a:cs typeface="+mn-cs"/>
              </a:rPr>
              <a:t> </a:t>
            </a:r>
            <a:r>
              <a:rPr lang="it-IT" sz="1200" b="0" i="0" kern="1200" dirty="0" err="1">
                <a:solidFill>
                  <a:schemeClr val="tx1"/>
                </a:solidFill>
                <a:effectLst/>
                <a:latin typeface="+mn-lt"/>
                <a:ea typeface="+mn-ea"/>
                <a:cs typeface="+mn-cs"/>
              </a:rPr>
              <a:t>subsequent</a:t>
            </a:r>
            <a:r>
              <a:rPr lang="it-IT" sz="1200" b="0" i="0" kern="1200" dirty="0">
                <a:solidFill>
                  <a:schemeClr val="tx1"/>
                </a:solidFill>
                <a:effectLst/>
                <a:latin typeface="+mn-lt"/>
                <a:ea typeface="+mn-ea"/>
                <a:cs typeface="+mn-cs"/>
              </a:rPr>
              <a:t> </a:t>
            </a:r>
            <a:r>
              <a:rPr lang="it-IT" sz="1200" b="0" i="0" kern="1200" dirty="0" err="1">
                <a:solidFill>
                  <a:schemeClr val="tx1"/>
                </a:solidFill>
                <a:effectLst/>
                <a:latin typeface="+mn-lt"/>
                <a:ea typeface="+mn-ea"/>
                <a:cs typeface="+mn-cs"/>
              </a:rPr>
              <a:t>analysis</a:t>
            </a:r>
            <a:r>
              <a:rPr lang="it-IT" sz="1200" b="0" i="0" kern="1200" dirty="0">
                <a:solidFill>
                  <a:schemeClr val="tx1"/>
                </a:solidFill>
                <a:effectLst/>
                <a:latin typeface="+mn-lt"/>
                <a:ea typeface="+mn-ea"/>
                <a:cs typeface="+mn-cs"/>
              </a:rPr>
              <a:t> </a:t>
            </a:r>
            <a:r>
              <a:rPr lang="it-IT" sz="1200" b="0" i="0" kern="1200" dirty="0" err="1">
                <a:solidFill>
                  <a:schemeClr val="tx1"/>
                </a:solidFill>
                <a:effectLst/>
                <a:latin typeface="+mn-lt"/>
                <a:ea typeface="+mn-ea"/>
                <a:cs typeface="+mn-cs"/>
              </a:rPr>
              <a:t>strictly</a:t>
            </a:r>
            <a:r>
              <a:rPr lang="it-IT" sz="1200" b="0" i="0" kern="1200" dirty="0">
                <a:solidFill>
                  <a:schemeClr val="tx1"/>
                </a:solidFill>
                <a:effectLst/>
                <a:latin typeface="+mn-lt"/>
                <a:ea typeface="+mn-ea"/>
                <a:cs typeface="+mn-cs"/>
              </a:rPr>
              <a:t> </a:t>
            </a:r>
            <a:r>
              <a:rPr lang="it-IT" sz="1200" b="0" i="0" kern="1200" dirty="0" err="1">
                <a:solidFill>
                  <a:schemeClr val="tx1"/>
                </a:solidFill>
                <a:effectLst/>
                <a:latin typeface="+mn-lt"/>
                <a:ea typeface="+mn-ea"/>
                <a:cs typeface="+mn-cs"/>
              </a:rPr>
              <a:t>requires</a:t>
            </a:r>
            <a:r>
              <a:rPr lang="it-IT" sz="1200" b="0" i="0" kern="1200" dirty="0">
                <a:solidFill>
                  <a:schemeClr val="tx1"/>
                </a:solidFill>
                <a:effectLst/>
                <a:latin typeface="+mn-lt"/>
                <a:ea typeface="+mn-ea"/>
                <a:cs typeface="+mn-cs"/>
              </a:rPr>
              <a:t> </a:t>
            </a:r>
            <a:r>
              <a:rPr lang="it-IT" sz="1200" b="0" i="1" kern="1200" dirty="0">
                <a:solidFill>
                  <a:schemeClr val="tx1"/>
                </a:solidFill>
                <a:effectLst/>
                <a:latin typeface="+mn-lt"/>
                <a:ea typeface="+mn-ea"/>
                <a:cs typeface="+mn-cs"/>
              </a:rPr>
              <a:t>upstream</a:t>
            </a:r>
            <a:r>
              <a:rPr lang="it-IT" sz="1200" b="0" i="0" kern="1200" dirty="0">
                <a:solidFill>
                  <a:schemeClr val="tx1"/>
                </a:solidFill>
                <a:effectLst/>
                <a:latin typeface="+mn-lt"/>
                <a:ea typeface="+mn-ea"/>
                <a:cs typeface="+mn-cs"/>
              </a:rPr>
              <a:t> </a:t>
            </a:r>
            <a:r>
              <a:rPr lang="it-IT" sz="1200" b="0" i="0" kern="1200" dirty="0" err="1">
                <a:solidFill>
                  <a:schemeClr val="tx1"/>
                </a:solidFill>
                <a:effectLst/>
                <a:latin typeface="+mn-lt"/>
                <a:ea typeface="+mn-ea"/>
                <a:cs typeface="+mn-cs"/>
              </a:rPr>
              <a:t>coordinates</a:t>
            </a:r>
            <a:r>
              <a:rPr lang="it-IT" sz="1200" b="0" i="0" kern="1200" dirty="0">
                <a:solidFill>
                  <a:schemeClr val="tx1"/>
                </a:solidFill>
                <a:effectLst/>
                <a:latin typeface="+mn-lt"/>
                <a:ea typeface="+mn-ea"/>
                <a:cs typeface="+mn-cs"/>
              </a:rPr>
              <a:t>.</a:t>
            </a:r>
          </a:p>
          <a:p>
            <a:r>
              <a:rPr lang="it-IT" sz="1200" b="0" i="0" kern="1200" dirty="0">
                <a:solidFill>
                  <a:schemeClr val="tx1"/>
                </a:solidFill>
                <a:effectLst/>
                <a:latin typeface="+mn-lt"/>
                <a:ea typeface="+mn-ea"/>
                <a:cs typeface="+mn-cs"/>
              </a:rPr>
              <a:t> </a:t>
            </a:r>
            <a:r>
              <a:rPr lang="it-IT" sz="1200" b="0" i="0" kern="1200" dirty="0" err="1">
                <a:solidFill>
                  <a:schemeClr val="tx1"/>
                </a:solidFill>
                <a:effectLst/>
                <a:latin typeface="+mn-lt"/>
                <a:ea typeface="+mn-ea"/>
                <a:cs typeface="+mn-cs"/>
              </a:rPr>
              <a:t>Channeled</a:t>
            </a:r>
            <a:r>
              <a:rPr lang="it-IT" sz="1200" b="0" i="0" kern="1200" dirty="0">
                <a:solidFill>
                  <a:schemeClr val="tx1"/>
                </a:solidFill>
                <a:effectLst/>
                <a:latin typeface="+mn-lt"/>
                <a:ea typeface="+mn-ea"/>
                <a:cs typeface="+mn-cs"/>
              </a:rPr>
              <a:t> </a:t>
            </a:r>
            <a:r>
              <a:rPr lang="it-IT" sz="1200" b="0" i="0" kern="1200" dirty="0" err="1">
                <a:solidFill>
                  <a:schemeClr val="tx1"/>
                </a:solidFill>
                <a:effectLst/>
                <a:latin typeface="+mn-lt"/>
                <a:ea typeface="+mn-ea"/>
                <a:cs typeface="+mn-cs"/>
              </a:rPr>
              <a:t>particles</a:t>
            </a:r>
            <a:r>
              <a:rPr lang="it-IT" sz="1200" b="0" i="0" kern="1200" dirty="0">
                <a:solidFill>
                  <a:schemeClr val="tx1"/>
                </a:solidFill>
                <a:effectLst/>
                <a:latin typeface="+mn-lt"/>
                <a:ea typeface="+mn-ea"/>
                <a:cs typeface="+mn-cs"/>
              </a:rPr>
              <a:t> follow the </a:t>
            </a:r>
            <a:r>
              <a:rPr lang="it-IT" sz="1200" b="0" i="0" kern="1200" dirty="0" err="1">
                <a:solidFill>
                  <a:schemeClr val="tx1"/>
                </a:solidFill>
                <a:effectLst/>
                <a:latin typeface="+mn-lt"/>
                <a:ea typeface="+mn-ea"/>
                <a:cs typeface="+mn-cs"/>
              </a:rPr>
              <a:t>bent</a:t>
            </a:r>
            <a:r>
              <a:rPr lang="it-IT" sz="1200" b="0" i="0" kern="1200" dirty="0">
                <a:solidFill>
                  <a:schemeClr val="tx1"/>
                </a:solidFill>
                <a:effectLst/>
                <a:latin typeface="+mn-lt"/>
                <a:ea typeface="+mn-ea"/>
                <a:cs typeface="+mn-cs"/>
              </a:rPr>
              <a:t> lattice </a:t>
            </a:r>
            <a:r>
              <a:rPr lang="it-IT" sz="1200" b="0" i="0" kern="1200" dirty="0" err="1">
                <a:solidFill>
                  <a:schemeClr val="tx1"/>
                </a:solidFill>
                <a:effectLst/>
                <a:latin typeface="+mn-lt"/>
                <a:ea typeface="+mn-ea"/>
                <a:cs typeface="+mn-cs"/>
              </a:rPr>
              <a:t>planes</a:t>
            </a:r>
            <a:r>
              <a:rPr lang="it-IT" sz="1200" b="0" i="0" kern="1200" dirty="0">
                <a:solidFill>
                  <a:schemeClr val="tx1"/>
                </a:solidFill>
                <a:effectLst/>
                <a:latin typeface="+mn-lt"/>
                <a:ea typeface="+mn-ea"/>
                <a:cs typeface="+mn-cs"/>
              </a:rPr>
              <a:t>, </a:t>
            </a:r>
            <a:r>
              <a:rPr lang="it-IT" sz="1200" b="0" i="0" kern="1200" dirty="0" err="1">
                <a:solidFill>
                  <a:schemeClr val="tx1"/>
                </a:solidFill>
                <a:effectLst/>
                <a:latin typeface="+mn-lt"/>
                <a:ea typeface="+mn-ea"/>
                <a:cs typeface="+mn-cs"/>
              </a:rPr>
              <a:t>resulting</a:t>
            </a:r>
            <a:r>
              <a:rPr lang="it-IT" sz="1200" b="0" i="0" kern="1200" dirty="0">
                <a:solidFill>
                  <a:schemeClr val="tx1"/>
                </a:solidFill>
                <a:effectLst/>
                <a:latin typeface="+mn-lt"/>
                <a:ea typeface="+mn-ea"/>
                <a:cs typeface="+mn-cs"/>
              </a:rPr>
              <a:t> in a </a:t>
            </a:r>
            <a:r>
              <a:rPr lang="it-IT" sz="1200" b="0" i="0" kern="1200" dirty="0" err="1">
                <a:solidFill>
                  <a:schemeClr val="tx1"/>
                </a:solidFill>
                <a:effectLst/>
                <a:latin typeface="+mn-lt"/>
                <a:ea typeface="+mn-ea"/>
                <a:cs typeface="+mn-cs"/>
              </a:rPr>
              <a:t>lateral</a:t>
            </a:r>
            <a:r>
              <a:rPr lang="it-IT" sz="1200" b="0" i="0" kern="1200" dirty="0">
                <a:solidFill>
                  <a:schemeClr val="tx1"/>
                </a:solidFill>
                <a:effectLst/>
                <a:latin typeface="+mn-lt"/>
                <a:ea typeface="+mn-ea"/>
                <a:cs typeface="+mn-cs"/>
              </a:rPr>
              <a:t> </a:t>
            </a:r>
            <a:r>
              <a:rPr lang="it-IT" sz="1200" b="0" i="0" kern="1200" dirty="0" err="1">
                <a:solidFill>
                  <a:schemeClr val="tx1"/>
                </a:solidFill>
                <a:effectLst/>
                <a:latin typeface="+mn-lt"/>
                <a:ea typeface="+mn-ea"/>
                <a:cs typeface="+mn-cs"/>
              </a:rPr>
              <a:t>geometric</a:t>
            </a:r>
            <a:r>
              <a:rPr lang="it-IT" sz="1200" b="0" i="0" kern="1200" dirty="0">
                <a:solidFill>
                  <a:schemeClr val="tx1"/>
                </a:solidFill>
                <a:effectLst/>
                <a:latin typeface="+mn-lt"/>
                <a:ea typeface="+mn-ea"/>
                <a:cs typeface="+mn-cs"/>
              </a:rPr>
              <a:t> drift </a:t>
            </a:r>
            <a:r>
              <a:rPr lang="it-IT" sz="1200" b="0" i="0" kern="1200" dirty="0" err="1">
                <a:solidFill>
                  <a:schemeClr val="tx1"/>
                </a:solidFill>
                <a:effectLst/>
                <a:latin typeface="+mn-lt"/>
                <a:ea typeface="+mn-ea"/>
                <a:cs typeface="+mn-cs"/>
              </a:rPr>
              <a:t>along</a:t>
            </a:r>
            <a:r>
              <a:rPr lang="it-IT" sz="1200" b="0" i="0" kern="1200" dirty="0">
                <a:solidFill>
                  <a:schemeClr val="tx1"/>
                </a:solidFill>
                <a:effectLst/>
                <a:latin typeface="+mn-lt"/>
                <a:ea typeface="+mn-ea"/>
                <a:cs typeface="+mn-cs"/>
              </a:rPr>
              <a:t> the x-</a:t>
            </a:r>
            <a:r>
              <a:rPr lang="it-IT" sz="1200" b="0" i="0" kern="1200" dirty="0" err="1">
                <a:solidFill>
                  <a:schemeClr val="tx1"/>
                </a:solidFill>
                <a:effectLst/>
                <a:latin typeface="+mn-lt"/>
                <a:ea typeface="+mn-ea"/>
                <a:cs typeface="+mn-cs"/>
              </a:rPr>
              <a:t>axis</a:t>
            </a:r>
            <a:r>
              <a:rPr lang="it-IT" sz="1200" b="0" i="0" kern="1200" dirty="0">
                <a:solidFill>
                  <a:schemeClr val="tx1"/>
                </a:solidFill>
                <a:effectLst/>
                <a:latin typeface="+mn-lt"/>
                <a:ea typeface="+mn-ea"/>
                <a:cs typeface="+mn-cs"/>
              </a:rPr>
              <a:t> </a:t>
            </a:r>
            <a:r>
              <a:rPr lang="it-IT" sz="1200" b="0" i="0" kern="1200" dirty="0" err="1">
                <a:solidFill>
                  <a:schemeClr val="tx1"/>
                </a:solidFill>
                <a:effectLst/>
                <a:latin typeface="+mn-lt"/>
                <a:ea typeface="+mn-ea"/>
                <a:cs typeface="+mn-cs"/>
              </a:rPr>
              <a:t>as</a:t>
            </a:r>
            <a:r>
              <a:rPr lang="it-IT" sz="1200" b="0" i="0" kern="1200" dirty="0">
                <a:solidFill>
                  <a:schemeClr val="tx1"/>
                </a:solidFill>
                <a:effectLst/>
                <a:latin typeface="+mn-lt"/>
                <a:ea typeface="+mn-ea"/>
                <a:cs typeface="+mn-cs"/>
              </a:rPr>
              <a:t> </a:t>
            </a:r>
            <a:r>
              <a:rPr lang="it-IT" sz="1200" b="0" i="0" kern="1200" dirty="0" err="1">
                <a:solidFill>
                  <a:schemeClr val="tx1"/>
                </a:solidFill>
                <a:effectLst/>
                <a:latin typeface="+mn-lt"/>
                <a:ea typeface="+mn-ea"/>
                <a:cs typeface="+mn-cs"/>
              </a:rPr>
              <a:t>they</a:t>
            </a:r>
            <a:r>
              <a:rPr lang="it-IT" sz="1200" b="0" i="0" kern="1200" dirty="0">
                <a:solidFill>
                  <a:schemeClr val="tx1"/>
                </a:solidFill>
                <a:effectLst/>
                <a:latin typeface="+mn-lt"/>
                <a:ea typeface="+mn-ea"/>
                <a:cs typeface="+mn-cs"/>
              </a:rPr>
              <a:t> traverse the </a:t>
            </a:r>
            <a:r>
              <a:rPr lang="it-IT" sz="1200" b="0" i="0" kern="1200" dirty="0" err="1">
                <a:solidFill>
                  <a:schemeClr val="tx1"/>
                </a:solidFill>
                <a:effectLst/>
                <a:latin typeface="+mn-lt"/>
                <a:ea typeface="+mn-ea"/>
                <a:cs typeface="+mn-cs"/>
              </a:rPr>
              <a:t>crystal</a:t>
            </a:r>
            <a:r>
              <a:rPr lang="it-IT" sz="1200" b="0" i="0" kern="1200" dirty="0">
                <a:solidFill>
                  <a:schemeClr val="tx1"/>
                </a:solidFill>
                <a:effectLst/>
                <a:latin typeface="+mn-lt"/>
                <a:ea typeface="+mn-ea"/>
                <a:cs typeface="+mn-cs"/>
              </a:rPr>
              <a:t>. To </a:t>
            </a:r>
            <a:r>
              <a:rPr lang="it-IT" sz="1200" b="0" i="0" kern="1200" dirty="0" err="1">
                <a:solidFill>
                  <a:schemeClr val="tx1"/>
                </a:solidFill>
                <a:effectLst/>
                <a:latin typeface="+mn-lt"/>
                <a:ea typeface="+mn-ea"/>
                <a:cs typeface="+mn-cs"/>
              </a:rPr>
              <a:t>define</a:t>
            </a:r>
            <a:r>
              <a:rPr lang="it-IT" sz="1200" b="0" i="0" kern="1200" dirty="0">
                <a:solidFill>
                  <a:schemeClr val="tx1"/>
                </a:solidFill>
                <a:effectLst/>
                <a:latin typeface="+mn-lt"/>
                <a:ea typeface="+mn-ea"/>
                <a:cs typeface="+mn-cs"/>
              </a:rPr>
              <a:t> the </a:t>
            </a:r>
            <a:r>
              <a:rPr lang="it-IT" sz="1200" b="0" i="0" kern="1200" dirty="0" err="1">
                <a:solidFill>
                  <a:schemeClr val="tx1"/>
                </a:solidFill>
                <a:effectLst/>
                <a:latin typeface="+mn-lt"/>
                <a:ea typeface="+mn-ea"/>
                <a:cs typeface="+mn-cs"/>
              </a:rPr>
              <a:t>true</a:t>
            </a:r>
            <a:r>
              <a:rPr lang="it-IT" sz="1200" b="0" i="0" kern="1200" dirty="0">
                <a:solidFill>
                  <a:schemeClr val="tx1"/>
                </a:solidFill>
                <a:effectLst/>
                <a:latin typeface="+mn-lt"/>
                <a:ea typeface="+mn-ea"/>
                <a:cs typeface="+mn-cs"/>
              </a:rPr>
              <a:t> </a:t>
            </a:r>
            <a:r>
              <a:rPr lang="it-IT" sz="1200" b="0" i="0" kern="1200" dirty="0" err="1">
                <a:solidFill>
                  <a:schemeClr val="tx1"/>
                </a:solidFill>
                <a:effectLst/>
                <a:latin typeface="+mn-lt"/>
                <a:ea typeface="+mn-ea"/>
                <a:cs typeface="+mn-cs"/>
              </a:rPr>
              <a:t>physical</a:t>
            </a:r>
            <a:r>
              <a:rPr lang="it-IT" sz="1200" b="0" i="0" kern="1200" dirty="0">
                <a:solidFill>
                  <a:schemeClr val="tx1"/>
                </a:solidFill>
                <a:effectLst/>
                <a:latin typeface="+mn-lt"/>
                <a:ea typeface="+mn-ea"/>
                <a:cs typeface="+mn-cs"/>
              </a:rPr>
              <a:t> footprint </a:t>
            </a:r>
            <a:r>
              <a:rPr lang="it-IT" sz="1200" b="0" i="0" kern="1200" dirty="0" err="1">
                <a:solidFill>
                  <a:schemeClr val="tx1"/>
                </a:solidFill>
                <a:effectLst/>
                <a:latin typeface="+mn-lt"/>
                <a:ea typeface="+mn-ea"/>
                <a:cs typeface="+mn-cs"/>
              </a:rPr>
              <a:t>at</a:t>
            </a:r>
            <a:r>
              <a:rPr lang="it-IT" sz="1200" b="0" i="0" kern="1200" dirty="0">
                <a:solidFill>
                  <a:schemeClr val="tx1"/>
                </a:solidFill>
                <a:effectLst/>
                <a:latin typeface="+mn-lt"/>
                <a:ea typeface="+mn-ea"/>
                <a:cs typeface="+mn-cs"/>
              </a:rPr>
              <a:t> the </a:t>
            </a:r>
            <a:r>
              <a:rPr lang="it-IT" sz="1200" b="0" i="0" kern="1200" dirty="0" err="1">
                <a:solidFill>
                  <a:schemeClr val="tx1"/>
                </a:solidFill>
                <a:effectLst/>
                <a:latin typeface="+mn-lt"/>
                <a:ea typeface="+mn-ea"/>
                <a:cs typeface="+mn-cs"/>
              </a:rPr>
              <a:t>entrance</a:t>
            </a:r>
            <a:r>
              <a:rPr lang="it-IT" sz="1200" b="0" i="0" kern="1200" dirty="0">
                <a:solidFill>
                  <a:schemeClr val="tx1"/>
                </a:solidFill>
                <a:effectLst/>
                <a:latin typeface="+mn-lt"/>
                <a:ea typeface="+mn-ea"/>
                <a:cs typeface="+mn-cs"/>
              </a:rPr>
              <a:t> face, we must project the downstream </a:t>
            </a:r>
            <a:r>
              <a:rPr lang="it-IT" sz="1200" b="0" i="0" kern="1200" dirty="0" err="1">
                <a:solidFill>
                  <a:schemeClr val="tx1"/>
                </a:solidFill>
                <a:effectLst/>
                <a:latin typeface="+mn-lt"/>
                <a:ea typeface="+mn-ea"/>
                <a:cs typeface="+mn-cs"/>
              </a:rPr>
              <a:t>edges</a:t>
            </a:r>
            <a:r>
              <a:rPr lang="it-IT" sz="1200" b="0" i="0" kern="1200" dirty="0">
                <a:solidFill>
                  <a:schemeClr val="tx1"/>
                </a:solidFill>
                <a:effectLst/>
                <a:latin typeface="+mn-lt"/>
                <a:ea typeface="+mn-ea"/>
                <a:cs typeface="+mn-cs"/>
              </a:rPr>
              <a:t> back upstream.</a:t>
            </a:r>
            <a:endParaRPr lang="it-IT" dirty="0"/>
          </a:p>
        </p:txBody>
      </p:sp>
      <p:sp>
        <p:nvSpPr>
          <p:cNvPr id="4" name="Segnaposto numero diapositiva 3"/>
          <p:cNvSpPr>
            <a:spLocks noGrp="1"/>
          </p:cNvSpPr>
          <p:nvPr>
            <p:ph type="sldNum" sz="quarter" idx="5"/>
          </p:nvPr>
        </p:nvSpPr>
        <p:spPr/>
        <p:txBody>
          <a:bodyPr/>
          <a:lstStyle/>
          <a:p>
            <a:fld id="{C205392F-55BF-4B8E-AF01-45F81C88C286}" type="slidenum">
              <a:rPr lang="it-IT" smtClean="0"/>
              <a:t>14</a:t>
            </a:fld>
            <a:endParaRPr lang="it-IT"/>
          </a:p>
        </p:txBody>
      </p:sp>
    </p:spTree>
    <p:extLst>
      <p:ext uri="{BB962C8B-B14F-4D97-AF65-F5344CB8AC3E}">
        <p14:creationId xmlns:p14="http://schemas.microsoft.com/office/powerpoint/2010/main" val="325388310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Segnaposto note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it-IT" b="0" i="0" dirty="0" err="1">
                    <a:latin typeface="+mj-lt"/>
                  </a:rPr>
                  <a:t>torsion</a:t>
                </a:r>
                <a:r>
                  <a:rPr lang="it-IT" b="0" i="0" dirty="0">
                    <a:latin typeface="+mj-lt"/>
                  </a:rPr>
                  <a:t> </a:t>
                </a:r>
                <a:r>
                  <a:rPr lang="it-IT" b="0" i="0" dirty="0" err="1">
                    <a:latin typeface="+mj-lt"/>
                  </a:rPr>
                  <a:t>is</a:t>
                </a:r>
                <a:r>
                  <a:rPr lang="it-IT" b="0" i="0" dirty="0">
                    <a:latin typeface="+mj-lt"/>
                  </a:rPr>
                  <a:t> the </a:t>
                </a:r>
                <a:r>
                  <a:rPr lang="it-IT" b="0" i="0" dirty="0" err="1">
                    <a:latin typeface="+mj-lt"/>
                  </a:rPr>
                  <a:t>variation</a:t>
                </a:r>
                <a:r>
                  <a:rPr lang="it-IT" b="0" i="0" dirty="0">
                    <a:latin typeface="+mj-lt"/>
                  </a:rPr>
                  <a:t> of the </a:t>
                </a:r>
                <a:r>
                  <a:rPr lang="it-IT" b="0" i="0" dirty="0" err="1">
                    <a:latin typeface="+mj-lt"/>
                  </a:rPr>
                  <a:t>crystalline</a:t>
                </a:r>
                <a:r>
                  <a:rPr lang="it-IT" b="0" i="0" dirty="0">
                    <a:latin typeface="+mj-lt"/>
                  </a:rPr>
                  <a:t> </a:t>
                </a:r>
                <a:r>
                  <a:rPr lang="it-IT" b="0" i="0" dirty="0" err="1">
                    <a:latin typeface="+mj-lt"/>
                  </a:rPr>
                  <a:t>plane</a:t>
                </a:r>
                <a:r>
                  <a:rPr lang="it-IT" b="0" i="0" dirty="0">
                    <a:latin typeface="+mj-lt"/>
                  </a:rPr>
                  <a:t> </a:t>
                </a:r>
                <a:r>
                  <a:rPr lang="it-IT" b="0" i="0" dirty="0" err="1">
                    <a:latin typeface="+mj-lt"/>
                  </a:rPr>
                  <a:t>orientation</a:t>
                </a:r>
                <a:r>
                  <a:rPr lang="it-IT" b="0" i="0" dirty="0">
                    <a:latin typeface="+mj-lt"/>
                  </a:rPr>
                  <a:t> </a:t>
                </a:r>
                <a:r>
                  <a:rPr lang="it-IT" b="0" i="0" dirty="0" err="1">
                    <a:latin typeface="+mj-lt"/>
                  </a:rPr>
                  <a:t>along</a:t>
                </a:r>
                <a:r>
                  <a:rPr lang="it-IT" b="0" i="0" dirty="0">
                    <a:latin typeface="+mj-lt"/>
                  </a:rPr>
                  <a:t> the y </a:t>
                </a:r>
                <a:r>
                  <a:rPr lang="it-IT" b="0" i="0" dirty="0" err="1">
                    <a:latin typeface="+mj-lt"/>
                  </a:rPr>
                  <a:t>direction</a:t>
                </a:r>
                <a:r>
                  <a:rPr lang="it-IT" b="0" i="0" dirty="0">
                    <a:latin typeface="+mj-lt"/>
                  </a:rPr>
                  <a:t> </a:t>
                </a:r>
                <a:r>
                  <a:rPr lang="it-IT" b="0" i="0" dirty="0" err="1">
                    <a:latin typeface="+mj-lt"/>
                  </a:rPr>
                  <a:t>perpendicular</a:t>
                </a:r>
                <a:r>
                  <a:rPr lang="it-IT" b="0" i="0" dirty="0">
                    <a:latin typeface="+mj-lt"/>
                  </a:rPr>
                  <a:t> to the bending </a:t>
                </a:r>
                <a:r>
                  <a:rPr lang="it-IT" b="0" i="0" dirty="0" err="1">
                    <a:latin typeface="+mj-lt"/>
                  </a:rPr>
                  <a:t>plane</a:t>
                </a:r>
                <a:endParaRPr lang="it-IT" b="0" i="0" dirty="0">
                  <a:latin typeface="+mj-lt"/>
                </a:endParaRPr>
              </a:p>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𝜃</m:t>
                        </m:r>
                      </m:e>
                      <m:sub>
                        <m:r>
                          <a:rPr lang="it-IT" b="0" i="1" smtClean="0">
                            <a:latin typeface="Cambria Math" panose="02040503050406030204" pitchFamily="18" charset="0"/>
                          </a:rPr>
                          <m:t>0</m:t>
                        </m:r>
                      </m:sub>
                    </m:sSub>
                  </m:oMath>
                </a14:m>
                <a:r>
                  <a:rPr lang="it-IT" dirty="0"/>
                  <a:t>: the angle </a:t>
                </a:r>
                <a:r>
                  <a:rPr lang="it-IT" dirty="0" err="1"/>
                  <a:t>where</a:t>
                </a:r>
                <a:r>
                  <a:rPr lang="it-IT" dirty="0"/>
                  <a:t> the </a:t>
                </a:r>
                <a:r>
                  <a:rPr lang="it-IT" dirty="0" err="1"/>
                  <a:t>crystal</a:t>
                </a:r>
                <a:r>
                  <a:rPr lang="it-IT" dirty="0"/>
                  <a:t> </a:t>
                </a:r>
                <a:r>
                  <a:rPr lang="it-IT" dirty="0" err="1"/>
                  <a:t>planes</a:t>
                </a:r>
                <a:r>
                  <a:rPr lang="it-IT" dirty="0"/>
                  <a:t> are </a:t>
                </a:r>
                <a:r>
                  <a:rPr lang="it-IT" dirty="0" err="1"/>
                  <a:t>perfectly</a:t>
                </a:r>
                <a:r>
                  <a:rPr lang="it-IT" dirty="0"/>
                  <a:t> </a:t>
                </a:r>
                <a:r>
                  <a:rPr lang="it-IT" dirty="0" err="1"/>
                  <a:t>aligned</a:t>
                </a:r>
                <a:r>
                  <a:rPr lang="it-IT" dirty="0"/>
                  <a:t> with the </a:t>
                </a:r>
                <a:r>
                  <a:rPr lang="it-IT" dirty="0" err="1"/>
                  <a:t>beam</a:t>
                </a:r>
                <a:r>
                  <a:rPr lang="it-IT" dirty="0"/>
                  <a:t>.</a:t>
                </a:r>
              </a:p>
            </p:txBody>
          </p:sp>
        </mc:Choice>
        <mc:Fallback xmlns="">
          <p:sp>
            <p:nvSpPr>
              <p:cNvPr id="3" name="Segnaposto note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it-IT" b="0" i="0">
                    <a:latin typeface="Cambria Math" panose="02040503050406030204" pitchFamily="18" charset="0"/>
                  </a:rPr>
                  <a:t>𝜃_0</a:t>
                </a:r>
                <a:r>
                  <a:rPr lang="it-IT" dirty="0"/>
                  <a:t>: the angle </a:t>
                </a:r>
                <a:r>
                  <a:rPr lang="it-IT" dirty="0" err="1"/>
                  <a:t>where</a:t>
                </a:r>
                <a:r>
                  <a:rPr lang="it-IT" dirty="0"/>
                  <a:t> the </a:t>
                </a:r>
                <a:r>
                  <a:rPr lang="it-IT" dirty="0" err="1"/>
                  <a:t>crystal</a:t>
                </a:r>
                <a:r>
                  <a:rPr lang="it-IT" dirty="0"/>
                  <a:t> </a:t>
                </a:r>
                <a:r>
                  <a:rPr lang="it-IT" dirty="0" err="1"/>
                  <a:t>planes</a:t>
                </a:r>
                <a:r>
                  <a:rPr lang="it-IT" dirty="0"/>
                  <a:t> are </a:t>
                </a:r>
                <a:r>
                  <a:rPr lang="it-IT" dirty="0" err="1"/>
                  <a:t>perfectly</a:t>
                </a:r>
                <a:r>
                  <a:rPr lang="it-IT" dirty="0"/>
                  <a:t> </a:t>
                </a:r>
                <a:r>
                  <a:rPr lang="it-IT" dirty="0" err="1"/>
                  <a:t>aligned</a:t>
                </a:r>
                <a:r>
                  <a:rPr lang="it-IT" dirty="0"/>
                  <a:t> with the </a:t>
                </a:r>
                <a:r>
                  <a:rPr lang="it-IT" dirty="0" err="1"/>
                  <a:t>beam</a:t>
                </a:r>
                <a:r>
                  <a:rPr lang="it-IT" dirty="0"/>
                  <a:t>.</a:t>
                </a:r>
              </a:p>
            </p:txBody>
          </p:sp>
        </mc:Fallback>
      </mc:AlternateContent>
      <p:sp>
        <p:nvSpPr>
          <p:cNvPr id="4" name="Segnaposto numero diapositiva 3"/>
          <p:cNvSpPr>
            <a:spLocks noGrp="1"/>
          </p:cNvSpPr>
          <p:nvPr>
            <p:ph type="sldNum" sz="quarter" idx="5"/>
          </p:nvPr>
        </p:nvSpPr>
        <p:spPr/>
        <p:txBody>
          <a:bodyPr/>
          <a:lstStyle/>
          <a:p>
            <a:fld id="{C205392F-55BF-4B8E-AF01-45F81C88C286}" type="slidenum">
              <a:rPr lang="it-IT" smtClean="0"/>
              <a:t>15</a:t>
            </a:fld>
            <a:endParaRPr lang="it-IT"/>
          </a:p>
        </p:txBody>
      </p:sp>
    </p:spTree>
    <p:extLst>
      <p:ext uri="{BB962C8B-B14F-4D97-AF65-F5344CB8AC3E}">
        <p14:creationId xmlns:p14="http://schemas.microsoft.com/office/powerpoint/2010/main" val="109128688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34C9A7-4CBB-0D9B-16B5-75976A01B814}"/>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34F6F799-4853-840A-A465-59E86E5E1753}"/>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Segnaposto note 2">
                <a:extLst>
                  <a:ext uri="{FF2B5EF4-FFF2-40B4-BE49-F238E27FC236}">
                    <a16:creationId xmlns:a16="http://schemas.microsoft.com/office/drawing/2014/main" id="{A07ED44C-8A11-17E6-4C65-FD529E61844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𝜃</m:t>
                        </m:r>
                      </m:e>
                      <m:sub>
                        <m:r>
                          <a:rPr lang="it-IT" b="0" i="1" smtClean="0">
                            <a:latin typeface="Cambria Math" panose="02040503050406030204" pitchFamily="18" charset="0"/>
                          </a:rPr>
                          <m:t>0</m:t>
                        </m:r>
                      </m:sub>
                    </m:sSub>
                  </m:oMath>
                </a14:m>
                <a:r>
                  <a:rPr lang="it-IT" dirty="0"/>
                  <a:t>: the angle </a:t>
                </a:r>
                <a:r>
                  <a:rPr lang="it-IT" dirty="0" err="1"/>
                  <a:t>where</a:t>
                </a:r>
                <a:r>
                  <a:rPr lang="it-IT" dirty="0"/>
                  <a:t> the </a:t>
                </a:r>
                <a:r>
                  <a:rPr lang="it-IT" dirty="0" err="1"/>
                  <a:t>crystal</a:t>
                </a:r>
                <a:r>
                  <a:rPr lang="it-IT" dirty="0"/>
                  <a:t> </a:t>
                </a:r>
                <a:r>
                  <a:rPr lang="it-IT" dirty="0" err="1"/>
                  <a:t>planes</a:t>
                </a:r>
                <a:r>
                  <a:rPr lang="it-IT" dirty="0"/>
                  <a:t> are </a:t>
                </a:r>
                <a:r>
                  <a:rPr lang="it-IT" dirty="0" err="1"/>
                  <a:t>perfectly</a:t>
                </a:r>
                <a:r>
                  <a:rPr lang="it-IT" dirty="0"/>
                  <a:t> </a:t>
                </a:r>
                <a:r>
                  <a:rPr lang="it-IT" dirty="0" err="1"/>
                  <a:t>aligned</a:t>
                </a:r>
                <a:r>
                  <a:rPr lang="it-IT" dirty="0"/>
                  <a:t> with the </a:t>
                </a:r>
                <a:r>
                  <a:rPr lang="it-IT" dirty="0" err="1"/>
                  <a:t>beam</a:t>
                </a:r>
                <a:r>
                  <a:rPr lang="it-IT" dirty="0"/>
                  <a:t>.</a:t>
                </a:r>
              </a:p>
            </p:txBody>
          </p:sp>
        </mc:Choice>
        <mc:Fallback xmlns="">
          <p:sp>
            <p:nvSpPr>
              <p:cNvPr id="3" name="Segnaposto note 2">
                <a:extLst>
                  <a:ext uri="{FF2B5EF4-FFF2-40B4-BE49-F238E27FC236}">
                    <a16:creationId xmlns:a16="http://schemas.microsoft.com/office/drawing/2014/main" id="{A07ED44C-8A11-17E6-4C65-FD529E61844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it-IT" b="0" i="0">
                    <a:latin typeface="Cambria Math" panose="02040503050406030204" pitchFamily="18" charset="0"/>
                  </a:rPr>
                  <a:t>𝜃_0</a:t>
                </a:r>
                <a:r>
                  <a:rPr lang="it-IT" dirty="0"/>
                  <a:t>: the angle </a:t>
                </a:r>
                <a:r>
                  <a:rPr lang="it-IT" dirty="0" err="1"/>
                  <a:t>where</a:t>
                </a:r>
                <a:r>
                  <a:rPr lang="it-IT" dirty="0"/>
                  <a:t> the </a:t>
                </a:r>
                <a:r>
                  <a:rPr lang="it-IT" dirty="0" err="1"/>
                  <a:t>crystal</a:t>
                </a:r>
                <a:r>
                  <a:rPr lang="it-IT" dirty="0"/>
                  <a:t> </a:t>
                </a:r>
                <a:r>
                  <a:rPr lang="it-IT" dirty="0" err="1"/>
                  <a:t>planes</a:t>
                </a:r>
                <a:r>
                  <a:rPr lang="it-IT" dirty="0"/>
                  <a:t> are </a:t>
                </a:r>
                <a:r>
                  <a:rPr lang="it-IT" dirty="0" err="1"/>
                  <a:t>perfectly</a:t>
                </a:r>
                <a:r>
                  <a:rPr lang="it-IT" dirty="0"/>
                  <a:t> </a:t>
                </a:r>
                <a:r>
                  <a:rPr lang="it-IT" dirty="0" err="1"/>
                  <a:t>aligned</a:t>
                </a:r>
                <a:r>
                  <a:rPr lang="it-IT" dirty="0"/>
                  <a:t> with the </a:t>
                </a:r>
                <a:r>
                  <a:rPr lang="it-IT" dirty="0" err="1"/>
                  <a:t>beam</a:t>
                </a:r>
                <a:r>
                  <a:rPr lang="it-IT" dirty="0"/>
                  <a:t>.</a:t>
                </a:r>
              </a:p>
            </p:txBody>
          </p:sp>
        </mc:Fallback>
      </mc:AlternateContent>
      <p:sp>
        <p:nvSpPr>
          <p:cNvPr id="4" name="Segnaposto numero diapositiva 3">
            <a:extLst>
              <a:ext uri="{FF2B5EF4-FFF2-40B4-BE49-F238E27FC236}">
                <a16:creationId xmlns:a16="http://schemas.microsoft.com/office/drawing/2014/main" id="{B5D719AC-EB43-5D3E-0175-4EB06F1664EA}"/>
              </a:ext>
            </a:extLst>
          </p:cNvPr>
          <p:cNvSpPr>
            <a:spLocks noGrp="1"/>
          </p:cNvSpPr>
          <p:nvPr>
            <p:ph type="sldNum" sz="quarter" idx="5"/>
          </p:nvPr>
        </p:nvSpPr>
        <p:spPr/>
        <p:txBody>
          <a:bodyPr/>
          <a:lstStyle/>
          <a:p>
            <a:fld id="{C205392F-55BF-4B8E-AF01-45F81C88C286}" type="slidenum">
              <a:rPr lang="it-IT" smtClean="0"/>
              <a:t>16</a:t>
            </a:fld>
            <a:endParaRPr lang="it-IT"/>
          </a:p>
        </p:txBody>
      </p:sp>
    </p:spTree>
    <p:extLst>
      <p:ext uri="{BB962C8B-B14F-4D97-AF65-F5344CB8AC3E}">
        <p14:creationId xmlns:p14="http://schemas.microsoft.com/office/powerpoint/2010/main" val="141407568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CAF93E-775B-2F74-BEF9-33B0FF0DE9BA}"/>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5971DE8F-15E4-6CE3-9DC2-6294588A671C}"/>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2EF09B94-AEB7-2B7C-2B68-C2A03603AA39}"/>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it-IT" dirty="0"/>
          </a:p>
        </p:txBody>
      </p:sp>
      <p:sp>
        <p:nvSpPr>
          <p:cNvPr id="4" name="Segnaposto numero diapositiva 3">
            <a:extLst>
              <a:ext uri="{FF2B5EF4-FFF2-40B4-BE49-F238E27FC236}">
                <a16:creationId xmlns:a16="http://schemas.microsoft.com/office/drawing/2014/main" id="{7BADFF1F-2340-14F4-C46D-4A88A14F8456}"/>
              </a:ext>
            </a:extLst>
          </p:cNvPr>
          <p:cNvSpPr>
            <a:spLocks noGrp="1"/>
          </p:cNvSpPr>
          <p:nvPr>
            <p:ph type="sldNum" sz="quarter" idx="5"/>
          </p:nvPr>
        </p:nvSpPr>
        <p:spPr/>
        <p:txBody>
          <a:bodyPr/>
          <a:lstStyle/>
          <a:p>
            <a:fld id="{C205392F-55BF-4B8E-AF01-45F81C88C286}" type="slidenum">
              <a:rPr lang="it-IT" smtClean="0"/>
              <a:t>17</a:t>
            </a:fld>
            <a:endParaRPr lang="it-IT"/>
          </a:p>
        </p:txBody>
      </p:sp>
    </p:spTree>
    <p:extLst>
      <p:ext uri="{BB962C8B-B14F-4D97-AF65-F5344CB8AC3E}">
        <p14:creationId xmlns:p14="http://schemas.microsoft.com/office/powerpoint/2010/main" val="247922162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dirty="0"/>
              <a:t>This </a:t>
            </a:r>
            <a:r>
              <a:rPr lang="it-IT" dirty="0" err="1"/>
              <a:t>allowed</a:t>
            </a:r>
            <a:r>
              <a:rPr lang="it-IT" dirty="0"/>
              <a:t> </a:t>
            </a:r>
            <a:r>
              <a:rPr lang="it-IT" dirty="0" err="1"/>
              <a:t>us</a:t>
            </a:r>
            <a:r>
              <a:rPr lang="it-IT" dirty="0"/>
              <a:t> to </a:t>
            </a:r>
            <a:r>
              <a:rPr lang="it-IT" dirty="0" err="1"/>
              <a:t>apply</a:t>
            </a:r>
            <a:r>
              <a:rPr lang="it-IT" dirty="0"/>
              <a:t> a </a:t>
            </a:r>
            <a:r>
              <a:rPr lang="it-IT" dirty="0" err="1"/>
              <a:t>continuous</a:t>
            </a:r>
            <a:r>
              <a:rPr lang="it-IT" dirty="0"/>
              <a:t> </a:t>
            </a:r>
            <a:r>
              <a:rPr lang="it-IT" dirty="0" err="1"/>
              <a:t>torsion</a:t>
            </a:r>
            <a:r>
              <a:rPr lang="it-IT" dirty="0"/>
              <a:t> </a:t>
            </a:r>
            <a:r>
              <a:rPr lang="it-IT" dirty="0" err="1"/>
              <a:t>correction</a:t>
            </a:r>
            <a:r>
              <a:rPr lang="it-IT" dirty="0"/>
              <a:t>. So, </a:t>
            </a:r>
            <a:r>
              <a:rPr lang="it-IT" dirty="0" err="1"/>
              <a:t>instead</a:t>
            </a:r>
            <a:r>
              <a:rPr lang="it-IT" dirty="0"/>
              <a:t> of using a standard Lindhard cut </a:t>
            </a:r>
            <a:r>
              <a:rPr lang="it-IT" dirty="0" err="1"/>
              <a:t>centered</a:t>
            </a:r>
            <a:r>
              <a:rPr lang="it-IT" dirty="0"/>
              <a:t> </a:t>
            </a:r>
            <a:r>
              <a:rPr lang="it-IT" dirty="0" err="1"/>
              <a:t>at</a:t>
            </a:r>
            <a:r>
              <a:rPr lang="it-IT" dirty="0"/>
              <a:t> zero, we </a:t>
            </a:r>
            <a:r>
              <a:rPr lang="it-IT" dirty="0" err="1"/>
              <a:t>corrected</a:t>
            </a:r>
            <a:r>
              <a:rPr lang="it-IT" dirty="0"/>
              <a:t> the incoming angle using the </a:t>
            </a:r>
            <a:r>
              <a:rPr lang="it-IT" dirty="0" err="1"/>
              <a:t>fitted</a:t>
            </a:r>
            <a:r>
              <a:rPr lang="it-IT" dirty="0"/>
              <a:t> </a:t>
            </a:r>
            <a:r>
              <a:rPr lang="it-IT" dirty="0" err="1"/>
              <a:t>parameters</a:t>
            </a:r>
            <a:r>
              <a:rPr lang="it-IT" dirty="0"/>
              <a:t> </a:t>
            </a:r>
            <a:r>
              <a:rPr lang="it-IT" dirty="0" err="1"/>
              <a:t>found</a:t>
            </a:r>
            <a:r>
              <a:rPr lang="it-IT" dirty="0"/>
              <a:t> for </a:t>
            </a:r>
            <a:r>
              <a:rPr lang="it-IT" dirty="0" err="1"/>
              <a:t>each</a:t>
            </a:r>
            <a:r>
              <a:rPr lang="it-IT" dirty="0"/>
              <a:t> </a:t>
            </a:r>
            <a:r>
              <a:rPr lang="it-IT" dirty="0" err="1"/>
              <a:t>spatial</a:t>
            </a:r>
            <a:r>
              <a:rPr lang="it-IT" dirty="0"/>
              <a:t> bin.</a:t>
            </a:r>
          </a:p>
          <a:p>
            <a:r>
              <a:rPr lang="it-IT" sz="1200" b="0" i="0" kern="1200" dirty="0">
                <a:solidFill>
                  <a:schemeClr val="tx1"/>
                </a:solidFill>
                <a:effectLst/>
                <a:latin typeface="+mn-lt"/>
                <a:ea typeface="+mn-ea"/>
                <a:cs typeface="+mn-cs"/>
              </a:rPr>
              <a:t>I </a:t>
            </a:r>
            <a:r>
              <a:rPr lang="it-IT" sz="1200" b="0" i="0" kern="1200" dirty="0" err="1">
                <a:solidFill>
                  <a:schemeClr val="tx1"/>
                </a:solidFill>
                <a:effectLst/>
                <a:latin typeface="+mn-lt"/>
                <a:ea typeface="+mn-ea"/>
                <a:cs typeface="+mn-cs"/>
              </a:rPr>
              <a:t>want</a:t>
            </a:r>
            <a:r>
              <a:rPr lang="it-IT" sz="1200" b="0" i="0" kern="1200" dirty="0">
                <a:solidFill>
                  <a:schemeClr val="tx1"/>
                </a:solidFill>
                <a:effectLst/>
                <a:latin typeface="+mn-lt"/>
                <a:ea typeface="+mn-ea"/>
                <a:cs typeface="+mn-cs"/>
              </a:rPr>
              <a:t> to use the </a:t>
            </a:r>
            <a:r>
              <a:rPr lang="it-IT" sz="1200" b="0" i="0" kern="1200" dirty="0" err="1">
                <a:solidFill>
                  <a:schemeClr val="tx1"/>
                </a:solidFill>
                <a:effectLst/>
                <a:latin typeface="+mn-lt"/>
                <a:ea typeface="+mn-ea"/>
                <a:cs typeface="+mn-cs"/>
              </a:rPr>
              <a:t>simplest</a:t>
            </a:r>
            <a:r>
              <a:rPr lang="it-IT" sz="1200" b="0" i="0" kern="1200" dirty="0">
                <a:solidFill>
                  <a:schemeClr val="tx1"/>
                </a:solidFill>
                <a:effectLst/>
                <a:latin typeface="+mn-lt"/>
                <a:ea typeface="+mn-ea"/>
                <a:cs typeface="+mn-cs"/>
              </a:rPr>
              <a:t> model that can </a:t>
            </a:r>
            <a:r>
              <a:rPr lang="it-IT" sz="1200" b="0" i="0" kern="1200" dirty="0" err="1">
                <a:solidFill>
                  <a:schemeClr val="tx1"/>
                </a:solidFill>
                <a:effectLst/>
                <a:latin typeface="+mn-lt"/>
                <a:ea typeface="+mn-ea"/>
                <a:cs typeface="+mn-cs"/>
              </a:rPr>
              <a:t>accurately</a:t>
            </a:r>
            <a:r>
              <a:rPr lang="it-IT" sz="1200" b="0" i="0" kern="1200" dirty="0">
                <a:solidFill>
                  <a:schemeClr val="tx1"/>
                </a:solidFill>
                <a:effectLst/>
                <a:latin typeface="+mn-lt"/>
                <a:ea typeface="+mn-ea"/>
                <a:cs typeface="+mn-cs"/>
              </a:rPr>
              <a:t> </a:t>
            </a:r>
            <a:r>
              <a:rPr lang="it-IT" sz="1200" b="0" i="0" kern="1200" dirty="0" err="1">
                <a:solidFill>
                  <a:schemeClr val="tx1"/>
                </a:solidFill>
                <a:effectLst/>
                <a:latin typeface="+mn-lt"/>
                <a:ea typeface="+mn-ea"/>
                <a:cs typeface="+mn-cs"/>
              </a:rPr>
              <a:t>describe</a:t>
            </a:r>
            <a:r>
              <a:rPr lang="it-IT" sz="1200" b="0" i="0" kern="1200" dirty="0">
                <a:solidFill>
                  <a:schemeClr val="tx1"/>
                </a:solidFill>
                <a:effectLst/>
                <a:latin typeface="+mn-lt"/>
                <a:ea typeface="+mn-ea"/>
                <a:cs typeface="+mn-cs"/>
              </a:rPr>
              <a:t> the data, </a:t>
            </a:r>
            <a:r>
              <a:rPr lang="it-IT" sz="1200" b="0" i="0" kern="1200" dirty="0" err="1">
                <a:solidFill>
                  <a:schemeClr val="tx1"/>
                </a:solidFill>
                <a:effectLst/>
                <a:latin typeface="+mn-lt"/>
                <a:ea typeface="+mn-ea"/>
                <a:cs typeface="+mn-cs"/>
              </a:rPr>
              <a:t>but</a:t>
            </a:r>
            <a:r>
              <a:rPr lang="it-IT" sz="1200" b="0" i="0" kern="1200" dirty="0">
                <a:solidFill>
                  <a:schemeClr val="tx1"/>
                </a:solidFill>
                <a:effectLst/>
                <a:latin typeface="+mn-lt"/>
                <a:ea typeface="+mn-ea"/>
                <a:cs typeface="+mn-cs"/>
              </a:rPr>
              <a:t> not so </a:t>
            </a:r>
            <a:r>
              <a:rPr lang="it-IT" sz="1200" b="0" i="0" kern="1200" dirty="0" err="1">
                <a:solidFill>
                  <a:schemeClr val="tx1"/>
                </a:solidFill>
                <a:effectLst/>
                <a:latin typeface="+mn-lt"/>
                <a:ea typeface="+mn-ea"/>
                <a:cs typeface="+mn-cs"/>
              </a:rPr>
              <a:t>simple</a:t>
            </a:r>
            <a:r>
              <a:rPr lang="it-IT" sz="1200" b="0" i="0" kern="1200" dirty="0">
                <a:solidFill>
                  <a:schemeClr val="tx1"/>
                </a:solidFill>
                <a:effectLst/>
                <a:latin typeface="+mn-lt"/>
                <a:ea typeface="+mn-ea"/>
                <a:cs typeface="+mn-cs"/>
              </a:rPr>
              <a:t> that it </a:t>
            </a:r>
            <a:r>
              <a:rPr lang="it-IT" sz="1200" b="0" i="0" kern="1200" dirty="0" err="1">
                <a:solidFill>
                  <a:schemeClr val="tx1"/>
                </a:solidFill>
                <a:effectLst/>
                <a:latin typeface="+mn-lt"/>
                <a:ea typeface="+mn-ea"/>
                <a:cs typeface="+mn-cs"/>
              </a:rPr>
              <a:t>hides</a:t>
            </a:r>
            <a:r>
              <a:rPr lang="it-IT" sz="1200" b="0" i="0" kern="1200" dirty="0">
                <a:solidFill>
                  <a:schemeClr val="tx1"/>
                </a:solidFill>
                <a:effectLst/>
                <a:latin typeface="+mn-lt"/>
                <a:ea typeface="+mn-ea"/>
                <a:cs typeface="+mn-cs"/>
              </a:rPr>
              <a:t> the </a:t>
            </a:r>
            <a:r>
              <a:rPr lang="it-IT" sz="1200" b="0" i="0" kern="1200" dirty="0" err="1">
                <a:solidFill>
                  <a:schemeClr val="tx1"/>
                </a:solidFill>
                <a:effectLst/>
                <a:latin typeface="+mn-lt"/>
                <a:ea typeface="+mn-ea"/>
                <a:cs typeface="+mn-cs"/>
              </a:rPr>
              <a:t>actual</a:t>
            </a:r>
            <a:r>
              <a:rPr lang="it-IT" sz="1200" b="0" i="0" kern="1200" dirty="0">
                <a:solidFill>
                  <a:schemeClr val="tx1"/>
                </a:solidFill>
                <a:effectLst/>
                <a:latin typeface="+mn-lt"/>
                <a:ea typeface="+mn-ea"/>
                <a:cs typeface="+mn-cs"/>
              </a:rPr>
              <a:t> </a:t>
            </a:r>
            <a:r>
              <a:rPr lang="it-IT" sz="1200" b="0" i="0" kern="1200" dirty="0" err="1">
                <a:solidFill>
                  <a:schemeClr val="tx1"/>
                </a:solidFill>
                <a:effectLst/>
                <a:latin typeface="+mn-lt"/>
                <a:ea typeface="+mn-ea"/>
                <a:cs typeface="+mn-cs"/>
              </a:rPr>
              <a:t>physics</a:t>
            </a:r>
            <a:r>
              <a:rPr lang="it-IT" sz="1200" b="0" i="0" kern="1200">
                <a:solidFill>
                  <a:schemeClr val="tx1"/>
                </a:solidFill>
                <a:effectLst/>
                <a:latin typeface="+mn-lt"/>
                <a:ea typeface="+mn-ea"/>
                <a:cs typeface="+mn-cs"/>
              </a:rPr>
              <a:t>.</a:t>
            </a:r>
            <a:endParaRPr lang="it-IT" dirty="0"/>
          </a:p>
        </p:txBody>
      </p:sp>
      <p:sp>
        <p:nvSpPr>
          <p:cNvPr id="4" name="Segnaposto numero diapositiva 3"/>
          <p:cNvSpPr>
            <a:spLocks noGrp="1"/>
          </p:cNvSpPr>
          <p:nvPr>
            <p:ph type="sldNum" sz="quarter" idx="5"/>
          </p:nvPr>
        </p:nvSpPr>
        <p:spPr/>
        <p:txBody>
          <a:bodyPr/>
          <a:lstStyle/>
          <a:p>
            <a:fld id="{C205392F-55BF-4B8E-AF01-45F81C88C286}" type="slidenum">
              <a:rPr lang="it-IT" smtClean="0"/>
              <a:t>18</a:t>
            </a:fld>
            <a:endParaRPr lang="it-IT"/>
          </a:p>
        </p:txBody>
      </p:sp>
    </p:spTree>
    <p:extLst>
      <p:ext uri="{BB962C8B-B14F-4D97-AF65-F5344CB8AC3E}">
        <p14:creationId xmlns:p14="http://schemas.microsoft.com/office/powerpoint/2010/main" val="299898391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dirty="0"/>
              <a:t>This </a:t>
            </a:r>
            <a:r>
              <a:rPr lang="it-IT" dirty="0" err="1"/>
              <a:t>allowed</a:t>
            </a:r>
            <a:r>
              <a:rPr lang="it-IT" dirty="0"/>
              <a:t> </a:t>
            </a:r>
            <a:r>
              <a:rPr lang="it-IT" dirty="0" err="1"/>
              <a:t>us</a:t>
            </a:r>
            <a:r>
              <a:rPr lang="it-IT" dirty="0"/>
              <a:t> to </a:t>
            </a:r>
            <a:r>
              <a:rPr lang="it-IT" dirty="0" err="1"/>
              <a:t>apply</a:t>
            </a:r>
            <a:r>
              <a:rPr lang="it-IT" dirty="0"/>
              <a:t> a </a:t>
            </a:r>
            <a:r>
              <a:rPr lang="it-IT" dirty="0" err="1"/>
              <a:t>continuous</a:t>
            </a:r>
            <a:r>
              <a:rPr lang="it-IT" dirty="0"/>
              <a:t> </a:t>
            </a:r>
            <a:r>
              <a:rPr lang="it-IT" dirty="0" err="1"/>
              <a:t>torsion</a:t>
            </a:r>
            <a:r>
              <a:rPr lang="it-IT" dirty="0"/>
              <a:t> </a:t>
            </a:r>
            <a:r>
              <a:rPr lang="it-IT" dirty="0" err="1"/>
              <a:t>correction</a:t>
            </a:r>
            <a:r>
              <a:rPr lang="it-IT" dirty="0"/>
              <a:t>. So, </a:t>
            </a:r>
            <a:r>
              <a:rPr lang="it-IT" dirty="0" err="1"/>
              <a:t>instead</a:t>
            </a:r>
            <a:r>
              <a:rPr lang="it-IT" dirty="0"/>
              <a:t> of using a standard Lindhard cut </a:t>
            </a:r>
            <a:r>
              <a:rPr lang="it-IT" dirty="0" err="1"/>
              <a:t>centered</a:t>
            </a:r>
            <a:r>
              <a:rPr lang="it-IT" dirty="0"/>
              <a:t> </a:t>
            </a:r>
            <a:r>
              <a:rPr lang="it-IT" dirty="0" err="1"/>
              <a:t>at</a:t>
            </a:r>
            <a:r>
              <a:rPr lang="it-IT" dirty="0"/>
              <a:t> zero, we </a:t>
            </a:r>
            <a:r>
              <a:rPr lang="it-IT" dirty="0" err="1"/>
              <a:t>corrected</a:t>
            </a:r>
            <a:r>
              <a:rPr lang="it-IT" dirty="0"/>
              <a:t> the incoming angle using the </a:t>
            </a:r>
            <a:r>
              <a:rPr lang="it-IT" dirty="0" err="1"/>
              <a:t>fitted</a:t>
            </a:r>
            <a:r>
              <a:rPr lang="it-IT" dirty="0"/>
              <a:t> </a:t>
            </a:r>
            <a:r>
              <a:rPr lang="it-IT" dirty="0" err="1"/>
              <a:t>parameters</a:t>
            </a:r>
            <a:r>
              <a:rPr lang="it-IT" dirty="0"/>
              <a:t> </a:t>
            </a:r>
            <a:r>
              <a:rPr lang="it-IT" dirty="0" err="1"/>
              <a:t>found</a:t>
            </a:r>
            <a:r>
              <a:rPr lang="it-IT" dirty="0"/>
              <a:t> for </a:t>
            </a:r>
            <a:r>
              <a:rPr lang="it-IT" dirty="0" err="1"/>
              <a:t>each</a:t>
            </a:r>
            <a:r>
              <a:rPr lang="it-IT" dirty="0"/>
              <a:t> </a:t>
            </a:r>
            <a:r>
              <a:rPr lang="it-IT" dirty="0" err="1"/>
              <a:t>spatial</a:t>
            </a:r>
            <a:r>
              <a:rPr lang="it-IT" dirty="0"/>
              <a:t> bin.</a:t>
            </a:r>
          </a:p>
        </p:txBody>
      </p:sp>
      <p:sp>
        <p:nvSpPr>
          <p:cNvPr id="4" name="Segnaposto numero diapositiva 3"/>
          <p:cNvSpPr>
            <a:spLocks noGrp="1"/>
          </p:cNvSpPr>
          <p:nvPr>
            <p:ph type="sldNum" sz="quarter" idx="5"/>
          </p:nvPr>
        </p:nvSpPr>
        <p:spPr/>
        <p:txBody>
          <a:bodyPr/>
          <a:lstStyle/>
          <a:p>
            <a:fld id="{C205392F-55BF-4B8E-AF01-45F81C88C286}" type="slidenum">
              <a:rPr lang="it-IT" smtClean="0"/>
              <a:t>19</a:t>
            </a:fld>
            <a:endParaRPr lang="it-IT"/>
          </a:p>
        </p:txBody>
      </p:sp>
    </p:spTree>
    <p:extLst>
      <p:ext uri="{BB962C8B-B14F-4D97-AF65-F5344CB8AC3E}">
        <p14:creationId xmlns:p14="http://schemas.microsoft.com/office/powerpoint/2010/main" val="21832691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dirty="0"/>
              <a:t>By fitting </a:t>
            </a:r>
            <a:r>
              <a:rPr lang="it-IT" dirty="0" err="1"/>
              <a:t>only</a:t>
            </a:r>
            <a:r>
              <a:rPr lang="it-IT" dirty="0"/>
              <a:t> the right side of the </a:t>
            </a:r>
            <a:r>
              <a:rPr lang="it-IT" dirty="0" err="1"/>
              <a:t>peak</a:t>
            </a:r>
            <a:r>
              <a:rPr lang="it-IT" dirty="0"/>
              <a:t>, we </a:t>
            </a:r>
            <a:r>
              <a:rPr lang="it-IT" dirty="0" err="1"/>
              <a:t>ensured</a:t>
            </a:r>
            <a:r>
              <a:rPr lang="it-IT" dirty="0"/>
              <a:t> the </a:t>
            </a:r>
            <a:r>
              <a:rPr lang="it-IT" dirty="0" err="1"/>
              <a:t>cleanest</a:t>
            </a:r>
            <a:r>
              <a:rPr lang="it-IT" dirty="0"/>
              <a:t> </a:t>
            </a:r>
            <a:r>
              <a:rPr lang="it-IT" dirty="0" err="1"/>
              <a:t>possible</a:t>
            </a:r>
            <a:r>
              <a:rPr lang="it-IT" dirty="0"/>
              <a:t> </a:t>
            </a:r>
            <a:r>
              <a:rPr lang="it-IT" dirty="0" err="1"/>
              <a:t>measurement</a:t>
            </a:r>
            <a:r>
              <a:rPr lang="it-IT" dirty="0"/>
              <a:t> by </a:t>
            </a:r>
            <a:r>
              <a:rPr lang="it-IT" dirty="0" err="1"/>
              <a:t>excluding</a:t>
            </a:r>
            <a:r>
              <a:rPr lang="it-IT" dirty="0"/>
              <a:t> </a:t>
            </a:r>
            <a:r>
              <a:rPr lang="it-IT" dirty="0" err="1"/>
              <a:t>any</a:t>
            </a:r>
            <a:r>
              <a:rPr lang="it-IT" dirty="0"/>
              <a:t> </a:t>
            </a:r>
            <a:r>
              <a:rPr lang="it-IT" dirty="0" err="1"/>
              <a:t>contribution</a:t>
            </a:r>
            <a:r>
              <a:rPr lang="it-IT" dirty="0"/>
              <a:t> from </a:t>
            </a:r>
            <a:r>
              <a:rPr lang="it-IT" dirty="0" err="1"/>
              <a:t>dechanneled</a:t>
            </a:r>
            <a:r>
              <a:rPr lang="it-IT" dirty="0"/>
              <a:t> </a:t>
            </a:r>
            <a:r>
              <a:rPr lang="it-IT" dirty="0" err="1"/>
              <a:t>particles</a:t>
            </a:r>
            <a:r>
              <a:rPr lang="it-IT" dirty="0"/>
              <a:t>.</a:t>
            </a:r>
          </a:p>
        </p:txBody>
      </p:sp>
      <p:sp>
        <p:nvSpPr>
          <p:cNvPr id="4" name="Segnaposto numero diapositiva 3"/>
          <p:cNvSpPr>
            <a:spLocks noGrp="1"/>
          </p:cNvSpPr>
          <p:nvPr>
            <p:ph type="sldNum" sz="quarter" idx="5"/>
          </p:nvPr>
        </p:nvSpPr>
        <p:spPr/>
        <p:txBody>
          <a:bodyPr/>
          <a:lstStyle/>
          <a:p>
            <a:fld id="{C205392F-55BF-4B8E-AF01-45F81C88C286}" type="slidenum">
              <a:rPr lang="it-IT" smtClean="0"/>
              <a:t>21</a:t>
            </a:fld>
            <a:endParaRPr lang="it-IT"/>
          </a:p>
        </p:txBody>
      </p:sp>
    </p:spTree>
    <p:extLst>
      <p:ext uri="{BB962C8B-B14F-4D97-AF65-F5344CB8AC3E}">
        <p14:creationId xmlns:p14="http://schemas.microsoft.com/office/powerpoint/2010/main" val="303155186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dirty="0"/>
              <a:t>CONSISTENT ACROSS DIFFERENT RUNS FOR THE SAME CRYSTALS</a:t>
            </a:r>
          </a:p>
        </p:txBody>
      </p:sp>
      <p:sp>
        <p:nvSpPr>
          <p:cNvPr id="4" name="Segnaposto numero diapositiva 3"/>
          <p:cNvSpPr>
            <a:spLocks noGrp="1"/>
          </p:cNvSpPr>
          <p:nvPr>
            <p:ph type="sldNum" sz="quarter" idx="5"/>
          </p:nvPr>
        </p:nvSpPr>
        <p:spPr/>
        <p:txBody>
          <a:bodyPr/>
          <a:lstStyle/>
          <a:p>
            <a:fld id="{C205392F-55BF-4B8E-AF01-45F81C88C286}" type="slidenum">
              <a:rPr lang="it-IT" smtClean="0"/>
              <a:t>22</a:t>
            </a:fld>
            <a:endParaRPr lang="it-IT"/>
          </a:p>
        </p:txBody>
      </p:sp>
    </p:spTree>
    <p:extLst>
      <p:ext uri="{BB962C8B-B14F-4D97-AF65-F5344CB8AC3E}">
        <p14:creationId xmlns:p14="http://schemas.microsoft.com/office/powerpoint/2010/main" val="29092057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AC3734-D68F-AEE4-E882-95D282F9AA81}"/>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2279A511-D36A-7AA2-6866-A6498A53E6C5}"/>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AFA53E14-BA4C-B9DA-0F75-A5C0CB808360}"/>
              </a:ext>
            </a:extLst>
          </p:cNvPr>
          <p:cNvSpPr>
            <a:spLocks noGrp="1"/>
          </p:cNvSpPr>
          <p:nvPr>
            <p:ph type="body" idx="1"/>
          </p:nvPr>
        </p:nvSpPr>
        <p:spPr/>
        <p:txBody>
          <a:bodyPr/>
          <a:lstStyle/>
          <a:p>
            <a:r>
              <a:rPr lang="it-IT" dirty="0"/>
              <a:t>CONSISTENT ACROSS DIFFERENT RUNS FOR THE SAME CRYSTALS</a:t>
            </a:r>
          </a:p>
        </p:txBody>
      </p:sp>
      <p:sp>
        <p:nvSpPr>
          <p:cNvPr id="4" name="Segnaposto numero diapositiva 3">
            <a:extLst>
              <a:ext uri="{FF2B5EF4-FFF2-40B4-BE49-F238E27FC236}">
                <a16:creationId xmlns:a16="http://schemas.microsoft.com/office/drawing/2014/main" id="{54272AE8-D53E-2380-1720-55D8368E0CB4}"/>
              </a:ext>
            </a:extLst>
          </p:cNvPr>
          <p:cNvSpPr>
            <a:spLocks noGrp="1"/>
          </p:cNvSpPr>
          <p:nvPr>
            <p:ph type="sldNum" sz="quarter" idx="5"/>
          </p:nvPr>
        </p:nvSpPr>
        <p:spPr/>
        <p:txBody>
          <a:bodyPr/>
          <a:lstStyle/>
          <a:p>
            <a:fld id="{C205392F-55BF-4B8E-AF01-45F81C88C286}" type="slidenum">
              <a:rPr lang="it-IT" smtClean="0"/>
              <a:t>23</a:t>
            </a:fld>
            <a:endParaRPr lang="it-IT"/>
          </a:p>
        </p:txBody>
      </p:sp>
    </p:spTree>
    <p:extLst>
      <p:ext uri="{BB962C8B-B14F-4D97-AF65-F5344CB8AC3E}">
        <p14:creationId xmlns:p14="http://schemas.microsoft.com/office/powerpoint/2010/main" val="59325778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853D2B-C14B-C923-E666-2BE98336C7E9}"/>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41E73501-4C4F-7EA7-F309-EC9432A82AE5}"/>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5102C8D8-9566-F6BA-2D4C-09E243EDED39}"/>
              </a:ext>
            </a:extLst>
          </p:cNvPr>
          <p:cNvSpPr>
            <a:spLocks noGrp="1"/>
          </p:cNvSpPr>
          <p:nvPr>
            <p:ph type="body" idx="1"/>
          </p:nvPr>
        </p:nvSpPr>
        <p:spPr/>
        <p:txBody>
          <a:bodyPr/>
          <a:lstStyle/>
          <a:p>
            <a:r>
              <a:rPr lang="it-IT" dirty="0"/>
              <a:t>CONSISTENT ACROSS DIFFERENT RUNS FOR THE SAME CRYSTALS</a:t>
            </a:r>
          </a:p>
        </p:txBody>
      </p:sp>
      <p:sp>
        <p:nvSpPr>
          <p:cNvPr id="4" name="Segnaposto numero diapositiva 3">
            <a:extLst>
              <a:ext uri="{FF2B5EF4-FFF2-40B4-BE49-F238E27FC236}">
                <a16:creationId xmlns:a16="http://schemas.microsoft.com/office/drawing/2014/main" id="{0A1D6B02-C167-B05C-9F5F-29D88237B72E}"/>
              </a:ext>
            </a:extLst>
          </p:cNvPr>
          <p:cNvSpPr>
            <a:spLocks noGrp="1"/>
          </p:cNvSpPr>
          <p:nvPr>
            <p:ph type="sldNum" sz="quarter" idx="5"/>
          </p:nvPr>
        </p:nvSpPr>
        <p:spPr/>
        <p:txBody>
          <a:bodyPr/>
          <a:lstStyle/>
          <a:p>
            <a:fld id="{C205392F-55BF-4B8E-AF01-45F81C88C286}" type="slidenum">
              <a:rPr lang="it-IT" smtClean="0"/>
              <a:t>24</a:t>
            </a:fld>
            <a:endParaRPr lang="it-IT"/>
          </a:p>
        </p:txBody>
      </p:sp>
    </p:spTree>
    <p:extLst>
      <p:ext uri="{BB962C8B-B14F-4D97-AF65-F5344CB8AC3E}">
        <p14:creationId xmlns:p14="http://schemas.microsoft.com/office/powerpoint/2010/main" val="130642906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B3A338-DA96-94A6-1231-7139DAC0C6FE}"/>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50C59848-D54F-11C9-63E0-F6D9296FEEB4}"/>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20E91691-AC07-FEE1-A622-8D7C44357A3B}"/>
              </a:ext>
            </a:extLst>
          </p:cNvPr>
          <p:cNvSpPr>
            <a:spLocks noGrp="1"/>
          </p:cNvSpPr>
          <p:nvPr>
            <p:ph type="body" idx="1"/>
          </p:nvPr>
        </p:nvSpPr>
        <p:spPr/>
        <p:txBody>
          <a:bodyPr/>
          <a:lstStyle/>
          <a:p>
            <a:r>
              <a:rPr lang="it-IT" dirty="0"/>
              <a:t>CONSISTENT ACROSS DIFFERENT RUNS FOR THE SAME CRYSTALS</a:t>
            </a:r>
          </a:p>
        </p:txBody>
      </p:sp>
      <p:sp>
        <p:nvSpPr>
          <p:cNvPr id="4" name="Segnaposto numero diapositiva 3">
            <a:extLst>
              <a:ext uri="{FF2B5EF4-FFF2-40B4-BE49-F238E27FC236}">
                <a16:creationId xmlns:a16="http://schemas.microsoft.com/office/drawing/2014/main" id="{51341F72-31BB-22BB-4057-13EF4B93FF9A}"/>
              </a:ext>
            </a:extLst>
          </p:cNvPr>
          <p:cNvSpPr>
            <a:spLocks noGrp="1"/>
          </p:cNvSpPr>
          <p:nvPr>
            <p:ph type="sldNum" sz="quarter" idx="5"/>
          </p:nvPr>
        </p:nvSpPr>
        <p:spPr/>
        <p:txBody>
          <a:bodyPr/>
          <a:lstStyle/>
          <a:p>
            <a:fld id="{C205392F-55BF-4B8E-AF01-45F81C88C286}" type="slidenum">
              <a:rPr lang="it-IT" smtClean="0"/>
              <a:t>25</a:t>
            </a:fld>
            <a:endParaRPr lang="it-IT"/>
          </a:p>
        </p:txBody>
      </p:sp>
    </p:spTree>
    <p:extLst>
      <p:ext uri="{BB962C8B-B14F-4D97-AF65-F5344CB8AC3E}">
        <p14:creationId xmlns:p14="http://schemas.microsoft.com/office/powerpoint/2010/main" val="390684756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E0F733-84F1-38B6-0673-2862DB609CBD}"/>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537211C7-FBEC-C105-1092-C67EAFF1709C}"/>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36854425-E480-4674-CE54-8D5BBE1EF06C}"/>
              </a:ext>
            </a:extLst>
          </p:cNvPr>
          <p:cNvSpPr>
            <a:spLocks noGrp="1"/>
          </p:cNvSpPr>
          <p:nvPr>
            <p:ph type="body" idx="1"/>
          </p:nvPr>
        </p:nvSpPr>
        <p:spPr/>
        <p:txBody>
          <a:bodyPr/>
          <a:lstStyle/>
          <a:p>
            <a:r>
              <a:rPr lang="it-IT" dirty="0" err="1"/>
              <a:t>Before</a:t>
            </a:r>
            <a:r>
              <a:rPr lang="it-IT" dirty="0"/>
              <a:t> </a:t>
            </a:r>
            <a:r>
              <a:rPr lang="it-IT" dirty="0" err="1"/>
              <a:t>diving</a:t>
            </a:r>
            <a:r>
              <a:rPr lang="it-IT" dirty="0"/>
              <a:t> </a:t>
            </a:r>
            <a:r>
              <a:rPr lang="it-IT" dirty="0" err="1"/>
              <a:t>into</a:t>
            </a:r>
            <a:r>
              <a:rPr lang="it-IT" dirty="0"/>
              <a:t> the </a:t>
            </a:r>
            <a:r>
              <a:rPr lang="it-IT" dirty="0" err="1"/>
              <a:t>efficiency</a:t>
            </a:r>
            <a:r>
              <a:rPr lang="it-IT" dirty="0"/>
              <a:t> </a:t>
            </a:r>
            <a:r>
              <a:rPr lang="it-IT" dirty="0" err="1"/>
              <a:t>evaluation</a:t>
            </a:r>
            <a:r>
              <a:rPr lang="it-IT" dirty="0"/>
              <a:t>, we </a:t>
            </a:r>
            <a:r>
              <a:rPr lang="it-IT" dirty="0" err="1"/>
              <a:t>performed</a:t>
            </a:r>
            <a:r>
              <a:rPr lang="it-IT" dirty="0"/>
              <a:t> </a:t>
            </a:r>
            <a:r>
              <a:rPr lang="it-IT" dirty="0" err="1"/>
              <a:t>several</a:t>
            </a:r>
            <a:r>
              <a:rPr lang="it-IT" dirty="0"/>
              <a:t> </a:t>
            </a:r>
            <a:r>
              <a:rPr lang="it-IT" dirty="0" err="1"/>
              <a:t>preliminary</a:t>
            </a:r>
            <a:r>
              <a:rPr lang="it-IT" dirty="0"/>
              <a:t> </a:t>
            </a:r>
            <a:r>
              <a:rPr lang="it-IT" dirty="0" err="1"/>
              <a:t>analysis</a:t>
            </a:r>
            <a:r>
              <a:rPr lang="it-IT" dirty="0"/>
              <a:t> steps. </a:t>
            </a:r>
          </a:p>
          <a:p>
            <a:r>
              <a:rPr lang="it-IT" dirty="0"/>
              <a:t>Next, </a:t>
            </a:r>
            <a:r>
              <a:rPr lang="it-IT" dirty="0" err="1"/>
              <a:t>because</a:t>
            </a:r>
            <a:r>
              <a:rPr lang="it-IT" dirty="0"/>
              <a:t> the relative </a:t>
            </a:r>
            <a:r>
              <a:rPr lang="it-IT" dirty="0" err="1"/>
              <a:t>beam</a:t>
            </a:r>
            <a:r>
              <a:rPr lang="it-IT" dirty="0"/>
              <a:t> position was </a:t>
            </a:r>
            <a:r>
              <a:rPr lang="it-IT" dirty="0" err="1"/>
              <a:t>unknown</a:t>
            </a:r>
            <a:r>
              <a:rPr lang="it-IT" dirty="0"/>
              <a:t>, we </a:t>
            </a:r>
            <a:r>
              <a:rPr lang="it-IT" dirty="0" err="1"/>
              <a:t>had</a:t>
            </a:r>
            <a:r>
              <a:rPr lang="it-IT" dirty="0"/>
              <a:t> to </a:t>
            </a:r>
            <a:r>
              <a:rPr lang="it-IT" dirty="0" err="1"/>
              <a:t>algorithmically</a:t>
            </a:r>
            <a:r>
              <a:rPr lang="it-IT" dirty="0"/>
              <a:t> </a:t>
            </a:r>
            <a:r>
              <a:rPr lang="it-IT" dirty="0" err="1"/>
              <a:t>identify</a:t>
            </a:r>
            <a:r>
              <a:rPr lang="it-IT" dirty="0"/>
              <a:t> the </a:t>
            </a:r>
            <a:r>
              <a:rPr lang="it-IT" dirty="0" err="1"/>
              <a:t>physical</a:t>
            </a:r>
            <a:r>
              <a:rPr lang="it-IT" dirty="0"/>
              <a:t> </a:t>
            </a:r>
            <a:r>
              <a:rPr lang="it-IT" dirty="0" err="1"/>
              <a:t>edges</a:t>
            </a:r>
            <a:r>
              <a:rPr lang="it-IT" dirty="0"/>
              <a:t> of the </a:t>
            </a:r>
            <a:r>
              <a:rPr lang="it-IT" dirty="0" err="1"/>
              <a:t>crystal</a:t>
            </a:r>
            <a:r>
              <a:rPr lang="it-IT" dirty="0"/>
              <a:t> to validate </a:t>
            </a:r>
            <a:r>
              <a:rPr lang="it-IT" dirty="0" err="1"/>
              <a:t>which</a:t>
            </a:r>
            <a:r>
              <a:rPr lang="it-IT" dirty="0"/>
              <a:t> </a:t>
            </a:r>
            <a:r>
              <a:rPr lang="it-IT" dirty="0" err="1"/>
              <a:t>particles</a:t>
            </a:r>
            <a:r>
              <a:rPr lang="it-IT" dirty="0"/>
              <a:t> </a:t>
            </a:r>
            <a:r>
              <a:rPr lang="it-IT" dirty="0" err="1"/>
              <a:t>successfully</a:t>
            </a:r>
            <a:r>
              <a:rPr lang="it-IT" dirty="0"/>
              <a:t> </a:t>
            </a:r>
            <a:r>
              <a:rPr lang="it-IT" dirty="0" err="1"/>
              <a:t>entered</a:t>
            </a:r>
            <a:r>
              <a:rPr lang="it-IT" dirty="0"/>
              <a:t> it. </a:t>
            </a:r>
          </a:p>
          <a:p>
            <a:endParaRPr lang="it-IT" dirty="0"/>
          </a:p>
        </p:txBody>
      </p:sp>
      <p:sp>
        <p:nvSpPr>
          <p:cNvPr id="4" name="Segnaposto numero diapositiva 3">
            <a:extLst>
              <a:ext uri="{FF2B5EF4-FFF2-40B4-BE49-F238E27FC236}">
                <a16:creationId xmlns:a16="http://schemas.microsoft.com/office/drawing/2014/main" id="{97E8889D-3534-E53B-974D-9BE4F3C299F1}"/>
              </a:ext>
            </a:extLst>
          </p:cNvPr>
          <p:cNvSpPr>
            <a:spLocks noGrp="1"/>
          </p:cNvSpPr>
          <p:nvPr>
            <p:ph type="sldNum" sz="quarter" idx="5"/>
          </p:nvPr>
        </p:nvSpPr>
        <p:spPr/>
        <p:txBody>
          <a:bodyPr/>
          <a:lstStyle/>
          <a:p>
            <a:fld id="{C205392F-55BF-4B8E-AF01-45F81C88C286}" type="slidenum">
              <a:rPr lang="it-IT" smtClean="0"/>
              <a:t>26</a:t>
            </a:fld>
            <a:endParaRPr lang="it-IT"/>
          </a:p>
        </p:txBody>
      </p:sp>
    </p:spTree>
    <p:extLst>
      <p:ext uri="{BB962C8B-B14F-4D97-AF65-F5344CB8AC3E}">
        <p14:creationId xmlns:p14="http://schemas.microsoft.com/office/powerpoint/2010/main" val="170495075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Segnaposto note 2"/>
              <p:cNvSpPr>
                <a:spLocks noGrp="1"/>
              </p:cNvSpPr>
              <p:nvPr>
                <p:ph type="body" idx="1"/>
              </p:nvPr>
            </p:nvSpPr>
            <p:spPr/>
            <p:txBody>
              <a:bodyPr/>
              <a:lstStyle/>
              <a:p>
                <a:r>
                  <a:rPr lang="it-IT" dirty="0"/>
                  <a:t>If not </a:t>
                </a:r>
                <a:r>
                  <a:rPr lang="it-IT" dirty="0" err="1"/>
                  <a:t>considering</a:t>
                </a:r>
                <a:r>
                  <a:rPr lang="it-IT" dirty="0"/>
                  <a:t> </a:t>
                </a:r>
                <a:r>
                  <a:rPr lang="it-IT" dirty="0" err="1"/>
                  <a:t>any</a:t>
                </a:r>
                <a:r>
                  <a:rPr lang="it-IT" dirty="0"/>
                  <a:t> </a:t>
                </a:r>
                <a:r>
                  <a:rPr lang="it-IT" dirty="0" err="1"/>
                  <a:t>torsion</a:t>
                </a:r>
                <a:r>
                  <a:rPr lang="it-IT" dirty="0"/>
                  <a:t> </a:t>
                </a:r>
                <a:r>
                  <a:rPr lang="it-IT" dirty="0" err="1"/>
                  <a:t>correction</a:t>
                </a:r>
                <a:r>
                  <a:rPr lang="it-IT" dirty="0"/>
                  <a:t>: we </a:t>
                </a:r>
                <a:r>
                  <a:rPr lang="it-IT" dirty="0" err="1"/>
                  <a:t>would</a:t>
                </a:r>
                <a:r>
                  <a:rPr lang="it-IT" dirty="0"/>
                  <a:t> just </a:t>
                </a:r>
                <a:r>
                  <a:rPr lang="it-IT" dirty="0" err="1"/>
                  <a:t>calculate</a:t>
                </a:r>
                <a:r>
                  <a:rPr lang="it-IT" dirty="0"/>
                  <a:t> the </a:t>
                </a:r>
                <a:r>
                  <a:rPr lang="it-IT" dirty="0" err="1"/>
                  <a:t>channeling</a:t>
                </a:r>
                <a:r>
                  <a:rPr lang="it-IT" dirty="0"/>
                  <a:t> </a:t>
                </a:r>
                <a:r>
                  <a:rPr lang="it-IT" dirty="0" err="1"/>
                  <a:t>efficiency</a:t>
                </a:r>
                <a:r>
                  <a:rPr lang="it-IT" dirty="0"/>
                  <a:t> </a:t>
                </a:r>
                <a:r>
                  <a:rPr lang="it-IT" dirty="0" err="1"/>
                  <a:t>through</a:t>
                </a:r>
                <a:r>
                  <a:rPr lang="it-IT" dirty="0"/>
                  <a:t> </a:t>
                </a:r>
                <a:r>
                  <a:rPr lang="it-IT" dirty="0" err="1"/>
                  <a:t>several</a:t>
                </a:r>
                <a:r>
                  <a:rPr lang="it-IT" dirty="0"/>
                  <a:t> </a:t>
                </a:r>
                <a:r>
                  <a:rPr lang="it-IT" dirty="0" err="1"/>
                  <a:t>iterations</a:t>
                </a:r>
                <a:r>
                  <a:rPr lang="it-IT" dirty="0"/>
                  <a:t> </a:t>
                </a:r>
                <a:r>
                  <a:rPr lang="it-IT" dirty="0" err="1"/>
                  <a:t>varying</a:t>
                </a:r>
                <a:r>
                  <a:rPr lang="it-IT" dirty="0"/>
                  <a:t> </a:t>
                </a:r>
                <a14:m>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𝜃</m:t>
                        </m:r>
                      </m:e>
                      <m:sub>
                        <m:r>
                          <a:rPr lang="it-IT" b="0" i="1" smtClean="0">
                            <a:latin typeface="Cambria Math" panose="02040503050406030204" pitchFamily="18" charset="0"/>
                          </a:rPr>
                          <m:t>0</m:t>
                        </m:r>
                      </m:sub>
                    </m:sSub>
                  </m:oMath>
                </a14:m>
                <a:r>
                  <a:rPr lang="it-IT" dirty="0"/>
                  <a:t> </a:t>
                </a:r>
                <a:r>
                  <a:rPr lang="it-IT" dirty="0" err="1"/>
                  <a:t>until</a:t>
                </a:r>
                <a:r>
                  <a:rPr lang="it-IT" dirty="0"/>
                  <a:t> the </a:t>
                </a:r>
                <a:r>
                  <a:rPr lang="it-IT" dirty="0" err="1"/>
                  <a:t>highest</a:t>
                </a:r>
                <a:r>
                  <a:rPr lang="it-IT" baseline="0" dirty="0"/>
                  <a:t> </a:t>
                </a:r>
                <a:r>
                  <a:rPr lang="it-IT" baseline="0" dirty="0" err="1"/>
                  <a:t>efficiency</a:t>
                </a:r>
                <a:r>
                  <a:rPr lang="it-IT" baseline="0" dirty="0"/>
                  <a:t> </a:t>
                </a:r>
                <a:r>
                  <a:rPr lang="it-IT" baseline="0" dirty="0" err="1"/>
                  <a:t>is</a:t>
                </a:r>
                <a:r>
                  <a:rPr lang="it-IT" baseline="0" dirty="0"/>
                  <a:t> </a:t>
                </a:r>
                <a:r>
                  <a:rPr lang="it-IT" baseline="0" dirty="0" err="1"/>
                  <a:t>found</a:t>
                </a:r>
                <a:r>
                  <a:rPr lang="it-IT" baseline="0" dirty="0"/>
                  <a:t>, </a:t>
                </a:r>
                <a:r>
                  <a:rPr lang="it-IT" baseline="0" dirty="0" err="1"/>
                  <a:t>representing</a:t>
                </a:r>
                <a:r>
                  <a:rPr lang="it-IT" baseline="0" dirty="0"/>
                  <a:t> the best </a:t>
                </a:r>
                <a:r>
                  <a:rPr lang="it-IT" baseline="0" dirty="0" err="1"/>
                  <a:t>alignment</a:t>
                </a:r>
                <a:r>
                  <a:rPr lang="it-IT" baseline="0" dirty="0"/>
                  <a:t> of incoming </a:t>
                </a:r>
                <a:r>
                  <a:rPr lang="it-IT" baseline="0" dirty="0" err="1"/>
                  <a:t>particles</a:t>
                </a:r>
                <a:r>
                  <a:rPr lang="it-IT" baseline="0" dirty="0"/>
                  <a:t> with the </a:t>
                </a:r>
                <a:r>
                  <a:rPr lang="it-IT" baseline="0" dirty="0" err="1"/>
                  <a:t>crystalline</a:t>
                </a:r>
                <a:r>
                  <a:rPr lang="it-IT" baseline="0" dirty="0"/>
                  <a:t> </a:t>
                </a:r>
                <a:r>
                  <a:rPr lang="it-IT" baseline="0" dirty="0" err="1"/>
                  <a:t>planes</a:t>
                </a:r>
                <a:endParaRPr lang="it-IT" dirty="0"/>
              </a:p>
            </p:txBody>
          </p:sp>
        </mc:Choice>
        <mc:Fallback xmlns="">
          <p:sp>
            <p:nvSpPr>
              <p:cNvPr id="3" name="Segnaposto note 2"/>
              <p:cNvSpPr>
                <a:spLocks noGrp="1"/>
              </p:cNvSpPr>
              <p:nvPr>
                <p:ph type="body" idx="1"/>
              </p:nvPr>
            </p:nvSpPr>
            <p:spPr/>
            <p:txBody>
              <a:bodyPr/>
              <a:lstStyle/>
              <a:p>
                <a:r>
                  <a:rPr lang="it-IT" dirty="0"/>
                  <a:t>If not </a:t>
                </a:r>
                <a:r>
                  <a:rPr lang="it-IT" dirty="0" err="1"/>
                  <a:t>considering</a:t>
                </a:r>
                <a:r>
                  <a:rPr lang="it-IT" dirty="0"/>
                  <a:t> </a:t>
                </a:r>
                <a:r>
                  <a:rPr lang="it-IT" dirty="0" err="1"/>
                  <a:t>any</a:t>
                </a:r>
                <a:r>
                  <a:rPr lang="it-IT" dirty="0"/>
                  <a:t> </a:t>
                </a:r>
                <a:r>
                  <a:rPr lang="it-IT" dirty="0" err="1"/>
                  <a:t>torsion</a:t>
                </a:r>
                <a:r>
                  <a:rPr lang="it-IT" dirty="0"/>
                  <a:t> </a:t>
                </a:r>
                <a:r>
                  <a:rPr lang="it-IT" dirty="0" err="1"/>
                  <a:t>correction</a:t>
                </a:r>
                <a:r>
                  <a:rPr lang="it-IT" dirty="0"/>
                  <a:t>: we </a:t>
                </a:r>
                <a:r>
                  <a:rPr lang="it-IT" dirty="0" err="1"/>
                  <a:t>would</a:t>
                </a:r>
                <a:r>
                  <a:rPr lang="it-IT" dirty="0"/>
                  <a:t> just </a:t>
                </a:r>
                <a:r>
                  <a:rPr lang="it-IT" dirty="0" err="1"/>
                  <a:t>calculate</a:t>
                </a:r>
                <a:r>
                  <a:rPr lang="it-IT" dirty="0"/>
                  <a:t> the </a:t>
                </a:r>
                <a:r>
                  <a:rPr lang="it-IT" dirty="0" err="1"/>
                  <a:t>channeling</a:t>
                </a:r>
                <a:r>
                  <a:rPr lang="it-IT" dirty="0"/>
                  <a:t> </a:t>
                </a:r>
                <a:r>
                  <a:rPr lang="it-IT" dirty="0" err="1"/>
                  <a:t>efficiency</a:t>
                </a:r>
                <a:r>
                  <a:rPr lang="it-IT" dirty="0"/>
                  <a:t> </a:t>
                </a:r>
                <a:r>
                  <a:rPr lang="it-IT" dirty="0" err="1"/>
                  <a:t>through</a:t>
                </a:r>
                <a:r>
                  <a:rPr lang="it-IT" dirty="0"/>
                  <a:t> </a:t>
                </a:r>
                <a:r>
                  <a:rPr lang="it-IT" dirty="0" err="1"/>
                  <a:t>several</a:t>
                </a:r>
                <a:r>
                  <a:rPr lang="it-IT" dirty="0"/>
                  <a:t> </a:t>
                </a:r>
                <a:r>
                  <a:rPr lang="it-IT" dirty="0" err="1"/>
                  <a:t>iterations</a:t>
                </a:r>
                <a:r>
                  <a:rPr lang="it-IT" dirty="0"/>
                  <a:t> </a:t>
                </a:r>
                <a:r>
                  <a:rPr lang="it-IT" dirty="0" err="1"/>
                  <a:t>varying</a:t>
                </a:r>
                <a:r>
                  <a:rPr lang="it-IT" dirty="0"/>
                  <a:t> </a:t>
                </a:r>
                <a:r>
                  <a:rPr lang="it-IT" b="0" i="0">
                    <a:latin typeface="Cambria Math" panose="02040503050406030204" pitchFamily="18" charset="0"/>
                  </a:rPr>
                  <a:t>𝜃_0</a:t>
                </a:r>
                <a:r>
                  <a:rPr lang="it-IT" dirty="0"/>
                  <a:t> </a:t>
                </a:r>
                <a:r>
                  <a:rPr lang="it-IT" dirty="0" err="1"/>
                  <a:t>until</a:t>
                </a:r>
                <a:r>
                  <a:rPr lang="it-IT" dirty="0"/>
                  <a:t> the </a:t>
                </a:r>
                <a:r>
                  <a:rPr lang="it-IT" dirty="0" err="1"/>
                  <a:t>highest</a:t>
                </a:r>
                <a:r>
                  <a:rPr lang="it-IT" baseline="0" dirty="0"/>
                  <a:t> </a:t>
                </a:r>
                <a:r>
                  <a:rPr lang="it-IT" baseline="0" dirty="0" err="1"/>
                  <a:t>efficiency</a:t>
                </a:r>
                <a:r>
                  <a:rPr lang="it-IT" baseline="0" dirty="0"/>
                  <a:t> </a:t>
                </a:r>
                <a:r>
                  <a:rPr lang="it-IT" baseline="0" dirty="0" err="1"/>
                  <a:t>is</a:t>
                </a:r>
                <a:r>
                  <a:rPr lang="it-IT" baseline="0" dirty="0"/>
                  <a:t> </a:t>
                </a:r>
                <a:r>
                  <a:rPr lang="it-IT" baseline="0" dirty="0" err="1"/>
                  <a:t>found</a:t>
                </a:r>
                <a:r>
                  <a:rPr lang="it-IT" baseline="0" dirty="0"/>
                  <a:t>, </a:t>
                </a:r>
                <a:r>
                  <a:rPr lang="it-IT" baseline="0" dirty="0" err="1"/>
                  <a:t>representing</a:t>
                </a:r>
                <a:r>
                  <a:rPr lang="it-IT" baseline="0" dirty="0"/>
                  <a:t> the best </a:t>
                </a:r>
                <a:r>
                  <a:rPr lang="it-IT" baseline="0" dirty="0" err="1"/>
                  <a:t>alignment</a:t>
                </a:r>
                <a:r>
                  <a:rPr lang="it-IT" baseline="0" dirty="0"/>
                  <a:t> of incoming </a:t>
                </a:r>
                <a:r>
                  <a:rPr lang="it-IT" baseline="0" dirty="0" err="1"/>
                  <a:t>particles</a:t>
                </a:r>
                <a:r>
                  <a:rPr lang="it-IT" baseline="0" dirty="0"/>
                  <a:t> with the </a:t>
                </a:r>
                <a:r>
                  <a:rPr lang="it-IT" baseline="0" dirty="0" err="1"/>
                  <a:t>crystalline</a:t>
                </a:r>
                <a:r>
                  <a:rPr lang="it-IT" baseline="0" dirty="0"/>
                  <a:t> </a:t>
                </a:r>
                <a:r>
                  <a:rPr lang="it-IT" baseline="0" dirty="0" err="1"/>
                  <a:t>planes</a:t>
                </a:r>
                <a:endParaRPr lang="it-IT" dirty="0"/>
              </a:p>
            </p:txBody>
          </p:sp>
        </mc:Fallback>
      </mc:AlternateContent>
      <p:sp>
        <p:nvSpPr>
          <p:cNvPr id="4" name="Segnaposto numero diapositiva 3"/>
          <p:cNvSpPr>
            <a:spLocks noGrp="1"/>
          </p:cNvSpPr>
          <p:nvPr>
            <p:ph type="sldNum" sz="quarter" idx="5"/>
          </p:nvPr>
        </p:nvSpPr>
        <p:spPr/>
        <p:txBody>
          <a:bodyPr/>
          <a:lstStyle/>
          <a:p>
            <a:fld id="{C205392F-55BF-4B8E-AF01-45F81C88C286}" type="slidenum">
              <a:rPr lang="it-IT" smtClean="0"/>
              <a:t>31</a:t>
            </a:fld>
            <a:endParaRPr lang="it-IT"/>
          </a:p>
        </p:txBody>
      </p:sp>
    </p:spTree>
    <p:extLst>
      <p:ext uri="{BB962C8B-B14F-4D97-AF65-F5344CB8AC3E}">
        <p14:creationId xmlns:p14="http://schemas.microsoft.com/office/powerpoint/2010/main" val="313384037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dirty="0" err="1"/>
              <a:t>Applying</a:t>
            </a:r>
            <a:r>
              <a:rPr lang="it-IT" dirty="0"/>
              <a:t> this </a:t>
            </a:r>
            <a:r>
              <a:rPr lang="it-IT" dirty="0" err="1"/>
              <a:t>torsion</a:t>
            </a:r>
            <a:r>
              <a:rPr lang="it-IT" dirty="0"/>
              <a:t> </a:t>
            </a:r>
            <a:r>
              <a:rPr lang="it-IT" dirty="0" err="1"/>
              <a:t>correction</a:t>
            </a:r>
            <a:r>
              <a:rPr lang="it-IT" dirty="0"/>
              <a:t> </a:t>
            </a:r>
            <a:r>
              <a:rPr lang="it-IT" dirty="0" err="1"/>
              <a:t>significantly</a:t>
            </a:r>
            <a:r>
              <a:rPr lang="it-IT" dirty="0"/>
              <a:t> </a:t>
            </a:r>
            <a:r>
              <a:rPr lang="it-IT" dirty="0" err="1"/>
              <a:t>improves</a:t>
            </a:r>
            <a:r>
              <a:rPr lang="it-IT" dirty="0"/>
              <a:t> </a:t>
            </a:r>
            <a:r>
              <a:rPr lang="it-IT" dirty="0" err="1"/>
              <a:t>our</a:t>
            </a:r>
            <a:r>
              <a:rPr lang="it-IT" dirty="0"/>
              <a:t> </a:t>
            </a:r>
            <a:r>
              <a:rPr lang="it-IT" dirty="0" err="1"/>
              <a:t>analysis</a:t>
            </a:r>
            <a:r>
              <a:rPr lang="it-IT" dirty="0"/>
              <a:t>. </a:t>
            </a:r>
            <a:r>
              <a:rPr lang="it-IT" dirty="0" err="1"/>
              <a:t>When</a:t>
            </a:r>
            <a:r>
              <a:rPr lang="it-IT" dirty="0"/>
              <a:t> we plot the </a:t>
            </a:r>
            <a:r>
              <a:rPr lang="it-IT" dirty="0" err="1"/>
              <a:t>crystal</a:t>
            </a:r>
            <a:r>
              <a:rPr lang="it-IT" dirty="0"/>
              <a:t> </a:t>
            </a:r>
            <a:r>
              <a:rPr lang="it-IT" dirty="0" err="1"/>
              <a:t>efficiency</a:t>
            </a:r>
            <a:r>
              <a:rPr lang="it-IT" dirty="0"/>
              <a:t> </a:t>
            </a:r>
            <a:r>
              <a:rPr lang="it-IT" dirty="0" err="1"/>
              <a:t>as</a:t>
            </a:r>
            <a:r>
              <a:rPr lang="it-IT" dirty="0"/>
              <a:t> a function of the </a:t>
            </a:r>
            <a:r>
              <a:rPr lang="it-IT" dirty="0" err="1"/>
              <a:t>torsion-corrected</a:t>
            </a:r>
            <a:r>
              <a:rPr lang="it-IT" dirty="0"/>
              <a:t> incoming angle, the </a:t>
            </a:r>
            <a:r>
              <a:rPr lang="it-IT" dirty="0" err="1"/>
              <a:t>peak</a:t>
            </a:r>
            <a:r>
              <a:rPr lang="it-IT" dirty="0"/>
              <a:t> of this curve </a:t>
            </a:r>
            <a:r>
              <a:rPr lang="it-IT" dirty="0" err="1"/>
              <a:t>represents</a:t>
            </a:r>
            <a:r>
              <a:rPr lang="it-IT" dirty="0"/>
              <a:t> the </a:t>
            </a:r>
            <a:r>
              <a:rPr lang="it-IT" dirty="0" err="1"/>
              <a:t>efficiency</a:t>
            </a:r>
            <a:r>
              <a:rPr lang="it-IT" dirty="0"/>
              <a:t> of the </a:t>
            </a:r>
            <a:r>
              <a:rPr lang="it-IT" dirty="0" err="1"/>
              <a:t>crystal</a:t>
            </a:r>
            <a:r>
              <a:rPr lang="it-IT" dirty="0"/>
              <a:t> </a:t>
            </a:r>
            <a:r>
              <a:rPr lang="it-IT" dirty="0" err="1"/>
              <a:t>when</a:t>
            </a:r>
            <a:r>
              <a:rPr lang="it-IT" dirty="0"/>
              <a:t> it </a:t>
            </a:r>
            <a:r>
              <a:rPr lang="it-IT" dirty="0" err="1"/>
              <a:t>is</a:t>
            </a:r>
            <a:r>
              <a:rPr lang="it-IT" dirty="0"/>
              <a:t> </a:t>
            </a:r>
            <a:r>
              <a:rPr lang="it-IT" dirty="0" err="1"/>
              <a:t>perfectly</a:t>
            </a:r>
            <a:r>
              <a:rPr lang="it-IT" dirty="0"/>
              <a:t> </a:t>
            </a:r>
            <a:r>
              <a:rPr lang="it-IT" dirty="0" err="1"/>
              <a:t>aligned</a:t>
            </a:r>
            <a:r>
              <a:rPr lang="it-IT" dirty="0"/>
              <a:t> to the </a:t>
            </a:r>
            <a:r>
              <a:rPr lang="it-IT" dirty="0" err="1"/>
              <a:t>beam</a:t>
            </a:r>
            <a:r>
              <a:rPr lang="it-IT" dirty="0"/>
              <a:t>, </a:t>
            </a:r>
            <a:r>
              <a:rPr lang="it-IT" dirty="0" err="1"/>
              <a:t>which</a:t>
            </a:r>
            <a:r>
              <a:rPr lang="it-IT" dirty="0"/>
              <a:t> in this case </a:t>
            </a:r>
            <a:r>
              <a:rPr lang="it-IT" dirty="0" err="1"/>
              <a:t>reached</a:t>
            </a:r>
            <a:r>
              <a:rPr lang="it-IT" dirty="0"/>
              <a:t> 18.8%.</a:t>
            </a:r>
          </a:p>
        </p:txBody>
      </p:sp>
      <p:sp>
        <p:nvSpPr>
          <p:cNvPr id="4" name="Segnaposto numero diapositiva 3"/>
          <p:cNvSpPr>
            <a:spLocks noGrp="1"/>
          </p:cNvSpPr>
          <p:nvPr>
            <p:ph type="sldNum" sz="quarter" idx="5"/>
          </p:nvPr>
        </p:nvSpPr>
        <p:spPr/>
        <p:txBody>
          <a:bodyPr/>
          <a:lstStyle/>
          <a:p>
            <a:fld id="{C205392F-55BF-4B8E-AF01-45F81C88C286}" type="slidenum">
              <a:rPr lang="it-IT" smtClean="0"/>
              <a:t>34</a:t>
            </a:fld>
            <a:endParaRPr lang="it-IT"/>
          </a:p>
        </p:txBody>
      </p:sp>
    </p:spTree>
    <p:extLst>
      <p:ext uri="{BB962C8B-B14F-4D97-AF65-F5344CB8AC3E}">
        <p14:creationId xmlns:p14="http://schemas.microsoft.com/office/powerpoint/2010/main" val="28349898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titol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D7821984-7078-FB6F-53DE-65CB4959228B}"/>
              </a:ext>
            </a:extLst>
          </p:cNvPr>
          <p:cNvSpPr>
            <a:spLocks noGrp="1"/>
          </p:cNvSpPr>
          <p:nvPr>
            <p:ph type="ctrTitle"/>
          </p:nvPr>
        </p:nvSpPr>
        <p:spPr>
          <a:xfrm>
            <a:off x="1524000" y="1122363"/>
            <a:ext cx="9144000" cy="2387600"/>
          </a:xfrm>
        </p:spPr>
        <p:txBody>
          <a:bodyPr anchor="b"/>
          <a:lstStyle>
            <a:lvl1pPr algn="ctr">
              <a:defRPr sz="6000"/>
            </a:lvl1pPr>
          </a:lstStyle>
          <a:p>
            <a:r>
              <a:rPr lang="it-IT"/>
              <a:t>Fare clic per modificare lo stile del titolo dello schema</a:t>
            </a:r>
          </a:p>
        </p:txBody>
      </p:sp>
      <p:sp>
        <p:nvSpPr>
          <p:cNvPr id="3" name="Sottotitolo 2">
            <a:extLst>
              <a:ext uri="{FF2B5EF4-FFF2-40B4-BE49-F238E27FC236}">
                <a16:creationId xmlns:a16="http://schemas.microsoft.com/office/drawing/2014/main" id="{89B0F579-13AD-1739-E1E4-4A793161EEF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it-IT"/>
              <a:t>Fare clic per modificare lo stile del sottotitolo dello schema</a:t>
            </a:r>
          </a:p>
        </p:txBody>
      </p:sp>
      <p:sp>
        <p:nvSpPr>
          <p:cNvPr id="4" name="Segnaposto data 3">
            <a:extLst>
              <a:ext uri="{FF2B5EF4-FFF2-40B4-BE49-F238E27FC236}">
                <a16:creationId xmlns:a16="http://schemas.microsoft.com/office/drawing/2014/main" id="{FC366BD3-025C-431C-F893-5E744EEA45D0}"/>
              </a:ext>
            </a:extLst>
          </p:cNvPr>
          <p:cNvSpPr>
            <a:spLocks noGrp="1"/>
          </p:cNvSpPr>
          <p:nvPr>
            <p:ph type="dt" sz="half" idx="10"/>
          </p:nvPr>
        </p:nvSpPr>
        <p:spPr/>
        <p:txBody>
          <a:bodyPr/>
          <a:lstStyle/>
          <a:p>
            <a:fld id="{4B734174-4AE7-4BE8-A29D-97641C0FB41A}" type="datetimeFigureOut">
              <a:rPr lang="it-IT" smtClean="0"/>
              <a:t>19/08/2026</a:t>
            </a:fld>
            <a:endParaRPr lang="it-IT"/>
          </a:p>
        </p:txBody>
      </p:sp>
      <p:sp>
        <p:nvSpPr>
          <p:cNvPr id="5" name="Segnaposto piè di pagina 4">
            <a:extLst>
              <a:ext uri="{FF2B5EF4-FFF2-40B4-BE49-F238E27FC236}">
                <a16:creationId xmlns:a16="http://schemas.microsoft.com/office/drawing/2014/main" id="{B16B1278-2C38-DAAA-2180-B3C7CF9E2063}"/>
              </a:ext>
            </a:extLst>
          </p:cNvPr>
          <p:cNvSpPr>
            <a:spLocks noGrp="1"/>
          </p:cNvSpPr>
          <p:nvPr>
            <p:ph type="ftr" sz="quarter" idx="11"/>
          </p:nvPr>
        </p:nvSpPr>
        <p:spPr/>
        <p:txBody>
          <a:bodyPr/>
          <a:lstStyle/>
          <a:p>
            <a:endParaRPr lang="it-IT"/>
          </a:p>
        </p:txBody>
      </p:sp>
      <p:sp>
        <p:nvSpPr>
          <p:cNvPr id="6" name="Segnaposto numero diapositiva 5">
            <a:extLst>
              <a:ext uri="{FF2B5EF4-FFF2-40B4-BE49-F238E27FC236}">
                <a16:creationId xmlns:a16="http://schemas.microsoft.com/office/drawing/2014/main" id="{CA97CBF5-3F4D-EE8F-2948-DA6B6F7273A1}"/>
              </a:ext>
            </a:extLst>
          </p:cNvPr>
          <p:cNvSpPr>
            <a:spLocks noGrp="1"/>
          </p:cNvSpPr>
          <p:nvPr>
            <p:ph type="sldNum" sz="quarter" idx="12"/>
          </p:nvPr>
        </p:nvSpPr>
        <p:spPr/>
        <p:txBody>
          <a:bodyPr/>
          <a:lstStyle/>
          <a:p>
            <a:fld id="{E468CEA8-3AB4-4B0B-9144-20E181ED9507}" type="slidenum">
              <a:rPr lang="it-IT" smtClean="0"/>
              <a:t>‹#›</a:t>
            </a:fld>
            <a:endParaRPr lang="it-IT"/>
          </a:p>
        </p:txBody>
      </p:sp>
    </p:spTree>
    <p:extLst>
      <p:ext uri="{BB962C8B-B14F-4D97-AF65-F5344CB8AC3E}">
        <p14:creationId xmlns:p14="http://schemas.microsoft.com/office/powerpoint/2010/main" val="33838758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olo e contenut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35BF9F7-DF67-1E3C-547B-A5DD6323C036}"/>
              </a:ext>
            </a:extLst>
          </p:cNvPr>
          <p:cNvSpPr>
            <a:spLocks noGrp="1"/>
          </p:cNvSpPr>
          <p:nvPr>
            <p:ph type="title"/>
          </p:nvPr>
        </p:nvSpPr>
        <p:spPr/>
        <p:txBody>
          <a:bodyPr/>
          <a:lstStyle/>
          <a:p>
            <a:r>
              <a:rPr lang="it-IT"/>
              <a:t>Fare clic per modificare lo stile del titolo dello schema</a:t>
            </a:r>
          </a:p>
        </p:txBody>
      </p:sp>
      <p:sp>
        <p:nvSpPr>
          <p:cNvPr id="3" name="Segnaposto contenuto 2">
            <a:extLst>
              <a:ext uri="{FF2B5EF4-FFF2-40B4-BE49-F238E27FC236}">
                <a16:creationId xmlns:a16="http://schemas.microsoft.com/office/drawing/2014/main" id="{37897D17-B33A-6EF1-CEF4-981888F7F747}"/>
              </a:ext>
            </a:extLst>
          </p:cNvPr>
          <p:cNvSpPr>
            <a:spLocks noGrp="1"/>
          </p:cNvSpPr>
          <p:nvPr>
            <p:ph idx="1"/>
          </p:nvPr>
        </p:nvSpPr>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a:extLst>
              <a:ext uri="{FF2B5EF4-FFF2-40B4-BE49-F238E27FC236}">
                <a16:creationId xmlns:a16="http://schemas.microsoft.com/office/drawing/2014/main" id="{E788FE08-6E28-2435-B1EC-792C36B67307}"/>
              </a:ext>
            </a:extLst>
          </p:cNvPr>
          <p:cNvSpPr>
            <a:spLocks noGrp="1"/>
          </p:cNvSpPr>
          <p:nvPr>
            <p:ph type="dt" sz="half" idx="10"/>
          </p:nvPr>
        </p:nvSpPr>
        <p:spPr/>
        <p:txBody>
          <a:bodyPr/>
          <a:lstStyle/>
          <a:p>
            <a:fld id="{4B734174-4AE7-4BE8-A29D-97641C0FB41A}" type="datetimeFigureOut">
              <a:rPr lang="it-IT" smtClean="0"/>
              <a:t>19/08/2026</a:t>
            </a:fld>
            <a:endParaRPr lang="it-IT"/>
          </a:p>
        </p:txBody>
      </p:sp>
      <p:sp>
        <p:nvSpPr>
          <p:cNvPr id="5" name="Segnaposto piè di pagina 4">
            <a:extLst>
              <a:ext uri="{FF2B5EF4-FFF2-40B4-BE49-F238E27FC236}">
                <a16:creationId xmlns:a16="http://schemas.microsoft.com/office/drawing/2014/main" id="{B96292FF-01B5-7AC1-867C-EEFA64FD6488}"/>
              </a:ext>
            </a:extLst>
          </p:cNvPr>
          <p:cNvSpPr>
            <a:spLocks noGrp="1"/>
          </p:cNvSpPr>
          <p:nvPr>
            <p:ph type="ftr" sz="quarter" idx="11"/>
          </p:nvPr>
        </p:nvSpPr>
        <p:spPr/>
        <p:txBody>
          <a:bodyPr/>
          <a:lstStyle/>
          <a:p>
            <a:endParaRPr lang="it-IT"/>
          </a:p>
        </p:txBody>
      </p:sp>
      <p:sp>
        <p:nvSpPr>
          <p:cNvPr id="6" name="Segnaposto numero diapositiva 5">
            <a:extLst>
              <a:ext uri="{FF2B5EF4-FFF2-40B4-BE49-F238E27FC236}">
                <a16:creationId xmlns:a16="http://schemas.microsoft.com/office/drawing/2014/main" id="{48C4693C-59F1-46F6-6F7F-2B8960722237}"/>
              </a:ext>
            </a:extLst>
          </p:cNvPr>
          <p:cNvSpPr>
            <a:spLocks noGrp="1"/>
          </p:cNvSpPr>
          <p:nvPr>
            <p:ph type="sldNum" sz="quarter" idx="12"/>
          </p:nvPr>
        </p:nvSpPr>
        <p:spPr/>
        <p:txBody>
          <a:bodyPr/>
          <a:lstStyle/>
          <a:p>
            <a:fld id="{E468CEA8-3AB4-4B0B-9144-20E181ED9507}" type="slidenum">
              <a:rPr lang="it-IT" smtClean="0"/>
              <a:t>‹#›</a:t>
            </a:fld>
            <a:endParaRPr lang="it-IT"/>
          </a:p>
        </p:txBody>
      </p:sp>
    </p:spTree>
    <p:extLst>
      <p:ext uri="{BB962C8B-B14F-4D97-AF65-F5344CB8AC3E}">
        <p14:creationId xmlns:p14="http://schemas.microsoft.com/office/powerpoint/2010/main" val="235153217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Intestazione sezione">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D28FA5AA-FBCD-6954-D2E4-9E6A30EC9228}"/>
              </a:ext>
            </a:extLst>
          </p:cNvPr>
          <p:cNvSpPr>
            <a:spLocks noGrp="1"/>
          </p:cNvSpPr>
          <p:nvPr>
            <p:ph type="title"/>
          </p:nvPr>
        </p:nvSpPr>
        <p:spPr>
          <a:xfrm>
            <a:off x="831850" y="1709738"/>
            <a:ext cx="10515600" cy="2852737"/>
          </a:xfrm>
        </p:spPr>
        <p:txBody>
          <a:bodyPr anchor="b"/>
          <a:lstStyle>
            <a:lvl1pPr>
              <a:defRPr sz="6000"/>
            </a:lvl1pPr>
          </a:lstStyle>
          <a:p>
            <a:r>
              <a:rPr lang="it-IT"/>
              <a:t>Fare clic per modificare lo stile del titolo dello schema</a:t>
            </a:r>
          </a:p>
        </p:txBody>
      </p:sp>
      <p:sp>
        <p:nvSpPr>
          <p:cNvPr id="3" name="Segnaposto testo 2">
            <a:extLst>
              <a:ext uri="{FF2B5EF4-FFF2-40B4-BE49-F238E27FC236}">
                <a16:creationId xmlns:a16="http://schemas.microsoft.com/office/drawing/2014/main" id="{BD157C25-DA71-A412-A8F8-C57915EA4D73}"/>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it-IT"/>
              <a:t>Fare clic per modificare gli stili del testo dello schema</a:t>
            </a:r>
          </a:p>
        </p:txBody>
      </p:sp>
      <p:sp>
        <p:nvSpPr>
          <p:cNvPr id="4" name="Segnaposto data 3">
            <a:extLst>
              <a:ext uri="{FF2B5EF4-FFF2-40B4-BE49-F238E27FC236}">
                <a16:creationId xmlns:a16="http://schemas.microsoft.com/office/drawing/2014/main" id="{35B257C5-C8D1-BC78-EB2A-67B902CA7A22}"/>
              </a:ext>
            </a:extLst>
          </p:cNvPr>
          <p:cNvSpPr>
            <a:spLocks noGrp="1"/>
          </p:cNvSpPr>
          <p:nvPr>
            <p:ph type="dt" sz="half" idx="10"/>
          </p:nvPr>
        </p:nvSpPr>
        <p:spPr/>
        <p:txBody>
          <a:bodyPr/>
          <a:lstStyle/>
          <a:p>
            <a:fld id="{4B734174-4AE7-4BE8-A29D-97641C0FB41A}" type="datetimeFigureOut">
              <a:rPr lang="it-IT" smtClean="0"/>
              <a:t>19/08/2026</a:t>
            </a:fld>
            <a:endParaRPr lang="it-IT"/>
          </a:p>
        </p:txBody>
      </p:sp>
      <p:sp>
        <p:nvSpPr>
          <p:cNvPr id="5" name="Segnaposto piè di pagina 4">
            <a:extLst>
              <a:ext uri="{FF2B5EF4-FFF2-40B4-BE49-F238E27FC236}">
                <a16:creationId xmlns:a16="http://schemas.microsoft.com/office/drawing/2014/main" id="{8C0A21B9-77D6-757F-FA97-6E2E8511A6A3}"/>
              </a:ext>
            </a:extLst>
          </p:cNvPr>
          <p:cNvSpPr>
            <a:spLocks noGrp="1"/>
          </p:cNvSpPr>
          <p:nvPr>
            <p:ph type="ftr" sz="quarter" idx="11"/>
          </p:nvPr>
        </p:nvSpPr>
        <p:spPr/>
        <p:txBody>
          <a:bodyPr/>
          <a:lstStyle/>
          <a:p>
            <a:endParaRPr lang="it-IT"/>
          </a:p>
        </p:txBody>
      </p:sp>
      <p:sp>
        <p:nvSpPr>
          <p:cNvPr id="6" name="Segnaposto numero diapositiva 5">
            <a:extLst>
              <a:ext uri="{FF2B5EF4-FFF2-40B4-BE49-F238E27FC236}">
                <a16:creationId xmlns:a16="http://schemas.microsoft.com/office/drawing/2014/main" id="{AF6EEBBD-AFF0-E5A1-86E3-6BF12AA631B0}"/>
              </a:ext>
            </a:extLst>
          </p:cNvPr>
          <p:cNvSpPr>
            <a:spLocks noGrp="1"/>
          </p:cNvSpPr>
          <p:nvPr>
            <p:ph type="sldNum" sz="quarter" idx="12"/>
          </p:nvPr>
        </p:nvSpPr>
        <p:spPr/>
        <p:txBody>
          <a:bodyPr/>
          <a:lstStyle/>
          <a:p>
            <a:fld id="{E468CEA8-3AB4-4B0B-9144-20E181ED9507}" type="slidenum">
              <a:rPr lang="it-IT" smtClean="0"/>
              <a:t>‹#›</a:t>
            </a:fld>
            <a:endParaRPr lang="it-IT"/>
          </a:p>
        </p:txBody>
      </p:sp>
    </p:spTree>
    <p:extLst>
      <p:ext uri="{BB962C8B-B14F-4D97-AF65-F5344CB8AC3E}">
        <p14:creationId xmlns:p14="http://schemas.microsoft.com/office/powerpoint/2010/main" val="187701546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e contenuti">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964FECF5-18C9-81B6-0E7F-7D0C714EB97D}"/>
              </a:ext>
            </a:extLst>
          </p:cNvPr>
          <p:cNvSpPr>
            <a:spLocks noGrp="1"/>
          </p:cNvSpPr>
          <p:nvPr>
            <p:ph type="title"/>
          </p:nvPr>
        </p:nvSpPr>
        <p:spPr/>
        <p:txBody>
          <a:bodyPr/>
          <a:lstStyle/>
          <a:p>
            <a:r>
              <a:rPr lang="it-IT"/>
              <a:t>Fare clic per modificare lo stile del titolo dello schema</a:t>
            </a:r>
          </a:p>
        </p:txBody>
      </p:sp>
      <p:sp>
        <p:nvSpPr>
          <p:cNvPr id="3" name="Segnaposto contenuto 2">
            <a:extLst>
              <a:ext uri="{FF2B5EF4-FFF2-40B4-BE49-F238E27FC236}">
                <a16:creationId xmlns:a16="http://schemas.microsoft.com/office/drawing/2014/main" id="{D6F01EA4-A558-FA53-457E-90179EFC94A6}"/>
              </a:ext>
            </a:extLst>
          </p:cNvPr>
          <p:cNvSpPr>
            <a:spLocks noGrp="1"/>
          </p:cNvSpPr>
          <p:nvPr>
            <p:ph sz="half" idx="1"/>
          </p:nvPr>
        </p:nvSpPr>
        <p:spPr>
          <a:xfrm>
            <a:off x="838200" y="1825625"/>
            <a:ext cx="5181600" cy="4351338"/>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contenuto 3">
            <a:extLst>
              <a:ext uri="{FF2B5EF4-FFF2-40B4-BE49-F238E27FC236}">
                <a16:creationId xmlns:a16="http://schemas.microsoft.com/office/drawing/2014/main" id="{3796ED2A-F813-DC16-E2A0-22104D937251}"/>
              </a:ext>
            </a:extLst>
          </p:cNvPr>
          <p:cNvSpPr>
            <a:spLocks noGrp="1"/>
          </p:cNvSpPr>
          <p:nvPr>
            <p:ph sz="half" idx="2"/>
          </p:nvPr>
        </p:nvSpPr>
        <p:spPr>
          <a:xfrm>
            <a:off x="6172200" y="1825625"/>
            <a:ext cx="5181600" cy="4351338"/>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5" name="Segnaposto data 4">
            <a:extLst>
              <a:ext uri="{FF2B5EF4-FFF2-40B4-BE49-F238E27FC236}">
                <a16:creationId xmlns:a16="http://schemas.microsoft.com/office/drawing/2014/main" id="{C583BCB6-BE83-B09D-6860-23AA5F3B83CF}"/>
              </a:ext>
            </a:extLst>
          </p:cNvPr>
          <p:cNvSpPr>
            <a:spLocks noGrp="1"/>
          </p:cNvSpPr>
          <p:nvPr>
            <p:ph type="dt" sz="half" idx="10"/>
          </p:nvPr>
        </p:nvSpPr>
        <p:spPr/>
        <p:txBody>
          <a:bodyPr/>
          <a:lstStyle/>
          <a:p>
            <a:fld id="{4B734174-4AE7-4BE8-A29D-97641C0FB41A}" type="datetimeFigureOut">
              <a:rPr lang="it-IT" smtClean="0"/>
              <a:t>19/08/2026</a:t>
            </a:fld>
            <a:endParaRPr lang="it-IT"/>
          </a:p>
        </p:txBody>
      </p:sp>
      <p:sp>
        <p:nvSpPr>
          <p:cNvPr id="6" name="Segnaposto piè di pagina 5">
            <a:extLst>
              <a:ext uri="{FF2B5EF4-FFF2-40B4-BE49-F238E27FC236}">
                <a16:creationId xmlns:a16="http://schemas.microsoft.com/office/drawing/2014/main" id="{BE807251-F5D2-194C-A28B-1FF256E4FD98}"/>
              </a:ext>
            </a:extLst>
          </p:cNvPr>
          <p:cNvSpPr>
            <a:spLocks noGrp="1"/>
          </p:cNvSpPr>
          <p:nvPr>
            <p:ph type="ftr" sz="quarter" idx="11"/>
          </p:nvPr>
        </p:nvSpPr>
        <p:spPr/>
        <p:txBody>
          <a:bodyPr/>
          <a:lstStyle/>
          <a:p>
            <a:endParaRPr lang="it-IT"/>
          </a:p>
        </p:txBody>
      </p:sp>
      <p:sp>
        <p:nvSpPr>
          <p:cNvPr id="7" name="Segnaposto numero diapositiva 6">
            <a:extLst>
              <a:ext uri="{FF2B5EF4-FFF2-40B4-BE49-F238E27FC236}">
                <a16:creationId xmlns:a16="http://schemas.microsoft.com/office/drawing/2014/main" id="{91282E7D-96B1-1FEB-7101-C83209A2AEE6}"/>
              </a:ext>
            </a:extLst>
          </p:cNvPr>
          <p:cNvSpPr>
            <a:spLocks noGrp="1"/>
          </p:cNvSpPr>
          <p:nvPr>
            <p:ph type="sldNum" sz="quarter" idx="12"/>
          </p:nvPr>
        </p:nvSpPr>
        <p:spPr/>
        <p:txBody>
          <a:bodyPr/>
          <a:lstStyle/>
          <a:p>
            <a:fld id="{E468CEA8-3AB4-4B0B-9144-20E181ED9507}" type="slidenum">
              <a:rPr lang="it-IT" smtClean="0"/>
              <a:t>‹#›</a:t>
            </a:fld>
            <a:endParaRPr lang="it-IT"/>
          </a:p>
        </p:txBody>
      </p:sp>
    </p:spTree>
    <p:extLst>
      <p:ext uri="{BB962C8B-B14F-4D97-AF65-F5344CB8AC3E}">
        <p14:creationId xmlns:p14="http://schemas.microsoft.com/office/powerpoint/2010/main" val="329432636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nfront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21510D65-D9F5-6682-A088-CCB2E189FCEE}"/>
              </a:ext>
            </a:extLst>
          </p:cNvPr>
          <p:cNvSpPr>
            <a:spLocks noGrp="1"/>
          </p:cNvSpPr>
          <p:nvPr>
            <p:ph type="title"/>
          </p:nvPr>
        </p:nvSpPr>
        <p:spPr>
          <a:xfrm>
            <a:off x="839788" y="365125"/>
            <a:ext cx="10515600" cy="1325563"/>
          </a:xfrm>
        </p:spPr>
        <p:txBody>
          <a:bodyPr/>
          <a:lstStyle/>
          <a:p>
            <a:r>
              <a:rPr lang="it-IT"/>
              <a:t>Fare clic per modificare lo stile del titolo dello schema</a:t>
            </a:r>
          </a:p>
        </p:txBody>
      </p:sp>
      <p:sp>
        <p:nvSpPr>
          <p:cNvPr id="3" name="Segnaposto testo 2">
            <a:extLst>
              <a:ext uri="{FF2B5EF4-FFF2-40B4-BE49-F238E27FC236}">
                <a16:creationId xmlns:a16="http://schemas.microsoft.com/office/drawing/2014/main" id="{9C1461FA-1BD4-41E7-5612-B9A63DC68B5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4" name="Segnaposto contenuto 3">
            <a:extLst>
              <a:ext uri="{FF2B5EF4-FFF2-40B4-BE49-F238E27FC236}">
                <a16:creationId xmlns:a16="http://schemas.microsoft.com/office/drawing/2014/main" id="{E8E14A22-90A5-A90F-BD0E-F256D29DF7F3}"/>
              </a:ext>
            </a:extLst>
          </p:cNvPr>
          <p:cNvSpPr>
            <a:spLocks noGrp="1"/>
          </p:cNvSpPr>
          <p:nvPr>
            <p:ph sz="half" idx="2"/>
          </p:nvPr>
        </p:nvSpPr>
        <p:spPr>
          <a:xfrm>
            <a:off x="839788" y="2505075"/>
            <a:ext cx="5157787" cy="3684588"/>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5" name="Segnaposto testo 4">
            <a:extLst>
              <a:ext uri="{FF2B5EF4-FFF2-40B4-BE49-F238E27FC236}">
                <a16:creationId xmlns:a16="http://schemas.microsoft.com/office/drawing/2014/main" id="{0C80727B-7142-286E-DE3B-7B8E833DC07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6" name="Segnaposto contenuto 5">
            <a:extLst>
              <a:ext uri="{FF2B5EF4-FFF2-40B4-BE49-F238E27FC236}">
                <a16:creationId xmlns:a16="http://schemas.microsoft.com/office/drawing/2014/main" id="{E5203D91-1775-8A1D-169A-D6CE16954D85}"/>
              </a:ext>
            </a:extLst>
          </p:cNvPr>
          <p:cNvSpPr>
            <a:spLocks noGrp="1"/>
          </p:cNvSpPr>
          <p:nvPr>
            <p:ph sz="quarter" idx="4"/>
          </p:nvPr>
        </p:nvSpPr>
        <p:spPr>
          <a:xfrm>
            <a:off x="6172200" y="2505075"/>
            <a:ext cx="5183188" cy="3684588"/>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7" name="Segnaposto data 6">
            <a:extLst>
              <a:ext uri="{FF2B5EF4-FFF2-40B4-BE49-F238E27FC236}">
                <a16:creationId xmlns:a16="http://schemas.microsoft.com/office/drawing/2014/main" id="{426E9141-3575-E6BC-31BD-40D6F8C18F44}"/>
              </a:ext>
            </a:extLst>
          </p:cNvPr>
          <p:cNvSpPr>
            <a:spLocks noGrp="1"/>
          </p:cNvSpPr>
          <p:nvPr>
            <p:ph type="dt" sz="half" idx="10"/>
          </p:nvPr>
        </p:nvSpPr>
        <p:spPr/>
        <p:txBody>
          <a:bodyPr/>
          <a:lstStyle/>
          <a:p>
            <a:fld id="{4B734174-4AE7-4BE8-A29D-97641C0FB41A}" type="datetimeFigureOut">
              <a:rPr lang="it-IT" smtClean="0"/>
              <a:t>19/08/2026</a:t>
            </a:fld>
            <a:endParaRPr lang="it-IT"/>
          </a:p>
        </p:txBody>
      </p:sp>
      <p:sp>
        <p:nvSpPr>
          <p:cNvPr id="8" name="Segnaposto piè di pagina 7">
            <a:extLst>
              <a:ext uri="{FF2B5EF4-FFF2-40B4-BE49-F238E27FC236}">
                <a16:creationId xmlns:a16="http://schemas.microsoft.com/office/drawing/2014/main" id="{53ED44CC-825C-252C-F9E7-9AFB2DDFE0F8}"/>
              </a:ext>
            </a:extLst>
          </p:cNvPr>
          <p:cNvSpPr>
            <a:spLocks noGrp="1"/>
          </p:cNvSpPr>
          <p:nvPr>
            <p:ph type="ftr" sz="quarter" idx="11"/>
          </p:nvPr>
        </p:nvSpPr>
        <p:spPr/>
        <p:txBody>
          <a:bodyPr/>
          <a:lstStyle/>
          <a:p>
            <a:endParaRPr lang="it-IT"/>
          </a:p>
        </p:txBody>
      </p:sp>
      <p:sp>
        <p:nvSpPr>
          <p:cNvPr id="9" name="Segnaposto numero diapositiva 8">
            <a:extLst>
              <a:ext uri="{FF2B5EF4-FFF2-40B4-BE49-F238E27FC236}">
                <a16:creationId xmlns:a16="http://schemas.microsoft.com/office/drawing/2014/main" id="{B4EAFB81-9B92-09AB-31C7-9964D6A0F22A}"/>
              </a:ext>
            </a:extLst>
          </p:cNvPr>
          <p:cNvSpPr>
            <a:spLocks noGrp="1"/>
          </p:cNvSpPr>
          <p:nvPr>
            <p:ph type="sldNum" sz="quarter" idx="12"/>
          </p:nvPr>
        </p:nvSpPr>
        <p:spPr/>
        <p:txBody>
          <a:bodyPr/>
          <a:lstStyle/>
          <a:p>
            <a:fld id="{E468CEA8-3AB4-4B0B-9144-20E181ED9507}" type="slidenum">
              <a:rPr lang="it-IT" smtClean="0"/>
              <a:t>‹#›</a:t>
            </a:fld>
            <a:endParaRPr lang="it-IT"/>
          </a:p>
        </p:txBody>
      </p:sp>
    </p:spTree>
    <p:extLst>
      <p:ext uri="{BB962C8B-B14F-4D97-AF65-F5344CB8AC3E}">
        <p14:creationId xmlns:p14="http://schemas.microsoft.com/office/powerpoint/2010/main" val="275551384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titol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3A17CDB2-4B02-4B07-9307-AA112DA8B1FE}"/>
              </a:ext>
            </a:extLst>
          </p:cNvPr>
          <p:cNvSpPr>
            <a:spLocks noGrp="1"/>
          </p:cNvSpPr>
          <p:nvPr>
            <p:ph type="title"/>
          </p:nvPr>
        </p:nvSpPr>
        <p:spPr/>
        <p:txBody>
          <a:bodyPr/>
          <a:lstStyle/>
          <a:p>
            <a:r>
              <a:rPr lang="it-IT"/>
              <a:t>Fare clic per modificare lo stile del titolo dello schema</a:t>
            </a:r>
          </a:p>
        </p:txBody>
      </p:sp>
      <p:sp>
        <p:nvSpPr>
          <p:cNvPr id="3" name="Segnaposto data 2">
            <a:extLst>
              <a:ext uri="{FF2B5EF4-FFF2-40B4-BE49-F238E27FC236}">
                <a16:creationId xmlns:a16="http://schemas.microsoft.com/office/drawing/2014/main" id="{445ED6FB-CF38-9B06-4770-9487CFF1F9E0}"/>
              </a:ext>
            </a:extLst>
          </p:cNvPr>
          <p:cNvSpPr>
            <a:spLocks noGrp="1"/>
          </p:cNvSpPr>
          <p:nvPr>
            <p:ph type="dt" sz="half" idx="10"/>
          </p:nvPr>
        </p:nvSpPr>
        <p:spPr/>
        <p:txBody>
          <a:bodyPr/>
          <a:lstStyle/>
          <a:p>
            <a:fld id="{4B734174-4AE7-4BE8-A29D-97641C0FB41A}" type="datetimeFigureOut">
              <a:rPr lang="it-IT" smtClean="0"/>
              <a:t>19/08/2026</a:t>
            </a:fld>
            <a:endParaRPr lang="it-IT"/>
          </a:p>
        </p:txBody>
      </p:sp>
      <p:sp>
        <p:nvSpPr>
          <p:cNvPr id="4" name="Segnaposto piè di pagina 3">
            <a:extLst>
              <a:ext uri="{FF2B5EF4-FFF2-40B4-BE49-F238E27FC236}">
                <a16:creationId xmlns:a16="http://schemas.microsoft.com/office/drawing/2014/main" id="{3524D896-7BDD-3114-11AB-2CAEBBB030FD}"/>
              </a:ext>
            </a:extLst>
          </p:cNvPr>
          <p:cNvSpPr>
            <a:spLocks noGrp="1"/>
          </p:cNvSpPr>
          <p:nvPr>
            <p:ph type="ftr" sz="quarter" idx="11"/>
          </p:nvPr>
        </p:nvSpPr>
        <p:spPr/>
        <p:txBody>
          <a:bodyPr/>
          <a:lstStyle/>
          <a:p>
            <a:endParaRPr lang="it-IT"/>
          </a:p>
        </p:txBody>
      </p:sp>
      <p:sp>
        <p:nvSpPr>
          <p:cNvPr id="5" name="Segnaposto numero diapositiva 4">
            <a:extLst>
              <a:ext uri="{FF2B5EF4-FFF2-40B4-BE49-F238E27FC236}">
                <a16:creationId xmlns:a16="http://schemas.microsoft.com/office/drawing/2014/main" id="{013DBC53-D20A-CA44-6D1D-3E3F05E177EC}"/>
              </a:ext>
            </a:extLst>
          </p:cNvPr>
          <p:cNvSpPr>
            <a:spLocks noGrp="1"/>
          </p:cNvSpPr>
          <p:nvPr>
            <p:ph type="sldNum" sz="quarter" idx="12"/>
          </p:nvPr>
        </p:nvSpPr>
        <p:spPr/>
        <p:txBody>
          <a:bodyPr/>
          <a:lstStyle/>
          <a:p>
            <a:fld id="{E468CEA8-3AB4-4B0B-9144-20E181ED9507}" type="slidenum">
              <a:rPr lang="it-IT" smtClean="0"/>
              <a:t>‹#›</a:t>
            </a:fld>
            <a:endParaRPr lang="it-IT"/>
          </a:p>
        </p:txBody>
      </p:sp>
    </p:spTree>
    <p:extLst>
      <p:ext uri="{BB962C8B-B14F-4D97-AF65-F5344CB8AC3E}">
        <p14:creationId xmlns:p14="http://schemas.microsoft.com/office/powerpoint/2010/main" val="71004170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uota">
    <p:spTree>
      <p:nvGrpSpPr>
        <p:cNvPr id="1" name=""/>
        <p:cNvGrpSpPr/>
        <p:nvPr/>
      </p:nvGrpSpPr>
      <p:grpSpPr>
        <a:xfrm>
          <a:off x="0" y="0"/>
          <a:ext cx="0" cy="0"/>
          <a:chOff x="0" y="0"/>
          <a:chExt cx="0" cy="0"/>
        </a:xfrm>
      </p:grpSpPr>
      <p:sp>
        <p:nvSpPr>
          <p:cNvPr id="2" name="Segnaposto data 1">
            <a:extLst>
              <a:ext uri="{FF2B5EF4-FFF2-40B4-BE49-F238E27FC236}">
                <a16:creationId xmlns:a16="http://schemas.microsoft.com/office/drawing/2014/main" id="{7C8297C2-0D3B-ED56-8B61-FCB9774E01BB}"/>
              </a:ext>
            </a:extLst>
          </p:cNvPr>
          <p:cNvSpPr>
            <a:spLocks noGrp="1"/>
          </p:cNvSpPr>
          <p:nvPr>
            <p:ph type="dt" sz="half" idx="10"/>
          </p:nvPr>
        </p:nvSpPr>
        <p:spPr/>
        <p:txBody>
          <a:bodyPr/>
          <a:lstStyle/>
          <a:p>
            <a:fld id="{4B734174-4AE7-4BE8-A29D-97641C0FB41A}" type="datetimeFigureOut">
              <a:rPr lang="it-IT" smtClean="0"/>
              <a:t>19/08/2026</a:t>
            </a:fld>
            <a:endParaRPr lang="it-IT"/>
          </a:p>
        </p:txBody>
      </p:sp>
      <p:sp>
        <p:nvSpPr>
          <p:cNvPr id="3" name="Segnaposto piè di pagina 2">
            <a:extLst>
              <a:ext uri="{FF2B5EF4-FFF2-40B4-BE49-F238E27FC236}">
                <a16:creationId xmlns:a16="http://schemas.microsoft.com/office/drawing/2014/main" id="{4748E9F0-0B23-D251-AC8F-D94B00C1692C}"/>
              </a:ext>
            </a:extLst>
          </p:cNvPr>
          <p:cNvSpPr>
            <a:spLocks noGrp="1"/>
          </p:cNvSpPr>
          <p:nvPr>
            <p:ph type="ftr" sz="quarter" idx="11"/>
          </p:nvPr>
        </p:nvSpPr>
        <p:spPr/>
        <p:txBody>
          <a:bodyPr/>
          <a:lstStyle/>
          <a:p>
            <a:endParaRPr lang="it-IT"/>
          </a:p>
        </p:txBody>
      </p:sp>
      <p:sp>
        <p:nvSpPr>
          <p:cNvPr id="4" name="Segnaposto numero diapositiva 3">
            <a:extLst>
              <a:ext uri="{FF2B5EF4-FFF2-40B4-BE49-F238E27FC236}">
                <a16:creationId xmlns:a16="http://schemas.microsoft.com/office/drawing/2014/main" id="{23ECAA01-23A7-6F7F-6E50-FED32F981D57}"/>
              </a:ext>
            </a:extLst>
          </p:cNvPr>
          <p:cNvSpPr>
            <a:spLocks noGrp="1"/>
          </p:cNvSpPr>
          <p:nvPr>
            <p:ph type="sldNum" sz="quarter" idx="12"/>
          </p:nvPr>
        </p:nvSpPr>
        <p:spPr/>
        <p:txBody>
          <a:bodyPr/>
          <a:lstStyle/>
          <a:p>
            <a:fld id="{E468CEA8-3AB4-4B0B-9144-20E181ED9507}" type="slidenum">
              <a:rPr lang="it-IT" smtClean="0"/>
              <a:t>‹#›</a:t>
            </a:fld>
            <a:endParaRPr lang="it-IT"/>
          </a:p>
        </p:txBody>
      </p:sp>
    </p:spTree>
    <p:extLst>
      <p:ext uri="{BB962C8B-B14F-4D97-AF65-F5344CB8AC3E}">
        <p14:creationId xmlns:p14="http://schemas.microsoft.com/office/powerpoint/2010/main" val="378016101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to con didascalia">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B94600CA-7798-78EF-A297-14320CA838C3}"/>
              </a:ext>
            </a:extLst>
          </p:cNvPr>
          <p:cNvSpPr>
            <a:spLocks noGrp="1"/>
          </p:cNvSpPr>
          <p:nvPr>
            <p:ph type="title"/>
          </p:nvPr>
        </p:nvSpPr>
        <p:spPr>
          <a:xfrm>
            <a:off x="839788" y="457200"/>
            <a:ext cx="3932237" cy="1600200"/>
          </a:xfrm>
        </p:spPr>
        <p:txBody>
          <a:bodyPr anchor="b"/>
          <a:lstStyle>
            <a:lvl1pPr>
              <a:defRPr sz="3200"/>
            </a:lvl1pPr>
          </a:lstStyle>
          <a:p>
            <a:r>
              <a:rPr lang="it-IT"/>
              <a:t>Fare clic per modificare lo stile del titolo dello schema</a:t>
            </a:r>
          </a:p>
        </p:txBody>
      </p:sp>
      <p:sp>
        <p:nvSpPr>
          <p:cNvPr id="3" name="Segnaposto contenuto 2">
            <a:extLst>
              <a:ext uri="{FF2B5EF4-FFF2-40B4-BE49-F238E27FC236}">
                <a16:creationId xmlns:a16="http://schemas.microsoft.com/office/drawing/2014/main" id="{901CFEC1-C59B-4282-7ECD-EED1E5185A6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testo 3">
            <a:extLst>
              <a:ext uri="{FF2B5EF4-FFF2-40B4-BE49-F238E27FC236}">
                <a16:creationId xmlns:a16="http://schemas.microsoft.com/office/drawing/2014/main" id="{26FA0D9B-562D-BA61-6460-5B681C24F59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5" name="Segnaposto data 4">
            <a:extLst>
              <a:ext uri="{FF2B5EF4-FFF2-40B4-BE49-F238E27FC236}">
                <a16:creationId xmlns:a16="http://schemas.microsoft.com/office/drawing/2014/main" id="{266EF93F-C388-68A8-6F71-1DF2A7CA66BC}"/>
              </a:ext>
            </a:extLst>
          </p:cNvPr>
          <p:cNvSpPr>
            <a:spLocks noGrp="1"/>
          </p:cNvSpPr>
          <p:nvPr>
            <p:ph type="dt" sz="half" idx="10"/>
          </p:nvPr>
        </p:nvSpPr>
        <p:spPr/>
        <p:txBody>
          <a:bodyPr/>
          <a:lstStyle/>
          <a:p>
            <a:fld id="{4B734174-4AE7-4BE8-A29D-97641C0FB41A}" type="datetimeFigureOut">
              <a:rPr lang="it-IT" smtClean="0"/>
              <a:t>19/08/2026</a:t>
            </a:fld>
            <a:endParaRPr lang="it-IT"/>
          </a:p>
        </p:txBody>
      </p:sp>
      <p:sp>
        <p:nvSpPr>
          <p:cNvPr id="6" name="Segnaposto piè di pagina 5">
            <a:extLst>
              <a:ext uri="{FF2B5EF4-FFF2-40B4-BE49-F238E27FC236}">
                <a16:creationId xmlns:a16="http://schemas.microsoft.com/office/drawing/2014/main" id="{FC792410-D57D-8112-5C15-B3FE6B7166F9}"/>
              </a:ext>
            </a:extLst>
          </p:cNvPr>
          <p:cNvSpPr>
            <a:spLocks noGrp="1"/>
          </p:cNvSpPr>
          <p:nvPr>
            <p:ph type="ftr" sz="quarter" idx="11"/>
          </p:nvPr>
        </p:nvSpPr>
        <p:spPr/>
        <p:txBody>
          <a:bodyPr/>
          <a:lstStyle/>
          <a:p>
            <a:endParaRPr lang="it-IT"/>
          </a:p>
        </p:txBody>
      </p:sp>
      <p:sp>
        <p:nvSpPr>
          <p:cNvPr id="7" name="Segnaposto numero diapositiva 6">
            <a:extLst>
              <a:ext uri="{FF2B5EF4-FFF2-40B4-BE49-F238E27FC236}">
                <a16:creationId xmlns:a16="http://schemas.microsoft.com/office/drawing/2014/main" id="{03A02F4E-4C83-F922-9862-ADBD0F70DDF6}"/>
              </a:ext>
            </a:extLst>
          </p:cNvPr>
          <p:cNvSpPr>
            <a:spLocks noGrp="1"/>
          </p:cNvSpPr>
          <p:nvPr>
            <p:ph type="sldNum" sz="quarter" idx="12"/>
          </p:nvPr>
        </p:nvSpPr>
        <p:spPr/>
        <p:txBody>
          <a:bodyPr/>
          <a:lstStyle/>
          <a:p>
            <a:fld id="{E468CEA8-3AB4-4B0B-9144-20E181ED9507}" type="slidenum">
              <a:rPr lang="it-IT" smtClean="0"/>
              <a:t>‹#›</a:t>
            </a:fld>
            <a:endParaRPr lang="it-IT"/>
          </a:p>
        </p:txBody>
      </p:sp>
    </p:spTree>
    <p:extLst>
      <p:ext uri="{BB962C8B-B14F-4D97-AF65-F5344CB8AC3E}">
        <p14:creationId xmlns:p14="http://schemas.microsoft.com/office/powerpoint/2010/main" val="2015898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magine con didascalia">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AC02439D-E4F5-5CFC-2A7E-3B7111003856}"/>
              </a:ext>
            </a:extLst>
          </p:cNvPr>
          <p:cNvSpPr>
            <a:spLocks noGrp="1"/>
          </p:cNvSpPr>
          <p:nvPr>
            <p:ph type="title"/>
          </p:nvPr>
        </p:nvSpPr>
        <p:spPr>
          <a:xfrm>
            <a:off x="839788" y="457200"/>
            <a:ext cx="3932237" cy="1600200"/>
          </a:xfrm>
        </p:spPr>
        <p:txBody>
          <a:bodyPr anchor="b"/>
          <a:lstStyle>
            <a:lvl1pPr>
              <a:defRPr sz="3200"/>
            </a:lvl1pPr>
          </a:lstStyle>
          <a:p>
            <a:r>
              <a:rPr lang="it-IT"/>
              <a:t>Fare clic per modificare lo stile del titolo dello schema</a:t>
            </a:r>
          </a:p>
        </p:txBody>
      </p:sp>
      <p:sp>
        <p:nvSpPr>
          <p:cNvPr id="3" name="Segnaposto immagine 2">
            <a:extLst>
              <a:ext uri="{FF2B5EF4-FFF2-40B4-BE49-F238E27FC236}">
                <a16:creationId xmlns:a16="http://schemas.microsoft.com/office/drawing/2014/main" id="{B76CAC3F-4306-8C93-FAFD-71172627CC2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it-IT"/>
          </a:p>
        </p:txBody>
      </p:sp>
      <p:sp>
        <p:nvSpPr>
          <p:cNvPr id="4" name="Segnaposto testo 3">
            <a:extLst>
              <a:ext uri="{FF2B5EF4-FFF2-40B4-BE49-F238E27FC236}">
                <a16:creationId xmlns:a16="http://schemas.microsoft.com/office/drawing/2014/main" id="{677C4C85-4610-E23F-E411-CAB1446C079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5" name="Segnaposto data 4">
            <a:extLst>
              <a:ext uri="{FF2B5EF4-FFF2-40B4-BE49-F238E27FC236}">
                <a16:creationId xmlns:a16="http://schemas.microsoft.com/office/drawing/2014/main" id="{BF0750AC-EC3B-956F-684D-3C0FEE6CBDA7}"/>
              </a:ext>
            </a:extLst>
          </p:cNvPr>
          <p:cNvSpPr>
            <a:spLocks noGrp="1"/>
          </p:cNvSpPr>
          <p:nvPr>
            <p:ph type="dt" sz="half" idx="10"/>
          </p:nvPr>
        </p:nvSpPr>
        <p:spPr/>
        <p:txBody>
          <a:bodyPr/>
          <a:lstStyle/>
          <a:p>
            <a:fld id="{4B734174-4AE7-4BE8-A29D-97641C0FB41A}" type="datetimeFigureOut">
              <a:rPr lang="it-IT" smtClean="0"/>
              <a:t>19/08/2026</a:t>
            </a:fld>
            <a:endParaRPr lang="it-IT"/>
          </a:p>
        </p:txBody>
      </p:sp>
      <p:sp>
        <p:nvSpPr>
          <p:cNvPr id="6" name="Segnaposto piè di pagina 5">
            <a:extLst>
              <a:ext uri="{FF2B5EF4-FFF2-40B4-BE49-F238E27FC236}">
                <a16:creationId xmlns:a16="http://schemas.microsoft.com/office/drawing/2014/main" id="{93A1C4B6-8AD9-702F-FC48-361C84EE61D4}"/>
              </a:ext>
            </a:extLst>
          </p:cNvPr>
          <p:cNvSpPr>
            <a:spLocks noGrp="1"/>
          </p:cNvSpPr>
          <p:nvPr>
            <p:ph type="ftr" sz="quarter" idx="11"/>
          </p:nvPr>
        </p:nvSpPr>
        <p:spPr/>
        <p:txBody>
          <a:bodyPr/>
          <a:lstStyle/>
          <a:p>
            <a:endParaRPr lang="it-IT"/>
          </a:p>
        </p:txBody>
      </p:sp>
      <p:sp>
        <p:nvSpPr>
          <p:cNvPr id="7" name="Segnaposto numero diapositiva 6">
            <a:extLst>
              <a:ext uri="{FF2B5EF4-FFF2-40B4-BE49-F238E27FC236}">
                <a16:creationId xmlns:a16="http://schemas.microsoft.com/office/drawing/2014/main" id="{64A69AD3-3C4C-17D2-A40D-87D5ECD270BC}"/>
              </a:ext>
            </a:extLst>
          </p:cNvPr>
          <p:cNvSpPr>
            <a:spLocks noGrp="1"/>
          </p:cNvSpPr>
          <p:nvPr>
            <p:ph type="sldNum" sz="quarter" idx="12"/>
          </p:nvPr>
        </p:nvSpPr>
        <p:spPr/>
        <p:txBody>
          <a:bodyPr/>
          <a:lstStyle/>
          <a:p>
            <a:fld id="{E468CEA8-3AB4-4B0B-9144-20E181ED9507}" type="slidenum">
              <a:rPr lang="it-IT" smtClean="0"/>
              <a:t>‹#›</a:t>
            </a:fld>
            <a:endParaRPr lang="it-IT"/>
          </a:p>
        </p:txBody>
      </p:sp>
    </p:spTree>
    <p:extLst>
      <p:ext uri="{BB962C8B-B14F-4D97-AF65-F5344CB8AC3E}">
        <p14:creationId xmlns:p14="http://schemas.microsoft.com/office/powerpoint/2010/main" val="16894633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olo e testo verticale">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15266DE-32C7-73E6-6685-47860E28AA70}"/>
              </a:ext>
            </a:extLst>
          </p:cNvPr>
          <p:cNvSpPr>
            <a:spLocks noGrp="1"/>
          </p:cNvSpPr>
          <p:nvPr>
            <p:ph type="title"/>
          </p:nvPr>
        </p:nvSpPr>
        <p:spPr/>
        <p:txBody>
          <a:bodyPr/>
          <a:lstStyle/>
          <a:p>
            <a:r>
              <a:rPr lang="it-IT"/>
              <a:t>Fare clic per modificare lo stile del titolo dello schema</a:t>
            </a:r>
          </a:p>
        </p:txBody>
      </p:sp>
      <p:sp>
        <p:nvSpPr>
          <p:cNvPr id="3" name="Segnaposto testo verticale 2">
            <a:extLst>
              <a:ext uri="{FF2B5EF4-FFF2-40B4-BE49-F238E27FC236}">
                <a16:creationId xmlns:a16="http://schemas.microsoft.com/office/drawing/2014/main" id="{50B3BC10-8E18-A721-00DD-56CA590D68DC}"/>
              </a:ext>
            </a:extLst>
          </p:cNvPr>
          <p:cNvSpPr>
            <a:spLocks noGrp="1"/>
          </p:cNvSpPr>
          <p:nvPr>
            <p:ph type="body" orient="vert" idx="1"/>
          </p:nvPr>
        </p:nvSpPr>
        <p:spPr/>
        <p:txBody>
          <a:bodyPr vert="eaVe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a:extLst>
              <a:ext uri="{FF2B5EF4-FFF2-40B4-BE49-F238E27FC236}">
                <a16:creationId xmlns:a16="http://schemas.microsoft.com/office/drawing/2014/main" id="{BB7F265D-9538-2214-0D6D-0C6078CC5C33}"/>
              </a:ext>
            </a:extLst>
          </p:cNvPr>
          <p:cNvSpPr>
            <a:spLocks noGrp="1"/>
          </p:cNvSpPr>
          <p:nvPr>
            <p:ph type="dt" sz="half" idx="10"/>
          </p:nvPr>
        </p:nvSpPr>
        <p:spPr/>
        <p:txBody>
          <a:bodyPr/>
          <a:lstStyle/>
          <a:p>
            <a:fld id="{4B734174-4AE7-4BE8-A29D-97641C0FB41A}" type="datetimeFigureOut">
              <a:rPr lang="it-IT" smtClean="0"/>
              <a:t>19/08/2026</a:t>
            </a:fld>
            <a:endParaRPr lang="it-IT"/>
          </a:p>
        </p:txBody>
      </p:sp>
      <p:sp>
        <p:nvSpPr>
          <p:cNvPr id="5" name="Segnaposto piè di pagina 4">
            <a:extLst>
              <a:ext uri="{FF2B5EF4-FFF2-40B4-BE49-F238E27FC236}">
                <a16:creationId xmlns:a16="http://schemas.microsoft.com/office/drawing/2014/main" id="{A01A8A0C-1534-981E-3D4B-30FF7C642865}"/>
              </a:ext>
            </a:extLst>
          </p:cNvPr>
          <p:cNvSpPr>
            <a:spLocks noGrp="1"/>
          </p:cNvSpPr>
          <p:nvPr>
            <p:ph type="ftr" sz="quarter" idx="11"/>
          </p:nvPr>
        </p:nvSpPr>
        <p:spPr/>
        <p:txBody>
          <a:bodyPr/>
          <a:lstStyle/>
          <a:p>
            <a:endParaRPr lang="it-IT"/>
          </a:p>
        </p:txBody>
      </p:sp>
      <p:sp>
        <p:nvSpPr>
          <p:cNvPr id="6" name="Segnaposto numero diapositiva 5">
            <a:extLst>
              <a:ext uri="{FF2B5EF4-FFF2-40B4-BE49-F238E27FC236}">
                <a16:creationId xmlns:a16="http://schemas.microsoft.com/office/drawing/2014/main" id="{74CFED61-CB81-D9BC-C52D-CE21C2E80347}"/>
              </a:ext>
            </a:extLst>
          </p:cNvPr>
          <p:cNvSpPr>
            <a:spLocks noGrp="1"/>
          </p:cNvSpPr>
          <p:nvPr>
            <p:ph type="sldNum" sz="quarter" idx="12"/>
          </p:nvPr>
        </p:nvSpPr>
        <p:spPr/>
        <p:txBody>
          <a:bodyPr/>
          <a:lstStyle/>
          <a:p>
            <a:fld id="{E468CEA8-3AB4-4B0B-9144-20E181ED9507}" type="slidenum">
              <a:rPr lang="it-IT" smtClean="0"/>
              <a:t>‹#›</a:t>
            </a:fld>
            <a:endParaRPr lang="it-IT"/>
          </a:p>
        </p:txBody>
      </p:sp>
    </p:spTree>
    <p:extLst>
      <p:ext uri="{BB962C8B-B14F-4D97-AF65-F5344CB8AC3E}">
        <p14:creationId xmlns:p14="http://schemas.microsoft.com/office/powerpoint/2010/main" val="27691853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1_Titolo e testo verticale">
    <p:spTree>
      <p:nvGrpSpPr>
        <p:cNvPr id="1" name=""/>
        <p:cNvGrpSpPr/>
        <p:nvPr/>
      </p:nvGrpSpPr>
      <p:grpSpPr>
        <a:xfrm>
          <a:off x="0" y="0"/>
          <a:ext cx="0" cy="0"/>
          <a:chOff x="0" y="0"/>
          <a:chExt cx="0" cy="0"/>
        </a:xfrm>
      </p:grpSpPr>
      <p:sp>
        <p:nvSpPr>
          <p:cNvPr id="2" name="Titolo verticale 1">
            <a:extLst>
              <a:ext uri="{FF2B5EF4-FFF2-40B4-BE49-F238E27FC236}">
                <a16:creationId xmlns:a16="http://schemas.microsoft.com/office/drawing/2014/main" id="{7ECC69D5-05DB-95B6-C17D-00B311146AB9}"/>
              </a:ext>
            </a:extLst>
          </p:cNvPr>
          <p:cNvSpPr>
            <a:spLocks noGrp="1"/>
          </p:cNvSpPr>
          <p:nvPr>
            <p:ph type="title" orient="vert"/>
          </p:nvPr>
        </p:nvSpPr>
        <p:spPr>
          <a:xfrm>
            <a:off x="8724900" y="365125"/>
            <a:ext cx="2628900" cy="5811838"/>
          </a:xfrm>
        </p:spPr>
        <p:txBody>
          <a:bodyPr vert="eaVert"/>
          <a:lstStyle/>
          <a:p>
            <a:r>
              <a:rPr lang="it-IT"/>
              <a:t>Fare clic per modificare lo stile del titolo dello schema</a:t>
            </a:r>
          </a:p>
        </p:txBody>
      </p:sp>
      <p:sp>
        <p:nvSpPr>
          <p:cNvPr id="3" name="Segnaposto testo verticale 2">
            <a:extLst>
              <a:ext uri="{FF2B5EF4-FFF2-40B4-BE49-F238E27FC236}">
                <a16:creationId xmlns:a16="http://schemas.microsoft.com/office/drawing/2014/main" id="{0E743714-00DC-E371-9597-EB25A8FBA0C2}"/>
              </a:ext>
            </a:extLst>
          </p:cNvPr>
          <p:cNvSpPr>
            <a:spLocks noGrp="1"/>
          </p:cNvSpPr>
          <p:nvPr>
            <p:ph type="body" orient="vert" idx="1"/>
          </p:nvPr>
        </p:nvSpPr>
        <p:spPr>
          <a:xfrm>
            <a:off x="838200" y="365125"/>
            <a:ext cx="7734300" cy="5811838"/>
          </a:xfrm>
        </p:spPr>
        <p:txBody>
          <a:bodyPr vert="eaVe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a:extLst>
              <a:ext uri="{FF2B5EF4-FFF2-40B4-BE49-F238E27FC236}">
                <a16:creationId xmlns:a16="http://schemas.microsoft.com/office/drawing/2014/main" id="{C270DE6F-350B-6C8A-3068-BFEE6901A6D6}"/>
              </a:ext>
            </a:extLst>
          </p:cNvPr>
          <p:cNvSpPr>
            <a:spLocks noGrp="1"/>
          </p:cNvSpPr>
          <p:nvPr>
            <p:ph type="dt" sz="half" idx="10"/>
          </p:nvPr>
        </p:nvSpPr>
        <p:spPr/>
        <p:txBody>
          <a:bodyPr/>
          <a:lstStyle/>
          <a:p>
            <a:fld id="{4B734174-4AE7-4BE8-A29D-97641C0FB41A}" type="datetimeFigureOut">
              <a:rPr lang="it-IT" smtClean="0"/>
              <a:t>19/08/2026</a:t>
            </a:fld>
            <a:endParaRPr lang="it-IT"/>
          </a:p>
        </p:txBody>
      </p:sp>
      <p:sp>
        <p:nvSpPr>
          <p:cNvPr id="5" name="Segnaposto piè di pagina 4">
            <a:extLst>
              <a:ext uri="{FF2B5EF4-FFF2-40B4-BE49-F238E27FC236}">
                <a16:creationId xmlns:a16="http://schemas.microsoft.com/office/drawing/2014/main" id="{C5165C43-787E-C48A-1E67-0D099BC1CE4A}"/>
              </a:ext>
            </a:extLst>
          </p:cNvPr>
          <p:cNvSpPr>
            <a:spLocks noGrp="1"/>
          </p:cNvSpPr>
          <p:nvPr>
            <p:ph type="ftr" sz="quarter" idx="11"/>
          </p:nvPr>
        </p:nvSpPr>
        <p:spPr/>
        <p:txBody>
          <a:bodyPr/>
          <a:lstStyle/>
          <a:p>
            <a:endParaRPr lang="it-IT"/>
          </a:p>
        </p:txBody>
      </p:sp>
      <p:sp>
        <p:nvSpPr>
          <p:cNvPr id="6" name="Segnaposto numero diapositiva 5">
            <a:extLst>
              <a:ext uri="{FF2B5EF4-FFF2-40B4-BE49-F238E27FC236}">
                <a16:creationId xmlns:a16="http://schemas.microsoft.com/office/drawing/2014/main" id="{BD0D0913-985D-6312-E38E-9477ADF1A8CB}"/>
              </a:ext>
            </a:extLst>
          </p:cNvPr>
          <p:cNvSpPr>
            <a:spLocks noGrp="1"/>
          </p:cNvSpPr>
          <p:nvPr>
            <p:ph type="sldNum" sz="quarter" idx="12"/>
          </p:nvPr>
        </p:nvSpPr>
        <p:spPr/>
        <p:txBody>
          <a:bodyPr/>
          <a:lstStyle/>
          <a:p>
            <a:fld id="{E468CEA8-3AB4-4B0B-9144-20E181ED9507}" type="slidenum">
              <a:rPr lang="it-IT" smtClean="0"/>
              <a:t>‹#›</a:t>
            </a:fld>
            <a:endParaRPr lang="it-IT"/>
          </a:p>
        </p:txBody>
      </p:sp>
    </p:spTree>
    <p:extLst>
      <p:ext uri="{BB962C8B-B14F-4D97-AF65-F5344CB8AC3E}">
        <p14:creationId xmlns:p14="http://schemas.microsoft.com/office/powerpoint/2010/main" val="90186560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titolo 1">
            <a:extLst>
              <a:ext uri="{FF2B5EF4-FFF2-40B4-BE49-F238E27FC236}">
                <a16:creationId xmlns:a16="http://schemas.microsoft.com/office/drawing/2014/main" id="{57D8B87C-FD1A-B59F-78B3-6892EFB87AE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it-IT"/>
              <a:t>Fare clic per modificare lo stile del titolo dello schema</a:t>
            </a:r>
          </a:p>
        </p:txBody>
      </p:sp>
      <p:sp>
        <p:nvSpPr>
          <p:cNvPr id="3" name="Segnaposto testo 2">
            <a:extLst>
              <a:ext uri="{FF2B5EF4-FFF2-40B4-BE49-F238E27FC236}">
                <a16:creationId xmlns:a16="http://schemas.microsoft.com/office/drawing/2014/main" id="{2C67C8B9-89B9-D7BA-FB20-C7EB581367F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a:extLst>
              <a:ext uri="{FF2B5EF4-FFF2-40B4-BE49-F238E27FC236}">
                <a16:creationId xmlns:a16="http://schemas.microsoft.com/office/drawing/2014/main" id="{51A205FC-B67D-F4FD-003E-9D2FD2A1C33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4B734174-4AE7-4BE8-A29D-97641C0FB41A}" type="datetimeFigureOut">
              <a:rPr lang="it-IT" smtClean="0"/>
              <a:t>19/08/2026</a:t>
            </a:fld>
            <a:endParaRPr lang="it-IT"/>
          </a:p>
        </p:txBody>
      </p:sp>
      <p:sp>
        <p:nvSpPr>
          <p:cNvPr id="5" name="Segnaposto piè di pagina 4">
            <a:extLst>
              <a:ext uri="{FF2B5EF4-FFF2-40B4-BE49-F238E27FC236}">
                <a16:creationId xmlns:a16="http://schemas.microsoft.com/office/drawing/2014/main" id="{F66218BC-0ED4-07D9-A0D8-A1B2B24A2CD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it-IT"/>
          </a:p>
        </p:txBody>
      </p:sp>
      <p:sp>
        <p:nvSpPr>
          <p:cNvPr id="6" name="Segnaposto numero diapositiva 5">
            <a:extLst>
              <a:ext uri="{FF2B5EF4-FFF2-40B4-BE49-F238E27FC236}">
                <a16:creationId xmlns:a16="http://schemas.microsoft.com/office/drawing/2014/main" id="{61910B92-3F1F-78FA-6C70-FEC529A95B9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468CEA8-3AB4-4B0B-9144-20E181ED9507}" type="slidenum">
              <a:rPr lang="it-IT" smtClean="0"/>
              <a:t>‹#›</a:t>
            </a:fld>
            <a:endParaRPr lang="it-IT"/>
          </a:p>
        </p:txBody>
      </p:sp>
    </p:spTree>
    <p:extLst>
      <p:ext uri="{BB962C8B-B14F-4D97-AF65-F5344CB8AC3E}">
        <p14:creationId xmlns:p14="http://schemas.microsoft.com/office/powerpoint/2010/main" val="358548393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7.svg"/></Relationships>
</file>

<file path=ppt/slides/_rels/slide5.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8" Type="http://schemas.openxmlformats.org/officeDocument/2006/relationships/image" Target="../media/image18.svg"/><Relationship Id="rId3" Type="http://schemas.openxmlformats.org/officeDocument/2006/relationships/image" Target="../media/image13.svg"/><Relationship Id="rId7" Type="http://schemas.openxmlformats.org/officeDocument/2006/relationships/image" Target="../media/image17.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6.svg"/><Relationship Id="rId5" Type="http://schemas.openxmlformats.org/officeDocument/2006/relationships/image" Target="../media/image15.png"/><Relationship Id="rId10" Type="http://schemas.openxmlformats.org/officeDocument/2006/relationships/image" Target="../media/image20.svg"/><Relationship Id="rId4" Type="http://schemas.openxmlformats.org/officeDocument/2006/relationships/image" Target="../media/image14.svg"/><Relationship Id="rId9" Type="http://schemas.openxmlformats.org/officeDocument/2006/relationships/image" Target="../media/image19.png"/></Relationships>
</file>

<file path=ppt/slides/_rels/slide7.xml.rels><?xml version="1.0" encoding="UTF-8" standalone="yes"?>
<Relationships xmlns="http://schemas.openxmlformats.org/package/2006/relationships"><Relationship Id="rId3" Type="http://schemas.openxmlformats.org/officeDocument/2006/relationships/image" Target="../media/image13.svg"/><Relationship Id="rId7" Type="http://schemas.openxmlformats.org/officeDocument/2006/relationships/image" Target="../media/image24.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26.png"/><Relationship Id="rId4" Type="http://schemas.openxmlformats.org/officeDocument/2006/relationships/image" Target="../media/image14.svg"/></Relationships>
</file>

<file path=ppt/slides/_rels/slide9.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6.svg"/></Relationships>
</file>

<file path=ppt/slides/_rels/slide1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 Id="rId4" Type="http://schemas.openxmlformats.org/officeDocument/2006/relationships/image" Target="../media/image151.png"/></Relationships>
</file>

<file path=ppt/slides/_rels/slide1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150.png"/><Relationship Id="rId5" Type="http://schemas.openxmlformats.org/officeDocument/2006/relationships/image" Target="../media/image20.png"/><Relationship Id="rId4" Type="http://schemas.openxmlformats.org/officeDocument/2006/relationships/image" Target="../media/image32.png"/></Relationships>
</file>

<file path=ppt/slides/_rels/slide15.xml.rels><?xml version="1.0" encoding="UTF-8" standalone="yes"?>
<Relationships xmlns="http://schemas.openxmlformats.org/package/2006/relationships"><Relationship Id="rId3" Type="http://schemas.openxmlformats.org/officeDocument/2006/relationships/image" Target="../media/image210.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33.png"/></Relationships>
</file>

<file path=ppt/slides/_rels/slide16.xml.rels><?xml version="1.0" encoding="UTF-8" standalone="yes"?>
<Relationships xmlns="http://schemas.openxmlformats.org/package/2006/relationships"><Relationship Id="rId3" Type="http://schemas.openxmlformats.org/officeDocument/2006/relationships/image" Target="../media/image230.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35.png"/></Relationships>
</file>

<file path=ppt/slides/_rels/slide18.xml.rels><?xml version="1.0" encoding="UTF-8" standalone="yes"?>
<Relationships xmlns="http://schemas.openxmlformats.org/package/2006/relationships"><Relationship Id="rId3" Type="http://schemas.openxmlformats.org/officeDocument/2006/relationships/image" Target="../media/image261.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36.png"/></Relationships>
</file>

<file path=ppt/slides/_rels/slide19.xml.rels><?xml version="1.0" encoding="UTF-8" standalone="yes"?>
<Relationships xmlns="http://schemas.openxmlformats.org/package/2006/relationships"><Relationship Id="rId3" Type="http://schemas.openxmlformats.org/officeDocument/2006/relationships/image" Target="../media/image280.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37.png"/></Relationships>
</file>

<file path=ppt/slides/_rels/slide20.xml.rels><?xml version="1.0" encoding="UTF-8" standalone="yes"?>
<Relationships xmlns="http://schemas.openxmlformats.org/package/2006/relationships"><Relationship Id="rId3" Type="http://schemas.openxmlformats.org/officeDocument/2006/relationships/image" Target="../media/image240.png"/><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320.png"/><Relationship Id="rId5" Type="http://schemas.openxmlformats.org/officeDocument/2006/relationships/image" Target="../media/image260.png"/><Relationship Id="rId4" Type="http://schemas.openxmlformats.org/officeDocument/2006/relationships/image" Target="../media/image38.png"/></Relationships>
</file>

<file path=ppt/slides/_rels/slide22.xml.rels><?xml version="1.0" encoding="UTF-8" standalone="yes"?>
<Relationships xmlns="http://schemas.openxmlformats.org/package/2006/relationships"><Relationship Id="rId3" Type="http://schemas.openxmlformats.org/officeDocument/2006/relationships/image" Target="../media/image330.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340.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51.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361.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70.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4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211.png"/><Relationship Id="rId1" Type="http://schemas.openxmlformats.org/officeDocument/2006/relationships/slideLayout" Target="../slideLayouts/slideLayout2.xml"/><Relationship Id="rId4" Type="http://schemas.openxmlformats.org/officeDocument/2006/relationships/image" Target="../media/image42.png"/></Relationships>
</file>

<file path=ppt/slides/_rels/slide2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23.xml"/><Relationship Id="rId1" Type="http://schemas.openxmlformats.org/officeDocument/2006/relationships/slideLayout" Target="../slideLayouts/slideLayout2.xml"/><Relationship Id="rId5" Type="http://schemas.openxmlformats.org/officeDocument/2006/relationships/image" Target="../media/image360.png"/><Relationship Id="rId4" Type="http://schemas.openxmlformats.org/officeDocument/2006/relationships/image" Target="../media/image350.png"/></Relationships>
</file>

<file path=ppt/slides/_rels/slide32.xml.rels><?xml version="1.0" encoding="UTF-8" standalone="yes"?>
<Relationships xmlns="http://schemas.openxmlformats.org/package/2006/relationships"><Relationship Id="rId3" Type="http://schemas.openxmlformats.org/officeDocument/2006/relationships/image" Target="../media/image360.png"/><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olo 1">
            <a:extLst>
              <a:ext uri="{FF2B5EF4-FFF2-40B4-BE49-F238E27FC236}">
                <a16:creationId xmlns:a16="http://schemas.microsoft.com/office/drawing/2014/main" id="{04856A9A-3EED-F0B3-DD7D-25DC283AB952}"/>
              </a:ext>
            </a:extLst>
          </p:cNvPr>
          <p:cNvSpPr txBox="1">
            <a:spLocks/>
          </p:cNvSpPr>
          <p:nvPr/>
        </p:nvSpPr>
        <p:spPr>
          <a:xfrm>
            <a:off x="0" y="0"/>
            <a:ext cx="12192000" cy="6858000"/>
          </a:xfrm>
          <a:prstGeom prst="roundRect">
            <a:avLst>
              <a:gd name="adj" fmla="val 36459"/>
            </a:avLst>
          </a:prstGeom>
          <a:solidFill>
            <a:srgbClr val="002060"/>
          </a:solidFill>
        </p:spPr>
        <p:txBody>
          <a:bodyPr vert="horz" lIns="91440" tIns="45720" rIns="91440" bIns="45720" rtlCol="0" anchor="ctr">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5000" b="1" dirty="0">
                <a:solidFill>
                  <a:schemeClr val="bg1"/>
                </a:solidFill>
              </a:rPr>
              <a:t>Characterization of Long Bent Silicon Crystals for </a:t>
            </a:r>
            <a:r>
              <a:rPr lang="en-US" sz="5000" b="1" dirty="0" err="1">
                <a:solidFill>
                  <a:schemeClr val="bg1"/>
                </a:solidFill>
              </a:rPr>
              <a:t>Channelling</a:t>
            </a:r>
            <a:r>
              <a:rPr lang="en-US" sz="5000" b="1" dirty="0">
                <a:solidFill>
                  <a:schemeClr val="bg1"/>
                </a:solidFill>
              </a:rPr>
              <a:t> Applications at the LHC</a:t>
            </a:r>
          </a:p>
        </p:txBody>
      </p:sp>
      <p:sp>
        <p:nvSpPr>
          <p:cNvPr id="5" name="CasellaDiTesto 4">
            <a:extLst>
              <a:ext uri="{FF2B5EF4-FFF2-40B4-BE49-F238E27FC236}">
                <a16:creationId xmlns:a16="http://schemas.microsoft.com/office/drawing/2014/main" id="{5BC78894-2BE6-7008-73A1-DD7B80075B0A}"/>
              </a:ext>
            </a:extLst>
          </p:cNvPr>
          <p:cNvSpPr txBox="1"/>
          <p:nvPr/>
        </p:nvSpPr>
        <p:spPr>
          <a:xfrm>
            <a:off x="0" y="0"/>
            <a:ext cx="12192000" cy="1015663"/>
          </a:xfrm>
          <a:prstGeom prst="rect">
            <a:avLst/>
          </a:prstGeom>
          <a:noFill/>
        </p:spPr>
        <p:txBody>
          <a:bodyPr wrap="square" rtlCol="0" anchor="ctr">
            <a:spAutoFit/>
          </a:bodyPr>
          <a:lstStyle/>
          <a:p>
            <a:pPr algn="ctr"/>
            <a:r>
              <a:rPr lang="it-IT" sz="3000" b="1" i="1" dirty="0">
                <a:solidFill>
                  <a:schemeClr val="bg1"/>
                </a:solidFill>
              </a:rPr>
              <a:t>Thesis Project</a:t>
            </a:r>
          </a:p>
          <a:p>
            <a:pPr algn="ctr"/>
            <a:r>
              <a:rPr lang="it-IT" sz="3000" b="1" dirty="0">
                <a:solidFill>
                  <a:schemeClr val="bg1"/>
                </a:solidFill>
              </a:rPr>
              <a:t>ANNA SOFIA MORO</a:t>
            </a:r>
          </a:p>
        </p:txBody>
      </p:sp>
      <p:sp>
        <p:nvSpPr>
          <p:cNvPr id="3" name="CasellaDiTesto 4">
            <a:extLst>
              <a:ext uri="{FF2B5EF4-FFF2-40B4-BE49-F238E27FC236}">
                <a16:creationId xmlns:a16="http://schemas.microsoft.com/office/drawing/2014/main" id="{71F0A932-4192-189B-8795-6B5EE4B188E9}"/>
              </a:ext>
            </a:extLst>
          </p:cNvPr>
          <p:cNvSpPr txBox="1"/>
          <p:nvPr/>
        </p:nvSpPr>
        <p:spPr>
          <a:xfrm>
            <a:off x="0" y="6304002"/>
            <a:ext cx="12192000" cy="553998"/>
          </a:xfrm>
          <a:prstGeom prst="rect">
            <a:avLst/>
          </a:prstGeom>
          <a:noFill/>
        </p:spPr>
        <p:txBody>
          <a:bodyPr wrap="square" rtlCol="0" anchor="ctr">
            <a:spAutoFit/>
          </a:bodyPr>
          <a:lstStyle/>
          <a:p>
            <a:pPr algn="ctr"/>
            <a:r>
              <a:rPr lang="it-IT" sz="3000" b="1" i="1" dirty="0">
                <a:solidFill>
                  <a:schemeClr val="bg1"/>
                </a:solidFill>
              </a:rPr>
              <a:t>Update 24 August 2026</a:t>
            </a:r>
          </a:p>
        </p:txBody>
      </p:sp>
    </p:spTree>
    <p:extLst>
      <p:ext uri="{BB962C8B-B14F-4D97-AF65-F5344CB8AC3E}">
        <p14:creationId xmlns:p14="http://schemas.microsoft.com/office/powerpoint/2010/main" val="389528348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C2EC8513-F988-C98D-D333-B6789C129AFF}"/>
              </a:ext>
            </a:extLst>
          </p:cNvPr>
          <p:cNvSpPr>
            <a:spLocks noGrp="1"/>
          </p:cNvSpPr>
          <p:nvPr>
            <p:ph type="title"/>
          </p:nvPr>
        </p:nvSpPr>
        <p:spPr>
          <a:xfrm>
            <a:off x="38100" y="69651"/>
            <a:ext cx="12114000" cy="1153094"/>
          </a:xfrm>
          <a:prstGeom prst="roundRect">
            <a:avLst>
              <a:gd name="adj" fmla="val 36459"/>
            </a:avLst>
          </a:prstGeom>
          <a:noFill/>
        </p:spPr>
        <p:txBody>
          <a:bodyPr>
            <a:normAutofit/>
          </a:bodyPr>
          <a:lstStyle/>
          <a:p>
            <a:r>
              <a:rPr lang="en-US" sz="4000" b="1" dirty="0">
                <a:solidFill>
                  <a:srgbClr val="002060"/>
                </a:solidFill>
              </a:rPr>
              <a:t>	WHAT IS ‘CHANNELING’ IN CRYSTALS?</a:t>
            </a:r>
            <a:endParaRPr lang="it-IT" sz="4000" b="1" dirty="0">
              <a:solidFill>
                <a:srgbClr val="002060"/>
              </a:solidFill>
            </a:endParaRPr>
          </a:p>
        </p:txBody>
      </p:sp>
      <p:sp>
        <p:nvSpPr>
          <p:cNvPr id="3" name="Segnaposto contenuto 2">
            <a:extLst>
              <a:ext uri="{FF2B5EF4-FFF2-40B4-BE49-F238E27FC236}">
                <a16:creationId xmlns:a16="http://schemas.microsoft.com/office/drawing/2014/main" id="{D705E017-952C-14B0-9906-4510932BCA3F}"/>
              </a:ext>
            </a:extLst>
          </p:cNvPr>
          <p:cNvSpPr>
            <a:spLocks noGrp="1"/>
          </p:cNvSpPr>
          <p:nvPr>
            <p:ph idx="1"/>
          </p:nvPr>
        </p:nvSpPr>
        <p:spPr>
          <a:xfrm>
            <a:off x="838200" y="1401288"/>
            <a:ext cx="6460067" cy="4776227"/>
          </a:xfrm>
        </p:spPr>
        <p:txBody>
          <a:bodyPr>
            <a:normAutofit/>
          </a:bodyPr>
          <a:lstStyle/>
          <a:p>
            <a:pPr marL="0" indent="0">
              <a:buNone/>
            </a:pPr>
            <a:r>
              <a:rPr lang="it-IT" sz="2200" dirty="0"/>
              <a:t>Inside a crystal, atoms are arranged in regular planes. If a charged particle enters nearly parallel to these planes, it can become trapped and guided along their curvature, “locked” to the lattice instead of crossing it in a straight line.</a:t>
            </a:r>
          </a:p>
          <a:p>
            <a:pPr marL="0" indent="0">
              <a:buNone/>
            </a:pPr>
            <a:endParaRPr lang="it-IT" sz="2200" dirty="0"/>
          </a:p>
          <a:p>
            <a:pPr marL="0" indent="0">
              <a:buNone/>
            </a:pPr>
            <a:r>
              <a:rPr lang="it-IT" sz="2200" dirty="0"/>
              <a:t>When the crystal is bent, the channeled beam is deflected along with the grating: the crystal acts as a guide, offering a compact alternative to traditional magnets for deflecting or extracting a </a:t>
            </a:r>
            <a:r>
              <a:rPr lang="it-IT" sz="2200" i="1" dirty="0"/>
              <a:t>particle</a:t>
            </a:r>
            <a:r>
              <a:rPr lang="it-IT" sz="2200" dirty="0"/>
              <a:t> beam.</a:t>
            </a:r>
          </a:p>
        </p:txBody>
      </p:sp>
      <p:sp>
        <p:nvSpPr>
          <p:cNvPr id="4" name="Segnaposto data 3">
            <a:extLst>
              <a:ext uri="{FF2B5EF4-FFF2-40B4-BE49-F238E27FC236}">
                <a16:creationId xmlns:a16="http://schemas.microsoft.com/office/drawing/2014/main" id="{A9CBEBE7-5AD1-2A5D-D796-FC860CFACB62}"/>
              </a:ext>
            </a:extLst>
          </p:cNvPr>
          <p:cNvSpPr>
            <a:spLocks noGrp="1"/>
          </p:cNvSpPr>
          <p:nvPr>
            <p:ph type="dt" sz="half" idx="10"/>
          </p:nvPr>
        </p:nvSpPr>
        <p:spPr>
          <a:xfrm>
            <a:off x="838200" y="6356349"/>
            <a:ext cx="2743200" cy="432000"/>
          </a:xfrm>
        </p:spPr>
        <p:txBody>
          <a:bodyPr/>
          <a:lstStyle/>
          <a:p>
            <a:r>
              <a:rPr lang="it-IT" sz="1500" b="1" dirty="0">
                <a:solidFill>
                  <a:srgbClr val="002060"/>
                </a:solidFill>
              </a:rPr>
              <a:t>24.08.2026</a:t>
            </a:r>
          </a:p>
        </p:txBody>
      </p:sp>
      <p:sp>
        <p:nvSpPr>
          <p:cNvPr id="5" name="Segnaposto piè di pagina 4">
            <a:extLst>
              <a:ext uri="{FF2B5EF4-FFF2-40B4-BE49-F238E27FC236}">
                <a16:creationId xmlns:a16="http://schemas.microsoft.com/office/drawing/2014/main" id="{D65DDE3E-B94E-09A0-E6FC-740927746D9E}"/>
              </a:ext>
            </a:extLst>
          </p:cNvPr>
          <p:cNvSpPr>
            <a:spLocks noGrp="1"/>
          </p:cNvSpPr>
          <p:nvPr>
            <p:ph type="ftr" sz="quarter" idx="11"/>
          </p:nvPr>
        </p:nvSpPr>
        <p:spPr>
          <a:xfrm>
            <a:off x="0" y="6356349"/>
            <a:ext cx="12192000" cy="432000"/>
          </a:xfrm>
        </p:spPr>
        <p:txBody>
          <a:bodyPr/>
          <a:lstStyle/>
          <a:p>
            <a:r>
              <a:rPr lang="it-IT" sz="1500" b="1" dirty="0">
                <a:solidFill>
                  <a:srgbClr val="002060"/>
                </a:solidFill>
              </a:rPr>
              <a:t>Anna Sofia Moro</a:t>
            </a:r>
          </a:p>
        </p:txBody>
      </p:sp>
      <p:sp>
        <p:nvSpPr>
          <p:cNvPr id="6" name="Segnaposto numero diapositiva 5">
            <a:extLst>
              <a:ext uri="{FF2B5EF4-FFF2-40B4-BE49-F238E27FC236}">
                <a16:creationId xmlns:a16="http://schemas.microsoft.com/office/drawing/2014/main" id="{EB429AC5-2B17-3AA7-829E-3FADDA4D07B5}"/>
              </a:ext>
            </a:extLst>
          </p:cNvPr>
          <p:cNvSpPr>
            <a:spLocks noGrp="1"/>
          </p:cNvSpPr>
          <p:nvPr>
            <p:ph type="sldNum" sz="quarter" idx="12"/>
          </p:nvPr>
        </p:nvSpPr>
        <p:spPr>
          <a:xfrm>
            <a:off x="8610600" y="6356349"/>
            <a:ext cx="2743200" cy="432000"/>
          </a:xfrm>
        </p:spPr>
        <p:txBody>
          <a:bodyPr/>
          <a:lstStyle/>
          <a:p>
            <a:fld id="{0A318BD9-CA14-4A83-ACF0-03D5918EB402}" type="slidenum">
              <a:rPr lang="it-IT" sz="1500" b="1" smtClean="0">
                <a:solidFill>
                  <a:srgbClr val="002060"/>
                </a:solidFill>
              </a:rPr>
              <a:t>2</a:t>
            </a:fld>
            <a:endParaRPr lang="it-IT" sz="1500" b="1" dirty="0">
              <a:solidFill>
                <a:srgbClr val="002060"/>
              </a:solidFill>
            </a:endParaRPr>
          </a:p>
        </p:txBody>
      </p:sp>
      <p:cxnSp>
        <p:nvCxnSpPr>
          <p:cNvPr id="10" name="Connettore diritto 9">
            <a:extLst>
              <a:ext uri="{FF2B5EF4-FFF2-40B4-BE49-F238E27FC236}">
                <a16:creationId xmlns:a16="http://schemas.microsoft.com/office/drawing/2014/main" id="{D66CB6E1-F902-FACB-CE04-F0353E6FCF48}"/>
              </a:ext>
            </a:extLst>
          </p:cNvPr>
          <p:cNvCxnSpPr>
            <a:cxnSpLocks/>
          </p:cNvCxnSpPr>
          <p:nvPr/>
        </p:nvCxnSpPr>
        <p:spPr>
          <a:xfrm>
            <a:off x="696000" y="1155368"/>
            <a:ext cx="10800000" cy="0"/>
          </a:xfrm>
          <a:prstGeom prst="line">
            <a:avLst/>
          </a:prstGeom>
          <a:ln w="38100">
            <a:solidFill>
              <a:srgbClr val="002060"/>
            </a:solidFill>
          </a:ln>
        </p:spPr>
        <p:style>
          <a:lnRef idx="2">
            <a:schemeClr val="accent1"/>
          </a:lnRef>
          <a:fillRef idx="0">
            <a:schemeClr val="accent1"/>
          </a:fillRef>
          <a:effectRef idx="1">
            <a:schemeClr val="accent1"/>
          </a:effectRef>
          <a:fontRef idx="minor">
            <a:schemeClr val="tx1"/>
          </a:fontRef>
        </p:style>
      </p:cxnSp>
      <p:pic>
        <p:nvPicPr>
          <p:cNvPr id="7" name="Picture 6">
            <a:extLst>
              <a:ext uri="{FF2B5EF4-FFF2-40B4-BE49-F238E27FC236}">
                <a16:creationId xmlns:a16="http://schemas.microsoft.com/office/drawing/2014/main" id="{385C7844-3A83-E9D6-B2E3-5D39E8C2393A}"/>
              </a:ext>
            </a:extLst>
          </p:cNvPr>
          <p:cNvPicPr>
            <a:picLocks noChangeAspect="1"/>
          </p:cNvPicPr>
          <p:nvPr/>
        </p:nvPicPr>
        <p:blipFill>
          <a:blip r:embed="rId3"/>
          <a:stretch>
            <a:fillRect/>
          </a:stretch>
        </p:blipFill>
        <p:spPr>
          <a:xfrm>
            <a:off x="12810000" y="646198"/>
            <a:ext cx="4444635" cy="3692288"/>
          </a:xfrm>
          <a:prstGeom prst="rect">
            <a:avLst/>
          </a:prstGeom>
        </p:spPr>
      </p:pic>
      <p:sp>
        <p:nvSpPr>
          <p:cNvPr id="8" name="Titolo 1">
            <a:extLst>
              <a:ext uri="{FF2B5EF4-FFF2-40B4-BE49-F238E27FC236}">
                <a16:creationId xmlns:a16="http://schemas.microsoft.com/office/drawing/2014/main" id="{97BDB4DF-62BD-8D3D-089D-863830B874D4}"/>
              </a:ext>
            </a:extLst>
          </p:cNvPr>
          <p:cNvSpPr txBox="1">
            <a:spLocks/>
          </p:cNvSpPr>
          <p:nvPr/>
        </p:nvSpPr>
        <p:spPr>
          <a:xfrm>
            <a:off x="696000" y="688243"/>
            <a:ext cx="10800000" cy="559599"/>
          </a:xfrm>
          <a:prstGeom prst="roundRect">
            <a:avLst>
              <a:gd name="adj" fmla="val 0"/>
            </a:avLst>
          </a:prstGeom>
          <a:noFill/>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en-US" sz="2000" b="1" i="1" dirty="0">
                <a:solidFill>
                  <a:srgbClr val="002060"/>
                </a:solidFill>
                <a:ea typeface="Calibri" panose="020F0502020204030204" pitchFamily="34" charset="0"/>
                <a:cs typeface="Calibri" panose="020F0502020204030204" pitchFamily="34" charset="0"/>
              </a:rPr>
              <a:t>THE PHYSICS</a:t>
            </a:r>
            <a:endParaRPr lang="it-IT" sz="2000" b="1" i="1" dirty="0">
              <a:solidFill>
                <a:srgbClr val="002060"/>
              </a:solidFill>
              <a:ea typeface="Calibri" panose="020F0502020204030204" pitchFamily="34" charset="0"/>
              <a:cs typeface="Calibri" panose="020F0502020204030204" pitchFamily="34" charset="0"/>
            </a:endParaRPr>
          </a:p>
        </p:txBody>
      </p:sp>
      <p:pic>
        <p:nvPicPr>
          <p:cNvPr id="9" name="Picture 8" descr="Guided paths Positively charged particles (red) can be “channelled” along the trough of the electrostatic potential (shaded surface) between planes of nuclei in a bent crystal, achieving a far stronger curvature than conventional magnets. In this artist’s impression, length scales have been adjusted for clarity. Credit: D De Biasio">
            <a:extLst>
              <a:ext uri="{FF2B5EF4-FFF2-40B4-BE49-F238E27FC236}">
                <a16:creationId xmlns:a16="http://schemas.microsoft.com/office/drawing/2014/main" id="{F29C6376-7C95-BE0C-2963-D90E86B4C3E0}"/>
              </a:ext>
            </a:extLst>
          </p:cNvPr>
          <p:cNvPicPr>
            <a:picLocks noChangeAspect="1"/>
          </p:cNvPicPr>
          <p:nvPr/>
        </p:nvPicPr>
        <p:blipFill>
          <a:blip r:embed="rId4"/>
          <a:srcRect/>
          <a:stretch>
            <a:fillRect/>
          </a:stretch>
        </p:blipFill>
        <p:spPr>
          <a:xfrm>
            <a:off x="7298267" y="1426676"/>
            <a:ext cx="4459413" cy="2508420"/>
          </a:xfrm>
          <a:prstGeom prst="rect">
            <a:avLst/>
          </a:prstGeom>
        </p:spPr>
      </p:pic>
      <p:pic>
        <p:nvPicPr>
          <p:cNvPr id="11" name="Picture 10">
            <a:extLst>
              <a:ext uri="{FF2B5EF4-FFF2-40B4-BE49-F238E27FC236}">
                <a16:creationId xmlns:a16="http://schemas.microsoft.com/office/drawing/2014/main" id="{E56A185A-63A5-0021-964C-80C5F71E48B2}"/>
              </a:ext>
            </a:extLst>
          </p:cNvPr>
          <p:cNvPicPr>
            <a:picLocks noChangeAspect="1"/>
          </p:cNvPicPr>
          <p:nvPr/>
        </p:nvPicPr>
        <p:blipFill>
          <a:blip r:embed="rId5"/>
          <a:stretch>
            <a:fillRect/>
          </a:stretch>
        </p:blipFill>
        <p:spPr>
          <a:xfrm>
            <a:off x="12810000" y="4683210"/>
            <a:ext cx="4158563" cy="2719060"/>
          </a:xfrm>
          <a:prstGeom prst="rect">
            <a:avLst/>
          </a:prstGeom>
        </p:spPr>
      </p:pic>
      <p:pic>
        <p:nvPicPr>
          <p:cNvPr id="13" name="Picture 12">
            <a:extLst>
              <a:ext uri="{FF2B5EF4-FFF2-40B4-BE49-F238E27FC236}">
                <a16:creationId xmlns:a16="http://schemas.microsoft.com/office/drawing/2014/main" id="{8464855D-92B8-F10E-6EA8-616112F40FA7}"/>
              </a:ext>
            </a:extLst>
          </p:cNvPr>
          <p:cNvPicPr>
            <a:picLocks noChangeAspect="1"/>
          </p:cNvPicPr>
          <p:nvPr/>
        </p:nvPicPr>
        <p:blipFill>
          <a:blip r:embed="rId6"/>
          <a:srcRect l="6799" b="33785"/>
          <a:stretch>
            <a:fillRect/>
          </a:stretch>
        </p:blipFill>
        <p:spPr>
          <a:xfrm>
            <a:off x="7161196" y="4119013"/>
            <a:ext cx="4596484" cy="2188284"/>
          </a:xfrm>
          <a:prstGeom prst="rect">
            <a:avLst/>
          </a:prstGeom>
        </p:spPr>
      </p:pic>
      <mc:AlternateContent xmlns:mc="http://schemas.openxmlformats.org/markup-compatibility/2006">
        <mc:Choice xmlns:a14="http://schemas.microsoft.com/office/drawing/2010/main" Requires="a14">
          <p:sp>
            <p:nvSpPr>
              <p:cNvPr id="14" name="Rectangle: Rounded Corners 13">
                <a:extLst>
                  <a:ext uri="{FF2B5EF4-FFF2-40B4-BE49-F238E27FC236}">
                    <a16:creationId xmlns:a16="http://schemas.microsoft.com/office/drawing/2014/main" id="{98F58A1D-BBB1-3327-58AE-595497BB6ABB}"/>
                  </a:ext>
                </a:extLst>
              </p:cNvPr>
              <p:cNvSpPr/>
              <p:nvPr/>
            </p:nvSpPr>
            <p:spPr>
              <a:xfrm>
                <a:off x="838200" y="4966636"/>
                <a:ext cx="6121399" cy="1203121"/>
              </a:xfrm>
              <a:prstGeom prst="roundRect">
                <a:avLst>
                  <a:gd name="adj" fmla="val 37357"/>
                </a:avLst>
              </a:prstGeom>
              <a:solidFill>
                <a:schemeClr val="bg2"/>
              </a:solidFill>
              <a:ln w="38100">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002060"/>
                    </a:solidFill>
                  </a:rPr>
                  <a:t>Entry condition: the Lindhard angle </a:t>
                </a:r>
                <a14:m>
                  <m:oMath xmlns:m="http://schemas.openxmlformats.org/officeDocument/2006/math">
                    <m:sSub>
                      <m:sSubPr>
                        <m:ctrlPr>
                          <a:rPr lang="en-US" b="0" i="1" smtClean="0">
                            <a:solidFill>
                              <a:srgbClr val="002060"/>
                            </a:solidFill>
                            <a:latin typeface="Cambria Math" panose="02040503050406030204" pitchFamily="18" charset="0"/>
                          </a:rPr>
                        </m:ctrlPr>
                      </m:sSubPr>
                      <m:e>
                        <m:r>
                          <a:rPr lang="en-US" b="0" i="1" smtClean="0">
                            <a:solidFill>
                              <a:srgbClr val="002060"/>
                            </a:solidFill>
                            <a:latin typeface="Cambria Math" panose="02040503050406030204" pitchFamily="18" charset="0"/>
                          </a:rPr>
                          <m:t>𝜃</m:t>
                        </m:r>
                      </m:e>
                      <m:sub>
                        <m:r>
                          <a:rPr lang="en-US" b="0" i="1" smtClean="0">
                            <a:solidFill>
                              <a:srgbClr val="002060"/>
                            </a:solidFill>
                            <a:latin typeface="Cambria Math" panose="02040503050406030204" pitchFamily="18" charset="0"/>
                          </a:rPr>
                          <m:t>𝐿</m:t>
                        </m:r>
                      </m:sub>
                    </m:sSub>
                  </m:oMath>
                </a14:m>
                <a:endParaRPr lang="it-IT" dirty="0">
                  <a:solidFill>
                    <a:srgbClr val="002060"/>
                  </a:solidFill>
                </a:endParaRPr>
              </a:p>
              <a:p>
                <a:pPr algn="ctr"/>
                <a:r>
                  <a:rPr lang="it-IT" dirty="0">
                    <a:solidFill>
                      <a:schemeClr val="tx1"/>
                    </a:solidFill>
                  </a:rPr>
                  <a:t>a particles enters the channel only if its incidence angle is within </a:t>
                </a:r>
                <a14:m>
                  <m:oMath xmlns:m="http://schemas.openxmlformats.org/officeDocument/2006/math">
                    <m:r>
                      <a:rPr lang="en-US" b="0" i="1" smtClean="0">
                        <a:solidFill>
                          <a:schemeClr val="tx1"/>
                        </a:solidFill>
                        <a:latin typeface="Cambria Math" panose="02040503050406030204" pitchFamily="18" charset="0"/>
                      </a:rPr>
                      <m:t>±1/2</m:t>
                    </m:r>
                    <m:sSub>
                      <m:sSubPr>
                        <m:ctrlPr>
                          <a:rPr lang="en-US" b="0" i="1" smtClean="0">
                            <a:solidFill>
                              <a:schemeClr val="tx1"/>
                            </a:solidFill>
                            <a:latin typeface="Cambria Math" panose="02040503050406030204" pitchFamily="18" charset="0"/>
                          </a:rPr>
                        </m:ctrlPr>
                      </m:sSubPr>
                      <m:e>
                        <m:r>
                          <a:rPr lang="en-US" b="0" i="1" smtClean="0">
                            <a:solidFill>
                              <a:schemeClr val="tx1"/>
                            </a:solidFill>
                            <a:latin typeface="Cambria Math" panose="02040503050406030204" pitchFamily="18" charset="0"/>
                          </a:rPr>
                          <m:t> </m:t>
                        </m:r>
                        <m:r>
                          <a:rPr lang="en-US" b="0" i="1" smtClean="0">
                            <a:solidFill>
                              <a:schemeClr val="tx1"/>
                            </a:solidFill>
                            <a:latin typeface="Cambria Math" panose="02040503050406030204" pitchFamily="18" charset="0"/>
                          </a:rPr>
                          <m:t>𝜃</m:t>
                        </m:r>
                      </m:e>
                      <m:sub>
                        <m:r>
                          <a:rPr lang="en-US" b="0" i="1" smtClean="0">
                            <a:solidFill>
                              <a:schemeClr val="tx1"/>
                            </a:solidFill>
                            <a:latin typeface="Cambria Math" panose="02040503050406030204" pitchFamily="18" charset="0"/>
                          </a:rPr>
                          <m:t>𝐿</m:t>
                        </m:r>
                      </m:sub>
                    </m:sSub>
                  </m:oMath>
                </a14:m>
                <a:r>
                  <a:rPr lang="en-US" b="0" dirty="0">
                    <a:solidFill>
                      <a:schemeClr val="tx1"/>
                    </a:solidFill>
                  </a:rPr>
                  <a:t> of the crystal plane</a:t>
                </a:r>
              </a:p>
              <a:p>
                <a:pPr algn="ctr"/>
                <a14:m>
                  <m:oMathPara xmlns:m="http://schemas.openxmlformats.org/officeDocument/2006/math">
                    <m:oMath>
                      <m:r>
                        <a:rPr lang="en-US" b="0" i="1" dirty="0" smtClean="0">
                          <a:solidFill>
                            <a:schemeClr val="tx1"/>
                          </a:solidFill>
                          <a:latin typeface="Cambria Math" panose="02040503050406030204" pitchFamily="18" charset="0"/>
                          <a:ea typeface="Cambria Math" panose="02040503050406030204" pitchFamily="18" charset="0"/>
                        </a:rPr>
                        <m:t>≈</m:t>
                      </m:r>
                      <m:r>
                        <a:rPr lang="en-US" b="0" i="1" dirty="0" smtClean="0">
                          <a:solidFill>
                            <a:schemeClr val="tx1"/>
                          </a:solidFill>
                          <a:latin typeface="Cambria Math" panose="02040503050406030204" pitchFamily="18" charset="0"/>
                        </a:rPr>
                        <m:t>13 </m:t>
                      </m:r>
                      <m:r>
                        <a:rPr lang="en-US" b="0" i="1" dirty="0" smtClean="0">
                          <a:solidFill>
                            <a:schemeClr val="tx1"/>
                          </a:solidFill>
                          <a:latin typeface="Cambria Math" panose="02040503050406030204" pitchFamily="18" charset="0"/>
                        </a:rPr>
                        <m:t>𝜇</m:t>
                      </m:r>
                      <m:r>
                        <m:rPr>
                          <m:sty m:val="p"/>
                        </m:rPr>
                        <a:rPr lang="en-US" b="0" i="0" dirty="0" smtClean="0">
                          <a:solidFill>
                            <a:schemeClr val="tx1"/>
                          </a:solidFill>
                          <a:latin typeface="Cambria Math" panose="02040503050406030204" pitchFamily="18" charset="0"/>
                        </a:rPr>
                        <m:t>rad</m:t>
                      </m:r>
                      <m:r>
                        <a:rPr lang="en-US" b="0" i="1" dirty="0" smtClean="0">
                          <a:solidFill>
                            <a:schemeClr val="tx1"/>
                          </a:solidFill>
                          <a:latin typeface="Cambria Math" panose="02040503050406030204" pitchFamily="18" charset="0"/>
                        </a:rPr>
                        <m:t> @ 180 </m:t>
                      </m:r>
                      <m:r>
                        <m:rPr>
                          <m:sty m:val="p"/>
                        </m:rPr>
                        <a:rPr lang="en-US" b="0" i="0" dirty="0" smtClean="0">
                          <a:solidFill>
                            <a:schemeClr val="tx1"/>
                          </a:solidFill>
                          <a:latin typeface="Cambria Math" panose="02040503050406030204" pitchFamily="18" charset="0"/>
                        </a:rPr>
                        <m:t>GeV</m:t>
                      </m:r>
                    </m:oMath>
                  </m:oMathPara>
                </a14:m>
                <a:endParaRPr lang="en-US" b="0" dirty="0">
                  <a:solidFill>
                    <a:schemeClr val="tx1"/>
                  </a:solidFill>
                </a:endParaRPr>
              </a:p>
            </p:txBody>
          </p:sp>
        </mc:Choice>
        <mc:Fallback>
          <p:sp>
            <p:nvSpPr>
              <p:cNvPr id="14" name="Rectangle: Rounded Corners 13">
                <a:extLst>
                  <a:ext uri="{FF2B5EF4-FFF2-40B4-BE49-F238E27FC236}">
                    <a16:creationId xmlns:a16="http://schemas.microsoft.com/office/drawing/2014/main" id="{98F58A1D-BBB1-3327-58AE-595497BB6ABB}"/>
                  </a:ext>
                </a:extLst>
              </p:cNvPr>
              <p:cNvSpPr>
                <a:spLocks noRot="1" noChangeAspect="1" noMove="1" noResize="1" noEditPoints="1" noAdjustHandles="1" noChangeArrowheads="1" noChangeShapeType="1" noTextEdit="1"/>
              </p:cNvSpPr>
              <p:nvPr/>
            </p:nvSpPr>
            <p:spPr>
              <a:xfrm>
                <a:off x="838200" y="4966636"/>
                <a:ext cx="6121399" cy="1203121"/>
              </a:xfrm>
              <a:prstGeom prst="roundRect">
                <a:avLst>
                  <a:gd name="adj" fmla="val 37357"/>
                </a:avLst>
              </a:prstGeom>
              <a:blipFill>
                <a:blip r:embed="rId7"/>
                <a:stretch>
                  <a:fillRect t="-493"/>
                </a:stretch>
              </a:blipFill>
              <a:ln w="38100">
                <a:solidFill>
                  <a:srgbClr val="002060"/>
                </a:solidFill>
              </a:ln>
            </p:spPr>
            <p:txBody>
              <a:bodyPr/>
              <a:lstStyle/>
              <a:p>
                <a:r>
                  <a:rPr lang="it-IT">
                    <a:noFill/>
                  </a:rPr>
                  <a:t> </a:t>
                </a:r>
              </a:p>
            </p:txBody>
          </p:sp>
        </mc:Fallback>
      </mc:AlternateContent>
    </p:spTree>
    <p:extLst>
      <p:ext uri="{BB962C8B-B14F-4D97-AF65-F5344CB8AC3E}">
        <p14:creationId xmlns:p14="http://schemas.microsoft.com/office/powerpoint/2010/main" val="348374930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F0B6A2-EB03-317D-89CA-374AF9228409}"/>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52A2290F-F965-B9EE-4511-C5F0EF5DBAA5}"/>
              </a:ext>
            </a:extLst>
          </p:cNvPr>
          <p:cNvSpPr>
            <a:spLocks noGrp="1"/>
          </p:cNvSpPr>
          <p:nvPr>
            <p:ph type="title"/>
          </p:nvPr>
        </p:nvSpPr>
        <p:spPr>
          <a:xfrm>
            <a:off x="38100" y="69651"/>
            <a:ext cx="12114000" cy="1153094"/>
          </a:xfrm>
          <a:prstGeom prst="roundRect">
            <a:avLst>
              <a:gd name="adj" fmla="val 36459"/>
            </a:avLst>
          </a:prstGeom>
          <a:noFill/>
        </p:spPr>
        <p:txBody>
          <a:bodyPr>
            <a:normAutofit/>
          </a:bodyPr>
          <a:lstStyle/>
          <a:p>
            <a:r>
              <a:rPr lang="en-US" sz="4000" b="1" dirty="0">
                <a:solidFill>
                  <a:srgbClr val="002060"/>
                </a:solidFill>
              </a:rPr>
              <a:t>	THE TWOCRYST EXPERIMENT</a:t>
            </a:r>
            <a:endParaRPr lang="it-IT" sz="4000" b="1" dirty="0">
              <a:solidFill>
                <a:srgbClr val="002060"/>
              </a:solidFill>
            </a:endParaRPr>
          </a:p>
        </p:txBody>
      </p:sp>
      <p:sp>
        <p:nvSpPr>
          <p:cNvPr id="3" name="Segnaposto contenuto 2">
            <a:extLst>
              <a:ext uri="{FF2B5EF4-FFF2-40B4-BE49-F238E27FC236}">
                <a16:creationId xmlns:a16="http://schemas.microsoft.com/office/drawing/2014/main" id="{67A4EE21-F1DC-1A0A-EBF7-772DFE874FD0}"/>
              </a:ext>
            </a:extLst>
          </p:cNvPr>
          <p:cNvSpPr>
            <a:spLocks noGrp="1"/>
          </p:cNvSpPr>
          <p:nvPr>
            <p:ph idx="1"/>
          </p:nvPr>
        </p:nvSpPr>
        <p:spPr>
          <a:xfrm>
            <a:off x="838200" y="1401288"/>
            <a:ext cx="10515600" cy="4776227"/>
          </a:xfrm>
        </p:spPr>
        <p:txBody>
          <a:bodyPr>
            <a:normAutofit/>
          </a:bodyPr>
          <a:lstStyle/>
          <a:p>
            <a:pPr marL="0" indent="0">
              <a:buNone/>
            </a:pPr>
            <a:endParaRPr lang="it-IT" sz="2200" dirty="0"/>
          </a:p>
        </p:txBody>
      </p:sp>
      <p:sp>
        <p:nvSpPr>
          <p:cNvPr id="4" name="Segnaposto data 3">
            <a:extLst>
              <a:ext uri="{FF2B5EF4-FFF2-40B4-BE49-F238E27FC236}">
                <a16:creationId xmlns:a16="http://schemas.microsoft.com/office/drawing/2014/main" id="{8A912D91-FF21-5500-9618-20768C36F840}"/>
              </a:ext>
            </a:extLst>
          </p:cNvPr>
          <p:cNvSpPr>
            <a:spLocks noGrp="1"/>
          </p:cNvSpPr>
          <p:nvPr>
            <p:ph type="dt" sz="half" idx="10"/>
          </p:nvPr>
        </p:nvSpPr>
        <p:spPr>
          <a:xfrm>
            <a:off x="838200" y="6356349"/>
            <a:ext cx="2743200" cy="432000"/>
          </a:xfrm>
        </p:spPr>
        <p:txBody>
          <a:bodyPr/>
          <a:lstStyle/>
          <a:p>
            <a:r>
              <a:rPr lang="it-IT" sz="1500" b="1" dirty="0">
                <a:solidFill>
                  <a:srgbClr val="002060"/>
                </a:solidFill>
              </a:rPr>
              <a:t>24.08.2026</a:t>
            </a:r>
          </a:p>
        </p:txBody>
      </p:sp>
      <p:sp>
        <p:nvSpPr>
          <p:cNvPr id="5" name="Segnaposto piè di pagina 4">
            <a:extLst>
              <a:ext uri="{FF2B5EF4-FFF2-40B4-BE49-F238E27FC236}">
                <a16:creationId xmlns:a16="http://schemas.microsoft.com/office/drawing/2014/main" id="{6580FBD4-CE50-359D-2454-F08DBAAB8209}"/>
              </a:ext>
            </a:extLst>
          </p:cNvPr>
          <p:cNvSpPr>
            <a:spLocks noGrp="1"/>
          </p:cNvSpPr>
          <p:nvPr>
            <p:ph type="ftr" sz="quarter" idx="11"/>
          </p:nvPr>
        </p:nvSpPr>
        <p:spPr>
          <a:xfrm>
            <a:off x="0" y="6356349"/>
            <a:ext cx="12192000" cy="432000"/>
          </a:xfrm>
        </p:spPr>
        <p:txBody>
          <a:bodyPr/>
          <a:lstStyle/>
          <a:p>
            <a:r>
              <a:rPr lang="it-IT" sz="1500" b="1" dirty="0">
                <a:solidFill>
                  <a:srgbClr val="002060"/>
                </a:solidFill>
              </a:rPr>
              <a:t>Anna Sofia Moro</a:t>
            </a:r>
          </a:p>
        </p:txBody>
      </p:sp>
      <p:sp>
        <p:nvSpPr>
          <p:cNvPr id="6" name="Segnaposto numero diapositiva 5">
            <a:extLst>
              <a:ext uri="{FF2B5EF4-FFF2-40B4-BE49-F238E27FC236}">
                <a16:creationId xmlns:a16="http://schemas.microsoft.com/office/drawing/2014/main" id="{C8F8E77D-1AD8-3B54-EE9B-61D54C8F3B65}"/>
              </a:ext>
            </a:extLst>
          </p:cNvPr>
          <p:cNvSpPr>
            <a:spLocks noGrp="1"/>
          </p:cNvSpPr>
          <p:nvPr>
            <p:ph type="sldNum" sz="quarter" idx="12"/>
          </p:nvPr>
        </p:nvSpPr>
        <p:spPr>
          <a:xfrm>
            <a:off x="8610600" y="6356349"/>
            <a:ext cx="2743200" cy="432000"/>
          </a:xfrm>
        </p:spPr>
        <p:txBody>
          <a:bodyPr/>
          <a:lstStyle/>
          <a:p>
            <a:fld id="{0A318BD9-CA14-4A83-ACF0-03D5918EB402}" type="slidenum">
              <a:rPr lang="it-IT" sz="1500" b="1" smtClean="0">
                <a:solidFill>
                  <a:srgbClr val="002060"/>
                </a:solidFill>
              </a:rPr>
              <a:t>3</a:t>
            </a:fld>
            <a:endParaRPr lang="it-IT" sz="1500" b="1" dirty="0">
              <a:solidFill>
                <a:srgbClr val="002060"/>
              </a:solidFill>
            </a:endParaRPr>
          </a:p>
        </p:txBody>
      </p:sp>
      <p:cxnSp>
        <p:nvCxnSpPr>
          <p:cNvPr id="10" name="Connettore diritto 9">
            <a:extLst>
              <a:ext uri="{FF2B5EF4-FFF2-40B4-BE49-F238E27FC236}">
                <a16:creationId xmlns:a16="http://schemas.microsoft.com/office/drawing/2014/main" id="{48D96C40-310F-6EC6-CE31-28B6CBC91A8D}"/>
              </a:ext>
            </a:extLst>
          </p:cNvPr>
          <p:cNvCxnSpPr>
            <a:cxnSpLocks/>
          </p:cNvCxnSpPr>
          <p:nvPr/>
        </p:nvCxnSpPr>
        <p:spPr>
          <a:xfrm>
            <a:off x="696000" y="1155368"/>
            <a:ext cx="10800000" cy="0"/>
          </a:xfrm>
          <a:prstGeom prst="line">
            <a:avLst/>
          </a:prstGeom>
          <a:ln w="38100">
            <a:solidFill>
              <a:srgbClr val="002060"/>
            </a:solidFill>
          </a:ln>
        </p:spPr>
        <p:style>
          <a:lnRef idx="2">
            <a:schemeClr val="accent1"/>
          </a:lnRef>
          <a:fillRef idx="0">
            <a:schemeClr val="accent1"/>
          </a:fillRef>
          <a:effectRef idx="1">
            <a:schemeClr val="accent1"/>
          </a:effectRef>
          <a:fontRef idx="minor">
            <a:schemeClr val="tx1"/>
          </a:fontRef>
        </p:style>
      </p:cxnSp>
      <p:sp>
        <p:nvSpPr>
          <p:cNvPr id="8" name="Titolo 1">
            <a:extLst>
              <a:ext uri="{FF2B5EF4-FFF2-40B4-BE49-F238E27FC236}">
                <a16:creationId xmlns:a16="http://schemas.microsoft.com/office/drawing/2014/main" id="{2265EDA6-3529-533B-5A88-529BAEFE9869}"/>
              </a:ext>
            </a:extLst>
          </p:cNvPr>
          <p:cNvSpPr txBox="1">
            <a:spLocks/>
          </p:cNvSpPr>
          <p:nvPr/>
        </p:nvSpPr>
        <p:spPr>
          <a:xfrm>
            <a:off x="696000" y="688243"/>
            <a:ext cx="10800000" cy="559599"/>
          </a:xfrm>
          <a:prstGeom prst="roundRect">
            <a:avLst>
              <a:gd name="adj" fmla="val 0"/>
            </a:avLst>
          </a:prstGeom>
          <a:noFill/>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en-US" sz="2000" b="1" i="1" dirty="0">
                <a:solidFill>
                  <a:srgbClr val="002060"/>
                </a:solidFill>
                <a:ea typeface="Calibri" panose="020F0502020204030204" pitchFamily="34" charset="0"/>
                <a:cs typeface="Calibri" panose="020F0502020204030204" pitchFamily="34" charset="0"/>
              </a:rPr>
              <a:t>THE PROJECT</a:t>
            </a:r>
            <a:endParaRPr lang="it-IT" sz="2000" b="1" i="1" dirty="0">
              <a:solidFill>
                <a:srgbClr val="002060"/>
              </a:solidFill>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40895504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32AB72-E7A2-89C9-B926-0C1AB56C7429}"/>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6B9E7445-8627-8D2D-AF50-B49F00EF5F43}"/>
              </a:ext>
            </a:extLst>
          </p:cNvPr>
          <p:cNvSpPr>
            <a:spLocks noGrp="1"/>
          </p:cNvSpPr>
          <p:nvPr>
            <p:ph type="title"/>
          </p:nvPr>
        </p:nvSpPr>
        <p:spPr>
          <a:xfrm>
            <a:off x="38100" y="69651"/>
            <a:ext cx="12114000" cy="1153094"/>
          </a:xfrm>
          <a:prstGeom prst="roundRect">
            <a:avLst>
              <a:gd name="adj" fmla="val 36459"/>
            </a:avLst>
          </a:prstGeom>
          <a:noFill/>
        </p:spPr>
        <p:txBody>
          <a:bodyPr>
            <a:normAutofit/>
          </a:bodyPr>
          <a:lstStyle/>
          <a:p>
            <a:r>
              <a:rPr lang="en-US" sz="4000" b="1" dirty="0">
                <a:solidFill>
                  <a:srgbClr val="002060"/>
                </a:solidFill>
              </a:rPr>
              <a:t>	MY ANALYSIS</a:t>
            </a:r>
            <a:endParaRPr lang="it-IT" sz="4000" b="1" dirty="0">
              <a:solidFill>
                <a:srgbClr val="002060"/>
              </a:solidFill>
            </a:endParaRPr>
          </a:p>
        </p:txBody>
      </p:sp>
      <p:sp>
        <p:nvSpPr>
          <p:cNvPr id="4" name="Segnaposto data 3">
            <a:extLst>
              <a:ext uri="{FF2B5EF4-FFF2-40B4-BE49-F238E27FC236}">
                <a16:creationId xmlns:a16="http://schemas.microsoft.com/office/drawing/2014/main" id="{364B5649-6F3A-65C7-2AAC-6D1FB1FD9BC9}"/>
              </a:ext>
            </a:extLst>
          </p:cNvPr>
          <p:cNvSpPr>
            <a:spLocks noGrp="1"/>
          </p:cNvSpPr>
          <p:nvPr>
            <p:ph type="dt" sz="half" idx="10"/>
          </p:nvPr>
        </p:nvSpPr>
        <p:spPr>
          <a:xfrm>
            <a:off x="838200" y="6356349"/>
            <a:ext cx="2743200" cy="432000"/>
          </a:xfrm>
        </p:spPr>
        <p:txBody>
          <a:bodyPr/>
          <a:lstStyle/>
          <a:p>
            <a:r>
              <a:rPr lang="it-IT" sz="1500" b="1" dirty="0">
                <a:solidFill>
                  <a:srgbClr val="002060"/>
                </a:solidFill>
              </a:rPr>
              <a:t>24.08.2026</a:t>
            </a:r>
          </a:p>
        </p:txBody>
      </p:sp>
      <p:sp>
        <p:nvSpPr>
          <p:cNvPr id="5" name="Segnaposto piè di pagina 4">
            <a:extLst>
              <a:ext uri="{FF2B5EF4-FFF2-40B4-BE49-F238E27FC236}">
                <a16:creationId xmlns:a16="http://schemas.microsoft.com/office/drawing/2014/main" id="{FADC6BE6-805E-93BA-786E-92B728244F9F}"/>
              </a:ext>
            </a:extLst>
          </p:cNvPr>
          <p:cNvSpPr>
            <a:spLocks noGrp="1"/>
          </p:cNvSpPr>
          <p:nvPr>
            <p:ph type="ftr" sz="quarter" idx="11"/>
          </p:nvPr>
        </p:nvSpPr>
        <p:spPr>
          <a:xfrm>
            <a:off x="0" y="6356349"/>
            <a:ext cx="12192000" cy="432000"/>
          </a:xfrm>
        </p:spPr>
        <p:txBody>
          <a:bodyPr/>
          <a:lstStyle/>
          <a:p>
            <a:r>
              <a:rPr lang="it-IT" sz="1500" b="1" dirty="0">
                <a:solidFill>
                  <a:srgbClr val="002060"/>
                </a:solidFill>
              </a:rPr>
              <a:t>Anna Sofia Moro</a:t>
            </a:r>
          </a:p>
        </p:txBody>
      </p:sp>
      <p:sp>
        <p:nvSpPr>
          <p:cNvPr id="6" name="Segnaposto numero diapositiva 5">
            <a:extLst>
              <a:ext uri="{FF2B5EF4-FFF2-40B4-BE49-F238E27FC236}">
                <a16:creationId xmlns:a16="http://schemas.microsoft.com/office/drawing/2014/main" id="{A27EC9EA-4A1E-6578-AD9A-35BB3FF7C4C7}"/>
              </a:ext>
            </a:extLst>
          </p:cNvPr>
          <p:cNvSpPr>
            <a:spLocks noGrp="1"/>
          </p:cNvSpPr>
          <p:nvPr>
            <p:ph type="sldNum" sz="quarter" idx="12"/>
          </p:nvPr>
        </p:nvSpPr>
        <p:spPr>
          <a:xfrm>
            <a:off x="8610600" y="6356349"/>
            <a:ext cx="2743200" cy="432000"/>
          </a:xfrm>
        </p:spPr>
        <p:txBody>
          <a:bodyPr/>
          <a:lstStyle/>
          <a:p>
            <a:fld id="{0A318BD9-CA14-4A83-ACF0-03D5918EB402}" type="slidenum">
              <a:rPr lang="it-IT" sz="1500" b="1" smtClean="0">
                <a:solidFill>
                  <a:srgbClr val="002060"/>
                </a:solidFill>
              </a:rPr>
              <a:t>4</a:t>
            </a:fld>
            <a:endParaRPr lang="it-IT" sz="1500" b="1" dirty="0">
              <a:solidFill>
                <a:srgbClr val="002060"/>
              </a:solidFill>
            </a:endParaRPr>
          </a:p>
        </p:txBody>
      </p:sp>
      <p:cxnSp>
        <p:nvCxnSpPr>
          <p:cNvPr id="10" name="Connettore diritto 9">
            <a:extLst>
              <a:ext uri="{FF2B5EF4-FFF2-40B4-BE49-F238E27FC236}">
                <a16:creationId xmlns:a16="http://schemas.microsoft.com/office/drawing/2014/main" id="{C110DC4F-F2F3-9547-0E50-19839FDC6D16}"/>
              </a:ext>
            </a:extLst>
          </p:cNvPr>
          <p:cNvCxnSpPr>
            <a:cxnSpLocks/>
          </p:cNvCxnSpPr>
          <p:nvPr/>
        </p:nvCxnSpPr>
        <p:spPr>
          <a:xfrm>
            <a:off x="696000" y="1155368"/>
            <a:ext cx="10800000" cy="0"/>
          </a:xfrm>
          <a:prstGeom prst="line">
            <a:avLst/>
          </a:prstGeom>
          <a:ln w="38100">
            <a:solidFill>
              <a:srgbClr val="002060"/>
            </a:solidFill>
          </a:ln>
        </p:spPr>
        <p:style>
          <a:lnRef idx="2">
            <a:schemeClr val="accent1"/>
          </a:lnRef>
          <a:fillRef idx="0">
            <a:schemeClr val="accent1"/>
          </a:fillRef>
          <a:effectRef idx="1">
            <a:schemeClr val="accent1"/>
          </a:effectRef>
          <a:fontRef idx="minor">
            <a:schemeClr val="tx1"/>
          </a:fontRef>
        </p:style>
      </p:cxnSp>
      <p:sp>
        <p:nvSpPr>
          <p:cNvPr id="8" name="Titolo 1">
            <a:extLst>
              <a:ext uri="{FF2B5EF4-FFF2-40B4-BE49-F238E27FC236}">
                <a16:creationId xmlns:a16="http://schemas.microsoft.com/office/drawing/2014/main" id="{0BD16E50-6D5C-369F-0D00-09CD3AB99505}"/>
              </a:ext>
            </a:extLst>
          </p:cNvPr>
          <p:cNvSpPr txBox="1">
            <a:spLocks/>
          </p:cNvSpPr>
          <p:nvPr/>
        </p:nvSpPr>
        <p:spPr>
          <a:xfrm>
            <a:off x="696000" y="688243"/>
            <a:ext cx="10800000" cy="559599"/>
          </a:xfrm>
          <a:prstGeom prst="roundRect">
            <a:avLst>
              <a:gd name="adj" fmla="val 0"/>
            </a:avLst>
          </a:prstGeom>
          <a:noFill/>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en-US" sz="2000" b="1" i="1" dirty="0">
                <a:solidFill>
                  <a:srgbClr val="002060"/>
                </a:solidFill>
                <a:ea typeface="Calibri" panose="020F0502020204030204" pitchFamily="34" charset="0"/>
                <a:cs typeface="Calibri" panose="020F0502020204030204" pitchFamily="34" charset="0"/>
              </a:rPr>
              <a:t>THE PROJECT</a:t>
            </a:r>
            <a:endParaRPr lang="it-IT" sz="2000" b="1" i="1" dirty="0">
              <a:solidFill>
                <a:srgbClr val="002060"/>
              </a:solidFill>
              <a:ea typeface="Calibri" panose="020F0502020204030204" pitchFamily="34" charset="0"/>
              <a:cs typeface="Calibri" panose="020F0502020204030204" pitchFamily="34" charset="0"/>
            </a:endParaRPr>
          </a:p>
        </p:txBody>
      </p:sp>
      <p:sp>
        <p:nvSpPr>
          <p:cNvPr id="12" name="Rettangolo con angoli arrotondati 6">
            <a:extLst>
              <a:ext uri="{FF2B5EF4-FFF2-40B4-BE49-F238E27FC236}">
                <a16:creationId xmlns:a16="http://schemas.microsoft.com/office/drawing/2014/main" id="{EFA12855-5271-F147-2CD4-7C0AAE3F9039}"/>
              </a:ext>
            </a:extLst>
          </p:cNvPr>
          <p:cNvSpPr/>
          <p:nvPr/>
        </p:nvSpPr>
        <p:spPr>
          <a:xfrm>
            <a:off x="696000" y="2400574"/>
            <a:ext cx="3535758" cy="3888398"/>
          </a:xfrm>
          <a:prstGeom prst="roundRect">
            <a:avLst/>
          </a:prstGeom>
          <a:noFill/>
          <a:ln w="38100">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endParaRPr lang="it-IT" sz="2000" b="1" dirty="0">
              <a:solidFill>
                <a:srgbClr val="002060"/>
              </a:solidFill>
            </a:endParaRPr>
          </a:p>
          <a:p>
            <a:pPr algn="ctr"/>
            <a:endParaRPr lang="it-IT" sz="2000" b="1" dirty="0">
              <a:solidFill>
                <a:srgbClr val="002060"/>
              </a:solidFill>
            </a:endParaRPr>
          </a:p>
          <a:p>
            <a:pPr algn="ctr"/>
            <a:endParaRPr lang="it-IT" sz="2000" b="1" dirty="0">
              <a:solidFill>
                <a:srgbClr val="002060"/>
              </a:solidFill>
            </a:endParaRPr>
          </a:p>
          <a:p>
            <a:pPr algn="ctr"/>
            <a:r>
              <a:rPr lang="it-IT" sz="2000" b="1" dirty="0">
                <a:solidFill>
                  <a:srgbClr val="002060"/>
                </a:solidFill>
              </a:rPr>
              <a:t>DATA</a:t>
            </a:r>
          </a:p>
          <a:p>
            <a:pPr algn="ctr"/>
            <a:endParaRPr lang="it-IT" sz="2000" dirty="0">
              <a:solidFill>
                <a:schemeClr val="tx1"/>
              </a:solidFill>
            </a:endParaRPr>
          </a:p>
          <a:p>
            <a:pPr algn="ctr"/>
            <a:r>
              <a:rPr lang="en-US" sz="2000" dirty="0">
                <a:solidFill>
                  <a:schemeClr val="tx1"/>
                </a:solidFill>
              </a:rPr>
              <a:t>2024 dataset for two long crystals</a:t>
            </a:r>
          </a:p>
          <a:p>
            <a:pPr algn="ctr"/>
            <a:endParaRPr lang="en-US" sz="2000" dirty="0">
              <a:solidFill>
                <a:schemeClr val="tx1"/>
              </a:solidFill>
            </a:endParaRPr>
          </a:p>
          <a:p>
            <a:pPr algn="ctr"/>
            <a:r>
              <a:rPr lang="en-US" sz="2000" dirty="0">
                <a:solidFill>
                  <a:schemeClr val="tx1"/>
                </a:solidFill>
              </a:rPr>
              <a:t>180 GeV beam (70% protons and 30% pions)</a:t>
            </a:r>
            <a:endParaRPr lang="it-IT" sz="2000" dirty="0">
              <a:solidFill>
                <a:schemeClr val="tx1"/>
              </a:solidFill>
            </a:endParaRPr>
          </a:p>
          <a:p>
            <a:pPr algn="ctr"/>
            <a:endParaRPr lang="it-IT" sz="2000" dirty="0">
              <a:solidFill>
                <a:schemeClr val="tx1"/>
              </a:solidFill>
            </a:endParaRPr>
          </a:p>
        </p:txBody>
      </p:sp>
      <mc:AlternateContent xmlns:mc="http://schemas.openxmlformats.org/markup-compatibility/2006">
        <mc:Choice xmlns:a14="http://schemas.microsoft.com/office/drawing/2010/main" Requires="a14">
          <p:sp>
            <p:nvSpPr>
              <p:cNvPr id="14" name="Rettangolo con angoli arrotondati 8">
                <a:extLst>
                  <a:ext uri="{FF2B5EF4-FFF2-40B4-BE49-F238E27FC236}">
                    <a16:creationId xmlns:a16="http://schemas.microsoft.com/office/drawing/2014/main" id="{0AED5BE1-2927-94C3-7F58-ACE6DE3FE760}"/>
                  </a:ext>
                </a:extLst>
              </p:cNvPr>
              <p:cNvSpPr/>
              <p:nvPr/>
            </p:nvSpPr>
            <p:spPr>
              <a:xfrm>
                <a:off x="4328122" y="2400573"/>
                <a:ext cx="3535758" cy="3888398"/>
              </a:xfrm>
              <a:prstGeom prst="roundRect">
                <a:avLst/>
              </a:prstGeom>
              <a:noFill/>
              <a:ln w="38100">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endParaRPr lang="it-IT" sz="2000" b="1" dirty="0">
                  <a:solidFill>
                    <a:srgbClr val="002060"/>
                  </a:solidFill>
                </a:endParaRPr>
              </a:p>
              <a:p>
                <a:pPr algn="ctr"/>
                <a:endParaRPr lang="it-IT" sz="2000" b="1" dirty="0">
                  <a:solidFill>
                    <a:srgbClr val="002060"/>
                  </a:solidFill>
                </a:endParaRPr>
              </a:p>
              <a:p>
                <a:pPr algn="ctr"/>
                <a:endParaRPr lang="it-IT" sz="2000" b="1" dirty="0">
                  <a:solidFill>
                    <a:srgbClr val="002060"/>
                  </a:solidFill>
                </a:endParaRPr>
              </a:p>
              <a:p>
                <a:pPr algn="ctr"/>
                <a:r>
                  <a:rPr lang="it-IT" sz="2000" b="1" dirty="0">
                    <a:solidFill>
                      <a:srgbClr val="002060"/>
                    </a:solidFill>
                  </a:rPr>
                  <a:t>GOAL OF MY WORK</a:t>
                </a:r>
              </a:p>
              <a:p>
                <a:pPr algn="ctr"/>
                <a:endParaRPr lang="it-IT" sz="2000" dirty="0">
                  <a:solidFill>
                    <a:schemeClr val="tx1"/>
                  </a:solidFill>
                </a:endParaRPr>
              </a:p>
              <a:p>
                <a:pPr algn="ctr"/>
                <a:r>
                  <a:rPr lang="it-IT" sz="2000" dirty="0">
                    <a:solidFill>
                      <a:schemeClr val="tx1"/>
                    </a:solidFill>
                  </a:rPr>
                  <a:t>Measure the channeling efficiency </a:t>
                </a:r>
                <a14:m>
                  <m:oMath xmlns:m="http://schemas.openxmlformats.org/officeDocument/2006/math">
                    <m:sSub>
                      <m:sSubPr>
                        <m:ctrlPr>
                          <a:rPr lang="en-US" sz="2000" i="1">
                            <a:solidFill>
                              <a:schemeClr val="tx1"/>
                            </a:solidFill>
                            <a:latin typeface="Cambria Math" panose="02040503050406030204" pitchFamily="18" charset="0"/>
                          </a:rPr>
                        </m:ctrlPr>
                      </m:sSubPr>
                      <m:e>
                        <m:r>
                          <a:rPr lang="en-US" sz="2000" i="1">
                            <a:solidFill>
                              <a:schemeClr val="tx1"/>
                            </a:solidFill>
                            <a:latin typeface="Cambria Math" panose="02040503050406030204" pitchFamily="18" charset="0"/>
                          </a:rPr>
                          <m:t>𝜖</m:t>
                        </m:r>
                      </m:e>
                      <m:sub>
                        <m:r>
                          <a:rPr lang="en-US" sz="2000" i="1">
                            <a:solidFill>
                              <a:schemeClr val="tx1"/>
                            </a:solidFill>
                            <a:latin typeface="Cambria Math" panose="02040503050406030204" pitchFamily="18" charset="0"/>
                          </a:rPr>
                          <m:t>𝑐ℎ</m:t>
                        </m:r>
                      </m:sub>
                    </m:sSub>
                  </m:oMath>
                </a14:m>
                <a:r>
                  <a:rPr lang="it-IT" sz="2000" dirty="0">
                    <a:solidFill>
                      <a:schemeClr val="tx1"/>
                    </a:solidFill>
                  </a:rPr>
                  <a:t> and the crystal torsion on newly fabricated long crystals.</a:t>
                </a:r>
              </a:p>
              <a:p>
                <a:pPr algn="ctr"/>
                <a:endParaRPr lang="it-IT" sz="2000" dirty="0">
                  <a:solidFill>
                    <a:schemeClr val="tx1"/>
                  </a:solidFill>
                </a:endParaRPr>
              </a:p>
            </p:txBody>
          </p:sp>
        </mc:Choice>
        <mc:Fallback>
          <p:sp>
            <p:nvSpPr>
              <p:cNvPr id="14" name="Rettangolo con angoli arrotondati 8">
                <a:extLst>
                  <a:ext uri="{FF2B5EF4-FFF2-40B4-BE49-F238E27FC236}">
                    <a16:creationId xmlns:a16="http://schemas.microsoft.com/office/drawing/2014/main" id="{0AED5BE1-2927-94C3-7F58-ACE6DE3FE760}"/>
                  </a:ext>
                </a:extLst>
              </p:cNvPr>
              <p:cNvSpPr>
                <a:spLocks noRot="1" noChangeAspect="1" noMove="1" noResize="1" noEditPoints="1" noAdjustHandles="1" noChangeArrowheads="1" noChangeShapeType="1" noTextEdit="1"/>
              </p:cNvSpPr>
              <p:nvPr/>
            </p:nvSpPr>
            <p:spPr>
              <a:xfrm>
                <a:off x="4328122" y="2400573"/>
                <a:ext cx="3535758" cy="3888398"/>
              </a:xfrm>
              <a:prstGeom prst="roundRect">
                <a:avLst/>
              </a:prstGeom>
              <a:blipFill>
                <a:blip r:embed="rId3"/>
                <a:stretch>
                  <a:fillRect/>
                </a:stretch>
              </a:blipFill>
              <a:ln w="38100">
                <a:solidFill>
                  <a:srgbClr val="002060"/>
                </a:solidFill>
              </a:ln>
            </p:spPr>
            <p:txBody>
              <a:bodyPr/>
              <a:lstStyle/>
              <a:p>
                <a:r>
                  <a:rPr lang="it-IT">
                    <a:noFill/>
                  </a:rPr>
                  <a:t> </a:t>
                </a:r>
              </a:p>
            </p:txBody>
          </p:sp>
        </mc:Fallback>
      </mc:AlternateContent>
      <p:sp>
        <p:nvSpPr>
          <p:cNvPr id="16" name="Rettangolo con angoli arrotondati 11">
            <a:extLst>
              <a:ext uri="{FF2B5EF4-FFF2-40B4-BE49-F238E27FC236}">
                <a16:creationId xmlns:a16="http://schemas.microsoft.com/office/drawing/2014/main" id="{CFC2874C-5503-E33E-2F12-DE47AA271F7E}"/>
              </a:ext>
            </a:extLst>
          </p:cNvPr>
          <p:cNvSpPr/>
          <p:nvPr/>
        </p:nvSpPr>
        <p:spPr>
          <a:xfrm>
            <a:off x="7960244" y="2400573"/>
            <a:ext cx="3535758" cy="3888398"/>
          </a:xfrm>
          <a:prstGeom prst="roundRect">
            <a:avLst/>
          </a:prstGeom>
          <a:noFill/>
          <a:ln w="38100">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endParaRPr lang="it-IT" sz="2000" b="1" dirty="0">
              <a:solidFill>
                <a:srgbClr val="002060"/>
              </a:solidFill>
            </a:endParaRPr>
          </a:p>
          <a:p>
            <a:pPr algn="ctr"/>
            <a:endParaRPr lang="it-IT" sz="2000" b="1" dirty="0">
              <a:solidFill>
                <a:srgbClr val="002060"/>
              </a:solidFill>
            </a:endParaRPr>
          </a:p>
          <a:p>
            <a:pPr algn="ctr"/>
            <a:endParaRPr lang="it-IT" sz="2000" b="1" dirty="0">
              <a:solidFill>
                <a:srgbClr val="002060"/>
              </a:solidFill>
            </a:endParaRPr>
          </a:p>
          <a:p>
            <a:pPr algn="ctr"/>
            <a:r>
              <a:rPr lang="it-IT" sz="2000" b="1" dirty="0">
                <a:solidFill>
                  <a:srgbClr val="002060"/>
                </a:solidFill>
              </a:rPr>
              <a:t>WHAT IS NEW</a:t>
            </a:r>
          </a:p>
          <a:p>
            <a:pPr algn="ctr"/>
            <a:endParaRPr lang="it-IT" sz="2000" dirty="0">
              <a:solidFill>
                <a:schemeClr val="tx1"/>
              </a:solidFill>
            </a:endParaRPr>
          </a:p>
          <a:p>
            <a:pPr algn="ctr"/>
            <a:r>
              <a:rPr lang="it-IT" sz="2000" dirty="0">
                <a:solidFill>
                  <a:schemeClr val="tx1"/>
                </a:solidFill>
              </a:rPr>
              <a:t>ggg</a:t>
            </a:r>
          </a:p>
        </p:txBody>
      </p:sp>
      <p:pic>
        <p:nvPicPr>
          <p:cNvPr id="18" name="Elemento grafico 13" descr="Badge 1 outline">
            <a:extLst>
              <a:ext uri="{FF2B5EF4-FFF2-40B4-BE49-F238E27FC236}">
                <a16:creationId xmlns:a16="http://schemas.microsoft.com/office/drawing/2014/main" id="{7EDD83C0-9FA9-D844-31E6-B39B50FF63D6}"/>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2193879" y="2750264"/>
            <a:ext cx="540000" cy="540000"/>
          </a:xfrm>
          <a:prstGeom prst="rect">
            <a:avLst/>
          </a:prstGeom>
        </p:spPr>
      </p:pic>
      <p:pic>
        <p:nvPicPr>
          <p:cNvPr id="20" name="Elemento grafico 15" descr="Badge 3 outline">
            <a:extLst>
              <a:ext uri="{FF2B5EF4-FFF2-40B4-BE49-F238E27FC236}">
                <a16:creationId xmlns:a16="http://schemas.microsoft.com/office/drawing/2014/main" id="{81A6758B-EE6A-3FD5-A8F4-C0D6DC57318F}"/>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9458123" y="2750264"/>
            <a:ext cx="540000" cy="540000"/>
          </a:xfrm>
          <a:prstGeom prst="rect">
            <a:avLst/>
          </a:prstGeom>
        </p:spPr>
      </p:pic>
      <p:pic>
        <p:nvPicPr>
          <p:cNvPr id="22" name="Elemento grafico 17" descr="Badge outline">
            <a:extLst>
              <a:ext uri="{FF2B5EF4-FFF2-40B4-BE49-F238E27FC236}">
                <a16:creationId xmlns:a16="http://schemas.microsoft.com/office/drawing/2014/main" id="{F1177DB5-D6C8-1A28-D2E4-4853B8FDBA18}"/>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5825100" y="2750264"/>
            <a:ext cx="540000" cy="540000"/>
          </a:xfrm>
          <a:prstGeom prst="rect">
            <a:avLst/>
          </a:prstGeom>
        </p:spPr>
      </p:pic>
      <p:sp>
        <p:nvSpPr>
          <p:cNvPr id="23" name="Segnaposto contenuto 2">
            <a:extLst>
              <a:ext uri="{FF2B5EF4-FFF2-40B4-BE49-F238E27FC236}">
                <a16:creationId xmlns:a16="http://schemas.microsoft.com/office/drawing/2014/main" id="{81A5BE42-6D4A-165C-EBBA-5D49087D7DBA}"/>
              </a:ext>
            </a:extLst>
          </p:cNvPr>
          <p:cNvSpPr>
            <a:spLocks noGrp="1"/>
          </p:cNvSpPr>
          <p:nvPr>
            <p:ph idx="1"/>
          </p:nvPr>
        </p:nvSpPr>
        <p:spPr>
          <a:xfrm>
            <a:off x="838200" y="1401289"/>
            <a:ext cx="10515600" cy="906812"/>
          </a:xfrm>
        </p:spPr>
        <p:txBody>
          <a:bodyPr>
            <a:normAutofit/>
          </a:bodyPr>
          <a:lstStyle/>
          <a:p>
            <a:pPr marL="0" indent="0">
              <a:buNone/>
            </a:pPr>
            <a:r>
              <a:rPr lang="en-US" sz="2200" dirty="0"/>
              <a:t>My work takes place on the SPS – H8 test bench, where individual crystals are characterized before being used.</a:t>
            </a:r>
          </a:p>
        </p:txBody>
      </p:sp>
    </p:spTree>
    <p:extLst>
      <p:ext uri="{BB962C8B-B14F-4D97-AF65-F5344CB8AC3E}">
        <p14:creationId xmlns:p14="http://schemas.microsoft.com/office/powerpoint/2010/main" val="429210169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2139A6-E4C9-F3ED-EE31-ADD1B1D15F87}"/>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F1126BAB-7D8A-EB40-7773-8BAC8FAB2E5C}"/>
              </a:ext>
            </a:extLst>
          </p:cNvPr>
          <p:cNvSpPr>
            <a:spLocks noGrp="1"/>
          </p:cNvSpPr>
          <p:nvPr>
            <p:ph type="title"/>
          </p:nvPr>
        </p:nvSpPr>
        <p:spPr>
          <a:xfrm>
            <a:off x="38100" y="69651"/>
            <a:ext cx="12114000" cy="1153094"/>
          </a:xfrm>
          <a:prstGeom prst="roundRect">
            <a:avLst>
              <a:gd name="adj" fmla="val 36459"/>
            </a:avLst>
          </a:prstGeom>
          <a:noFill/>
        </p:spPr>
        <p:txBody>
          <a:bodyPr>
            <a:normAutofit/>
          </a:bodyPr>
          <a:lstStyle/>
          <a:p>
            <a:r>
              <a:rPr lang="en-US" sz="4000" b="1" dirty="0">
                <a:solidFill>
                  <a:srgbClr val="002060"/>
                </a:solidFill>
              </a:rPr>
              <a:t>	MY ANALYSIS</a:t>
            </a:r>
            <a:endParaRPr lang="it-IT" sz="4000" b="1" dirty="0">
              <a:solidFill>
                <a:srgbClr val="002060"/>
              </a:solidFill>
            </a:endParaRPr>
          </a:p>
        </p:txBody>
      </p:sp>
      <p:sp>
        <p:nvSpPr>
          <p:cNvPr id="4" name="Segnaposto data 3">
            <a:extLst>
              <a:ext uri="{FF2B5EF4-FFF2-40B4-BE49-F238E27FC236}">
                <a16:creationId xmlns:a16="http://schemas.microsoft.com/office/drawing/2014/main" id="{BC3D0158-4EC4-484C-A7B8-F2017BE25DA9}"/>
              </a:ext>
            </a:extLst>
          </p:cNvPr>
          <p:cNvSpPr>
            <a:spLocks noGrp="1"/>
          </p:cNvSpPr>
          <p:nvPr>
            <p:ph type="dt" sz="half" idx="10"/>
          </p:nvPr>
        </p:nvSpPr>
        <p:spPr>
          <a:xfrm>
            <a:off x="838200" y="6356349"/>
            <a:ext cx="2743200" cy="432000"/>
          </a:xfrm>
        </p:spPr>
        <p:txBody>
          <a:bodyPr/>
          <a:lstStyle/>
          <a:p>
            <a:r>
              <a:rPr lang="it-IT" sz="1500" b="1" dirty="0">
                <a:solidFill>
                  <a:srgbClr val="002060"/>
                </a:solidFill>
              </a:rPr>
              <a:t>24.08.2026</a:t>
            </a:r>
          </a:p>
        </p:txBody>
      </p:sp>
      <p:sp>
        <p:nvSpPr>
          <p:cNvPr id="5" name="Segnaposto piè di pagina 4">
            <a:extLst>
              <a:ext uri="{FF2B5EF4-FFF2-40B4-BE49-F238E27FC236}">
                <a16:creationId xmlns:a16="http://schemas.microsoft.com/office/drawing/2014/main" id="{E3CFE77E-2206-22EF-B028-8DD606724708}"/>
              </a:ext>
            </a:extLst>
          </p:cNvPr>
          <p:cNvSpPr>
            <a:spLocks noGrp="1"/>
          </p:cNvSpPr>
          <p:nvPr>
            <p:ph type="ftr" sz="quarter" idx="11"/>
          </p:nvPr>
        </p:nvSpPr>
        <p:spPr>
          <a:xfrm>
            <a:off x="0" y="6356349"/>
            <a:ext cx="12192000" cy="432000"/>
          </a:xfrm>
        </p:spPr>
        <p:txBody>
          <a:bodyPr/>
          <a:lstStyle/>
          <a:p>
            <a:r>
              <a:rPr lang="it-IT" sz="1500" b="1" dirty="0">
                <a:solidFill>
                  <a:srgbClr val="002060"/>
                </a:solidFill>
              </a:rPr>
              <a:t>Anna Sofia Moro</a:t>
            </a:r>
          </a:p>
        </p:txBody>
      </p:sp>
      <p:sp>
        <p:nvSpPr>
          <p:cNvPr id="6" name="Segnaposto numero diapositiva 5">
            <a:extLst>
              <a:ext uri="{FF2B5EF4-FFF2-40B4-BE49-F238E27FC236}">
                <a16:creationId xmlns:a16="http://schemas.microsoft.com/office/drawing/2014/main" id="{A060BB2E-8C97-2CF5-4EBA-92D88E64C977}"/>
              </a:ext>
            </a:extLst>
          </p:cNvPr>
          <p:cNvSpPr>
            <a:spLocks noGrp="1"/>
          </p:cNvSpPr>
          <p:nvPr>
            <p:ph type="sldNum" sz="quarter" idx="12"/>
          </p:nvPr>
        </p:nvSpPr>
        <p:spPr>
          <a:xfrm>
            <a:off x="8610600" y="6356349"/>
            <a:ext cx="2743200" cy="432000"/>
          </a:xfrm>
        </p:spPr>
        <p:txBody>
          <a:bodyPr/>
          <a:lstStyle/>
          <a:p>
            <a:fld id="{0A318BD9-CA14-4A83-ACF0-03D5918EB402}" type="slidenum">
              <a:rPr lang="it-IT" sz="1500" b="1" smtClean="0">
                <a:solidFill>
                  <a:srgbClr val="002060"/>
                </a:solidFill>
              </a:rPr>
              <a:t>5</a:t>
            </a:fld>
            <a:endParaRPr lang="it-IT" sz="1500" b="1" dirty="0">
              <a:solidFill>
                <a:srgbClr val="002060"/>
              </a:solidFill>
            </a:endParaRPr>
          </a:p>
        </p:txBody>
      </p:sp>
      <p:cxnSp>
        <p:nvCxnSpPr>
          <p:cNvPr id="10" name="Connettore diritto 9">
            <a:extLst>
              <a:ext uri="{FF2B5EF4-FFF2-40B4-BE49-F238E27FC236}">
                <a16:creationId xmlns:a16="http://schemas.microsoft.com/office/drawing/2014/main" id="{121D8737-CAC6-B92A-A0EE-D76F9BF2B826}"/>
              </a:ext>
            </a:extLst>
          </p:cNvPr>
          <p:cNvCxnSpPr>
            <a:cxnSpLocks/>
          </p:cNvCxnSpPr>
          <p:nvPr/>
        </p:nvCxnSpPr>
        <p:spPr>
          <a:xfrm>
            <a:off x="696000" y="1155368"/>
            <a:ext cx="10800000" cy="0"/>
          </a:xfrm>
          <a:prstGeom prst="line">
            <a:avLst/>
          </a:prstGeom>
          <a:ln w="38100">
            <a:solidFill>
              <a:srgbClr val="002060"/>
            </a:solidFill>
          </a:ln>
        </p:spPr>
        <p:style>
          <a:lnRef idx="2">
            <a:schemeClr val="accent1"/>
          </a:lnRef>
          <a:fillRef idx="0">
            <a:schemeClr val="accent1"/>
          </a:fillRef>
          <a:effectRef idx="1">
            <a:schemeClr val="accent1"/>
          </a:effectRef>
          <a:fontRef idx="minor">
            <a:schemeClr val="tx1"/>
          </a:fontRef>
        </p:style>
      </p:cxnSp>
      <p:sp>
        <p:nvSpPr>
          <p:cNvPr id="8" name="Titolo 1">
            <a:extLst>
              <a:ext uri="{FF2B5EF4-FFF2-40B4-BE49-F238E27FC236}">
                <a16:creationId xmlns:a16="http://schemas.microsoft.com/office/drawing/2014/main" id="{0F37742B-3221-5A09-A269-E936CFE4176F}"/>
              </a:ext>
            </a:extLst>
          </p:cNvPr>
          <p:cNvSpPr txBox="1">
            <a:spLocks/>
          </p:cNvSpPr>
          <p:nvPr/>
        </p:nvSpPr>
        <p:spPr>
          <a:xfrm>
            <a:off x="696000" y="688243"/>
            <a:ext cx="10800000" cy="559599"/>
          </a:xfrm>
          <a:prstGeom prst="roundRect">
            <a:avLst>
              <a:gd name="adj" fmla="val 0"/>
            </a:avLst>
          </a:prstGeom>
          <a:noFill/>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en-US" sz="2000" b="1" i="1" dirty="0">
                <a:solidFill>
                  <a:srgbClr val="002060"/>
                </a:solidFill>
                <a:ea typeface="Calibri" panose="020F0502020204030204" pitchFamily="34" charset="0"/>
                <a:cs typeface="Calibri" panose="020F0502020204030204" pitchFamily="34" charset="0"/>
              </a:rPr>
              <a:t>EXPERIMENTAL SETUP</a:t>
            </a:r>
            <a:endParaRPr lang="it-IT" sz="2000" b="1" i="1" dirty="0">
              <a:solidFill>
                <a:srgbClr val="002060"/>
              </a:solidFill>
              <a:ea typeface="Calibri" panose="020F0502020204030204" pitchFamily="34" charset="0"/>
              <a:cs typeface="Calibri" panose="020F0502020204030204" pitchFamily="34" charset="0"/>
            </a:endParaRPr>
          </a:p>
        </p:txBody>
      </p:sp>
      <p:sp>
        <p:nvSpPr>
          <p:cNvPr id="12" name="Rettangolo con angoli arrotondati 6">
            <a:extLst>
              <a:ext uri="{FF2B5EF4-FFF2-40B4-BE49-F238E27FC236}">
                <a16:creationId xmlns:a16="http://schemas.microsoft.com/office/drawing/2014/main" id="{E69A238E-D58D-C80A-F04C-64BAE93F7085}"/>
              </a:ext>
            </a:extLst>
          </p:cNvPr>
          <p:cNvSpPr/>
          <p:nvPr/>
        </p:nvSpPr>
        <p:spPr>
          <a:xfrm>
            <a:off x="696000" y="2400574"/>
            <a:ext cx="3535758" cy="3888398"/>
          </a:xfrm>
          <a:prstGeom prst="roundRect">
            <a:avLst/>
          </a:prstGeom>
          <a:noFill/>
          <a:ln w="38100">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endParaRPr lang="it-IT" sz="2000" b="1" dirty="0">
              <a:solidFill>
                <a:srgbClr val="002060"/>
              </a:solidFill>
            </a:endParaRPr>
          </a:p>
          <a:p>
            <a:pPr algn="ctr"/>
            <a:endParaRPr lang="it-IT" sz="2000" b="1" dirty="0">
              <a:solidFill>
                <a:srgbClr val="002060"/>
              </a:solidFill>
            </a:endParaRPr>
          </a:p>
          <a:p>
            <a:pPr algn="ctr"/>
            <a:endParaRPr lang="it-IT" sz="2000" b="1" dirty="0">
              <a:solidFill>
                <a:srgbClr val="002060"/>
              </a:solidFill>
            </a:endParaRPr>
          </a:p>
          <a:p>
            <a:pPr algn="ctr"/>
            <a:r>
              <a:rPr lang="it-IT" sz="2000" b="1" dirty="0">
                <a:solidFill>
                  <a:srgbClr val="002060"/>
                </a:solidFill>
              </a:rPr>
              <a:t>DATA</a:t>
            </a:r>
          </a:p>
          <a:p>
            <a:pPr algn="ctr"/>
            <a:endParaRPr lang="it-IT" sz="2000" dirty="0">
              <a:solidFill>
                <a:schemeClr val="tx1"/>
              </a:solidFill>
            </a:endParaRPr>
          </a:p>
          <a:p>
            <a:pPr algn="ctr"/>
            <a:r>
              <a:rPr lang="en-US" sz="2000" dirty="0">
                <a:solidFill>
                  <a:schemeClr val="tx1"/>
                </a:solidFill>
              </a:rPr>
              <a:t>2024 dataset for two long crystals</a:t>
            </a:r>
          </a:p>
          <a:p>
            <a:pPr algn="ctr"/>
            <a:endParaRPr lang="en-US" sz="2000" dirty="0">
              <a:solidFill>
                <a:schemeClr val="tx1"/>
              </a:solidFill>
            </a:endParaRPr>
          </a:p>
          <a:p>
            <a:pPr algn="ctr"/>
            <a:r>
              <a:rPr lang="en-US" sz="2000" dirty="0">
                <a:solidFill>
                  <a:schemeClr val="tx1"/>
                </a:solidFill>
              </a:rPr>
              <a:t>180 GeV beam (70% protons and 30% pions)</a:t>
            </a:r>
            <a:endParaRPr lang="it-IT" sz="2000" dirty="0">
              <a:solidFill>
                <a:schemeClr val="tx1"/>
              </a:solidFill>
            </a:endParaRPr>
          </a:p>
          <a:p>
            <a:pPr algn="ctr"/>
            <a:endParaRPr lang="it-IT" sz="2000" dirty="0">
              <a:solidFill>
                <a:schemeClr val="tx1"/>
              </a:solidFill>
            </a:endParaRPr>
          </a:p>
        </p:txBody>
      </p:sp>
      <p:pic>
        <p:nvPicPr>
          <p:cNvPr id="18" name="Elemento grafico 13" descr="Badge 1 outline">
            <a:extLst>
              <a:ext uri="{FF2B5EF4-FFF2-40B4-BE49-F238E27FC236}">
                <a16:creationId xmlns:a16="http://schemas.microsoft.com/office/drawing/2014/main" id="{AB60F7FC-5B63-850C-E17A-86BEF83B10C8}"/>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2193879" y="2750264"/>
            <a:ext cx="540000" cy="540000"/>
          </a:xfrm>
          <a:prstGeom prst="rect">
            <a:avLst/>
          </a:prstGeom>
        </p:spPr>
      </p:pic>
      <p:sp>
        <p:nvSpPr>
          <p:cNvPr id="23" name="Segnaposto contenuto 2">
            <a:extLst>
              <a:ext uri="{FF2B5EF4-FFF2-40B4-BE49-F238E27FC236}">
                <a16:creationId xmlns:a16="http://schemas.microsoft.com/office/drawing/2014/main" id="{2BC7DDC6-A08D-05A2-F81A-0FAF9D77CFCB}"/>
              </a:ext>
            </a:extLst>
          </p:cNvPr>
          <p:cNvSpPr>
            <a:spLocks noGrp="1"/>
          </p:cNvSpPr>
          <p:nvPr>
            <p:ph idx="1"/>
          </p:nvPr>
        </p:nvSpPr>
        <p:spPr>
          <a:xfrm>
            <a:off x="838200" y="1401289"/>
            <a:ext cx="10515600" cy="906812"/>
          </a:xfrm>
        </p:spPr>
        <p:txBody>
          <a:bodyPr>
            <a:normAutofit/>
          </a:bodyPr>
          <a:lstStyle/>
          <a:p>
            <a:pPr marL="0" indent="0">
              <a:buNone/>
            </a:pPr>
            <a:r>
              <a:rPr lang="en-US" sz="2200" dirty="0"/>
              <a:t>My work takes place on the SPS – H8 test bench, where individual crystals are characterized before being used.</a:t>
            </a:r>
          </a:p>
        </p:txBody>
      </p:sp>
      <p:pic>
        <p:nvPicPr>
          <p:cNvPr id="11" name="Immagine 7">
            <a:extLst>
              <a:ext uri="{FF2B5EF4-FFF2-40B4-BE49-F238E27FC236}">
                <a16:creationId xmlns:a16="http://schemas.microsoft.com/office/drawing/2014/main" id="{69D27C45-16FF-92F8-A50F-EE48E137B3F6}"/>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4340479" y="3176196"/>
            <a:ext cx="7167600" cy="3142624"/>
          </a:xfrm>
          <a:prstGeom prst="rect">
            <a:avLst/>
          </a:prstGeom>
        </p:spPr>
      </p:pic>
      <p:sp>
        <p:nvSpPr>
          <p:cNvPr id="14" name="Rettangolo con angoli arrotondati 8">
            <a:extLst>
              <a:ext uri="{FF2B5EF4-FFF2-40B4-BE49-F238E27FC236}">
                <a16:creationId xmlns:a16="http://schemas.microsoft.com/office/drawing/2014/main" id="{6A1C3988-A69D-EB3E-D0D8-6B3C7B342021}"/>
              </a:ext>
            </a:extLst>
          </p:cNvPr>
          <p:cNvSpPr/>
          <p:nvPr/>
        </p:nvSpPr>
        <p:spPr>
          <a:xfrm>
            <a:off x="4328122" y="2400573"/>
            <a:ext cx="7167878" cy="3888398"/>
          </a:xfrm>
          <a:prstGeom prst="roundRect">
            <a:avLst/>
          </a:prstGeom>
          <a:noFill/>
          <a:ln w="38100">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endParaRPr lang="it-IT" sz="2000" dirty="0">
              <a:solidFill>
                <a:schemeClr val="tx1"/>
              </a:solidFill>
            </a:endParaRPr>
          </a:p>
        </p:txBody>
      </p:sp>
      <p:grpSp>
        <p:nvGrpSpPr>
          <p:cNvPr id="24" name="Group 23">
            <a:extLst>
              <a:ext uri="{FF2B5EF4-FFF2-40B4-BE49-F238E27FC236}">
                <a16:creationId xmlns:a16="http://schemas.microsoft.com/office/drawing/2014/main" id="{0EB9003C-FB33-C2BF-CAF8-8B2952F389FB}"/>
              </a:ext>
            </a:extLst>
          </p:cNvPr>
          <p:cNvGrpSpPr/>
          <p:nvPr/>
        </p:nvGrpSpPr>
        <p:grpSpPr>
          <a:xfrm>
            <a:off x="4278770" y="2151564"/>
            <a:ext cx="6827030" cy="2682401"/>
            <a:chOff x="4278770" y="1838293"/>
            <a:chExt cx="6827030" cy="2682401"/>
          </a:xfrm>
        </p:grpSpPr>
        <p:pic>
          <p:nvPicPr>
            <p:cNvPr id="15" name="Immagine 7">
              <a:extLst>
                <a:ext uri="{FF2B5EF4-FFF2-40B4-BE49-F238E27FC236}">
                  <a16:creationId xmlns:a16="http://schemas.microsoft.com/office/drawing/2014/main" id="{CFE86632-3435-EBF2-32B2-521470E904F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099573" y="2491907"/>
              <a:ext cx="2006227" cy="1026570"/>
            </a:xfrm>
            <a:prstGeom prst="roundRect">
              <a:avLst>
                <a:gd name="adj" fmla="val 16667"/>
              </a:avLst>
            </a:prstGeom>
            <a:ln w="38100">
              <a:solidFill>
                <a:srgbClr val="3366FF"/>
              </a:solidFill>
            </a:ln>
            <a:effectLst/>
          </p:spPr>
        </p:pic>
        <p:sp>
          <p:nvSpPr>
            <p:cNvPr id="19" name="Arco 10">
              <a:extLst>
                <a:ext uri="{FF2B5EF4-FFF2-40B4-BE49-F238E27FC236}">
                  <a16:creationId xmlns:a16="http://schemas.microsoft.com/office/drawing/2014/main" id="{4517570D-942B-6E54-8D75-EB6124AC2F0D}"/>
                </a:ext>
              </a:extLst>
            </p:cNvPr>
            <p:cNvSpPr/>
            <p:nvPr/>
          </p:nvSpPr>
          <p:spPr>
            <a:xfrm rot="5881670">
              <a:off x="5598447" y="518616"/>
              <a:ext cx="2682401" cy="5321755"/>
            </a:xfrm>
            <a:prstGeom prst="arc">
              <a:avLst>
                <a:gd name="adj1" fmla="val 16185649"/>
                <a:gd name="adj2" fmla="val 18426993"/>
              </a:avLst>
            </a:prstGeom>
            <a:ln w="38100">
              <a:solidFill>
                <a:srgbClr val="3366FF"/>
              </a:solidFill>
              <a:headEnd type="none" w="med" len="med"/>
              <a:tailEnd type="arrow" w="med" len="med"/>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it-IT"/>
            </a:p>
          </p:txBody>
        </p:sp>
      </p:grpSp>
      <p:sp>
        <p:nvSpPr>
          <p:cNvPr id="21" name="Rectangle 20">
            <a:extLst>
              <a:ext uri="{FF2B5EF4-FFF2-40B4-BE49-F238E27FC236}">
                <a16:creationId xmlns:a16="http://schemas.microsoft.com/office/drawing/2014/main" id="{8C246015-16EC-AF83-42A5-59346AB6D581}"/>
              </a:ext>
            </a:extLst>
          </p:cNvPr>
          <p:cNvSpPr/>
          <p:nvPr/>
        </p:nvSpPr>
        <p:spPr>
          <a:xfrm>
            <a:off x="5393267" y="2750264"/>
            <a:ext cx="1744133" cy="710568"/>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grpSp>
        <p:nvGrpSpPr>
          <p:cNvPr id="27" name="Group 26">
            <a:extLst>
              <a:ext uri="{FF2B5EF4-FFF2-40B4-BE49-F238E27FC236}">
                <a16:creationId xmlns:a16="http://schemas.microsoft.com/office/drawing/2014/main" id="{959B8D46-154C-00AA-6D90-B00E79F36A1F}"/>
              </a:ext>
            </a:extLst>
          </p:cNvPr>
          <p:cNvGrpSpPr/>
          <p:nvPr/>
        </p:nvGrpSpPr>
        <p:grpSpPr>
          <a:xfrm>
            <a:off x="2177084" y="2180770"/>
            <a:ext cx="6392144" cy="2682401"/>
            <a:chOff x="4278770" y="1838293"/>
            <a:chExt cx="6392144" cy="2682401"/>
          </a:xfrm>
        </p:grpSpPr>
        <p:pic>
          <p:nvPicPr>
            <p:cNvPr id="28" name="Immagine 7">
              <a:extLst>
                <a:ext uri="{FF2B5EF4-FFF2-40B4-BE49-F238E27FC236}">
                  <a16:creationId xmlns:a16="http://schemas.microsoft.com/office/drawing/2014/main" id="{26A976F9-1554-E382-7397-7D2A1E7D3E01}"/>
                </a:ext>
              </a:extLst>
            </p:cNvPr>
            <p:cNvPicPr>
              <a:picLocks noChangeAspect="1"/>
            </p:cNvPicPr>
            <p:nvPr/>
          </p:nvPicPr>
          <p:blipFill>
            <a:blip r:embed="rId6">
              <a:extLst>
                <a:ext uri="{28A0092B-C50C-407E-A947-70E740481C1C}">
                  <a14:useLocalDpi xmlns:a14="http://schemas.microsoft.com/office/drawing/2010/main" val="0"/>
                </a:ext>
              </a:extLst>
            </a:blip>
            <a:srcRect t="4303" b="4303"/>
            <a:stretch/>
          </p:blipFill>
          <p:spPr>
            <a:xfrm>
              <a:off x="8664687" y="2462701"/>
              <a:ext cx="2006227" cy="1026570"/>
            </a:xfrm>
            <a:prstGeom prst="roundRect">
              <a:avLst>
                <a:gd name="adj" fmla="val 16667"/>
              </a:avLst>
            </a:prstGeom>
            <a:ln w="38100">
              <a:solidFill>
                <a:srgbClr val="FFB240"/>
              </a:solidFill>
            </a:ln>
            <a:effectLst/>
          </p:spPr>
        </p:pic>
        <p:sp>
          <p:nvSpPr>
            <p:cNvPr id="29" name="Arco 10">
              <a:extLst>
                <a:ext uri="{FF2B5EF4-FFF2-40B4-BE49-F238E27FC236}">
                  <a16:creationId xmlns:a16="http://schemas.microsoft.com/office/drawing/2014/main" id="{A9EE8A31-73B9-4BBF-050C-5D2500B7E49B}"/>
                </a:ext>
              </a:extLst>
            </p:cNvPr>
            <p:cNvSpPr/>
            <p:nvPr/>
          </p:nvSpPr>
          <p:spPr>
            <a:xfrm rot="5881670">
              <a:off x="5598447" y="518616"/>
              <a:ext cx="2682401" cy="5321755"/>
            </a:xfrm>
            <a:prstGeom prst="arc">
              <a:avLst>
                <a:gd name="adj1" fmla="val 16148012"/>
                <a:gd name="adj2" fmla="val 18298196"/>
              </a:avLst>
            </a:prstGeom>
            <a:ln w="38100">
              <a:solidFill>
                <a:srgbClr val="FFB240"/>
              </a:solidFill>
              <a:headEnd type="none" w="med" len="med"/>
              <a:tailEnd type="arrow" w="med" len="med"/>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it-IT" dirty="0"/>
            </a:p>
          </p:txBody>
        </p:sp>
      </p:grpSp>
      <p:sp>
        <p:nvSpPr>
          <p:cNvPr id="31" name="Rettangolo con angoli arrotondati 6">
            <a:extLst>
              <a:ext uri="{FF2B5EF4-FFF2-40B4-BE49-F238E27FC236}">
                <a16:creationId xmlns:a16="http://schemas.microsoft.com/office/drawing/2014/main" id="{283D1DCB-6A56-75DE-2AB3-757D5CD1D203}"/>
              </a:ext>
            </a:extLst>
          </p:cNvPr>
          <p:cNvSpPr/>
          <p:nvPr/>
        </p:nvSpPr>
        <p:spPr>
          <a:xfrm>
            <a:off x="6563001" y="2547287"/>
            <a:ext cx="2006227" cy="238368"/>
          </a:xfrm>
          <a:prstGeom prst="roundRect">
            <a:avLst>
              <a:gd name="adj" fmla="val 50000"/>
            </a:avLst>
          </a:prstGeom>
          <a:noFill/>
          <a:ln w="38100">
            <a:solidFill>
              <a:srgbClr val="FFB2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silicon microstrip sensors</a:t>
            </a:r>
            <a:endParaRPr lang="it-IT" sz="1100" dirty="0">
              <a:solidFill>
                <a:schemeClr val="tx1"/>
              </a:solidFill>
            </a:endParaRPr>
          </a:p>
        </p:txBody>
      </p:sp>
      <p:sp>
        <p:nvSpPr>
          <p:cNvPr id="33" name="Rettangolo con angoli arrotondati 6">
            <a:extLst>
              <a:ext uri="{FF2B5EF4-FFF2-40B4-BE49-F238E27FC236}">
                <a16:creationId xmlns:a16="http://schemas.microsoft.com/office/drawing/2014/main" id="{A2984FF8-6FFA-74DB-5670-D0FE9DAC9B92}"/>
              </a:ext>
            </a:extLst>
          </p:cNvPr>
          <p:cNvSpPr/>
          <p:nvPr/>
        </p:nvSpPr>
        <p:spPr>
          <a:xfrm>
            <a:off x="9099573" y="2545723"/>
            <a:ext cx="2006227" cy="238368"/>
          </a:xfrm>
          <a:prstGeom prst="roundRect">
            <a:avLst>
              <a:gd name="adj" fmla="val 50000"/>
            </a:avLst>
          </a:prstGeom>
          <a:noFill/>
          <a:ln w="38100">
            <a:solidFill>
              <a:srgbClr val="3366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long crystal</a:t>
            </a:r>
            <a:endParaRPr lang="it-IT" sz="1100" dirty="0">
              <a:solidFill>
                <a:schemeClr val="tx1"/>
              </a:solidFill>
            </a:endParaRPr>
          </a:p>
        </p:txBody>
      </p:sp>
    </p:spTree>
    <p:extLst>
      <p:ext uri="{BB962C8B-B14F-4D97-AF65-F5344CB8AC3E}">
        <p14:creationId xmlns:p14="http://schemas.microsoft.com/office/powerpoint/2010/main" val="18596689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07BB00-8BD0-484D-5534-7A387AFD93F2}"/>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3D304838-A0F4-7B3D-1685-4747E09FED66}"/>
              </a:ext>
            </a:extLst>
          </p:cNvPr>
          <p:cNvSpPr>
            <a:spLocks noGrp="1"/>
          </p:cNvSpPr>
          <p:nvPr>
            <p:ph type="title"/>
          </p:nvPr>
        </p:nvSpPr>
        <p:spPr>
          <a:xfrm>
            <a:off x="38100" y="69651"/>
            <a:ext cx="12114000" cy="1153094"/>
          </a:xfrm>
          <a:prstGeom prst="roundRect">
            <a:avLst>
              <a:gd name="adj" fmla="val 36459"/>
            </a:avLst>
          </a:prstGeom>
          <a:noFill/>
        </p:spPr>
        <p:txBody>
          <a:bodyPr>
            <a:normAutofit/>
          </a:bodyPr>
          <a:lstStyle/>
          <a:p>
            <a:r>
              <a:rPr lang="en-US" sz="4000" b="1" dirty="0">
                <a:solidFill>
                  <a:srgbClr val="002060"/>
                </a:solidFill>
              </a:rPr>
              <a:t>	THE ANALYSIS PIPELINE</a:t>
            </a:r>
            <a:endParaRPr lang="it-IT" sz="4000" b="1" dirty="0">
              <a:solidFill>
                <a:srgbClr val="002060"/>
              </a:solidFill>
            </a:endParaRPr>
          </a:p>
        </p:txBody>
      </p:sp>
      <p:sp>
        <p:nvSpPr>
          <p:cNvPr id="4" name="Segnaposto data 3">
            <a:extLst>
              <a:ext uri="{FF2B5EF4-FFF2-40B4-BE49-F238E27FC236}">
                <a16:creationId xmlns:a16="http://schemas.microsoft.com/office/drawing/2014/main" id="{C77177AF-50F4-DF68-59CE-552F0F1B7D7C}"/>
              </a:ext>
            </a:extLst>
          </p:cNvPr>
          <p:cNvSpPr>
            <a:spLocks noGrp="1"/>
          </p:cNvSpPr>
          <p:nvPr>
            <p:ph type="dt" sz="half" idx="10"/>
          </p:nvPr>
        </p:nvSpPr>
        <p:spPr>
          <a:xfrm>
            <a:off x="838200" y="6356349"/>
            <a:ext cx="2743200" cy="432000"/>
          </a:xfrm>
        </p:spPr>
        <p:txBody>
          <a:bodyPr/>
          <a:lstStyle/>
          <a:p>
            <a:r>
              <a:rPr lang="it-IT" sz="1500" b="1" dirty="0">
                <a:solidFill>
                  <a:srgbClr val="002060"/>
                </a:solidFill>
              </a:rPr>
              <a:t>24.08.2026</a:t>
            </a:r>
          </a:p>
        </p:txBody>
      </p:sp>
      <p:sp>
        <p:nvSpPr>
          <p:cNvPr id="5" name="Segnaposto piè di pagina 4">
            <a:extLst>
              <a:ext uri="{FF2B5EF4-FFF2-40B4-BE49-F238E27FC236}">
                <a16:creationId xmlns:a16="http://schemas.microsoft.com/office/drawing/2014/main" id="{0DDDF6E1-63CF-6445-34AD-4120EA019E7B}"/>
              </a:ext>
            </a:extLst>
          </p:cNvPr>
          <p:cNvSpPr>
            <a:spLocks noGrp="1"/>
          </p:cNvSpPr>
          <p:nvPr>
            <p:ph type="ftr" sz="quarter" idx="11"/>
          </p:nvPr>
        </p:nvSpPr>
        <p:spPr>
          <a:xfrm>
            <a:off x="0" y="6356349"/>
            <a:ext cx="12192000" cy="432000"/>
          </a:xfrm>
        </p:spPr>
        <p:txBody>
          <a:bodyPr/>
          <a:lstStyle/>
          <a:p>
            <a:r>
              <a:rPr lang="it-IT" sz="1500" b="1" dirty="0">
                <a:solidFill>
                  <a:srgbClr val="002060"/>
                </a:solidFill>
              </a:rPr>
              <a:t>Anna Sofia Moro</a:t>
            </a:r>
          </a:p>
        </p:txBody>
      </p:sp>
      <p:sp>
        <p:nvSpPr>
          <p:cNvPr id="6" name="Segnaposto numero diapositiva 5">
            <a:extLst>
              <a:ext uri="{FF2B5EF4-FFF2-40B4-BE49-F238E27FC236}">
                <a16:creationId xmlns:a16="http://schemas.microsoft.com/office/drawing/2014/main" id="{6DC64F4F-6C60-1613-05E3-5DE2201F963B}"/>
              </a:ext>
            </a:extLst>
          </p:cNvPr>
          <p:cNvSpPr>
            <a:spLocks noGrp="1"/>
          </p:cNvSpPr>
          <p:nvPr>
            <p:ph type="sldNum" sz="quarter" idx="12"/>
          </p:nvPr>
        </p:nvSpPr>
        <p:spPr>
          <a:xfrm>
            <a:off x="8610600" y="6356349"/>
            <a:ext cx="2743200" cy="432000"/>
          </a:xfrm>
        </p:spPr>
        <p:txBody>
          <a:bodyPr/>
          <a:lstStyle/>
          <a:p>
            <a:fld id="{0A318BD9-CA14-4A83-ACF0-03D5918EB402}" type="slidenum">
              <a:rPr lang="it-IT" sz="1500" b="1" smtClean="0">
                <a:solidFill>
                  <a:srgbClr val="002060"/>
                </a:solidFill>
              </a:rPr>
              <a:t>6</a:t>
            </a:fld>
            <a:endParaRPr lang="it-IT" sz="1500" b="1" dirty="0">
              <a:solidFill>
                <a:srgbClr val="002060"/>
              </a:solidFill>
            </a:endParaRPr>
          </a:p>
        </p:txBody>
      </p:sp>
      <p:cxnSp>
        <p:nvCxnSpPr>
          <p:cNvPr id="10" name="Connettore diritto 9">
            <a:extLst>
              <a:ext uri="{FF2B5EF4-FFF2-40B4-BE49-F238E27FC236}">
                <a16:creationId xmlns:a16="http://schemas.microsoft.com/office/drawing/2014/main" id="{82CCBF23-A07C-46F2-3FA6-BCBEF755B28E}"/>
              </a:ext>
            </a:extLst>
          </p:cNvPr>
          <p:cNvCxnSpPr>
            <a:cxnSpLocks/>
          </p:cNvCxnSpPr>
          <p:nvPr/>
        </p:nvCxnSpPr>
        <p:spPr>
          <a:xfrm>
            <a:off x="696000" y="1155368"/>
            <a:ext cx="10800000" cy="0"/>
          </a:xfrm>
          <a:prstGeom prst="line">
            <a:avLst/>
          </a:prstGeom>
          <a:ln w="38100">
            <a:solidFill>
              <a:srgbClr val="002060"/>
            </a:solidFill>
          </a:ln>
        </p:spPr>
        <p:style>
          <a:lnRef idx="2">
            <a:schemeClr val="accent1"/>
          </a:lnRef>
          <a:fillRef idx="0">
            <a:schemeClr val="accent1"/>
          </a:fillRef>
          <a:effectRef idx="1">
            <a:schemeClr val="accent1"/>
          </a:effectRef>
          <a:fontRef idx="minor">
            <a:schemeClr val="tx1"/>
          </a:fontRef>
        </p:style>
      </p:cxnSp>
      <p:sp>
        <p:nvSpPr>
          <p:cNvPr id="8" name="Titolo 1">
            <a:extLst>
              <a:ext uri="{FF2B5EF4-FFF2-40B4-BE49-F238E27FC236}">
                <a16:creationId xmlns:a16="http://schemas.microsoft.com/office/drawing/2014/main" id="{698498A5-A73F-DD92-56F0-E23FCB9DDDFF}"/>
              </a:ext>
            </a:extLst>
          </p:cNvPr>
          <p:cNvSpPr txBox="1">
            <a:spLocks/>
          </p:cNvSpPr>
          <p:nvPr/>
        </p:nvSpPr>
        <p:spPr>
          <a:xfrm>
            <a:off x="696000" y="688243"/>
            <a:ext cx="10800000" cy="559599"/>
          </a:xfrm>
          <a:prstGeom prst="roundRect">
            <a:avLst>
              <a:gd name="adj" fmla="val 0"/>
            </a:avLst>
          </a:prstGeom>
          <a:noFill/>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en-US" sz="2000" b="1" i="1" dirty="0">
                <a:solidFill>
                  <a:srgbClr val="002060"/>
                </a:solidFill>
                <a:ea typeface="Calibri" panose="020F0502020204030204" pitchFamily="34" charset="0"/>
                <a:cs typeface="Calibri" panose="020F0502020204030204" pitchFamily="34" charset="0"/>
              </a:rPr>
              <a:t>METHOD</a:t>
            </a:r>
            <a:endParaRPr lang="it-IT" sz="2000" b="1" i="1" dirty="0">
              <a:solidFill>
                <a:srgbClr val="002060"/>
              </a:solidFill>
              <a:ea typeface="Calibri" panose="020F0502020204030204" pitchFamily="34" charset="0"/>
              <a:cs typeface="Calibri" panose="020F0502020204030204" pitchFamily="34" charset="0"/>
            </a:endParaRPr>
          </a:p>
        </p:txBody>
      </p:sp>
      <p:sp>
        <p:nvSpPr>
          <p:cNvPr id="23" name="Segnaposto contenuto 2">
            <a:extLst>
              <a:ext uri="{FF2B5EF4-FFF2-40B4-BE49-F238E27FC236}">
                <a16:creationId xmlns:a16="http://schemas.microsoft.com/office/drawing/2014/main" id="{A236EDB2-B0C1-4A64-3483-2607758CED56}"/>
              </a:ext>
            </a:extLst>
          </p:cNvPr>
          <p:cNvSpPr>
            <a:spLocks noGrp="1"/>
          </p:cNvSpPr>
          <p:nvPr>
            <p:ph idx="1"/>
          </p:nvPr>
        </p:nvSpPr>
        <p:spPr>
          <a:xfrm>
            <a:off x="862100" y="5357064"/>
            <a:ext cx="10515600" cy="906812"/>
          </a:xfrm>
        </p:spPr>
        <p:txBody>
          <a:bodyPr>
            <a:normAutofit/>
          </a:bodyPr>
          <a:lstStyle/>
          <a:p>
            <a:pPr marL="0" indent="0">
              <a:buNone/>
            </a:pPr>
            <a:r>
              <a:rPr lang="en-US" sz="2000" i="1" dirty="0"/>
              <a:t>Analysis implemented in Python on </a:t>
            </a:r>
            <a:r>
              <a:rPr lang="en-US" sz="2000" i="1" dirty="0" err="1"/>
              <a:t>RDataFrame</a:t>
            </a:r>
            <a:r>
              <a:rPr lang="en-US" sz="2000" i="1" dirty="0"/>
              <a:t> (ROOT).</a:t>
            </a:r>
          </a:p>
        </p:txBody>
      </p:sp>
      <p:sp>
        <p:nvSpPr>
          <p:cNvPr id="12" name="Rettangolo con angoli arrotondati 6">
            <a:extLst>
              <a:ext uri="{FF2B5EF4-FFF2-40B4-BE49-F238E27FC236}">
                <a16:creationId xmlns:a16="http://schemas.microsoft.com/office/drawing/2014/main" id="{045724B7-A4E4-4A10-037E-E2C27544072F}"/>
              </a:ext>
            </a:extLst>
          </p:cNvPr>
          <p:cNvSpPr/>
          <p:nvPr/>
        </p:nvSpPr>
        <p:spPr>
          <a:xfrm>
            <a:off x="812500" y="2244679"/>
            <a:ext cx="1980000" cy="2803043"/>
          </a:xfrm>
          <a:prstGeom prst="roundRect">
            <a:avLst/>
          </a:prstGeom>
          <a:noFill/>
          <a:ln w="38100">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endParaRPr lang="it-IT" sz="1400" b="1" dirty="0">
              <a:solidFill>
                <a:srgbClr val="002060"/>
              </a:solidFill>
            </a:endParaRPr>
          </a:p>
          <a:p>
            <a:pPr algn="ctr"/>
            <a:endParaRPr lang="it-IT" sz="1400" b="1" dirty="0">
              <a:solidFill>
                <a:srgbClr val="002060"/>
              </a:solidFill>
            </a:endParaRPr>
          </a:p>
          <a:p>
            <a:pPr algn="ctr"/>
            <a:endParaRPr lang="it-IT" sz="1400" b="1" dirty="0">
              <a:solidFill>
                <a:srgbClr val="002060"/>
              </a:solidFill>
            </a:endParaRPr>
          </a:p>
          <a:p>
            <a:pPr algn="ctr"/>
            <a:r>
              <a:rPr lang="it-IT" sz="1400" b="1" dirty="0">
                <a:solidFill>
                  <a:srgbClr val="002060"/>
                </a:solidFill>
              </a:rPr>
              <a:t>QUALITY FILTERS</a:t>
            </a:r>
          </a:p>
          <a:p>
            <a:pPr algn="ctr"/>
            <a:endParaRPr lang="it-IT" sz="1400" dirty="0">
              <a:solidFill>
                <a:schemeClr val="tx1"/>
              </a:solidFill>
            </a:endParaRPr>
          </a:p>
          <a:p>
            <a:pPr algn="ctr"/>
            <a:r>
              <a:rPr lang="en-US" sz="1400" dirty="0">
                <a:solidFill>
                  <a:schemeClr val="tx1"/>
                </a:solidFill>
              </a:rPr>
              <a:t>Selecting single tracks, alignment check between the upstream and downstream telescope arms</a:t>
            </a:r>
            <a:endParaRPr lang="it-IT" sz="1400" dirty="0">
              <a:solidFill>
                <a:schemeClr val="tx1"/>
              </a:solidFill>
            </a:endParaRPr>
          </a:p>
          <a:p>
            <a:pPr algn="ctr"/>
            <a:endParaRPr lang="it-IT" sz="1400" dirty="0">
              <a:solidFill>
                <a:schemeClr val="tx1"/>
              </a:solidFill>
            </a:endParaRPr>
          </a:p>
        </p:txBody>
      </p:sp>
      <p:pic>
        <p:nvPicPr>
          <p:cNvPr id="22" name="Elemento grafico 17" descr="Badge 1 with solid fill">
            <a:extLst>
              <a:ext uri="{FF2B5EF4-FFF2-40B4-BE49-F238E27FC236}">
                <a16:creationId xmlns:a16="http://schemas.microsoft.com/office/drawing/2014/main" id="{43A9EC78-4911-1179-E016-CFD00C569FD3}"/>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1532500" y="2386154"/>
            <a:ext cx="540000" cy="540000"/>
          </a:xfrm>
          <a:prstGeom prst="rect">
            <a:avLst/>
          </a:prstGeom>
        </p:spPr>
      </p:pic>
      <p:sp>
        <p:nvSpPr>
          <p:cNvPr id="33" name="Rettangolo con angoli arrotondati 6">
            <a:extLst>
              <a:ext uri="{FF2B5EF4-FFF2-40B4-BE49-F238E27FC236}">
                <a16:creationId xmlns:a16="http://schemas.microsoft.com/office/drawing/2014/main" id="{4A222AB3-3C05-A4B9-40F3-EE85CA8DCBB2}"/>
              </a:ext>
            </a:extLst>
          </p:cNvPr>
          <p:cNvSpPr/>
          <p:nvPr/>
        </p:nvSpPr>
        <p:spPr>
          <a:xfrm>
            <a:off x="2958800" y="2244679"/>
            <a:ext cx="1980000" cy="2803043"/>
          </a:xfrm>
          <a:prstGeom prst="roundRect">
            <a:avLst/>
          </a:prstGeom>
          <a:noFill/>
          <a:ln w="38100">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endParaRPr lang="it-IT" sz="1400" b="1" dirty="0">
              <a:solidFill>
                <a:srgbClr val="002060"/>
              </a:solidFill>
            </a:endParaRPr>
          </a:p>
          <a:p>
            <a:pPr algn="ctr"/>
            <a:endParaRPr lang="it-IT" sz="1400" b="1" dirty="0">
              <a:solidFill>
                <a:srgbClr val="002060"/>
              </a:solidFill>
            </a:endParaRPr>
          </a:p>
          <a:p>
            <a:pPr algn="ctr"/>
            <a:endParaRPr lang="it-IT" sz="1400" b="1" dirty="0">
              <a:solidFill>
                <a:srgbClr val="002060"/>
              </a:solidFill>
            </a:endParaRPr>
          </a:p>
          <a:p>
            <a:pPr algn="ctr"/>
            <a:r>
              <a:rPr lang="it-IT" sz="1400" b="1" dirty="0">
                <a:solidFill>
                  <a:srgbClr val="002060"/>
                </a:solidFill>
              </a:rPr>
              <a:t>CRYSTAL EDGES</a:t>
            </a:r>
          </a:p>
          <a:p>
            <a:pPr algn="ctr"/>
            <a:endParaRPr lang="it-IT" sz="1400" dirty="0">
              <a:solidFill>
                <a:schemeClr val="tx1"/>
              </a:solidFill>
            </a:endParaRPr>
          </a:p>
          <a:p>
            <a:pPr algn="ctr"/>
            <a:r>
              <a:rPr lang="en-US" sz="1400" dirty="0">
                <a:solidFill>
                  <a:schemeClr val="tx1"/>
                </a:solidFill>
              </a:rPr>
              <a:t>Reconstruct the (</a:t>
            </a:r>
            <a:r>
              <a:rPr lang="en-US" sz="1400" dirty="0" err="1">
                <a:solidFill>
                  <a:schemeClr val="tx1"/>
                </a:solidFill>
              </a:rPr>
              <a:t>x,y</a:t>
            </a:r>
            <a:r>
              <a:rPr lang="en-US" sz="1400" dirty="0">
                <a:solidFill>
                  <a:schemeClr val="tx1"/>
                </a:solidFill>
              </a:rPr>
              <a:t>) spatial window illuminated by the crystal </a:t>
            </a:r>
          </a:p>
          <a:p>
            <a:pPr algn="ctr"/>
            <a:r>
              <a:rPr lang="en-US" sz="1400" i="1" dirty="0">
                <a:solidFill>
                  <a:schemeClr val="tx1"/>
                </a:solidFill>
              </a:rPr>
              <a:t>(2 independent methods)</a:t>
            </a:r>
            <a:endParaRPr lang="it-IT" sz="1400" i="1" dirty="0">
              <a:solidFill>
                <a:schemeClr val="tx1"/>
              </a:solidFill>
            </a:endParaRPr>
          </a:p>
          <a:p>
            <a:pPr algn="ctr"/>
            <a:endParaRPr lang="it-IT" sz="1400" dirty="0">
              <a:solidFill>
                <a:schemeClr val="tx1"/>
              </a:solidFill>
            </a:endParaRPr>
          </a:p>
        </p:txBody>
      </p:sp>
      <p:pic>
        <p:nvPicPr>
          <p:cNvPr id="35" name="Elemento grafico 17" descr="Badge with solid fill">
            <a:extLst>
              <a:ext uri="{FF2B5EF4-FFF2-40B4-BE49-F238E27FC236}">
                <a16:creationId xmlns:a16="http://schemas.microsoft.com/office/drawing/2014/main" id="{299359E9-CB12-6A3D-05F2-69DA19E99EDB}"/>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678800" y="2386154"/>
            <a:ext cx="540000" cy="540000"/>
          </a:xfrm>
          <a:prstGeom prst="rect">
            <a:avLst/>
          </a:prstGeom>
        </p:spPr>
      </p:pic>
      <mc:AlternateContent xmlns:mc="http://schemas.openxmlformats.org/markup-compatibility/2006">
        <mc:Choice xmlns:a14="http://schemas.microsoft.com/office/drawing/2010/main" Requires="a14">
          <p:sp>
            <p:nvSpPr>
              <p:cNvPr id="37" name="Rettangolo con angoli arrotondati 6">
                <a:extLst>
                  <a:ext uri="{FF2B5EF4-FFF2-40B4-BE49-F238E27FC236}">
                    <a16:creationId xmlns:a16="http://schemas.microsoft.com/office/drawing/2014/main" id="{4B679E7A-8695-F903-A8BE-23175690FF21}"/>
                  </a:ext>
                </a:extLst>
              </p:cNvPr>
              <p:cNvSpPr/>
              <p:nvPr/>
            </p:nvSpPr>
            <p:spPr>
              <a:xfrm>
                <a:off x="5105100" y="2244679"/>
                <a:ext cx="1980000" cy="2803043"/>
              </a:xfrm>
              <a:prstGeom prst="roundRect">
                <a:avLst/>
              </a:prstGeom>
              <a:noFill/>
              <a:ln w="38100">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endParaRPr lang="it-IT" sz="1400" b="1" dirty="0">
                  <a:solidFill>
                    <a:srgbClr val="002060"/>
                  </a:solidFill>
                </a:endParaRPr>
              </a:p>
              <a:p>
                <a:pPr algn="ctr"/>
                <a:endParaRPr lang="it-IT" sz="1400" b="1" dirty="0">
                  <a:solidFill>
                    <a:srgbClr val="002060"/>
                  </a:solidFill>
                </a:endParaRPr>
              </a:p>
              <a:p>
                <a:pPr algn="ctr"/>
                <a:endParaRPr lang="it-IT" sz="1400" b="1" dirty="0">
                  <a:solidFill>
                    <a:srgbClr val="002060"/>
                  </a:solidFill>
                </a:endParaRPr>
              </a:p>
              <a:p>
                <a:pPr algn="ctr"/>
                <a:r>
                  <a:rPr lang="it-IT" sz="1400" b="1" dirty="0">
                    <a:solidFill>
                      <a:srgbClr val="002060"/>
                    </a:solidFill>
                  </a:rPr>
                  <a:t>TORSION MAP</a:t>
                </a:r>
              </a:p>
              <a:p>
                <a:pPr algn="ctr"/>
                <a:endParaRPr lang="en-US" sz="1400" dirty="0">
                  <a:solidFill>
                    <a:schemeClr val="tx1"/>
                  </a:solidFill>
                </a:endParaRPr>
              </a:p>
              <a:p>
                <a:pPr algn="ctr"/>
                <a:r>
                  <a:rPr lang="it-IT" sz="1400" dirty="0">
                    <a:solidFill>
                      <a:schemeClr val="tx1"/>
                    </a:solidFill>
                  </a:rPr>
                  <a:t>2D checkerboard grid analysis of the entrance face:</a:t>
                </a:r>
              </a:p>
              <a:p>
                <a:pPr algn="ctr"/>
                <a:r>
                  <a:rPr lang="it-IT" sz="1400" dirty="0">
                    <a:solidFill>
                      <a:schemeClr val="tx1"/>
                    </a:solidFill>
                  </a:rPr>
                  <a:t>surface fit to obtain </a:t>
                </a:r>
                <a14:m>
                  <m:oMath xmlns:m="http://schemas.openxmlformats.org/officeDocument/2006/math">
                    <m:sSub>
                      <m:sSubPr>
                        <m:ctrlPr>
                          <a:rPr lang="en-US" sz="1400" b="0" i="1" smtClean="0">
                            <a:solidFill>
                              <a:schemeClr val="tx1"/>
                            </a:solidFill>
                            <a:latin typeface="Cambria Math" panose="02040503050406030204" pitchFamily="18" charset="0"/>
                          </a:rPr>
                        </m:ctrlPr>
                      </m:sSubPr>
                      <m:e>
                        <m:r>
                          <a:rPr lang="en-US" sz="1400" b="0" i="1" smtClean="0">
                            <a:solidFill>
                              <a:schemeClr val="tx1"/>
                            </a:solidFill>
                            <a:latin typeface="Cambria Math" panose="02040503050406030204" pitchFamily="18" charset="0"/>
                          </a:rPr>
                          <m:t>𝜏</m:t>
                        </m:r>
                      </m:e>
                      <m:sub>
                        <m:r>
                          <a:rPr lang="en-US" sz="1400" b="0" i="1" smtClean="0">
                            <a:solidFill>
                              <a:schemeClr val="tx1"/>
                            </a:solidFill>
                            <a:latin typeface="Cambria Math" panose="02040503050406030204" pitchFamily="18" charset="0"/>
                          </a:rPr>
                          <m:t>𝑥</m:t>
                        </m:r>
                      </m:sub>
                    </m:sSub>
                    <m:r>
                      <a:rPr lang="en-US" sz="1400" b="0" i="1" smtClean="0">
                        <a:solidFill>
                          <a:schemeClr val="tx1"/>
                        </a:solidFill>
                        <a:latin typeface="Cambria Math" panose="02040503050406030204" pitchFamily="18" charset="0"/>
                      </a:rPr>
                      <m:t>, </m:t>
                    </m:r>
                    <m:sSub>
                      <m:sSubPr>
                        <m:ctrlPr>
                          <a:rPr lang="en-US" sz="1400" b="0" i="1" smtClean="0">
                            <a:solidFill>
                              <a:schemeClr val="tx1"/>
                            </a:solidFill>
                            <a:latin typeface="Cambria Math" panose="02040503050406030204" pitchFamily="18" charset="0"/>
                          </a:rPr>
                        </m:ctrlPr>
                      </m:sSubPr>
                      <m:e>
                        <m:r>
                          <a:rPr lang="en-US" sz="1400" b="0" i="1" smtClean="0">
                            <a:solidFill>
                              <a:schemeClr val="tx1"/>
                            </a:solidFill>
                            <a:latin typeface="Cambria Math" panose="02040503050406030204" pitchFamily="18" charset="0"/>
                          </a:rPr>
                          <m:t>𝜏</m:t>
                        </m:r>
                      </m:e>
                      <m:sub>
                        <m:r>
                          <a:rPr lang="en-US" sz="1400" b="0" i="1" smtClean="0">
                            <a:solidFill>
                              <a:schemeClr val="tx1"/>
                            </a:solidFill>
                            <a:latin typeface="Cambria Math" panose="02040503050406030204" pitchFamily="18" charset="0"/>
                          </a:rPr>
                          <m:t>𝑦</m:t>
                        </m:r>
                      </m:sub>
                    </m:sSub>
                  </m:oMath>
                </a14:m>
                <a:endParaRPr lang="it-IT" sz="1400" dirty="0">
                  <a:solidFill>
                    <a:schemeClr val="tx1"/>
                  </a:solidFill>
                </a:endParaRPr>
              </a:p>
            </p:txBody>
          </p:sp>
        </mc:Choice>
        <mc:Fallback>
          <p:sp>
            <p:nvSpPr>
              <p:cNvPr id="37" name="Rettangolo con angoli arrotondati 6">
                <a:extLst>
                  <a:ext uri="{FF2B5EF4-FFF2-40B4-BE49-F238E27FC236}">
                    <a16:creationId xmlns:a16="http://schemas.microsoft.com/office/drawing/2014/main" id="{4B679E7A-8695-F903-A8BE-23175690FF21}"/>
                  </a:ext>
                </a:extLst>
              </p:cNvPr>
              <p:cNvSpPr>
                <a:spLocks noRot="1" noChangeAspect="1" noMove="1" noResize="1" noEditPoints="1" noAdjustHandles="1" noChangeArrowheads="1" noChangeShapeType="1" noTextEdit="1"/>
              </p:cNvSpPr>
              <p:nvPr/>
            </p:nvSpPr>
            <p:spPr>
              <a:xfrm>
                <a:off x="5105100" y="2244679"/>
                <a:ext cx="1980000" cy="2803043"/>
              </a:xfrm>
              <a:prstGeom prst="roundRect">
                <a:avLst/>
              </a:prstGeom>
              <a:blipFill>
                <a:blip r:embed="rId5"/>
                <a:stretch>
                  <a:fillRect/>
                </a:stretch>
              </a:blipFill>
              <a:ln w="38100">
                <a:solidFill>
                  <a:srgbClr val="002060"/>
                </a:solidFill>
              </a:ln>
            </p:spPr>
            <p:txBody>
              <a:bodyPr/>
              <a:lstStyle/>
              <a:p>
                <a:r>
                  <a:rPr lang="it-IT">
                    <a:noFill/>
                  </a:rPr>
                  <a:t> </a:t>
                </a:r>
              </a:p>
            </p:txBody>
          </p:sp>
        </mc:Fallback>
      </mc:AlternateContent>
      <p:pic>
        <p:nvPicPr>
          <p:cNvPr id="39" name="Elemento grafico 17" descr="Badge 3 with solid fill">
            <a:extLst>
              <a:ext uri="{FF2B5EF4-FFF2-40B4-BE49-F238E27FC236}">
                <a16:creationId xmlns:a16="http://schemas.microsoft.com/office/drawing/2014/main" id="{2B72C2FD-B8D8-C933-378F-B83719219352}"/>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5825100" y="2386154"/>
            <a:ext cx="540000" cy="540000"/>
          </a:xfrm>
          <a:prstGeom prst="rect">
            <a:avLst/>
          </a:prstGeom>
        </p:spPr>
      </p:pic>
      <mc:AlternateContent xmlns:mc="http://schemas.openxmlformats.org/markup-compatibility/2006">
        <mc:Choice xmlns:a14="http://schemas.microsoft.com/office/drawing/2010/main" Requires="a14">
          <p:sp>
            <p:nvSpPr>
              <p:cNvPr id="41" name="Rettangolo con angoli arrotondati 6">
                <a:extLst>
                  <a:ext uri="{FF2B5EF4-FFF2-40B4-BE49-F238E27FC236}">
                    <a16:creationId xmlns:a16="http://schemas.microsoft.com/office/drawing/2014/main" id="{B2048A9A-8EE3-938C-8DB4-B9F0139FDB12}"/>
                  </a:ext>
                </a:extLst>
              </p:cNvPr>
              <p:cNvSpPr/>
              <p:nvPr/>
            </p:nvSpPr>
            <p:spPr>
              <a:xfrm>
                <a:off x="7251400" y="2244679"/>
                <a:ext cx="1980000" cy="2803043"/>
              </a:xfrm>
              <a:prstGeom prst="roundRect">
                <a:avLst/>
              </a:prstGeom>
              <a:noFill/>
              <a:ln w="38100">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endParaRPr lang="it-IT" sz="1400" b="1" dirty="0">
                  <a:solidFill>
                    <a:srgbClr val="002060"/>
                  </a:solidFill>
                </a:endParaRPr>
              </a:p>
              <a:p>
                <a:pPr algn="ctr"/>
                <a:endParaRPr lang="it-IT" sz="1400" b="1" dirty="0">
                  <a:solidFill>
                    <a:srgbClr val="002060"/>
                  </a:solidFill>
                </a:endParaRPr>
              </a:p>
              <a:p>
                <a:pPr algn="ctr"/>
                <a:endParaRPr lang="it-IT" sz="1400" b="1" dirty="0">
                  <a:solidFill>
                    <a:srgbClr val="002060"/>
                  </a:solidFill>
                </a:endParaRPr>
              </a:p>
              <a:p>
                <a:pPr algn="ctr"/>
                <a:r>
                  <a:rPr lang="it-IT" sz="1400" b="1" dirty="0">
                    <a:solidFill>
                      <a:srgbClr val="002060"/>
                    </a:solidFill>
                  </a:rPr>
                  <a:t>LINDHARD CUT</a:t>
                </a:r>
              </a:p>
              <a:p>
                <a:pPr algn="ctr"/>
                <a:endParaRPr lang="it-IT" sz="1400" dirty="0">
                  <a:solidFill>
                    <a:schemeClr val="tx1"/>
                  </a:solidFill>
                </a:endParaRPr>
              </a:p>
              <a:p>
                <a:pPr algn="ctr"/>
                <a:r>
                  <a:rPr lang="en-US" sz="1400" dirty="0">
                    <a:solidFill>
                      <a:schemeClr val="tx1"/>
                    </a:solidFill>
                  </a:rPr>
                  <a:t>Selecting particles entering within </a:t>
                </a:r>
                <a14:m>
                  <m:oMath xmlns:m="http://schemas.openxmlformats.org/officeDocument/2006/math">
                    <m:r>
                      <a:rPr lang="en-US" sz="1400" b="0" i="1" smtClean="0">
                        <a:solidFill>
                          <a:schemeClr val="tx1"/>
                        </a:solidFill>
                        <a:latin typeface="Cambria Math" panose="02040503050406030204" pitchFamily="18" charset="0"/>
                      </a:rPr>
                      <m:t>1/2</m:t>
                    </m:r>
                    <m:sSub>
                      <m:sSubPr>
                        <m:ctrlPr>
                          <a:rPr lang="en-US" sz="1400" b="0" i="1" smtClean="0">
                            <a:solidFill>
                              <a:schemeClr val="tx1"/>
                            </a:solidFill>
                            <a:latin typeface="Cambria Math" panose="02040503050406030204" pitchFamily="18" charset="0"/>
                          </a:rPr>
                        </m:ctrlPr>
                      </m:sSubPr>
                      <m:e>
                        <m:r>
                          <a:rPr lang="en-US" sz="1400" b="0" i="1" smtClean="0">
                            <a:solidFill>
                              <a:schemeClr val="tx1"/>
                            </a:solidFill>
                            <a:latin typeface="Cambria Math" panose="02040503050406030204" pitchFamily="18" charset="0"/>
                          </a:rPr>
                          <m:t> </m:t>
                        </m:r>
                        <m:r>
                          <a:rPr lang="en-US" sz="1400" b="0" i="1" smtClean="0">
                            <a:solidFill>
                              <a:schemeClr val="tx1"/>
                            </a:solidFill>
                            <a:latin typeface="Cambria Math" panose="02040503050406030204" pitchFamily="18" charset="0"/>
                          </a:rPr>
                          <m:t>𝜃</m:t>
                        </m:r>
                      </m:e>
                      <m:sub>
                        <m:r>
                          <a:rPr lang="en-US" sz="1400" b="0" i="1" smtClean="0">
                            <a:solidFill>
                              <a:schemeClr val="tx1"/>
                            </a:solidFill>
                            <a:latin typeface="Cambria Math" panose="02040503050406030204" pitchFamily="18" charset="0"/>
                          </a:rPr>
                          <m:t>𝐿</m:t>
                        </m:r>
                      </m:sub>
                    </m:sSub>
                  </m:oMath>
                </a14:m>
                <a:r>
                  <a:rPr lang="it-IT" sz="1400" dirty="0">
                    <a:solidFill>
                      <a:schemeClr val="tx1"/>
                    </a:solidFill>
                  </a:rPr>
                  <a:t>, corrected point-by-point for torsion</a:t>
                </a:r>
              </a:p>
              <a:p>
                <a:pPr algn="ctr"/>
                <a:endParaRPr lang="it-IT" sz="1400" dirty="0">
                  <a:solidFill>
                    <a:schemeClr val="tx1"/>
                  </a:solidFill>
                </a:endParaRPr>
              </a:p>
            </p:txBody>
          </p:sp>
        </mc:Choice>
        <mc:Fallback>
          <p:sp>
            <p:nvSpPr>
              <p:cNvPr id="41" name="Rettangolo con angoli arrotondati 6">
                <a:extLst>
                  <a:ext uri="{FF2B5EF4-FFF2-40B4-BE49-F238E27FC236}">
                    <a16:creationId xmlns:a16="http://schemas.microsoft.com/office/drawing/2014/main" id="{B2048A9A-8EE3-938C-8DB4-B9F0139FDB12}"/>
                  </a:ext>
                </a:extLst>
              </p:cNvPr>
              <p:cNvSpPr>
                <a:spLocks noRot="1" noChangeAspect="1" noMove="1" noResize="1" noEditPoints="1" noAdjustHandles="1" noChangeArrowheads="1" noChangeShapeType="1" noTextEdit="1"/>
              </p:cNvSpPr>
              <p:nvPr/>
            </p:nvSpPr>
            <p:spPr>
              <a:xfrm>
                <a:off x="7251400" y="2244679"/>
                <a:ext cx="1980000" cy="2803043"/>
              </a:xfrm>
              <a:prstGeom prst="roundRect">
                <a:avLst/>
              </a:prstGeom>
              <a:blipFill>
                <a:blip r:embed="rId7"/>
                <a:stretch>
                  <a:fillRect/>
                </a:stretch>
              </a:blipFill>
              <a:ln w="38100">
                <a:solidFill>
                  <a:srgbClr val="002060"/>
                </a:solidFill>
              </a:ln>
            </p:spPr>
            <p:txBody>
              <a:bodyPr/>
              <a:lstStyle/>
              <a:p>
                <a:r>
                  <a:rPr lang="it-IT">
                    <a:noFill/>
                  </a:rPr>
                  <a:t> </a:t>
                </a:r>
              </a:p>
            </p:txBody>
          </p:sp>
        </mc:Fallback>
      </mc:AlternateContent>
      <p:pic>
        <p:nvPicPr>
          <p:cNvPr id="43" name="Elemento grafico 17" descr="Badge 4 with solid fill">
            <a:extLst>
              <a:ext uri="{FF2B5EF4-FFF2-40B4-BE49-F238E27FC236}">
                <a16:creationId xmlns:a16="http://schemas.microsoft.com/office/drawing/2014/main" id="{7DD4EA96-92CA-4010-E92D-C84367EA0C8B}"/>
              </a:ext>
            </a:extLst>
          </p:cNvPr>
          <p:cNvPicPr>
            <a:picLocks noChangeAspect="1"/>
          </p:cNvPicPr>
          <p:nvPr/>
        </p:nvPicPr>
        <p:blipFill>
          <a:blip>
            <a:extLst>
              <a:ext uri="{96DAC541-7B7A-43D3-8B79-37D633B846F1}">
                <asvg:svgBlip xmlns:asvg="http://schemas.microsoft.com/office/drawing/2016/SVG/main" r:embed="rId8"/>
              </a:ext>
            </a:extLst>
          </a:blip>
          <a:srcRect/>
          <a:stretch/>
        </p:blipFill>
        <p:spPr>
          <a:xfrm>
            <a:off x="7971400" y="2386154"/>
            <a:ext cx="540000" cy="540000"/>
          </a:xfrm>
          <a:prstGeom prst="rect">
            <a:avLst/>
          </a:prstGeom>
        </p:spPr>
      </p:pic>
      <mc:AlternateContent xmlns:mc="http://schemas.openxmlformats.org/markup-compatibility/2006">
        <mc:Choice xmlns:a14="http://schemas.microsoft.com/office/drawing/2010/main" Requires="a14">
          <p:sp>
            <p:nvSpPr>
              <p:cNvPr id="45" name="Rettangolo con angoli arrotondati 6">
                <a:extLst>
                  <a:ext uri="{FF2B5EF4-FFF2-40B4-BE49-F238E27FC236}">
                    <a16:creationId xmlns:a16="http://schemas.microsoft.com/office/drawing/2014/main" id="{30BE25C2-49A5-BC1A-8256-363018CD6CB8}"/>
                  </a:ext>
                </a:extLst>
              </p:cNvPr>
              <p:cNvSpPr/>
              <p:nvPr/>
            </p:nvSpPr>
            <p:spPr>
              <a:xfrm>
                <a:off x="9397700" y="2244679"/>
                <a:ext cx="1980000" cy="2803043"/>
              </a:xfrm>
              <a:prstGeom prst="roundRect">
                <a:avLst/>
              </a:prstGeom>
              <a:solidFill>
                <a:srgbClr val="002060">
                  <a:alpha val="20000"/>
                </a:srgbClr>
              </a:solidFill>
              <a:ln w="38100">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endParaRPr lang="it-IT" sz="1400" b="1" dirty="0">
                  <a:solidFill>
                    <a:srgbClr val="002060"/>
                  </a:solidFill>
                </a:endParaRPr>
              </a:p>
              <a:p>
                <a:pPr algn="ctr"/>
                <a:endParaRPr lang="it-IT" sz="1400" b="1" dirty="0">
                  <a:solidFill>
                    <a:srgbClr val="002060"/>
                  </a:solidFill>
                </a:endParaRPr>
              </a:p>
              <a:p>
                <a:pPr algn="ctr"/>
                <a:endParaRPr lang="it-IT" sz="1400" b="1" dirty="0">
                  <a:solidFill>
                    <a:srgbClr val="002060"/>
                  </a:solidFill>
                </a:endParaRPr>
              </a:p>
              <a:p>
                <a:pPr algn="ctr"/>
                <a:r>
                  <a:rPr lang="it-IT" sz="1400" b="1" dirty="0">
                    <a:solidFill>
                      <a:srgbClr val="002060"/>
                    </a:solidFill>
                  </a:rPr>
                  <a:t>EFFICIENCY</a:t>
                </a:r>
              </a:p>
              <a:p>
                <a:pPr algn="ctr"/>
                <a:endParaRPr lang="it-IT" sz="1400" dirty="0">
                  <a:solidFill>
                    <a:schemeClr val="tx1"/>
                  </a:solidFill>
                </a:endParaRPr>
              </a:p>
              <a:p>
                <a:pPr algn="ctr"/>
                <a14:m>
                  <m:oMathPara xmlns:m="http://schemas.openxmlformats.org/officeDocument/2006/math">
                    <m:oMath>
                      <m:sSub>
                        <m:sSubPr>
                          <m:ctrlPr>
                            <a:rPr lang="en-US" sz="1400" b="0" i="1" dirty="0" smtClean="0">
                              <a:solidFill>
                                <a:schemeClr val="tx1"/>
                              </a:solidFill>
                              <a:latin typeface="Cambria Math" panose="02040503050406030204" pitchFamily="18" charset="0"/>
                            </a:rPr>
                          </m:ctrlPr>
                        </m:sSubPr>
                        <m:e>
                          <m:r>
                            <a:rPr lang="en-US" sz="1400" b="0" i="1" dirty="0" smtClean="0">
                              <a:solidFill>
                                <a:schemeClr val="tx1"/>
                              </a:solidFill>
                              <a:latin typeface="Cambria Math" panose="02040503050406030204" pitchFamily="18" charset="0"/>
                            </a:rPr>
                            <m:t>𝜖</m:t>
                          </m:r>
                        </m:e>
                        <m:sub>
                          <m:r>
                            <a:rPr lang="en-US" sz="1400" b="0" i="1" dirty="0" smtClean="0">
                              <a:solidFill>
                                <a:schemeClr val="tx1"/>
                              </a:solidFill>
                              <a:latin typeface="Cambria Math" panose="02040503050406030204" pitchFamily="18" charset="0"/>
                            </a:rPr>
                            <m:t>𝑐ℎ</m:t>
                          </m:r>
                        </m:sub>
                      </m:sSub>
                      <m:r>
                        <a:rPr lang="en-US" sz="1400" b="0" i="1" dirty="0" smtClean="0">
                          <a:solidFill>
                            <a:schemeClr val="tx1"/>
                          </a:solidFill>
                          <a:latin typeface="Cambria Math" panose="02040503050406030204" pitchFamily="18" charset="0"/>
                        </a:rPr>
                        <m:t>=</m:t>
                      </m:r>
                      <m:sSub>
                        <m:sSubPr>
                          <m:ctrlPr>
                            <a:rPr lang="en-US" sz="1400" b="0" i="1" dirty="0" smtClean="0">
                              <a:solidFill>
                                <a:schemeClr val="tx1"/>
                              </a:solidFill>
                              <a:latin typeface="Cambria Math" panose="02040503050406030204" pitchFamily="18" charset="0"/>
                            </a:rPr>
                          </m:ctrlPr>
                        </m:sSubPr>
                        <m:e>
                          <m:r>
                            <a:rPr lang="en-US" sz="1400" b="0" i="1" dirty="0" smtClean="0">
                              <a:solidFill>
                                <a:schemeClr val="tx1"/>
                              </a:solidFill>
                              <a:latin typeface="Cambria Math" panose="02040503050406030204" pitchFamily="18" charset="0"/>
                            </a:rPr>
                            <m:t>𝑁</m:t>
                          </m:r>
                        </m:e>
                        <m:sub>
                          <m:r>
                            <a:rPr lang="en-US" sz="1400" b="0" i="1" dirty="0" smtClean="0">
                              <a:solidFill>
                                <a:schemeClr val="tx1"/>
                              </a:solidFill>
                              <a:latin typeface="Cambria Math" panose="02040503050406030204" pitchFamily="18" charset="0"/>
                            </a:rPr>
                            <m:t>𝑐ℎ</m:t>
                          </m:r>
                        </m:sub>
                      </m:sSub>
                      <m:r>
                        <a:rPr lang="en-US" sz="1400" b="0" i="1" dirty="0" smtClean="0">
                          <a:solidFill>
                            <a:schemeClr val="tx1"/>
                          </a:solidFill>
                          <a:latin typeface="Cambria Math" panose="02040503050406030204" pitchFamily="18" charset="0"/>
                        </a:rPr>
                        <m:t>/</m:t>
                      </m:r>
                      <m:sSub>
                        <m:sSubPr>
                          <m:ctrlPr>
                            <a:rPr lang="en-US" sz="1400" b="0" i="1" dirty="0" smtClean="0">
                              <a:solidFill>
                                <a:schemeClr val="tx1"/>
                              </a:solidFill>
                              <a:latin typeface="Cambria Math" panose="02040503050406030204" pitchFamily="18" charset="0"/>
                            </a:rPr>
                          </m:ctrlPr>
                        </m:sSubPr>
                        <m:e>
                          <m:r>
                            <a:rPr lang="en-US" sz="1400" b="0" i="1" dirty="0" smtClean="0">
                              <a:solidFill>
                                <a:schemeClr val="tx1"/>
                              </a:solidFill>
                              <a:latin typeface="Cambria Math" panose="02040503050406030204" pitchFamily="18" charset="0"/>
                            </a:rPr>
                            <m:t>𝑁</m:t>
                          </m:r>
                        </m:e>
                        <m:sub>
                          <m:r>
                            <a:rPr lang="en-US" sz="1400" b="0" i="1" dirty="0" smtClean="0">
                              <a:solidFill>
                                <a:schemeClr val="tx1"/>
                              </a:solidFill>
                              <a:latin typeface="Cambria Math" panose="02040503050406030204" pitchFamily="18" charset="0"/>
                            </a:rPr>
                            <m:t>𝑡𝑜𝑡</m:t>
                          </m:r>
                        </m:sub>
                      </m:sSub>
                    </m:oMath>
                  </m:oMathPara>
                </a14:m>
                <a:endParaRPr lang="en-US" sz="1400" dirty="0">
                  <a:solidFill>
                    <a:schemeClr val="tx1"/>
                  </a:solidFill>
                </a:endParaRPr>
              </a:p>
              <a:p>
                <a:pPr algn="ctr"/>
                <a:r>
                  <a:rPr lang="en-US" sz="1400" dirty="0">
                    <a:solidFill>
                      <a:schemeClr val="tx1"/>
                    </a:solidFill>
                  </a:rPr>
                  <a:t>and the full error budget (statistical and systematic errors)</a:t>
                </a:r>
                <a:endParaRPr lang="it-IT" sz="1400" dirty="0">
                  <a:solidFill>
                    <a:schemeClr val="tx1"/>
                  </a:solidFill>
                </a:endParaRPr>
              </a:p>
              <a:p>
                <a:pPr algn="ctr"/>
                <a:endParaRPr lang="it-IT" sz="1400" dirty="0">
                  <a:solidFill>
                    <a:schemeClr val="tx1"/>
                  </a:solidFill>
                </a:endParaRPr>
              </a:p>
            </p:txBody>
          </p:sp>
        </mc:Choice>
        <mc:Fallback>
          <p:sp>
            <p:nvSpPr>
              <p:cNvPr id="45" name="Rettangolo con angoli arrotondati 6">
                <a:extLst>
                  <a:ext uri="{FF2B5EF4-FFF2-40B4-BE49-F238E27FC236}">
                    <a16:creationId xmlns:a16="http://schemas.microsoft.com/office/drawing/2014/main" id="{30BE25C2-49A5-BC1A-8256-363018CD6CB8}"/>
                  </a:ext>
                </a:extLst>
              </p:cNvPr>
              <p:cNvSpPr>
                <a:spLocks noRot="1" noChangeAspect="1" noMove="1" noResize="1" noEditPoints="1" noAdjustHandles="1" noChangeArrowheads="1" noChangeShapeType="1" noTextEdit="1"/>
              </p:cNvSpPr>
              <p:nvPr/>
            </p:nvSpPr>
            <p:spPr>
              <a:xfrm>
                <a:off x="9397700" y="2244679"/>
                <a:ext cx="1980000" cy="2803043"/>
              </a:xfrm>
              <a:prstGeom prst="roundRect">
                <a:avLst/>
              </a:prstGeom>
              <a:blipFill>
                <a:blip r:embed="rId9"/>
                <a:stretch>
                  <a:fillRect/>
                </a:stretch>
              </a:blipFill>
              <a:ln w="38100">
                <a:solidFill>
                  <a:srgbClr val="002060"/>
                </a:solidFill>
              </a:ln>
            </p:spPr>
            <p:txBody>
              <a:bodyPr/>
              <a:lstStyle/>
              <a:p>
                <a:r>
                  <a:rPr lang="it-IT">
                    <a:noFill/>
                  </a:rPr>
                  <a:t> </a:t>
                </a:r>
              </a:p>
            </p:txBody>
          </p:sp>
        </mc:Fallback>
      </mc:AlternateContent>
      <p:pic>
        <p:nvPicPr>
          <p:cNvPr id="47" name="Elemento grafico 17" descr="Badge 5 with solid fill">
            <a:extLst>
              <a:ext uri="{FF2B5EF4-FFF2-40B4-BE49-F238E27FC236}">
                <a16:creationId xmlns:a16="http://schemas.microsoft.com/office/drawing/2014/main" id="{A1D8BB13-374B-7E60-937E-824F4E78080F}"/>
              </a:ext>
            </a:extLst>
          </p:cNvPr>
          <p:cNvPicPr>
            <a:picLocks noChangeAspect="1"/>
          </p:cNvPicPr>
          <p:nvPr/>
        </p:nvPicPr>
        <p:blipFill>
          <a:blip>
            <a:extLst>
              <a:ext uri="{96DAC541-7B7A-43D3-8B79-37D633B846F1}">
                <asvg:svgBlip xmlns:asvg="http://schemas.microsoft.com/office/drawing/2016/SVG/main" r:embed="rId10"/>
              </a:ext>
            </a:extLst>
          </a:blip>
          <a:srcRect/>
          <a:stretch/>
        </p:blipFill>
        <p:spPr>
          <a:xfrm>
            <a:off x="10117700" y="2386154"/>
            <a:ext cx="540000" cy="540000"/>
          </a:xfrm>
          <a:prstGeom prst="rect">
            <a:avLst/>
          </a:prstGeom>
        </p:spPr>
      </p:pic>
      <p:sp>
        <p:nvSpPr>
          <p:cNvPr id="49" name="Arc 48">
            <a:extLst>
              <a:ext uri="{FF2B5EF4-FFF2-40B4-BE49-F238E27FC236}">
                <a16:creationId xmlns:a16="http://schemas.microsoft.com/office/drawing/2014/main" id="{401A9850-DF5A-F665-74E6-ED5F39CCD7CC}"/>
              </a:ext>
            </a:extLst>
          </p:cNvPr>
          <p:cNvSpPr>
            <a:spLocks noChangeAspect="1"/>
          </p:cNvSpPr>
          <p:nvPr/>
        </p:nvSpPr>
        <p:spPr>
          <a:xfrm rot="-2700000">
            <a:off x="2335650" y="1988436"/>
            <a:ext cx="1080000" cy="1080000"/>
          </a:xfrm>
          <a:prstGeom prst="arc">
            <a:avLst>
              <a:gd name="adj1" fmla="val 15450040"/>
              <a:gd name="adj2" fmla="val 0"/>
            </a:avLst>
          </a:prstGeom>
          <a:ln w="38100">
            <a:solidFill>
              <a:srgbClr val="002060"/>
            </a:solidFill>
            <a:headEnd type="none" w="med" len="med"/>
            <a:tailEnd type="arrow" w="med" len="med"/>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it-IT"/>
          </a:p>
        </p:txBody>
      </p:sp>
      <p:sp>
        <p:nvSpPr>
          <p:cNvPr id="51" name="Arc 50">
            <a:extLst>
              <a:ext uri="{FF2B5EF4-FFF2-40B4-BE49-F238E27FC236}">
                <a16:creationId xmlns:a16="http://schemas.microsoft.com/office/drawing/2014/main" id="{91603314-3AA2-4286-A840-1AB5A7E41152}"/>
              </a:ext>
            </a:extLst>
          </p:cNvPr>
          <p:cNvSpPr>
            <a:spLocks noChangeAspect="1"/>
          </p:cNvSpPr>
          <p:nvPr/>
        </p:nvSpPr>
        <p:spPr>
          <a:xfrm rot="18900000">
            <a:off x="4481949" y="1988434"/>
            <a:ext cx="1080000" cy="1080000"/>
          </a:xfrm>
          <a:prstGeom prst="arc">
            <a:avLst>
              <a:gd name="adj1" fmla="val 15450040"/>
              <a:gd name="adj2" fmla="val 0"/>
            </a:avLst>
          </a:prstGeom>
          <a:ln w="38100">
            <a:solidFill>
              <a:srgbClr val="002060"/>
            </a:solidFill>
            <a:headEnd type="none" w="med" len="med"/>
            <a:tailEnd type="arrow" w="med" len="med"/>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it-IT"/>
          </a:p>
        </p:txBody>
      </p:sp>
      <p:sp>
        <p:nvSpPr>
          <p:cNvPr id="53" name="Arc 52">
            <a:extLst>
              <a:ext uri="{FF2B5EF4-FFF2-40B4-BE49-F238E27FC236}">
                <a16:creationId xmlns:a16="http://schemas.microsoft.com/office/drawing/2014/main" id="{2ABD862F-743E-9290-6507-F6181E28EF1B}"/>
              </a:ext>
            </a:extLst>
          </p:cNvPr>
          <p:cNvSpPr>
            <a:spLocks noChangeAspect="1"/>
          </p:cNvSpPr>
          <p:nvPr/>
        </p:nvSpPr>
        <p:spPr>
          <a:xfrm rot="18900000">
            <a:off x="6628246" y="1988434"/>
            <a:ext cx="1080000" cy="1080000"/>
          </a:xfrm>
          <a:prstGeom prst="arc">
            <a:avLst>
              <a:gd name="adj1" fmla="val 15450040"/>
              <a:gd name="adj2" fmla="val 0"/>
            </a:avLst>
          </a:prstGeom>
          <a:ln w="38100">
            <a:solidFill>
              <a:srgbClr val="002060"/>
            </a:solidFill>
            <a:headEnd type="none" w="med" len="med"/>
            <a:tailEnd type="arrow" w="med" len="med"/>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it-IT"/>
          </a:p>
        </p:txBody>
      </p:sp>
      <p:sp>
        <p:nvSpPr>
          <p:cNvPr id="55" name="Arc 54">
            <a:extLst>
              <a:ext uri="{FF2B5EF4-FFF2-40B4-BE49-F238E27FC236}">
                <a16:creationId xmlns:a16="http://schemas.microsoft.com/office/drawing/2014/main" id="{EB5F038F-53EE-2B3C-CA36-380056A18EA5}"/>
              </a:ext>
            </a:extLst>
          </p:cNvPr>
          <p:cNvSpPr>
            <a:spLocks noChangeAspect="1"/>
          </p:cNvSpPr>
          <p:nvPr/>
        </p:nvSpPr>
        <p:spPr>
          <a:xfrm rot="18900000">
            <a:off x="8776351" y="1988434"/>
            <a:ext cx="1080000" cy="1080000"/>
          </a:xfrm>
          <a:prstGeom prst="arc">
            <a:avLst>
              <a:gd name="adj1" fmla="val 15450040"/>
              <a:gd name="adj2" fmla="val 0"/>
            </a:avLst>
          </a:prstGeom>
          <a:ln w="38100">
            <a:solidFill>
              <a:srgbClr val="002060"/>
            </a:solidFill>
            <a:headEnd type="none" w="med" len="med"/>
            <a:tailEnd type="arrow" w="med" len="med"/>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it-IT"/>
          </a:p>
        </p:txBody>
      </p:sp>
    </p:spTree>
    <p:extLst>
      <p:ext uri="{BB962C8B-B14F-4D97-AF65-F5344CB8AC3E}">
        <p14:creationId xmlns:p14="http://schemas.microsoft.com/office/powerpoint/2010/main" val="232162293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0D8F06-B795-FAC4-9689-2DA6B33213DE}"/>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23A70D88-5E81-997D-BA9B-08FA90311F13}"/>
              </a:ext>
            </a:extLst>
          </p:cNvPr>
          <p:cNvSpPr>
            <a:spLocks noGrp="1"/>
          </p:cNvSpPr>
          <p:nvPr>
            <p:ph type="title"/>
          </p:nvPr>
        </p:nvSpPr>
        <p:spPr>
          <a:xfrm>
            <a:off x="38100" y="69651"/>
            <a:ext cx="12114000" cy="1153094"/>
          </a:xfrm>
          <a:prstGeom prst="roundRect">
            <a:avLst>
              <a:gd name="adj" fmla="val 36459"/>
            </a:avLst>
          </a:prstGeom>
          <a:noFill/>
        </p:spPr>
        <p:txBody>
          <a:bodyPr>
            <a:normAutofit/>
          </a:bodyPr>
          <a:lstStyle/>
          <a:p>
            <a:r>
              <a:rPr lang="en-US" sz="4000" b="1" dirty="0">
                <a:solidFill>
                  <a:srgbClr val="002060"/>
                </a:solidFill>
              </a:rPr>
              <a:t>	ANALYSIS: DETECTOR ALIGNMENT</a:t>
            </a:r>
            <a:endParaRPr lang="it-IT" sz="4000" b="1" dirty="0">
              <a:solidFill>
                <a:srgbClr val="002060"/>
              </a:solidFill>
            </a:endParaRPr>
          </a:p>
        </p:txBody>
      </p:sp>
      <p:sp>
        <p:nvSpPr>
          <p:cNvPr id="4" name="Segnaposto data 3">
            <a:extLst>
              <a:ext uri="{FF2B5EF4-FFF2-40B4-BE49-F238E27FC236}">
                <a16:creationId xmlns:a16="http://schemas.microsoft.com/office/drawing/2014/main" id="{33181442-3EFA-87FC-7C50-6560197F5F83}"/>
              </a:ext>
            </a:extLst>
          </p:cNvPr>
          <p:cNvSpPr>
            <a:spLocks noGrp="1"/>
          </p:cNvSpPr>
          <p:nvPr>
            <p:ph type="dt" sz="half" idx="10"/>
          </p:nvPr>
        </p:nvSpPr>
        <p:spPr>
          <a:xfrm>
            <a:off x="838200" y="6356349"/>
            <a:ext cx="2743200" cy="432000"/>
          </a:xfrm>
        </p:spPr>
        <p:txBody>
          <a:bodyPr/>
          <a:lstStyle/>
          <a:p>
            <a:r>
              <a:rPr lang="it-IT" sz="1500" b="1" dirty="0">
                <a:solidFill>
                  <a:srgbClr val="002060"/>
                </a:solidFill>
              </a:rPr>
              <a:t>24.08.2026</a:t>
            </a:r>
          </a:p>
        </p:txBody>
      </p:sp>
      <p:sp>
        <p:nvSpPr>
          <p:cNvPr id="5" name="Segnaposto piè di pagina 4">
            <a:extLst>
              <a:ext uri="{FF2B5EF4-FFF2-40B4-BE49-F238E27FC236}">
                <a16:creationId xmlns:a16="http://schemas.microsoft.com/office/drawing/2014/main" id="{ED4D2E9B-51C0-A03D-622F-7DCA357B3FE3}"/>
              </a:ext>
            </a:extLst>
          </p:cNvPr>
          <p:cNvSpPr>
            <a:spLocks noGrp="1"/>
          </p:cNvSpPr>
          <p:nvPr>
            <p:ph type="ftr" sz="quarter" idx="11"/>
          </p:nvPr>
        </p:nvSpPr>
        <p:spPr>
          <a:xfrm>
            <a:off x="0" y="6356349"/>
            <a:ext cx="12192000" cy="432000"/>
          </a:xfrm>
        </p:spPr>
        <p:txBody>
          <a:bodyPr/>
          <a:lstStyle/>
          <a:p>
            <a:r>
              <a:rPr lang="it-IT" sz="1500" b="1" dirty="0">
                <a:solidFill>
                  <a:srgbClr val="002060"/>
                </a:solidFill>
              </a:rPr>
              <a:t>Anna Sofia Moro</a:t>
            </a:r>
          </a:p>
        </p:txBody>
      </p:sp>
      <p:cxnSp>
        <p:nvCxnSpPr>
          <p:cNvPr id="10" name="Connettore diritto 9">
            <a:extLst>
              <a:ext uri="{FF2B5EF4-FFF2-40B4-BE49-F238E27FC236}">
                <a16:creationId xmlns:a16="http://schemas.microsoft.com/office/drawing/2014/main" id="{7391F990-F0BA-6870-047A-4D414D47F799}"/>
              </a:ext>
            </a:extLst>
          </p:cNvPr>
          <p:cNvCxnSpPr>
            <a:cxnSpLocks/>
          </p:cNvCxnSpPr>
          <p:nvPr/>
        </p:nvCxnSpPr>
        <p:spPr>
          <a:xfrm>
            <a:off x="696000" y="1155368"/>
            <a:ext cx="10800000" cy="0"/>
          </a:xfrm>
          <a:prstGeom prst="line">
            <a:avLst/>
          </a:prstGeom>
          <a:ln w="38100">
            <a:solidFill>
              <a:srgbClr val="002060"/>
            </a:solidFill>
          </a:ln>
        </p:spPr>
        <p:style>
          <a:lnRef idx="2">
            <a:schemeClr val="accent1"/>
          </a:lnRef>
          <a:fillRef idx="0">
            <a:schemeClr val="accent1"/>
          </a:fillRef>
          <a:effectRef idx="1">
            <a:schemeClr val="accent1"/>
          </a:effectRef>
          <a:fontRef idx="minor">
            <a:schemeClr val="tx1"/>
          </a:fontRef>
        </p:style>
      </p:cxnSp>
      <p:sp>
        <p:nvSpPr>
          <p:cNvPr id="8" name="Titolo 1">
            <a:extLst>
              <a:ext uri="{FF2B5EF4-FFF2-40B4-BE49-F238E27FC236}">
                <a16:creationId xmlns:a16="http://schemas.microsoft.com/office/drawing/2014/main" id="{95058EBE-E027-2497-416D-200B934C5ECF}"/>
              </a:ext>
            </a:extLst>
          </p:cNvPr>
          <p:cNvSpPr txBox="1">
            <a:spLocks/>
          </p:cNvSpPr>
          <p:nvPr/>
        </p:nvSpPr>
        <p:spPr>
          <a:xfrm>
            <a:off x="696000" y="688243"/>
            <a:ext cx="10800000" cy="559599"/>
          </a:xfrm>
          <a:prstGeom prst="roundRect">
            <a:avLst>
              <a:gd name="adj" fmla="val 0"/>
            </a:avLst>
          </a:prstGeom>
          <a:noFill/>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en-US" sz="2000" b="1" i="1" dirty="0">
                <a:solidFill>
                  <a:srgbClr val="002060"/>
                </a:solidFill>
                <a:ea typeface="Calibri" panose="020F0502020204030204" pitchFamily="34" charset="0"/>
                <a:cs typeface="Calibri" panose="020F0502020204030204" pitchFamily="34" charset="0"/>
              </a:rPr>
              <a:t>PRELIMINARY ANALYSIS</a:t>
            </a:r>
            <a:endParaRPr lang="it-IT" sz="2000" b="1" i="1" dirty="0">
              <a:solidFill>
                <a:srgbClr val="002060"/>
              </a:solidFill>
              <a:ea typeface="Calibri" panose="020F0502020204030204" pitchFamily="34" charset="0"/>
              <a:cs typeface="Calibri" panose="020F0502020204030204" pitchFamily="34" charset="0"/>
            </a:endParaRPr>
          </a:p>
        </p:txBody>
      </p:sp>
      <p:sp>
        <p:nvSpPr>
          <p:cNvPr id="12" name="Rettangolo con angoli arrotondati 6">
            <a:extLst>
              <a:ext uri="{FF2B5EF4-FFF2-40B4-BE49-F238E27FC236}">
                <a16:creationId xmlns:a16="http://schemas.microsoft.com/office/drawing/2014/main" id="{9C414380-91C2-835D-E81F-5C958EE58BD1}"/>
              </a:ext>
            </a:extLst>
          </p:cNvPr>
          <p:cNvSpPr/>
          <p:nvPr/>
        </p:nvSpPr>
        <p:spPr>
          <a:xfrm>
            <a:off x="812500" y="2244679"/>
            <a:ext cx="1980000" cy="2803043"/>
          </a:xfrm>
          <a:prstGeom prst="roundRect">
            <a:avLst/>
          </a:prstGeom>
          <a:noFill/>
          <a:ln w="38100">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endParaRPr lang="it-IT" sz="1400" b="1" dirty="0">
              <a:solidFill>
                <a:srgbClr val="002060"/>
              </a:solidFill>
            </a:endParaRPr>
          </a:p>
          <a:p>
            <a:pPr algn="ctr"/>
            <a:endParaRPr lang="it-IT" sz="1400" b="1" dirty="0">
              <a:solidFill>
                <a:srgbClr val="002060"/>
              </a:solidFill>
            </a:endParaRPr>
          </a:p>
          <a:p>
            <a:pPr algn="ctr"/>
            <a:endParaRPr lang="it-IT" sz="1400" b="1" dirty="0">
              <a:solidFill>
                <a:srgbClr val="002060"/>
              </a:solidFill>
            </a:endParaRPr>
          </a:p>
          <a:p>
            <a:pPr algn="ctr"/>
            <a:r>
              <a:rPr lang="it-IT" sz="1400" b="1" dirty="0">
                <a:solidFill>
                  <a:srgbClr val="002060"/>
                </a:solidFill>
              </a:rPr>
              <a:t>QUALITY FILTERS</a:t>
            </a:r>
          </a:p>
          <a:p>
            <a:pPr algn="ctr"/>
            <a:endParaRPr lang="it-IT" sz="1400" dirty="0">
              <a:solidFill>
                <a:schemeClr val="tx1"/>
              </a:solidFill>
            </a:endParaRPr>
          </a:p>
          <a:p>
            <a:pPr algn="ctr"/>
            <a:r>
              <a:rPr lang="en-US" sz="1400" dirty="0">
                <a:solidFill>
                  <a:schemeClr val="tx1"/>
                </a:solidFill>
              </a:rPr>
              <a:t>Selecting single tracks, alignment check between the upstream and downstream telescope arms</a:t>
            </a:r>
            <a:endParaRPr lang="it-IT" sz="1400" dirty="0">
              <a:solidFill>
                <a:schemeClr val="tx1"/>
              </a:solidFill>
            </a:endParaRPr>
          </a:p>
          <a:p>
            <a:pPr algn="ctr"/>
            <a:endParaRPr lang="it-IT" sz="1400" dirty="0">
              <a:solidFill>
                <a:schemeClr val="tx1"/>
              </a:solidFill>
            </a:endParaRPr>
          </a:p>
        </p:txBody>
      </p:sp>
      <p:pic>
        <p:nvPicPr>
          <p:cNvPr id="22" name="Elemento grafico 17" descr="Badge 1 with solid fill">
            <a:extLst>
              <a:ext uri="{FF2B5EF4-FFF2-40B4-BE49-F238E27FC236}">
                <a16:creationId xmlns:a16="http://schemas.microsoft.com/office/drawing/2014/main" id="{3B648F2D-E0EA-744C-3B1B-5052608E42F5}"/>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1532500" y="2386154"/>
            <a:ext cx="540000" cy="540000"/>
          </a:xfrm>
          <a:prstGeom prst="rect">
            <a:avLst/>
          </a:prstGeom>
        </p:spPr>
      </p:pic>
      <p:pic>
        <p:nvPicPr>
          <p:cNvPr id="7" name="Immagine 7">
            <a:extLst>
              <a:ext uri="{FF2B5EF4-FFF2-40B4-BE49-F238E27FC236}">
                <a16:creationId xmlns:a16="http://schemas.microsoft.com/office/drawing/2014/main" id="{A3C5BFAB-EAD6-595F-2E46-E1A4225234B8}"/>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3187911" y="2184294"/>
            <a:ext cx="4780431" cy="2074658"/>
          </a:xfrm>
          <a:prstGeom prst="rect">
            <a:avLst/>
          </a:prstGeom>
        </p:spPr>
      </p:pic>
      <p:sp>
        <p:nvSpPr>
          <p:cNvPr id="23" name="Segnaposto contenuto 2">
            <a:extLst>
              <a:ext uri="{FF2B5EF4-FFF2-40B4-BE49-F238E27FC236}">
                <a16:creationId xmlns:a16="http://schemas.microsoft.com/office/drawing/2014/main" id="{0736AFAB-5236-3F03-D1D3-44AF40E24458}"/>
              </a:ext>
            </a:extLst>
          </p:cNvPr>
          <p:cNvSpPr>
            <a:spLocks noGrp="1"/>
          </p:cNvSpPr>
          <p:nvPr>
            <p:ph idx="1"/>
          </p:nvPr>
        </p:nvSpPr>
        <p:spPr>
          <a:xfrm>
            <a:off x="3061015" y="1311415"/>
            <a:ext cx="8434985" cy="2008728"/>
          </a:xfrm>
        </p:spPr>
        <p:txBody>
          <a:bodyPr>
            <a:normAutofit/>
          </a:bodyPr>
          <a:lstStyle/>
          <a:p>
            <a:pPr marL="0" indent="0">
              <a:buNone/>
            </a:pPr>
            <a:r>
              <a:rPr lang="it-IT" sz="2000" dirty="0"/>
              <a:t>To ensure that the upstream and downstream detectors are aligned, we check the deviation between the initial and final positions of particles that definitely did not hit the crystal, ensuring that is zero.</a:t>
            </a:r>
          </a:p>
        </p:txBody>
      </p:sp>
      <p:sp>
        <p:nvSpPr>
          <p:cNvPr id="9" name="Segnaposto contenuto 2">
            <a:extLst>
              <a:ext uri="{FF2B5EF4-FFF2-40B4-BE49-F238E27FC236}">
                <a16:creationId xmlns:a16="http://schemas.microsoft.com/office/drawing/2014/main" id="{863912E7-36AB-6236-EB06-A1D23B9CC7B6}"/>
              </a:ext>
            </a:extLst>
          </p:cNvPr>
          <p:cNvSpPr txBox="1">
            <a:spLocks/>
          </p:cNvSpPr>
          <p:nvPr/>
        </p:nvSpPr>
        <p:spPr>
          <a:xfrm>
            <a:off x="3061016" y="4803006"/>
            <a:ext cx="3777887" cy="152068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it-IT" sz="2000" dirty="0"/>
              <a:t>We can also check the alignment by doing a linear fit between the upstream and dowstream profiles.</a:t>
            </a:r>
          </a:p>
        </p:txBody>
      </p:sp>
      <p:grpSp>
        <p:nvGrpSpPr>
          <p:cNvPr id="11" name="Gruppo 15">
            <a:extLst>
              <a:ext uri="{FF2B5EF4-FFF2-40B4-BE49-F238E27FC236}">
                <a16:creationId xmlns:a16="http://schemas.microsoft.com/office/drawing/2014/main" id="{D3E049D3-B3E1-74B8-CE2B-487AAE477E1E}"/>
              </a:ext>
            </a:extLst>
          </p:cNvPr>
          <p:cNvGrpSpPr/>
          <p:nvPr/>
        </p:nvGrpSpPr>
        <p:grpSpPr>
          <a:xfrm>
            <a:off x="6354851" y="4199468"/>
            <a:ext cx="5413829" cy="2284101"/>
            <a:chOff x="851293" y="2225424"/>
            <a:chExt cx="8233523" cy="3952091"/>
          </a:xfrm>
        </p:grpSpPr>
        <p:pic>
          <p:nvPicPr>
            <p:cNvPr id="13" name="Segnaposto contenuto 7">
              <a:extLst>
                <a:ext uri="{FF2B5EF4-FFF2-40B4-BE49-F238E27FC236}">
                  <a16:creationId xmlns:a16="http://schemas.microsoft.com/office/drawing/2014/main" id="{85729CE6-81E4-EC84-2590-4F2E29BB04EA}"/>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851293" y="2225424"/>
              <a:ext cx="8233523" cy="3952091"/>
            </a:xfrm>
            <a:prstGeom prst="rect">
              <a:avLst/>
            </a:prstGeom>
          </p:spPr>
        </p:pic>
        <mc:AlternateContent xmlns:mc="http://schemas.openxmlformats.org/markup-compatibility/2006">
          <mc:Choice xmlns:a14="http://schemas.microsoft.com/office/drawing/2010/main" Requires="a14">
            <p:sp>
              <p:nvSpPr>
                <p:cNvPr id="14" name="Rettangolo con angoli arrotondati 10">
                  <a:extLst>
                    <a:ext uri="{FF2B5EF4-FFF2-40B4-BE49-F238E27FC236}">
                      <a16:creationId xmlns:a16="http://schemas.microsoft.com/office/drawing/2014/main" id="{A1217375-BDCD-13BA-23CB-2CD3F83D1826}"/>
                    </a:ext>
                  </a:extLst>
                </p:cNvPr>
                <p:cNvSpPr/>
                <p:nvPr/>
              </p:nvSpPr>
              <p:spPr>
                <a:xfrm>
                  <a:off x="1528611" y="2717106"/>
                  <a:ext cx="2012032" cy="711894"/>
                </a:xfrm>
                <a:prstGeom prst="roundRect">
                  <a:avLst/>
                </a:prstGeom>
                <a:noFill/>
                <a:ln w="952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
                        <m:r>
                          <a:rPr lang="it-IT" sz="1000" b="0" i="1" smtClean="0">
                            <a:solidFill>
                              <a:schemeClr val="tx1"/>
                            </a:solidFill>
                            <a:latin typeface="Cambria Math" panose="02040503050406030204" pitchFamily="18" charset="0"/>
                          </a:rPr>
                          <m:t>𝑚</m:t>
                        </m:r>
                        <m:r>
                          <a:rPr lang="it-IT" sz="1000" b="0" i="1" smtClean="0">
                            <a:solidFill>
                              <a:schemeClr val="tx1"/>
                            </a:solidFill>
                            <a:latin typeface="Cambria Math" panose="02040503050406030204" pitchFamily="18" charset="0"/>
                          </a:rPr>
                          <m:t>=0.995 </m:t>
                        </m:r>
                      </m:oMath>
                    </m:oMathPara>
                  </a14:m>
                  <a:endParaRPr lang="en-US" sz="1000" b="0" i="1" dirty="0">
                    <a:solidFill>
                      <a:schemeClr val="tx1"/>
                    </a:solidFill>
                    <a:latin typeface="Cambria Math" panose="02040503050406030204" pitchFamily="18" charset="0"/>
                  </a:endParaRPr>
                </a:p>
                <a:p>
                  <a:pPr algn="ctr"/>
                  <a14:m>
                    <m:oMathPara xmlns:m="http://schemas.openxmlformats.org/officeDocument/2006/math">
                      <m:oMath>
                        <m:r>
                          <a:rPr lang="it-IT" sz="1000" b="0" i="1" smtClean="0">
                            <a:solidFill>
                              <a:schemeClr val="tx1"/>
                            </a:solidFill>
                            <a:latin typeface="Cambria Math" panose="02040503050406030204" pitchFamily="18" charset="0"/>
                          </a:rPr>
                          <m:t>𝑞</m:t>
                        </m:r>
                        <m:r>
                          <a:rPr lang="it-IT" sz="1000" b="0" i="1" smtClean="0">
                            <a:solidFill>
                              <a:schemeClr val="tx1"/>
                            </a:solidFill>
                            <a:latin typeface="Cambria Math" panose="02040503050406030204" pitchFamily="18" charset="0"/>
                          </a:rPr>
                          <m:t>=0.007</m:t>
                        </m:r>
                      </m:oMath>
                    </m:oMathPara>
                  </a14:m>
                  <a:endParaRPr lang="it-IT" sz="1000" i="1" dirty="0">
                    <a:solidFill>
                      <a:schemeClr val="tx1"/>
                    </a:solidFill>
                  </a:endParaRPr>
                </a:p>
              </p:txBody>
            </p:sp>
          </mc:Choice>
          <mc:Fallback>
            <p:sp>
              <p:nvSpPr>
                <p:cNvPr id="14" name="Rettangolo con angoli arrotondati 10">
                  <a:extLst>
                    <a:ext uri="{FF2B5EF4-FFF2-40B4-BE49-F238E27FC236}">
                      <a16:creationId xmlns:a16="http://schemas.microsoft.com/office/drawing/2014/main" id="{A1217375-BDCD-13BA-23CB-2CD3F83D1826}"/>
                    </a:ext>
                  </a:extLst>
                </p:cNvPr>
                <p:cNvSpPr>
                  <a:spLocks noRot="1" noChangeAspect="1" noMove="1" noResize="1" noEditPoints="1" noAdjustHandles="1" noChangeArrowheads="1" noChangeShapeType="1" noTextEdit="1"/>
                </p:cNvSpPr>
                <p:nvPr/>
              </p:nvSpPr>
              <p:spPr>
                <a:xfrm>
                  <a:off x="1528611" y="2717106"/>
                  <a:ext cx="2012032" cy="711894"/>
                </a:xfrm>
                <a:prstGeom prst="roundRect">
                  <a:avLst/>
                </a:prstGeom>
                <a:blipFill>
                  <a:blip r:embed="rId6"/>
                  <a:stretch>
                    <a:fillRect/>
                  </a:stretch>
                </a:blipFill>
                <a:ln w="9525">
                  <a:solidFill>
                    <a:srgbClr val="FF0000"/>
                  </a:solid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5" name="Rettangolo con angoli arrotondati 14">
                  <a:extLst>
                    <a:ext uri="{FF2B5EF4-FFF2-40B4-BE49-F238E27FC236}">
                      <a16:creationId xmlns:a16="http://schemas.microsoft.com/office/drawing/2014/main" id="{B01EE45E-E586-5E5B-C0BB-1C14E4BDCEC5}"/>
                    </a:ext>
                  </a:extLst>
                </p:cNvPr>
                <p:cNvSpPr/>
                <p:nvPr/>
              </p:nvSpPr>
              <p:spPr>
                <a:xfrm>
                  <a:off x="5700118" y="2717106"/>
                  <a:ext cx="2012032" cy="711894"/>
                </a:xfrm>
                <a:prstGeom prst="roundRect">
                  <a:avLst/>
                </a:prstGeom>
                <a:noFill/>
                <a:ln w="952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
                        <m:r>
                          <a:rPr lang="it-IT" sz="1000" b="0" i="1" smtClean="0">
                            <a:solidFill>
                              <a:schemeClr val="tx1"/>
                            </a:solidFill>
                            <a:latin typeface="Cambria Math" panose="02040503050406030204" pitchFamily="18" charset="0"/>
                          </a:rPr>
                          <m:t>𝑚</m:t>
                        </m:r>
                        <m:r>
                          <a:rPr lang="it-IT" sz="1000" b="0" i="1" smtClean="0">
                            <a:solidFill>
                              <a:schemeClr val="tx1"/>
                            </a:solidFill>
                            <a:latin typeface="Cambria Math" panose="02040503050406030204" pitchFamily="18" charset="0"/>
                          </a:rPr>
                          <m:t>=0.999</m:t>
                        </m:r>
                      </m:oMath>
                    </m:oMathPara>
                  </a14:m>
                  <a:endParaRPr lang="en-US" sz="1000" b="0" i="1" dirty="0">
                    <a:solidFill>
                      <a:schemeClr val="tx1"/>
                    </a:solidFill>
                    <a:latin typeface="Cambria Math" panose="02040503050406030204" pitchFamily="18" charset="0"/>
                  </a:endParaRPr>
                </a:p>
                <a:p>
                  <a:pPr algn="ctr"/>
                  <a14:m>
                    <m:oMathPara xmlns:m="http://schemas.openxmlformats.org/officeDocument/2006/math">
                      <m:oMath>
                        <m:r>
                          <a:rPr lang="it-IT" sz="1000" b="0" i="1" smtClean="0">
                            <a:solidFill>
                              <a:schemeClr val="tx1"/>
                            </a:solidFill>
                            <a:latin typeface="Cambria Math" panose="02040503050406030204" pitchFamily="18" charset="0"/>
                          </a:rPr>
                          <m:t>𝑞</m:t>
                        </m:r>
                        <m:r>
                          <a:rPr lang="it-IT" sz="1000" b="0" i="1" smtClean="0">
                            <a:solidFill>
                              <a:schemeClr val="tx1"/>
                            </a:solidFill>
                            <a:latin typeface="Cambria Math" panose="02040503050406030204" pitchFamily="18" charset="0"/>
                          </a:rPr>
                          <m:t>=0.006</m:t>
                        </m:r>
                      </m:oMath>
                    </m:oMathPara>
                  </a14:m>
                  <a:endParaRPr lang="it-IT" sz="1000" i="1" dirty="0">
                    <a:solidFill>
                      <a:schemeClr val="tx1"/>
                    </a:solidFill>
                  </a:endParaRPr>
                </a:p>
              </p:txBody>
            </p:sp>
          </mc:Choice>
          <mc:Fallback>
            <p:sp>
              <p:nvSpPr>
                <p:cNvPr id="15" name="Rettangolo con angoli arrotondati 14">
                  <a:extLst>
                    <a:ext uri="{FF2B5EF4-FFF2-40B4-BE49-F238E27FC236}">
                      <a16:creationId xmlns:a16="http://schemas.microsoft.com/office/drawing/2014/main" id="{B01EE45E-E586-5E5B-C0BB-1C14E4BDCEC5}"/>
                    </a:ext>
                  </a:extLst>
                </p:cNvPr>
                <p:cNvSpPr>
                  <a:spLocks noRot="1" noChangeAspect="1" noMove="1" noResize="1" noEditPoints="1" noAdjustHandles="1" noChangeArrowheads="1" noChangeShapeType="1" noTextEdit="1"/>
                </p:cNvSpPr>
                <p:nvPr/>
              </p:nvSpPr>
              <p:spPr>
                <a:xfrm>
                  <a:off x="5700118" y="2717106"/>
                  <a:ext cx="2012032" cy="711894"/>
                </a:xfrm>
                <a:prstGeom prst="roundRect">
                  <a:avLst/>
                </a:prstGeom>
                <a:blipFill>
                  <a:blip r:embed="rId7"/>
                  <a:stretch>
                    <a:fillRect/>
                  </a:stretch>
                </a:blipFill>
                <a:ln w="9525">
                  <a:solidFill>
                    <a:srgbClr val="FF0000"/>
                  </a:solidFill>
                </a:ln>
              </p:spPr>
              <p:txBody>
                <a:bodyPr/>
                <a:lstStyle/>
                <a:p>
                  <a:r>
                    <a:rPr lang="it-IT">
                      <a:noFill/>
                    </a:rPr>
                    <a:t> </a:t>
                  </a:r>
                </a:p>
              </p:txBody>
            </p:sp>
          </mc:Fallback>
        </mc:AlternateContent>
      </p:grpSp>
      <p:sp>
        <p:nvSpPr>
          <p:cNvPr id="6" name="Segnaposto numero diapositiva 5">
            <a:extLst>
              <a:ext uri="{FF2B5EF4-FFF2-40B4-BE49-F238E27FC236}">
                <a16:creationId xmlns:a16="http://schemas.microsoft.com/office/drawing/2014/main" id="{6E91B9BC-5D9C-4493-B1C5-774DF4055171}"/>
              </a:ext>
            </a:extLst>
          </p:cNvPr>
          <p:cNvSpPr>
            <a:spLocks noGrp="1"/>
          </p:cNvSpPr>
          <p:nvPr>
            <p:ph type="sldNum" sz="quarter" idx="12"/>
          </p:nvPr>
        </p:nvSpPr>
        <p:spPr>
          <a:xfrm>
            <a:off x="8610600" y="6356349"/>
            <a:ext cx="2743200" cy="432000"/>
          </a:xfrm>
        </p:spPr>
        <p:txBody>
          <a:bodyPr/>
          <a:lstStyle/>
          <a:p>
            <a:fld id="{0A318BD9-CA14-4A83-ACF0-03D5918EB402}" type="slidenum">
              <a:rPr lang="it-IT" sz="1500" b="1" smtClean="0">
                <a:solidFill>
                  <a:srgbClr val="002060"/>
                </a:solidFill>
              </a:rPr>
              <a:t>7</a:t>
            </a:fld>
            <a:endParaRPr lang="it-IT" sz="1500" b="1" dirty="0">
              <a:solidFill>
                <a:srgbClr val="002060"/>
              </a:solidFill>
            </a:endParaRPr>
          </a:p>
        </p:txBody>
      </p:sp>
    </p:spTree>
    <p:extLst>
      <p:ext uri="{BB962C8B-B14F-4D97-AF65-F5344CB8AC3E}">
        <p14:creationId xmlns:p14="http://schemas.microsoft.com/office/powerpoint/2010/main" val="84727544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2A3E37-478A-099A-1682-A43F9624150D}"/>
            </a:ext>
          </a:extLst>
        </p:cNvPr>
        <p:cNvGrpSpPr/>
        <p:nvPr/>
      </p:nvGrpSpPr>
      <p:grpSpPr>
        <a:xfrm>
          <a:off x="0" y="0"/>
          <a:ext cx="0" cy="0"/>
          <a:chOff x="0" y="0"/>
          <a:chExt cx="0" cy="0"/>
        </a:xfrm>
      </p:grpSpPr>
      <p:grpSp>
        <p:nvGrpSpPr>
          <p:cNvPr id="27" name="Group 26">
            <a:extLst>
              <a:ext uri="{FF2B5EF4-FFF2-40B4-BE49-F238E27FC236}">
                <a16:creationId xmlns:a16="http://schemas.microsoft.com/office/drawing/2014/main" id="{768CA415-42AA-9BBC-23B2-D08758344A0D}"/>
              </a:ext>
            </a:extLst>
          </p:cNvPr>
          <p:cNvGrpSpPr/>
          <p:nvPr/>
        </p:nvGrpSpPr>
        <p:grpSpPr>
          <a:xfrm>
            <a:off x="8456459" y="1578711"/>
            <a:ext cx="2923041" cy="2154885"/>
            <a:chOff x="6651322" y="3241606"/>
            <a:chExt cx="3918560" cy="3420000"/>
          </a:xfrm>
        </p:grpSpPr>
        <p:pic>
          <p:nvPicPr>
            <p:cNvPr id="28" name="Immagine 25">
              <a:extLst>
                <a:ext uri="{FF2B5EF4-FFF2-40B4-BE49-F238E27FC236}">
                  <a16:creationId xmlns:a16="http://schemas.microsoft.com/office/drawing/2014/main" id="{A5501EBD-E6F1-82F3-2EF7-E6FE14AFF0D6}"/>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6651322" y="3241606"/>
              <a:ext cx="3918560" cy="3420000"/>
            </a:xfrm>
            <a:prstGeom prst="rect">
              <a:avLst/>
            </a:prstGeom>
          </p:spPr>
        </p:pic>
        <p:sp>
          <p:nvSpPr>
            <p:cNvPr id="29" name="Rettangolo 8">
              <a:extLst>
                <a:ext uri="{FF2B5EF4-FFF2-40B4-BE49-F238E27FC236}">
                  <a16:creationId xmlns:a16="http://schemas.microsoft.com/office/drawing/2014/main" id="{2832584D-8C0B-6807-2164-152ACC700308}"/>
                </a:ext>
              </a:extLst>
            </p:cNvPr>
            <p:cNvSpPr/>
            <p:nvPr/>
          </p:nvSpPr>
          <p:spPr>
            <a:xfrm>
              <a:off x="7359920" y="4792136"/>
              <a:ext cx="810072" cy="134196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cxnSp>
          <p:nvCxnSpPr>
            <p:cNvPr id="30" name="Connettore diritto 15">
              <a:extLst>
                <a:ext uri="{FF2B5EF4-FFF2-40B4-BE49-F238E27FC236}">
                  <a16:creationId xmlns:a16="http://schemas.microsoft.com/office/drawing/2014/main" id="{BC23D43E-47EC-3769-79DA-7D72CFF57993}"/>
                </a:ext>
              </a:extLst>
            </p:cNvPr>
            <p:cNvCxnSpPr>
              <a:cxnSpLocks/>
            </p:cNvCxnSpPr>
            <p:nvPr/>
          </p:nvCxnSpPr>
          <p:spPr>
            <a:xfrm>
              <a:off x="7359920" y="3440113"/>
              <a:ext cx="0" cy="1038225"/>
            </a:xfrm>
            <a:prstGeom prst="line">
              <a:avLst/>
            </a:prstGeom>
            <a:ln>
              <a:solidFill>
                <a:srgbClr val="FF0000"/>
              </a:solidFill>
              <a:prstDash val="sysDot"/>
            </a:ln>
          </p:spPr>
          <p:style>
            <a:lnRef idx="2">
              <a:schemeClr val="accent1"/>
            </a:lnRef>
            <a:fillRef idx="0">
              <a:schemeClr val="accent1"/>
            </a:fillRef>
            <a:effectRef idx="1">
              <a:schemeClr val="accent1"/>
            </a:effectRef>
            <a:fontRef idx="minor">
              <a:schemeClr val="tx1"/>
            </a:fontRef>
          </p:style>
        </p:cxnSp>
        <p:cxnSp>
          <p:nvCxnSpPr>
            <p:cNvPr id="31" name="Connettore diritto 16">
              <a:extLst>
                <a:ext uri="{FF2B5EF4-FFF2-40B4-BE49-F238E27FC236}">
                  <a16:creationId xmlns:a16="http://schemas.microsoft.com/office/drawing/2014/main" id="{D4E81F18-B00D-89E2-BA75-0A18464EF6A0}"/>
                </a:ext>
              </a:extLst>
            </p:cNvPr>
            <p:cNvCxnSpPr>
              <a:cxnSpLocks/>
            </p:cNvCxnSpPr>
            <p:nvPr/>
          </p:nvCxnSpPr>
          <p:spPr>
            <a:xfrm>
              <a:off x="8169992" y="3440113"/>
              <a:ext cx="0" cy="1038225"/>
            </a:xfrm>
            <a:prstGeom prst="line">
              <a:avLst/>
            </a:prstGeom>
            <a:ln>
              <a:solidFill>
                <a:srgbClr val="FF0000"/>
              </a:solidFill>
              <a:prstDash val="sysDot"/>
            </a:ln>
          </p:spPr>
          <p:style>
            <a:lnRef idx="2">
              <a:schemeClr val="accent1"/>
            </a:lnRef>
            <a:fillRef idx="0">
              <a:schemeClr val="accent1"/>
            </a:fillRef>
            <a:effectRef idx="1">
              <a:schemeClr val="accent1"/>
            </a:effectRef>
            <a:fontRef idx="minor">
              <a:schemeClr val="tx1"/>
            </a:fontRef>
          </p:style>
        </p:cxnSp>
        <p:cxnSp>
          <p:nvCxnSpPr>
            <p:cNvPr id="32" name="Connettore diritto 22">
              <a:extLst>
                <a:ext uri="{FF2B5EF4-FFF2-40B4-BE49-F238E27FC236}">
                  <a16:creationId xmlns:a16="http://schemas.microsoft.com/office/drawing/2014/main" id="{BCB719F9-00A3-0969-E9B0-19FA6D064754}"/>
                </a:ext>
              </a:extLst>
            </p:cNvPr>
            <p:cNvCxnSpPr>
              <a:cxnSpLocks/>
            </p:cNvCxnSpPr>
            <p:nvPr/>
          </p:nvCxnSpPr>
          <p:spPr>
            <a:xfrm flipH="1">
              <a:off x="9164637" y="4792136"/>
              <a:ext cx="1203325" cy="0"/>
            </a:xfrm>
            <a:prstGeom prst="line">
              <a:avLst/>
            </a:prstGeom>
            <a:ln>
              <a:solidFill>
                <a:srgbClr val="FF0000"/>
              </a:solidFill>
              <a:prstDash val="sysDot"/>
            </a:ln>
          </p:spPr>
          <p:style>
            <a:lnRef idx="2">
              <a:schemeClr val="accent1"/>
            </a:lnRef>
            <a:fillRef idx="0">
              <a:schemeClr val="accent1"/>
            </a:fillRef>
            <a:effectRef idx="1">
              <a:schemeClr val="accent1"/>
            </a:effectRef>
            <a:fontRef idx="minor">
              <a:schemeClr val="tx1"/>
            </a:fontRef>
          </p:style>
        </p:cxnSp>
        <p:cxnSp>
          <p:nvCxnSpPr>
            <p:cNvPr id="33" name="Connettore diritto 23">
              <a:extLst>
                <a:ext uri="{FF2B5EF4-FFF2-40B4-BE49-F238E27FC236}">
                  <a16:creationId xmlns:a16="http://schemas.microsoft.com/office/drawing/2014/main" id="{E1CE920C-B93C-3530-BB7D-39F273C0F646}"/>
                </a:ext>
              </a:extLst>
            </p:cNvPr>
            <p:cNvCxnSpPr>
              <a:cxnSpLocks/>
            </p:cNvCxnSpPr>
            <p:nvPr/>
          </p:nvCxnSpPr>
          <p:spPr>
            <a:xfrm flipH="1">
              <a:off x="9164637" y="6134098"/>
              <a:ext cx="1203325" cy="0"/>
            </a:xfrm>
            <a:prstGeom prst="line">
              <a:avLst/>
            </a:prstGeom>
            <a:ln>
              <a:solidFill>
                <a:srgbClr val="FF0000"/>
              </a:solidFill>
              <a:prstDash val="sysDot"/>
            </a:ln>
          </p:spPr>
          <p:style>
            <a:lnRef idx="2">
              <a:schemeClr val="accent1"/>
            </a:lnRef>
            <a:fillRef idx="0">
              <a:schemeClr val="accent1"/>
            </a:fillRef>
            <a:effectRef idx="1">
              <a:schemeClr val="accent1"/>
            </a:effectRef>
            <a:fontRef idx="minor">
              <a:schemeClr val="tx1"/>
            </a:fontRef>
          </p:style>
        </p:cxnSp>
      </p:grpSp>
      <p:sp>
        <p:nvSpPr>
          <p:cNvPr id="2" name="Titolo 1">
            <a:extLst>
              <a:ext uri="{FF2B5EF4-FFF2-40B4-BE49-F238E27FC236}">
                <a16:creationId xmlns:a16="http://schemas.microsoft.com/office/drawing/2014/main" id="{D744CAE0-8493-90C7-DD98-68282B912FC9}"/>
              </a:ext>
            </a:extLst>
          </p:cNvPr>
          <p:cNvSpPr>
            <a:spLocks noGrp="1"/>
          </p:cNvSpPr>
          <p:nvPr>
            <p:ph type="title"/>
          </p:nvPr>
        </p:nvSpPr>
        <p:spPr>
          <a:xfrm>
            <a:off x="38100" y="69651"/>
            <a:ext cx="12114000" cy="1153094"/>
          </a:xfrm>
          <a:prstGeom prst="roundRect">
            <a:avLst>
              <a:gd name="adj" fmla="val 36459"/>
            </a:avLst>
          </a:prstGeom>
          <a:noFill/>
        </p:spPr>
        <p:txBody>
          <a:bodyPr>
            <a:normAutofit/>
          </a:bodyPr>
          <a:lstStyle/>
          <a:p>
            <a:r>
              <a:rPr lang="en-US" sz="4000" b="1" dirty="0">
                <a:solidFill>
                  <a:srgbClr val="002060"/>
                </a:solidFill>
              </a:rPr>
              <a:t>	ANALYSIS: CRYSTAL EDGES</a:t>
            </a:r>
            <a:endParaRPr lang="it-IT" sz="4000" b="1" dirty="0">
              <a:solidFill>
                <a:srgbClr val="002060"/>
              </a:solidFill>
            </a:endParaRPr>
          </a:p>
        </p:txBody>
      </p:sp>
      <p:sp>
        <p:nvSpPr>
          <p:cNvPr id="4" name="Segnaposto data 3">
            <a:extLst>
              <a:ext uri="{FF2B5EF4-FFF2-40B4-BE49-F238E27FC236}">
                <a16:creationId xmlns:a16="http://schemas.microsoft.com/office/drawing/2014/main" id="{79577193-6EDD-8344-882F-E25840F3381B}"/>
              </a:ext>
            </a:extLst>
          </p:cNvPr>
          <p:cNvSpPr>
            <a:spLocks noGrp="1"/>
          </p:cNvSpPr>
          <p:nvPr>
            <p:ph type="dt" sz="half" idx="10"/>
          </p:nvPr>
        </p:nvSpPr>
        <p:spPr>
          <a:xfrm>
            <a:off x="838200" y="6356349"/>
            <a:ext cx="2743200" cy="432000"/>
          </a:xfrm>
        </p:spPr>
        <p:txBody>
          <a:bodyPr/>
          <a:lstStyle/>
          <a:p>
            <a:r>
              <a:rPr lang="it-IT" sz="1500" b="1" dirty="0">
                <a:solidFill>
                  <a:srgbClr val="002060"/>
                </a:solidFill>
              </a:rPr>
              <a:t>24.08.2026</a:t>
            </a:r>
          </a:p>
        </p:txBody>
      </p:sp>
      <p:sp>
        <p:nvSpPr>
          <p:cNvPr id="5" name="Segnaposto piè di pagina 4">
            <a:extLst>
              <a:ext uri="{FF2B5EF4-FFF2-40B4-BE49-F238E27FC236}">
                <a16:creationId xmlns:a16="http://schemas.microsoft.com/office/drawing/2014/main" id="{BDAAFB88-FDB1-42D7-D8FB-7FB74463BD96}"/>
              </a:ext>
            </a:extLst>
          </p:cNvPr>
          <p:cNvSpPr>
            <a:spLocks noGrp="1"/>
          </p:cNvSpPr>
          <p:nvPr>
            <p:ph type="ftr" sz="quarter" idx="11"/>
          </p:nvPr>
        </p:nvSpPr>
        <p:spPr>
          <a:xfrm>
            <a:off x="0" y="6356349"/>
            <a:ext cx="12192000" cy="432000"/>
          </a:xfrm>
        </p:spPr>
        <p:txBody>
          <a:bodyPr/>
          <a:lstStyle/>
          <a:p>
            <a:r>
              <a:rPr lang="it-IT" sz="1500" b="1" dirty="0">
                <a:solidFill>
                  <a:srgbClr val="002060"/>
                </a:solidFill>
              </a:rPr>
              <a:t>Anna Sofia Moro</a:t>
            </a:r>
          </a:p>
        </p:txBody>
      </p:sp>
      <p:cxnSp>
        <p:nvCxnSpPr>
          <p:cNvPr id="10" name="Connettore diritto 9">
            <a:extLst>
              <a:ext uri="{FF2B5EF4-FFF2-40B4-BE49-F238E27FC236}">
                <a16:creationId xmlns:a16="http://schemas.microsoft.com/office/drawing/2014/main" id="{FAED7B67-8765-F7B3-F712-AFA68AFDCDFB}"/>
              </a:ext>
            </a:extLst>
          </p:cNvPr>
          <p:cNvCxnSpPr>
            <a:cxnSpLocks/>
          </p:cNvCxnSpPr>
          <p:nvPr/>
        </p:nvCxnSpPr>
        <p:spPr>
          <a:xfrm>
            <a:off x="696000" y="1155368"/>
            <a:ext cx="10800000" cy="0"/>
          </a:xfrm>
          <a:prstGeom prst="line">
            <a:avLst/>
          </a:prstGeom>
          <a:ln w="38100">
            <a:solidFill>
              <a:srgbClr val="002060"/>
            </a:solidFill>
          </a:ln>
        </p:spPr>
        <p:style>
          <a:lnRef idx="2">
            <a:schemeClr val="accent1"/>
          </a:lnRef>
          <a:fillRef idx="0">
            <a:schemeClr val="accent1"/>
          </a:fillRef>
          <a:effectRef idx="1">
            <a:schemeClr val="accent1"/>
          </a:effectRef>
          <a:fontRef idx="minor">
            <a:schemeClr val="tx1"/>
          </a:fontRef>
        </p:style>
      </p:cxnSp>
      <p:sp>
        <p:nvSpPr>
          <p:cNvPr id="8" name="Titolo 1">
            <a:extLst>
              <a:ext uri="{FF2B5EF4-FFF2-40B4-BE49-F238E27FC236}">
                <a16:creationId xmlns:a16="http://schemas.microsoft.com/office/drawing/2014/main" id="{BE4609EB-C4F9-7E7A-3670-0EEBCD548CB3}"/>
              </a:ext>
            </a:extLst>
          </p:cNvPr>
          <p:cNvSpPr txBox="1">
            <a:spLocks/>
          </p:cNvSpPr>
          <p:nvPr/>
        </p:nvSpPr>
        <p:spPr>
          <a:xfrm>
            <a:off x="696000" y="688243"/>
            <a:ext cx="10800000" cy="559599"/>
          </a:xfrm>
          <a:prstGeom prst="roundRect">
            <a:avLst>
              <a:gd name="adj" fmla="val 0"/>
            </a:avLst>
          </a:prstGeom>
          <a:noFill/>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en-US" sz="2000" b="1" i="1" dirty="0">
                <a:solidFill>
                  <a:srgbClr val="002060"/>
                </a:solidFill>
                <a:ea typeface="Calibri" panose="020F0502020204030204" pitchFamily="34" charset="0"/>
                <a:cs typeface="Calibri" panose="020F0502020204030204" pitchFamily="34" charset="0"/>
              </a:rPr>
              <a:t>PRELIMINARY ANALYSIS</a:t>
            </a:r>
            <a:endParaRPr lang="it-IT" sz="2000" b="1" i="1" dirty="0">
              <a:solidFill>
                <a:srgbClr val="002060"/>
              </a:solidFill>
              <a:ea typeface="Calibri" panose="020F0502020204030204" pitchFamily="34" charset="0"/>
              <a:cs typeface="Calibri" panose="020F0502020204030204" pitchFamily="34" charset="0"/>
            </a:endParaRPr>
          </a:p>
        </p:txBody>
      </p:sp>
      <p:sp>
        <p:nvSpPr>
          <p:cNvPr id="12" name="Rettangolo con angoli arrotondati 6">
            <a:extLst>
              <a:ext uri="{FF2B5EF4-FFF2-40B4-BE49-F238E27FC236}">
                <a16:creationId xmlns:a16="http://schemas.microsoft.com/office/drawing/2014/main" id="{D1F6A0CF-6C92-3952-F677-F54524A7F10D}"/>
              </a:ext>
            </a:extLst>
          </p:cNvPr>
          <p:cNvSpPr/>
          <p:nvPr/>
        </p:nvSpPr>
        <p:spPr>
          <a:xfrm>
            <a:off x="812500" y="2244679"/>
            <a:ext cx="1980000" cy="2803043"/>
          </a:xfrm>
          <a:prstGeom prst="roundRect">
            <a:avLst/>
          </a:prstGeom>
          <a:noFill/>
          <a:ln w="38100">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endParaRPr lang="it-IT" sz="1400" b="1" dirty="0">
              <a:solidFill>
                <a:srgbClr val="002060"/>
              </a:solidFill>
            </a:endParaRPr>
          </a:p>
          <a:p>
            <a:pPr algn="ctr"/>
            <a:endParaRPr lang="it-IT" sz="1400" b="1" dirty="0">
              <a:solidFill>
                <a:srgbClr val="002060"/>
              </a:solidFill>
            </a:endParaRPr>
          </a:p>
          <a:p>
            <a:pPr algn="ctr"/>
            <a:endParaRPr lang="it-IT" sz="1400" b="1" dirty="0">
              <a:solidFill>
                <a:srgbClr val="002060"/>
              </a:solidFill>
            </a:endParaRPr>
          </a:p>
          <a:p>
            <a:pPr algn="ctr"/>
            <a:r>
              <a:rPr lang="it-IT" sz="1400" b="1" dirty="0">
                <a:solidFill>
                  <a:srgbClr val="002060"/>
                </a:solidFill>
              </a:rPr>
              <a:t>CRYSTAL EDGES</a:t>
            </a:r>
          </a:p>
          <a:p>
            <a:pPr algn="ctr"/>
            <a:endParaRPr lang="it-IT" sz="1400" dirty="0">
              <a:solidFill>
                <a:schemeClr val="tx1"/>
              </a:solidFill>
            </a:endParaRPr>
          </a:p>
          <a:p>
            <a:pPr algn="ctr"/>
            <a:r>
              <a:rPr lang="en-US" sz="1400" dirty="0">
                <a:solidFill>
                  <a:schemeClr val="tx1"/>
                </a:solidFill>
              </a:rPr>
              <a:t>Reconstruct the (</a:t>
            </a:r>
            <a:r>
              <a:rPr lang="en-US" sz="1400" dirty="0" err="1">
                <a:solidFill>
                  <a:schemeClr val="tx1"/>
                </a:solidFill>
              </a:rPr>
              <a:t>x,y</a:t>
            </a:r>
            <a:r>
              <a:rPr lang="en-US" sz="1400" dirty="0">
                <a:solidFill>
                  <a:schemeClr val="tx1"/>
                </a:solidFill>
              </a:rPr>
              <a:t>) spatial window illuminated by the crystal </a:t>
            </a:r>
          </a:p>
          <a:p>
            <a:pPr algn="ctr"/>
            <a:r>
              <a:rPr lang="en-US" sz="1400" i="1" dirty="0">
                <a:solidFill>
                  <a:schemeClr val="tx1"/>
                </a:solidFill>
              </a:rPr>
              <a:t>(2 independent methods)</a:t>
            </a:r>
            <a:endParaRPr lang="it-IT" sz="1400" i="1" dirty="0">
              <a:solidFill>
                <a:schemeClr val="tx1"/>
              </a:solidFill>
            </a:endParaRPr>
          </a:p>
          <a:p>
            <a:pPr algn="ctr"/>
            <a:endParaRPr lang="it-IT" sz="1400" dirty="0">
              <a:solidFill>
                <a:schemeClr val="tx1"/>
              </a:solidFill>
            </a:endParaRPr>
          </a:p>
        </p:txBody>
      </p:sp>
      <p:pic>
        <p:nvPicPr>
          <p:cNvPr id="22" name="Elemento grafico 17">
            <a:extLst>
              <a:ext uri="{FF2B5EF4-FFF2-40B4-BE49-F238E27FC236}">
                <a16:creationId xmlns:a16="http://schemas.microsoft.com/office/drawing/2014/main" id="{F14DC5C2-0FB4-D2F1-1155-CC40514162CE}"/>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1532500" y="2386154"/>
            <a:ext cx="540000" cy="540000"/>
          </a:xfrm>
          <a:prstGeom prst="rect">
            <a:avLst/>
          </a:prstGeom>
        </p:spPr>
      </p:pic>
      <p:sp>
        <p:nvSpPr>
          <p:cNvPr id="6" name="Segnaposto numero diapositiva 5">
            <a:extLst>
              <a:ext uri="{FF2B5EF4-FFF2-40B4-BE49-F238E27FC236}">
                <a16:creationId xmlns:a16="http://schemas.microsoft.com/office/drawing/2014/main" id="{54F0B84C-EA27-111D-DFE8-463BABD2BC8D}"/>
              </a:ext>
            </a:extLst>
          </p:cNvPr>
          <p:cNvSpPr>
            <a:spLocks noGrp="1"/>
          </p:cNvSpPr>
          <p:nvPr>
            <p:ph type="sldNum" sz="quarter" idx="12"/>
          </p:nvPr>
        </p:nvSpPr>
        <p:spPr>
          <a:xfrm>
            <a:off x="8610600" y="6356349"/>
            <a:ext cx="2743200" cy="432000"/>
          </a:xfrm>
        </p:spPr>
        <p:txBody>
          <a:bodyPr/>
          <a:lstStyle/>
          <a:p>
            <a:fld id="{0A318BD9-CA14-4A83-ACF0-03D5918EB402}" type="slidenum">
              <a:rPr lang="it-IT" sz="1500" b="1" smtClean="0">
                <a:solidFill>
                  <a:srgbClr val="002060"/>
                </a:solidFill>
              </a:rPr>
              <a:t>8</a:t>
            </a:fld>
            <a:endParaRPr lang="it-IT" sz="1500" b="1" dirty="0">
              <a:solidFill>
                <a:srgbClr val="002060"/>
              </a:solidFill>
            </a:endParaRPr>
          </a:p>
        </p:txBody>
      </p:sp>
      <p:sp>
        <p:nvSpPr>
          <p:cNvPr id="16" name="Arc 15">
            <a:extLst>
              <a:ext uri="{FF2B5EF4-FFF2-40B4-BE49-F238E27FC236}">
                <a16:creationId xmlns:a16="http://schemas.microsoft.com/office/drawing/2014/main" id="{C47C1C39-F1FC-BAFD-28F2-B519ACD67540}"/>
              </a:ext>
            </a:extLst>
          </p:cNvPr>
          <p:cNvSpPr>
            <a:spLocks noChangeAspect="1"/>
          </p:cNvSpPr>
          <p:nvPr/>
        </p:nvSpPr>
        <p:spPr>
          <a:xfrm rot="18900000">
            <a:off x="2335650" y="1988436"/>
            <a:ext cx="1080000" cy="1080000"/>
          </a:xfrm>
          <a:prstGeom prst="arc">
            <a:avLst>
              <a:gd name="adj1" fmla="val 15450040"/>
              <a:gd name="adj2" fmla="val 0"/>
            </a:avLst>
          </a:prstGeom>
          <a:ln w="38100">
            <a:solidFill>
              <a:srgbClr val="002060"/>
            </a:solidFill>
            <a:headEnd type="none" w="med" len="med"/>
            <a:tailEnd type="arrow" w="med" len="med"/>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it-IT"/>
          </a:p>
        </p:txBody>
      </p:sp>
      <p:sp>
        <p:nvSpPr>
          <p:cNvPr id="20" name="Arc 19">
            <a:extLst>
              <a:ext uri="{FF2B5EF4-FFF2-40B4-BE49-F238E27FC236}">
                <a16:creationId xmlns:a16="http://schemas.microsoft.com/office/drawing/2014/main" id="{1D03BA4E-145B-9868-CE90-8AF069B55353}"/>
              </a:ext>
            </a:extLst>
          </p:cNvPr>
          <p:cNvSpPr>
            <a:spLocks noChangeAspect="1"/>
          </p:cNvSpPr>
          <p:nvPr/>
        </p:nvSpPr>
        <p:spPr>
          <a:xfrm rot="2700000" flipV="1">
            <a:off x="2335650" y="4225641"/>
            <a:ext cx="1080000" cy="1080000"/>
          </a:xfrm>
          <a:prstGeom prst="arc">
            <a:avLst>
              <a:gd name="adj1" fmla="val 15450040"/>
              <a:gd name="adj2" fmla="val 0"/>
            </a:avLst>
          </a:prstGeom>
          <a:ln w="38100">
            <a:solidFill>
              <a:srgbClr val="002060"/>
            </a:solidFill>
            <a:headEnd type="none" w="med" len="med"/>
            <a:tailEnd type="arrow" w="med" len="med"/>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it-IT"/>
          </a:p>
        </p:txBody>
      </p:sp>
      <p:sp>
        <p:nvSpPr>
          <p:cNvPr id="24" name="Rettangolo con angoli arrotondati 6">
            <a:extLst>
              <a:ext uri="{FF2B5EF4-FFF2-40B4-BE49-F238E27FC236}">
                <a16:creationId xmlns:a16="http://schemas.microsoft.com/office/drawing/2014/main" id="{41D53145-443D-E035-54F6-BE5817500456}"/>
              </a:ext>
            </a:extLst>
          </p:cNvPr>
          <p:cNvSpPr/>
          <p:nvPr/>
        </p:nvSpPr>
        <p:spPr>
          <a:xfrm>
            <a:off x="3330341" y="1319105"/>
            <a:ext cx="8165659" cy="2427396"/>
          </a:xfrm>
          <a:prstGeom prst="roundRect">
            <a:avLst/>
          </a:prstGeom>
          <a:noFill/>
          <a:ln w="38100">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it-IT" sz="1400" b="1" dirty="0">
                <a:solidFill>
                  <a:srgbClr val="002060"/>
                </a:solidFill>
              </a:rPr>
              <a:t>METHOD 1: CHANNELED PARTICLES</a:t>
            </a:r>
          </a:p>
          <a:p>
            <a:pPr algn="ctr"/>
            <a:endParaRPr lang="it-IT" sz="1400" dirty="0">
              <a:solidFill>
                <a:schemeClr val="tx1"/>
              </a:solidFill>
            </a:endParaRPr>
          </a:p>
          <a:p>
            <a:pPr marL="285750" indent="-285750">
              <a:buFont typeface="Arial" panose="020B0604020202020204" pitchFamily="34" charset="0"/>
              <a:buChar char="•"/>
            </a:pPr>
            <a:r>
              <a:rPr lang="it-IT" sz="1400" dirty="0">
                <a:solidFill>
                  <a:schemeClr val="tx1"/>
                </a:solidFill>
              </a:rPr>
              <a:t>Isolate already channeled particles (only uses ~ 20% of data)</a:t>
            </a:r>
          </a:p>
          <a:p>
            <a:pPr marL="285750" indent="-285750">
              <a:buFont typeface="Arial" panose="020B0604020202020204" pitchFamily="34" charset="0"/>
              <a:buChar char="•"/>
            </a:pPr>
            <a:r>
              <a:rPr lang="it-IT" sz="1400" dirty="0">
                <a:solidFill>
                  <a:schemeClr val="tx1"/>
                </a:solidFill>
              </a:rPr>
              <a:t>Their impact position (x, y) traces the crystal footprint, 			                   matching its expected dimension</a:t>
            </a:r>
          </a:p>
        </p:txBody>
      </p:sp>
      <mc:AlternateContent xmlns:mc="http://schemas.openxmlformats.org/markup-compatibility/2006">
        <mc:Choice xmlns:a14="http://schemas.microsoft.com/office/drawing/2010/main" Requires="a14">
          <p:sp>
            <p:nvSpPr>
              <p:cNvPr id="26" name="Rettangolo con angoli arrotondati 6">
                <a:extLst>
                  <a:ext uri="{FF2B5EF4-FFF2-40B4-BE49-F238E27FC236}">
                    <a16:creationId xmlns:a16="http://schemas.microsoft.com/office/drawing/2014/main" id="{5EEF2527-E769-ADE2-2474-4C0DCA09A68E}"/>
                  </a:ext>
                </a:extLst>
              </p:cNvPr>
              <p:cNvSpPr/>
              <p:nvPr/>
            </p:nvSpPr>
            <p:spPr>
              <a:xfrm>
                <a:off x="3330341" y="3887671"/>
                <a:ext cx="8165659" cy="2427396"/>
              </a:xfrm>
              <a:prstGeom prst="roundRect">
                <a:avLst/>
              </a:prstGeom>
              <a:noFill/>
              <a:ln w="38100">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it-IT" sz="1400" b="1" dirty="0">
                    <a:solidFill>
                      <a:srgbClr val="002060"/>
                    </a:solidFill>
                  </a:rPr>
                  <a:t>METHOD 2: MULTIPLE COULOMB SCATTERING</a:t>
                </a:r>
              </a:p>
              <a:p>
                <a:pPr algn="ctr"/>
                <a:endParaRPr lang="it-IT" sz="1400" dirty="0">
                  <a:solidFill>
                    <a:schemeClr val="tx1"/>
                  </a:solidFill>
                </a:endParaRPr>
              </a:p>
              <a:p>
                <a:pPr marL="285750" indent="-285750">
                  <a:buFont typeface="Arial" panose="020B0604020202020204" pitchFamily="34" charset="0"/>
                  <a:buChar char="•"/>
                </a:pPr>
                <a:r>
                  <a:rPr lang="it-IT" sz="1400" dirty="0">
                    <a:solidFill>
                      <a:schemeClr val="tx1"/>
                    </a:solidFill>
                  </a:rPr>
                  <a:t>Particles that physically crosses the crystal picks up extra Coulomb scattering, the ones outside the crystal do not</a:t>
                </a:r>
              </a:p>
              <a:p>
                <a:pPr marL="285750" indent="-285750">
                  <a:buFont typeface="Arial" panose="020B0604020202020204" pitchFamily="34" charset="0"/>
                  <a:buChar char="•"/>
                </a:pPr>
                <a:r>
                  <a:rPr lang="it-IT" sz="1400" dirty="0">
                    <a:solidFill>
                      <a:schemeClr val="tx1"/>
                    </a:solidFill>
                  </a:rPr>
                  <a:t>The width </a:t>
                </a:r>
                <a14:m>
                  <m:oMath xmlns:m="http://schemas.openxmlformats.org/officeDocument/2006/math">
                    <m:r>
                      <a:rPr lang="en-US" sz="1400" b="0" i="1" smtClean="0">
                        <a:solidFill>
                          <a:schemeClr val="tx1"/>
                        </a:solidFill>
                        <a:latin typeface="Cambria Math" panose="02040503050406030204" pitchFamily="18" charset="0"/>
                      </a:rPr>
                      <m:t>𝜎</m:t>
                    </m:r>
                  </m:oMath>
                </a14:m>
                <a:r>
                  <a:rPr lang="it-IT" sz="1400" dirty="0">
                    <a:solidFill>
                      <a:schemeClr val="tx1"/>
                    </a:solidFill>
                  </a:rPr>
                  <a:t> of the outgoing angular distribution is measured </a:t>
                </a:r>
              </a:p>
              <a:p>
                <a:pPr marL="285750" indent="-285750">
                  <a:buFont typeface="Arial" panose="020B0604020202020204" pitchFamily="34" charset="0"/>
                  <a:buChar char="•"/>
                </a:pPr>
                <a:r>
                  <a:rPr lang="it-IT" sz="1400" dirty="0">
                    <a:solidFill>
                      <a:schemeClr val="tx1"/>
                    </a:solidFill>
                  </a:rPr>
                  <a:t>A sharp transition marks the edges</a:t>
                </a:r>
              </a:p>
            </p:txBody>
          </p:sp>
        </mc:Choice>
        <mc:Fallback>
          <p:sp>
            <p:nvSpPr>
              <p:cNvPr id="26" name="Rettangolo con angoli arrotondati 6">
                <a:extLst>
                  <a:ext uri="{FF2B5EF4-FFF2-40B4-BE49-F238E27FC236}">
                    <a16:creationId xmlns:a16="http://schemas.microsoft.com/office/drawing/2014/main" id="{5EEF2527-E769-ADE2-2474-4C0DCA09A68E}"/>
                  </a:ext>
                </a:extLst>
              </p:cNvPr>
              <p:cNvSpPr>
                <a:spLocks noRot="1" noChangeAspect="1" noMove="1" noResize="1" noEditPoints="1" noAdjustHandles="1" noChangeArrowheads="1" noChangeShapeType="1" noTextEdit="1"/>
              </p:cNvSpPr>
              <p:nvPr/>
            </p:nvSpPr>
            <p:spPr>
              <a:xfrm>
                <a:off x="3330341" y="3887671"/>
                <a:ext cx="8165659" cy="2427396"/>
              </a:xfrm>
              <a:prstGeom prst="roundRect">
                <a:avLst/>
              </a:prstGeom>
              <a:blipFill>
                <a:blip r:embed="rId5"/>
                <a:stretch>
                  <a:fillRect/>
                </a:stretch>
              </a:blipFill>
              <a:ln w="38100">
                <a:solidFill>
                  <a:srgbClr val="002060"/>
                </a:solidFill>
              </a:ln>
            </p:spPr>
            <p:txBody>
              <a:bodyPr/>
              <a:lstStyle/>
              <a:p>
                <a:r>
                  <a:rPr lang="it-IT">
                    <a:noFill/>
                  </a:rPr>
                  <a:t> </a:t>
                </a:r>
              </a:p>
            </p:txBody>
          </p:sp>
        </mc:Fallback>
      </mc:AlternateContent>
    </p:spTree>
    <p:extLst>
      <p:ext uri="{BB962C8B-B14F-4D97-AF65-F5344CB8AC3E}">
        <p14:creationId xmlns:p14="http://schemas.microsoft.com/office/powerpoint/2010/main" val="121651162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BB71FF-4E2B-6095-E220-974702F54A02}"/>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78E6E451-900C-15AD-B502-3EE31922A5D6}"/>
              </a:ext>
            </a:extLst>
          </p:cNvPr>
          <p:cNvSpPr>
            <a:spLocks noGrp="1"/>
          </p:cNvSpPr>
          <p:nvPr>
            <p:ph type="title"/>
          </p:nvPr>
        </p:nvSpPr>
        <p:spPr>
          <a:xfrm>
            <a:off x="38100" y="69651"/>
            <a:ext cx="12114000" cy="1153094"/>
          </a:xfrm>
          <a:prstGeom prst="roundRect">
            <a:avLst>
              <a:gd name="adj" fmla="val 36459"/>
            </a:avLst>
          </a:prstGeom>
          <a:noFill/>
        </p:spPr>
        <p:txBody>
          <a:bodyPr>
            <a:normAutofit/>
          </a:bodyPr>
          <a:lstStyle/>
          <a:p>
            <a:r>
              <a:rPr lang="en-US" sz="4000" b="1" dirty="0">
                <a:solidFill>
                  <a:srgbClr val="002060"/>
                </a:solidFill>
              </a:rPr>
              <a:t>	ANALYSIS: CRYSTAL EDGES</a:t>
            </a:r>
            <a:endParaRPr lang="it-IT" sz="4000" b="1" dirty="0">
              <a:solidFill>
                <a:srgbClr val="002060"/>
              </a:solidFill>
            </a:endParaRPr>
          </a:p>
        </p:txBody>
      </p:sp>
      <p:sp>
        <p:nvSpPr>
          <p:cNvPr id="4" name="Segnaposto data 3">
            <a:extLst>
              <a:ext uri="{FF2B5EF4-FFF2-40B4-BE49-F238E27FC236}">
                <a16:creationId xmlns:a16="http://schemas.microsoft.com/office/drawing/2014/main" id="{ABA4CEBC-60F1-0184-E023-70985E2ACD9B}"/>
              </a:ext>
            </a:extLst>
          </p:cNvPr>
          <p:cNvSpPr>
            <a:spLocks noGrp="1"/>
          </p:cNvSpPr>
          <p:nvPr>
            <p:ph type="dt" sz="half" idx="10"/>
          </p:nvPr>
        </p:nvSpPr>
        <p:spPr>
          <a:xfrm>
            <a:off x="838200" y="6356349"/>
            <a:ext cx="2743200" cy="432000"/>
          </a:xfrm>
        </p:spPr>
        <p:txBody>
          <a:bodyPr/>
          <a:lstStyle/>
          <a:p>
            <a:r>
              <a:rPr lang="it-IT" sz="1500" b="1" dirty="0">
                <a:solidFill>
                  <a:srgbClr val="002060"/>
                </a:solidFill>
              </a:rPr>
              <a:t>24.08.2026</a:t>
            </a:r>
          </a:p>
        </p:txBody>
      </p:sp>
      <p:sp>
        <p:nvSpPr>
          <p:cNvPr id="5" name="Segnaposto piè di pagina 4">
            <a:extLst>
              <a:ext uri="{FF2B5EF4-FFF2-40B4-BE49-F238E27FC236}">
                <a16:creationId xmlns:a16="http://schemas.microsoft.com/office/drawing/2014/main" id="{EB11CE4E-EB53-C140-B53A-0D88851B4DDC}"/>
              </a:ext>
            </a:extLst>
          </p:cNvPr>
          <p:cNvSpPr>
            <a:spLocks noGrp="1"/>
          </p:cNvSpPr>
          <p:nvPr>
            <p:ph type="ftr" sz="quarter" idx="11"/>
          </p:nvPr>
        </p:nvSpPr>
        <p:spPr>
          <a:xfrm>
            <a:off x="0" y="6356349"/>
            <a:ext cx="12192000" cy="432000"/>
          </a:xfrm>
        </p:spPr>
        <p:txBody>
          <a:bodyPr/>
          <a:lstStyle/>
          <a:p>
            <a:r>
              <a:rPr lang="it-IT" sz="1500" b="1" dirty="0">
                <a:solidFill>
                  <a:srgbClr val="002060"/>
                </a:solidFill>
              </a:rPr>
              <a:t>Anna Sofia Moro</a:t>
            </a:r>
          </a:p>
        </p:txBody>
      </p:sp>
      <p:cxnSp>
        <p:nvCxnSpPr>
          <p:cNvPr id="10" name="Connettore diritto 9">
            <a:extLst>
              <a:ext uri="{FF2B5EF4-FFF2-40B4-BE49-F238E27FC236}">
                <a16:creationId xmlns:a16="http://schemas.microsoft.com/office/drawing/2014/main" id="{75146DE0-E35B-C913-516F-B524AE98D1E5}"/>
              </a:ext>
            </a:extLst>
          </p:cNvPr>
          <p:cNvCxnSpPr>
            <a:cxnSpLocks/>
          </p:cNvCxnSpPr>
          <p:nvPr/>
        </p:nvCxnSpPr>
        <p:spPr>
          <a:xfrm>
            <a:off x="696000" y="1155368"/>
            <a:ext cx="10800000" cy="0"/>
          </a:xfrm>
          <a:prstGeom prst="line">
            <a:avLst/>
          </a:prstGeom>
          <a:ln w="38100">
            <a:solidFill>
              <a:srgbClr val="002060"/>
            </a:solidFill>
          </a:ln>
        </p:spPr>
        <p:style>
          <a:lnRef idx="2">
            <a:schemeClr val="accent1"/>
          </a:lnRef>
          <a:fillRef idx="0">
            <a:schemeClr val="accent1"/>
          </a:fillRef>
          <a:effectRef idx="1">
            <a:schemeClr val="accent1"/>
          </a:effectRef>
          <a:fontRef idx="minor">
            <a:schemeClr val="tx1"/>
          </a:fontRef>
        </p:style>
      </p:cxnSp>
      <p:sp>
        <p:nvSpPr>
          <p:cNvPr id="8" name="Titolo 1">
            <a:extLst>
              <a:ext uri="{FF2B5EF4-FFF2-40B4-BE49-F238E27FC236}">
                <a16:creationId xmlns:a16="http://schemas.microsoft.com/office/drawing/2014/main" id="{80B2B424-9849-145A-2492-F34D48C15AE5}"/>
              </a:ext>
            </a:extLst>
          </p:cNvPr>
          <p:cNvSpPr txBox="1">
            <a:spLocks/>
          </p:cNvSpPr>
          <p:nvPr/>
        </p:nvSpPr>
        <p:spPr>
          <a:xfrm>
            <a:off x="696000" y="688243"/>
            <a:ext cx="10800000" cy="559599"/>
          </a:xfrm>
          <a:prstGeom prst="roundRect">
            <a:avLst>
              <a:gd name="adj" fmla="val 0"/>
            </a:avLst>
          </a:prstGeom>
          <a:noFill/>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en-US" sz="2000" b="1" i="1" dirty="0">
                <a:solidFill>
                  <a:srgbClr val="002060"/>
                </a:solidFill>
                <a:ea typeface="Calibri" panose="020F0502020204030204" pitchFamily="34" charset="0"/>
                <a:cs typeface="Calibri" panose="020F0502020204030204" pitchFamily="34" charset="0"/>
              </a:rPr>
              <a:t>PRELIMINARY ANALYSIS</a:t>
            </a:r>
            <a:endParaRPr lang="it-IT" sz="2000" b="1" i="1" dirty="0">
              <a:solidFill>
                <a:srgbClr val="002060"/>
              </a:solidFill>
              <a:ea typeface="Calibri" panose="020F0502020204030204" pitchFamily="34" charset="0"/>
              <a:cs typeface="Calibri" panose="020F0502020204030204" pitchFamily="34" charset="0"/>
            </a:endParaRPr>
          </a:p>
        </p:txBody>
      </p:sp>
      <p:sp>
        <p:nvSpPr>
          <p:cNvPr id="12" name="Rettangolo con angoli arrotondati 6">
            <a:extLst>
              <a:ext uri="{FF2B5EF4-FFF2-40B4-BE49-F238E27FC236}">
                <a16:creationId xmlns:a16="http://schemas.microsoft.com/office/drawing/2014/main" id="{309F55BB-E4B4-87F7-D586-E138FDEB31BC}"/>
              </a:ext>
            </a:extLst>
          </p:cNvPr>
          <p:cNvSpPr/>
          <p:nvPr/>
        </p:nvSpPr>
        <p:spPr>
          <a:xfrm>
            <a:off x="812500" y="2244679"/>
            <a:ext cx="1980000" cy="2803043"/>
          </a:xfrm>
          <a:prstGeom prst="roundRect">
            <a:avLst/>
          </a:prstGeom>
          <a:noFill/>
          <a:ln w="38100">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endParaRPr lang="it-IT" sz="1400" b="1" dirty="0">
              <a:solidFill>
                <a:srgbClr val="002060"/>
              </a:solidFill>
            </a:endParaRPr>
          </a:p>
          <a:p>
            <a:pPr algn="ctr"/>
            <a:endParaRPr lang="it-IT" sz="1400" b="1" dirty="0">
              <a:solidFill>
                <a:srgbClr val="002060"/>
              </a:solidFill>
            </a:endParaRPr>
          </a:p>
          <a:p>
            <a:pPr algn="ctr"/>
            <a:endParaRPr lang="it-IT" sz="1400" b="1" dirty="0">
              <a:solidFill>
                <a:srgbClr val="002060"/>
              </a:solidFill>
            </a:endParaRPr>
          </a:p>
          <a:p>
            <a:pPr algn="ctr"/>
            <a:r>
              <a:rPr lang="it-IT" sz="1400" b="1" dirty="0">
                <a:solidFill>
                  <a:srgbClr val="002060"/>
                </a:solidFill>
              </a:rPr>
              <a:t>CRYSTAL EDGES</a:t>
            </a:r>
          </a:p>
          <a:p>
            <a:pPr algn="ctr"/>
            <a:endParaRPr lang="it-IT" sz="1400" dirty="0">
              <a:solidFill>
                <a:schemeClr val="tx1"/>
              </a:solidFill>
            </a:endParaRPr>
          </a:p>
          <a:p>
            <a:pPr algn="ctr"/>
            <a:r>
              <a:rPr lang="en-US" sz="1400" dirty="0">
                <a:solidFill>
                  <a:schemeClr val="tx1"/>
                </a:solidFill>
              </a:rPr>
              <a:t>Reconstruct the (</a:t>
            </a:r>
            <a:r>
              <a:rPr lang="en-US" sz="1400" dirty="0" err="1">
                <a:solidFill>
                  <a:schemeClr val="tx1"/>
                </a:solidFill>
              </a:rPr>
              <a:t>x,y</a:t>
            </a:r>
            <a:r>
              <a:rPr lang="en-US" sz="1400" dirty="0">
                <a:solidFill>
                  <a:schemeClr val="tx1"/>
                </a:solidFill>
              </a:rPr>
              <a:t>) spatial window illuminated by the crystal </a:t>
            </a:r>
          </a:p>
          <a:p>
            <a:pPr algn="ctr"/>
            <a:r>
              <a:rPr lang="en-US" sz="1400" i="1" dirty="0">
                <a:solidFill>
                  <a:schemeClr val="tx1"/>
                </a:solidFill>
              </a:rPr>
              <a:t>(2 independent methods)</a:t>
            </a:r>
            <a:endParaRPr lang="it-IT" sz="1400" i="1" dirty="0">
              <a:solidFill>
                <a:schemeClr val="tx1"/>
              </a:solidFill>
            </a:endParaRPr>
          </a:p>
          <a:p>
            <a:pPr algn="ctr"/>
            <a:endParaRPr lang="it-IT" sz="1400" dirty="0">
              <a:solidFill>
                <a:schemeClr val="tx1"/>
              </a:solidFill>
            </a:endParaRPr>
          </a:p>
        </p:txBody>
      </p:sp>
      <p:pic>
        <p:nvPicPr>
          <p:cNvPr id="22" name="Elemento grafico 17">
            <a:extLst>
              <a:ext uri="{FF2B5EF4-FFF2-40B4-BE49-F238E27FC236}">
                <a16:creationId xmlns:a16="http://schemas.microsoft.com/office/drawing/2014/main" id="{5416B041-4C4B-3761-9E57-EA0B8BAC73B2}"/>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1532500" y="2386154"/>
            <a:ext cx="540000" cy="540000"/>
          </a:xfrm>
          <a:prstGeom prst="rect">
            <a:avLst/>
          </a:prstGeom>
        </p:spPr>
      </p:pic>
      <p:sp>
        <p:nvSpPr>
          <p:cNvPr id="23" name="Segnaposto contenuto 2">
            <a:extLst>
              <a:ext uri="{FF2B5EF4-FFF2-40B4-BE49-F238E27FC236}">
                <a16:creationId xmlns:a16="http://schemas.microsoft.com/office/drawing/2014/main" id="{3E38248F-7A7F-BEAA-86B8-CBA0104C77D9}"/>
              </a:ext>
            </a:extLst>
          </p:cNvPr>
          <p:cNvSpPr>
            <a:spLocks noGrp="1"/>
          </p:cNvSpPr>
          <p:nvPr>
            <p:ph idx="1"/>
          </p:nvPr>
        </p:nvSpPr>
        <p:spPr>
          <a:xfrm>
            <a:off x="3061015" y="1311415"/>
            <a:ext cx="8434985" cy="2008728"/>
          </a:xfrm>
        </p:spPr>
        <p:txBody>
          <a:bodyPr>
            <a:normAutofit/>
          </a:bodyPr>
          <a:lstStyle/>
          <a:p>
            <a:pPr marL="0" indent="0">
              <a:buNone/>
            </a:pPr>
            <a:endParaRPr lang="it-IT" sz="2000" dirty="0"/>
          </a:p>
        </p:txBody>
      </p:sp>
      <p:sp>
        <p:nvSpPr>
          <p:cNvPr id="6" name="Segnaposto numero diapositiva 5">
            <a:extLst>
              <a:ext uri="{FF2B5EF4-FFF2-40B4-BE49-F238E27FC236}">
                <a16:creationId xmlns:a16="http://schemas.microsoft.com/office/drawing/2014/main" id="{CAA39A00-F014-8CC8-1760-1DE770570D56}"/>
              </a:ext>
            </a:extLst>
          </p:cNvPr>
          <p:cNvSpPr>
            <a:spLocks noGrp="1"/>
          </p:cNvSpPr>
          <p:nvPr>
            <p:ph type="sldNum" sz="quarter" idx="12"/>
          </p:nvPr>
        </p:nvSpPr>
        <p:spPr>
          <a:xfrm>
            <a:off x="8610600" y="6356349"/>
            <a:ext cx="2743200" cy="432000"/>
          </a:xfrm>
        </p:spPr>
        <p:txBody>
          <a:bodyPr/>
          <a:lstStyle/>
          <a:p>
            <a:fld id="{0A318BD9-CA14-4A83-ACF0-03D5918EB402}" type="slidenum">
              <a:rPr lang="it-IT" sz="1500" b="1" smtClean="0">
                <a:solidFill>
                  <a:srgbClr val="002060"/>
                </a:solidFill>
              </a:rPr>
              <a:t>9</a:t>
            </a:fld>
            <a:endParaRPr lang="it-IT" sz="1500" b="1" dirty="0">
              <a:solidFill>
                <a:srgbClr val="002060"/>
              </a:solidFill>
            </a:endParaRPr>
          </a:p>
        </p:txBody>
      </p:sp>
    </p:spTree>
    <p:extLst>
      <p:ext uri="{BB962C8B-B14F-4D97-AF65-F5344CB8AC3E}">
        <p14:creationId xmlns:p14="http://schemas.microsoft.com/office/powerpoint/2010/main" val="130770560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27DD08-9028-2626-0C30-16CE4706D440}"/>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1C89B334-8FC2-8557-7DF6-C6AF75D1056B}"/>
              </a:ext>
            </a:extLst>
          </p:cNvPr>
          <p:cNvSpPr>
            <a:spLocks noGrp="1"/>
          </p:cNvSpPr>
          <p:nvPr>
            <p:ph type="title"/>
          </p:nvPr>
        </p:nvSpPr>
        <p:spPr>
          <a:xfrm>
            <a:off x="38100" y="69651"/>
            <a:ext cx="12114000" cy="1153094"/>
          </a:xfrm>
          <a:prstGeom prst="roundRect">
            <a:avLst>
              <a:gd name="adj" fmla="val 36459"/>
            </a:avLst>
          </a:prstGeom>
          <a:noFill/>
        </p:spPr>
        <p:txBody>
          <a:bodyPr>
            <a:normAutofit/>
          </a:bodyPr>
          <a:lstStyle/>
          <a:p>
            <a:r>
              <a:rPr lang="en-US" sz="4000" b="1" dirty="0">
                <a:solidFill>
                  <a:srgbClr val="002060"/>
                </a:solidFill>
              </a:rPr>
              <a:t>	ANALYSIS: MAPPING THE TORSION</a:t>
            </a:r>
            <a:endParaRPr lang="it-IT" sz="4000" b="1" dirty="0">
              <a:solidFill>
                <a:srgbClr val="002060"/>
              </a:solidFill>
            </a:endParaRPr>
          </a:p>
        </p:txBody>
      </p:sp>
      <p:sp>
        <p:nvSpPr>
          <p:cNvPr id="4" name="Segnaposto data 3">
            <a:extLst>
              <a:ext uri="{FF2B5EF4-FFF2-40B4-BE49-F238E27FC236}">
                <a16:creationId xmlns:a16="http://schemas.microsoft.com/office/drawing/2014/main" id="{459A8210-84E1-1B1F-B7A2-C78D16A1F9DF}"/>
              </a:ext>
            </a:extLst>
          </p:cNvPr>
          <p:cNvSpPr>
            <a:spLocks noGrp="1"/>
          </p:cNvSpPr>
          <p:nvPr>
            <p:ph type="dt" sz="half" idx="10"/>
          </p:nvPr>
        </p:nvSpPr>
        <p:spPr>
          <a:xfrm>
            <a:off x="838200" y="6356349"/>
            <a:ext cx="2743200" cy="432000"/>
          </a:xfrm>
        </p:spPr>
        <p:txBody>
          <a:bodyPr/>
          <a:lstStyle/>
          <a:p>
            <a:r>
              <a:rPr lang="it-IT" sz="1500" b="1" dirty="0">
                <a:solidFill>
                  <a:srgbClr val="002060"/>
                </a:solidFill>
              </a:rPr>
              <a:t>24.08.2026</a:t>
            </a:r>
          </a:p>
        </p:txBody>
      </p:sp>
      <p:sp>
        <p:nvSpPr>
          <p:cNvPr id="5" name="Segnaposto piè di pagina 4">
            <a:extLst>
              <a:ext uri="{FF2B5EF4-FFF2-40B4-BE49-F238E27FC236}">
                <a16:creationId xmlns:a16="http://schemas.microsoft.com/office/drawing/2014/main" id="{C2F4CA95-60D2-E98C-73BD-3775E7D80AD6}"/>
              </a:ext>
            </a:extLst>
          </p:cNvPr>
          <p:cNvSpPr>
            <a:spLocks noGrp="1"/>
          </p:cNvSpPr>
          <p:nvPr>
            <p:ph type="ftr" sz="quarter" idx="11"/>
          </p:nvPr>
        </p:nvSpPr>
        <p:spPr>
          <a:xfrm>
            <a:off x="0" y="6356349"/>
            <a:ext cx="12192000" cy="432000"/>
          </a:xfrm>
        </p:spPr>
        <p:txBody>
          <a:bodyPr/>
          <a:lstStyle/>
          <a:p>
            <a:r>
              <a:rPr lang="it-IT" sz="1500" b="1" dirty="0">
                <a:solidFill>
                  <a:srgbClr val="002060"/>
                </a:solidFill>
              </a:rPr>
              <a:t>Anna Sofia Moro</a:t>
            </a:r>
          </a:p>
        </p:txBody>
      </p:sp>
      <p:cxnSp>
        <p:nvCxnSpPr>
          <p:cNvPr id="10" name="Connettore diritto 9">
            <a:extLst>
              <a:ext uri="{FF2B5EF4-FFF2-40B4-BE49-F238E27FC236}">
                <a16:creationId xmlns:a16="http://schemas.microsoft.com/office/drawing/2014/main" id="{D89D8718-61CF-C8C9-3449-EDE596B88E94}"/>
              </a:ext>
            </a:extLst>
          </p:cNvPr>
          <p:cNvCxnSpPr>
            <a:cxnSpLocks/>
          </p:cNvCxnSpPr>
          <p:nvPr/>
        </p:nvCxnSpPr>
        <p:spPr>
          <a:xfrm>
            <a:off x="696000" y="1155368"/>
            <a:ext cx="10800000" cy="0"/>
          </a:xfrm>
          <a:prstGeom prst="line">
            <a:avLst/>
          </a:prstGeom>
          <a:ln w="38100">
            <a:solidFill>
              <a:srgbClr val="002060"/>
            </a:solidFill>
          </a:ln>
        </p:spPr>
        <p:style>
          <a:lnRef idx="2">
            <a:schemeClr val="accent1"/>
          </a:lnRef>
          <a:fillRef idx="0">
            <a:schemeClr val="accent1"/>
          </a:fillRef>
          <a:effectRef idx="1">
            <a:schemeClr val="accent1"/>
          </a:effectRef>
          <a:fontRef idx="minor">
            <a:schemeClr val="tx1"/>
          </a:fontRef>
        </p:style>
      </p:cxnSp>
      <p:sp>
        <p:nvSpPr>
          <p:cNvPr id="8" name="Titolo 1">
            <a:extLst>
              <a:ext uri="{FF2B5EF4-FFF2-40B4-BE49-F238E27FC236}">
                <a16:creationId xmlns:a16="http://schemas.microsoft.com/office/drawing/2014/main" id="{DA6986EC-16C8-481B-0365-C4CCE0C1C52E}"/>
              </a:ext>
            </a:extLst>
          </p:cNvPr>
          <p:cNvSpPr txBox="1">
            <a:spLocks/>
          </p:cNvSpPr>
          <p:nvPr/>
        </p:nvSpPr>
        <p:spPr>
          <a:xfrm>
            <a:off x="696000" y="688243"/>
            <a:ext cx="10800000" cy="559599"/>
          </a:xfrm>
          <a:prstGeom prst="roundRect">
            <a:avLst>
              <a:gd name="adj" fmla="val 0"/>
            </a:avLst>
          </a:prstGeom>
          <a:noFill/>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en-US" sz="2000" b="1" i="1" dirty="0">
                <a:solidFill>
                  <a:srgbClr val="002060"/>
                </a:solidFill>
                <a:ea typeface="Calibri" panose="020F0502020204030204" pitchFamily="34" charset="0"/>
                <a:cs typeface="Calibri" panose="020F0502020204030204" pitchFamily="34" charset="0"/>
              </a:rPr>
              <a:t>PRELIMINARY ANALYSIS</a:t>
            </a:r>
            <a:endParaRPr lang="it-IT" sz="2000" b="1" i="1" dirty="0">
              <a:solidFill>
                <a:srgbClr val="002060"/>
              </a:solidFill>
              <a:ea typeface="Calibri" panose="020F0502020204030204" pitchFamily="34" charset="0"/>
              <a:cs typeface="Calibri" panose="020F0502020204030204" pitchFamily="34" charset="0"/>
            </a:endParaRPr>
          </a:p>
        </p:txBody>
      </p:sp>
      <mc:AlternateContent xmlns:mc="http://schemas.openxmlformats.org/markup-compatibility/2006">
        <mc:Choice xmlns:a14="http://schemas.microsoft.com/office/drawing/2010/main" Requires="a14">
          <p:sp>
            <p:nvSpPr>
              <p:cNvPr id="12" name="Rettangolo con angoli arrotondati 6">
                <a:extLst>
                  <a:ext uri="{FF2B5EF4-FFF2-40B4-BE49-F238E27FC236}">
                    <a16:creationId xmlns:a16="http://schemas.microsoft.com/office/drawing/2014/main" id="{F2615BE5-D9C4-0BBA-8176-CDC1C4A50E23}"/>
                  </a:ext>
                </a:extLst>
              </p:cNvPr>
              <p:cNvSpPr/>
              <p:nvPr/>
            </p:nvSpPr>
            <p:spPr>
              <a:xfrm>
                <a:off x="812500" y="2244679"/>
                <a:ext cx="1980000" cy="2803043"/>
              </a:xfrm>
              <a:prstGeom prst="roundRect">
                <a:avLst/>
              </a:prstGeom>
              <a:noFill/>
              <a:ln w="38100">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endParaRPr lang="it-IT" sz="1400" b="1" dirty="0">
                  <a:solidFill>
                    <a:srgbClr val="002060"/>
                  </a:solidFill>
                </a:endParaRPr>
              </a:p>
              <a:p>
                <a:pPr algn="ctr"/>
                <a:endParaRPr lang="it-IT" sz="1400" b="1" dirty="0">
                  <a:solidFill>
                    <a:srgbClr val="002060"/>
                  </a:solidFill>
                </a:endParaRPr>
              </a:p>
              <a:p>
                <a:pPr algn="ctr"/>
                <a:endParaRPr lang="it-IT" sz="1400" b="1" dirty="0">
                  <a:solidFill>
                    <a:srgbClr val="002060"/>
                  </a:solidFill>
                </a:endParaRPr>
              </a:p>
              <a:p>
                <a:pPr algn="ctr"/>
                <a:r>
                  <a:rPr lang="it-IT" sz="1400" b="1" dirty="0">
                    <a:solidFill>
                      <a:srgbClr val="002060"/>
                    </a:solidFill>
                  </a:rPr>
                  <a:t>TORSION MAP</a:t>
                </a:r>
              </a:p>
              <a:p>
                <a:pPr algn="ctr"/>
                <a:endParaRPr lang="en-US" sz="1400" dirty="0">
                  <a:solidFill>
                    <a:schemeClr val="tx1"/>
                  </a:solidFill>
                </a:endParaRPr>
              </a:p>
              <a:p>
                <a:pPr algn="ctr"/>
                <a:r>
                  <a:rPr lang="it-IT" sz="1400" dirty="0">
                    <a:solidFill>
                      <a:schemeClr val="tx1"/>
                    </a:solidFill>
                  </a:rPr>
                  <a:t>2D checkerboard grid analysis of the entrance face:</a:t>
                </a:r>
              </a:p>
              <a:p>
                <a:pPr algn="ctr"/>
                <a:r>
                  <a:rPr lang="it-IT" sz="1400" dirty="0">
                    <a:solidFill>
                      <a:schemeClr val="tx1"/>
                    </a:solidFill>
                  </a:rPr>
                  <a:t>surface fit to obtain </a:t>
                </a:r>
                <a14:m>
                  <m:oMath xmlns:m="http://schemas.openxmlformats.org/officeDocument/2006/math">
                    <m:sSub>
                      <m:sSubPr>
                        <m:ctrlPr>
                          <a:rPr lang="en-US" sz="1400" i="1">
                            <a:solidFill>
                              <a:schemeClr val="tx1"/>
                            </a:solidFill>
                            <a:latin typeface="Cambria Math" panose="02040503050406030204" pitchFamily="18" charset="0"/>
                          </a:rPr>
                        </m:ctrlPr>
                      </m:sSubPr>
                      <m:e>
                        <m:r>
                          <a:rPr lang="en-US" sz="1400" i="1">
                            <a:solidFill>
                              <a:schemeClr val="tx1"/>
                            </a:solidFill>
                            <a:latin typeface="Cambria Math" panose="02040503050406030204" pitchFamily="18" charset="0"/>
                          </a:rPr>
                          <m:t>𝜏</m:t>
                        </m:r>
                      </m:e>
                      <m:sub>
                        <m:r>
                          <a:rPr lang="en-US" sz="1400" i="1">
                            <a:solidFill>
                              <a:schemeClr val="tx1"/>
                            </a:solidFill>
                            <a:latin typeface="Cambria Math" panose="02040503050406030204" pitchFamily="18" charset="0"/>
                          </a:rPr>
                          <m:t>𝑥</m:t>
                        </m:r>
                      </m:sub>
                    </m:sSub>
                    <m:r>
                      <a:rPr lang="en-US" sz="1400" i="1">
                        <a:solidFill>
                          <a:schemeClr val="tx1"/>
                        </a:solidFill>
                        <a:latin typeface="Cambria Math" panose="02040503050406030204" pitchFamily="18" charset="0"/>
                      </a:rPr>
                      <m:t>, </m:t>
                    </m:r>
                    <m:sSub>
                      <m:sSubPr>
                        <m:ctrlPr>
                          <a:rPr lang="en-US" sz="1400" i="1">
                            <a:solidFill>
                              <a:schemeClr val="tx1"/>
                            </a:solidFill>
                            <a:latin typeface="Cambria Math" panose="02040503050406030204" pitchFamily="18" charset="0"/>
                          </a:rPr>
                        </m:ctrlPr>
                      </m:sSubPr>
                      <m:e>
                        <m:r>
                          <a:rPr lang="en-US" sz="1400" i="1">
                            <a:solidFill>
                              <a:schemeClr val="tx1"/>
                            </a:solidFill>
                            <a:latin typeface="Cambria Math" panose="02040503050406030204" pitchFamily="18" charset="0"/>
                          </a:rPr>
                          <m:t>𝜏</m:t>
                        </m:r>
                      </m:e>
                      <m:sub>
                        <m:r>
                          <a:rPr lang="en-US" sz="1400" i="1">
                            <a:solidFill>
                              <a:schemeClr val="tx1"/>
                            </a:solidFill>
                            <a:latin typeface="Cambria Math" panose="02040503050406030204" pitchFamily="18" charset="0"/>
                          </a:rPr>
                          <m:t>𝑦</m:t>
                        </m:r>
                      </m:sub>
                    </m:sSub>
                  </m:oMath>
                </a14:m>
                <a:endParaRPr lang="it-IT" sz="1400" dirty="0">
                  <a:solidFill>
                    <a:schemeClr val="tx1"/>
                  </a:solidFill>
                </a:endParaRPr>
              </a:p>
            </p:txBody>
          </p:sp>
        </mc:Choice>
        <mc:Fallback>
          <p:sp>
            <p:nvSpPr>
              <p:cNvPr id="12" name="Rettangolo con angoli arrotondati 6">
                <a:extLst>
                  <a:ext uri="{FF2B5EF4-FFF2-40B4-BE49-F238E27FC236}">
                    <a16:creationId xmlns:a16="http://schemas.microsoft.com/office/drawing/2014/main" id="{F2615BE5-D9C4-0BBA-8176-CDC1C4A50E23}"/>
                  </a:ext>
                </a:extLst>
              </p:cNvPr>
              <p:cNvSpPr>
                <a:spLocks noRot="1" noChangeAspect="1" noMove="1" noResize="1" noEditPoints="1" noAdjustHandles="1" noChangeArrowheads="1" noChangeShapeType="1" noTextEdit="1"/>
              </p:cNvSpPr>
              <p:nvPr/>
            </p:nvSpPr>
            <p:spPr>
              <a:xfrm>
                <a:off x="812500" y="2244679"/>
                <a:ext cx="1980000" cy="2803043"/>
              </a:xfrm>
              <a:prstGeom prst="roundRect">
                <a:avLst/>
              </a:prstGeom>
              <a:blipFill>
                <a:blip r:embed="rId3"/>
                <a:stretch>
                  <a:fillRect/>
                </a:stretch>
              </a:blipFill>
              <a:ln w="38100">
                <a:solidFill>
                  <a:srgbClr val="002060"/>
                </a:solidFill>
              </a:ln>
            </p:spPr>
            <p:txBody>
              <a:bodyPr/>
              <a:lstStyle/>
              <a:p>
                <a:r>
                  <a:rPr lang="it-IT">
                    <a:noFill/>
                  </a:rPr>
                  <a:t> </a:t>
                </a:r>
              </a:p>
            </p:txBody>
          </p:sp>
        </mc:Fallback>
      </mc:AlternateContent>
      <p:pic>
        <p:nvPicPr>
          <p:cNvPr id="22" name="Elemento grafico 17">
            <a:extLst>
              <a:ext uri="{FF2B5EF4-FFF2-40B4-BE49-F238E27FC236}">
                <a16:creationId xmlns:a16="http://schemas.microsoft.com/office/drawing/2014/main" id="{86DCC9A3-5A10-C18E-FF21-9136E08DDE76}"/>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1532500" y="2386154"/>
            <a:ext cx="540000" cy="540000"/>
          </a:xfrm>
          <a:prstGeom prst="rect">
            <a:avLst/>
          </a:prstGeom>
        </p:spPr>
      </p:pic>
      <p:sp>
        <p:nvSpPr>
          <p:cNvPr id="23" name="Segnaposto contenuto 2">
            <a:extLst>
              <a:ext uri="{FF2B5EF4-FFF2-40B4-BE49-F238E27FC236}">
                <a16:creationId xmlns:a16="http://schemas.microsoft.com/office/drawing/2014/main" id="{224E4126-2FFD-D3D0-8564-E3DD2F44998E}"/>
              </a:ext>
            </a:extLst>
          </p:cNvPr>
          <p:cNvSpPr>
            <a:spLocks noGrp="1"/>
          </p:cNvSpPr>
          <p:nvPr>
            <p:ph idx="1"/>
          </p:nvPr>
        </p:nvSpPr>
        <p:spPr>
          <a:xfrm>
            <a:off x="3061015" y="1311415"/>
            <a:ext cx="8434985" cy="2008728"/>
          </a:xfrm>
        </p:spPr>
        <p:txBody>
          <a:bodyPr>
            <a:normAutofit/>
          </a:bodyPr>
          <a:lstStyle/>
          <a:p>
            <a:pPr marL="0" indent="0">
              <a:buNone/>
            </a:pPr>
            <a:endParaRPr lang="it-IT" sz="2000" dirty="0"/>
          </a:p>
        </p:txBody>
      </p:sp>
      <p:sp>
        <p:nvSpPr>
          <p:cNvPr id="6" name="Segnaposto numero diapositiva 5">
            <a:extLst>
              <a:ext uri="{FF2B5EF4-FFF2-40B4-BE49-F238E27FC236}">
                <a16:creationId xmlns:a16="http://schemas.microsoft.com/office/drawing/2014/main" id="{BA8AC3DF-93FA-F55A-4650-BED6BBC412BC}"/>
              </a:ext>
            </a:extLst>
          </p:cNvPr>
          <p:cNvSpPr>
            <a:spLocks noGrp="1"/>
          </p:cNvSpPr>
          <p:nvPr>
            <p:ph type="sldNum" sz="quarter" idx="12"/>
          </p:nvPr>
        </p:nvSpPr>
        <p:spPr>
          <a:xfrm>
            <a:off x="8610600" y="6356349"/>
            <a:ext cx="2743200" cy="432000"/>
          </a:xfrm>
        </p:spPr>
        <p:txBody>
          <a:bodyPr/>
          <a:lstStyle/>
          <a:p>
            <a:fld id="{0A318BD9-CA14-4A83-ACF0-03D5918EB402}" type="slidenum">
              <a:rPr lang="it-IT" sz="1500" b="1" smtClean="0">
                <a:solidFill>
                  <a:srgbClr val="002060"/>
                </a:solidFill>
              </a:rPr>
              <a:t>10</a:t>
            </a:fld>
            <a:endParaRPr lang="it-IT" sz="1500" b="1" dirty="0">
              <a:solidFill>
                <a:srgbClr val="002060"/>
              </a:solidFill>
            </a:endParaRPr>
          </a:p>
        </p:txBody>
      </p:sp>
    </p:spTree>
    <p:extLst>
      <p:ext uri="{BB962C8B-B14F-4D97-AF65-F5344CB8AC3E}">
        <p14:creationId xmlns:p14="http://schemas.microsoft.com/office/powerpoint/2010/main" val="332610025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CD0F46FA-DC91-D1E6-7C77-41DC8D025D0C}"/>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C057F4CA-D5FD-4459-489A-10A7EEB52B9E}"/>
              </a:ext>
            </a:extLst>
          </p:cNvPr>
          <p:cNvSpPr>
            <a:spLocks noGrp="1"/>
          </p:cNvSpPr>
          <p:nvPr>
            <p:ph type="title"/>
          </p:nvPr>
        </p:nvSpPr>
        <p:spPr>
          <a:xfrm>
            <a:off x="38100" y="69651"/>
            <a:ext cx="12114000" cy="1153094"/>
          </a:xfrm>
          <a:prstGeom prst="roundRect">
            <a:avLst>
              <a:gd name="adj" fmla="val 36459"/>
            </a:avLst>
          </a:prstGeom>
          <a:noFill/>
        </p:spPr>
        <p:txBody>
          <a:bodyPr>
            <a:normAutofit/>
          </a:bodyPr>
          <a:lstStyle/>
          <a:p>
            <a:r>
              <a:rPr lang="it-IT" b="1" dirty="0">
                <a:solidFill>
                  <a:srgbClr val="002060"/>
                </a:solidFill>
              </a:rPr>
              <a:t>	2. PREVIOUS ANALYSIS: CRYSTAL EDGES</a:t>
            </a:r>
          </a:p>
        </p:txBody>
      </p:sp>
      <p:sp>
        <p:nvSpPr>
          <p:cNvPr id="3" name="Segnaposto contenuto 2">
            <a:extLst>
              <a:ext uri="{FF2B5EF4-FFF2-40B4-BE49-F238E27FC236}">
                <a16:creationId xmlns:a16="http://schemas.microsoft.com/office/drawing/2014/main" id="{123E1616-7B8B-98E7-3A85-9E285091341F}"/>
              </a:ext>
            </a:extLst>
          </p:cNvPr>
          <p:cNvSpPr>
            <a:spLocks noGrp="1"/>
          </p:cNvSpPr>
          <p:nvPr>
            <p:ph idx="1"/>
          </p:nvPr>
        </p:nvSpPr>
        <p:spPr>
          <a:xfrm>
            <a:off x="838200" y="1401288"/>
            <a:ext cx="10766834" cy="4776227"/>
          </a:xfrm>
        </p:spPr>
        <p:txBody>
          <a:bodyPr>
            <a:noAutofit/>
          </a:bodyPr>
          <a:lstStyle/>
          <a:p>
            <a:pPr marL="0" indent="0">
              <a:buNone/>
            </a:pPr>
            <a:r>
              <a:rPr lang="it-IT" sz="2000" dirty="0"/>
              <a:t>To </a:t>
            </a:r>
            <a:r>
              <a:rPr lang="it-IT" sz="2000" dirty="0" err="1"/>
              <a:t>select</a:t>
            </a:r>
            <a:r>
              <a:rPr lang="it-IT" sz="2000" dirty="0"/>
              <a:t> the </a:t>
            </a:r>
            <a:r>
              <a:rPr lang="it-IT" sz="2000" dirty="0" err="1"/>
              <a:t>particles</a:t>
            </a:r>
            <a:r>
              <a:rPr lang="it-IT" sz="2000" dirty="0"/>
              <a:t> that </a:t>
            </a:r>
            <a:r>
              <a:rPr lang="it-IT" sz="2000" dirty="0" err="1"/>
              <a:t>actually</a:t>
            </a:r>
            <a:r>
              <a:rPr lang="it-IT" sz="2000" dirty="0"/>
              <a:t> </a:t>
            </a:r>
            <a:r>
              <a:rPr lang="it-IT" sz="2000" dirty="0" err="1"/>
              <a:t>enter</a:t>
            </a:r>
            <a:r>
              <a:rPr lang="it-IT" sz="2000" dirty="0"/>
              <a:t> the </a:t>
            </a:r>
            <a:r>
              <a:rPr lang="it-IT" sz="2000" dirty="0" err="1"/>
              <a:t>crystal</a:t>
            </a:r>
            <a:r>
              <a:rPr lang="it-IT" sz="2000" dirty="0"/>
              <a:t> we first </a:t>
            </a:r>
            <a:r>
              <a:rPr lang="it-IT" sz="2000" dirty="0" err="1"/>
              <a:t>need</a:t>
            </a:r>
            <a:r>
              <a:rPr lang="it-IT" sz="2000" dirty="0"/>
              <a:t> to know the position of the </a:t>
            </a:r>
            <a:r>
              <a:rPr lang="it-IT" sz="2000" dirty="0" err="1"/>
              <a:t>crystal</a:t>
            </a:r>
            <a:r>
              <a:rPr lang="it-IT" sz="2000" dirty="0"/>
              <a:t> with </a:t>
            </a:r>
            <a:r>
              <a:rPr lang="it-IT" sz="2000" dirty="0" err="1"/>
              <a:t>respect</a:t>
            </a:r>
            <a:r>
              <a:rPr lang="it-IT" sz="2000" dirty="0"/>
              <a:t> to the </a:t>
            </a:r>
            <a:r>
              <a:rPr lang="it-IT" sz="2000" dirty="0" err="1"/>
              <a:t>beam</a:t>
            </a:r>
            <a:r>
              <a:rPr lang="it-IT" sz="2000" dirty="0"/>
              <a:t>.</a:t>
            </a:r>
          </a:p>
          <a:p>
            <a:pPr marL="0" indent="0">
              <a:buNone/>
            </a:pPr>
            <a:endParaRPr lang="it-IT" sz="2000" dirty="0"/>
          </a:p>
          <a:p>
            <a:pPr marL="0" indent="0">
              <a:buNone/>
            </a:pPr>
            <a:endParaRPr lang="it-IT" sz="2000" dirty="0"/>
          </a:p>
          <a:p>
            <a:pPr marL="0" indent="0">
              <a:buNone/>
            </a:pPr>
            <a:endParaRPr lang="it-IT" sz="2000" dirty="0"/>
          </a:p>
          <a:p>
            <a:pPr marL="0" indent="0">
              <a:buNone/>
            </a:pPr>
            <a:endParaRPr lang="it-IT" sz="2000" dirty="0"/>
          </a:p>
          <a:p>
            <a:pPr marL="0" indent="0">
              <a:buNone/>
            </a:pPr>
            <a:endParaRPr lang="it-IT" sz="2000" dirty="0"/>
          </a:p>
          <a:p>
            <a:pPr marL="0" indent="0">
              <a:buNone/>
            </a:pPr>
            <a:endParaRPr lang="it-IT" sz="1600" dirty="0"/>
          </a:p>
          <a:p>
            <a:pPr marL="0" indent="0">
              <a:buNone/>
            </a:pPr>
            <a:endParaRPr lang="it-IT" sz="1600" dirty="0"/>
          </a:p>
          <a:p>
            <a:pPr marL="0" indent="0">
              <a:buNone/>
            </a:pPr>
            <a:endParaRPr lang="it-IT" sz="1600" dirty="0"/>
          </a:p>
          <a:p>
            <a:pPr marL="0" indent="0">
              <a:buNone/>
            </a:pPr>
            <a:endParaRPr lang="it-IT" sz="2000" dirty="0"/>
          </a:p>
          <a:p>
            <a:pPr marL="0" indent="0">
              <a:buNone/>
            </a:pPr>
            <a:r>
              <a:rPr lang="it-IT" sz="2000" dirty="0"/>
              <a:t>We </a:t>
            </a:r>
            <a:r>
              <a:rPr lang="it-IT" sz="2000" dirty="0" err="1"/>
              <a:t>then</a:t>
            </a:r>
            <a:r>
              <a:rPr lang="it-IT" sz="2000" dirty="0"/>
              <a:t> look </a:t>
            </a:r>
            <a:r>
              <a:rPr lang="it-IT" sz="2000" dirty="0" err="1"/>
              <a:t>at</a:t>
            </a:r>
            <a:r>
              <a:rPr lang="it-IT" sz="2000" dirty="0"/>
              <a:t> </a:t>
            </a:r>
            <a:r>
              <a:rPr lang="it-IT" sz="2000" dirty="0" err="1"/>
              <a:t>channeled</a:t>
            </a:r>
            <a:r>
              <a:rPr lang="it-IT" sz="2000" dirty="0"/>
              <a:t> </a:t>
            </a:r>
            <a:r>
              <a:rPr lang="it-IT" sz="2000" dirty="0" err="1"/>
              <a:t>particles</a:t>
            </a:r>
            <a:r>
              <a:rPr lang="it-IT" sz="2000" dirty="0"/>
              <a:t> </a:t>
            </a:r>
            <a:r>
              <a:rPr lang="it-IT" sz="2000" dirty="0" err="1"/>
              <a:t>only</a:t>
            </a:r>
            <a:r>
              <a:rPr lang="it-IT" sz="2000" dirty="0"/>
              <a:t> using a </a:t>
            </a:r>
            <a:r>
              <a:rPr lang="it-IT" sz="2000" dirty="0" err="1"/>
              <a:t>preliminary</a:t>
            </a:r>
            <a:r>
              <a:rPr lang="it-IT" sz="2000" dirty="0"/>
              <a:t> </a:t>
            </a:r>
            <a:r>
              <a:rPr lang="it-IT" sz="2000" dirty="0" err="1"/>
              <a:t>deflection</a:t>
            </a:r>
            <a:r>
              <a:rPr lang="it-IT" sz="2000" dirty="0"/>
              <a:t> cut. </a:t>
            </a:r>
            <a:r>
              <a:rPr lang="it-IT" sz="2000" dirty="0" err="1"/>
              <a:t>Their</a:t>
            </a:r>
            <a:r>
              <a:rPr lang="it-IT" sz="2000" dirty="0"/>
              <a:t> impact points </a:t>
            </a:r>
            <a:r>
              <a:rPr lang="it-IT" sz="2000" dirty="0" err="1"/>
              <a:t>reveal</a:t>
            </a:r>
            <a:r>
              <a:rPr lang="it-IT" sz="2000" dirty="0"/>
              <a:t> the </a:t>
            </a:r>
            <a:r>
              <a:rPr lang="it-IT" sz="2000" dirty="0" err="1"/>
              <a:t>crystal's</a:t>
            </a:r>
            <a:r>
              <a:rPr lang="it-IT" sz="2000" dirty="0"/>
              <a:t> </a:t>
            </a:r>
            <a:r>
              <a:rPr lang="it-IT" sz="2000" dirty="0" err="1"/>
              <a:t>physical</a:t>
            </a:r>
            <a:r>
              <a:rPr lang="it-IT" sz="2000" dirty="0"/>
              <a:t> location, matching </a:t>
            </a:r>
            <a:r>
              <a:rPr lang="it-IT" sz="2000" dirty="0" err="1"/>
              <a:t>its</a:t>
            </a:r>
            <a:r>
              <a:rPr lang="it-IT" sz="2000" dirty="0"/>
              <a:t> </a:t>
            </a:r>
            <a:r>
              <a:rPr lang="it-IT" sz="2000" dirty="0" err="1"/>
              <a:t>expected</a:t>
            </a:r>
            <a:r>
              <a:rPr lang="it-IT" sz="2000" dirty="0"/>
              <a:t> </a:t>
            </a:r>
            <a:r>
              <a:rPr lang="it-IT" sz="2000" dirty="0" err="1"/>
              <a:t>dimensions</a:t>
            </a:r>
            <a:r>
              <a:rPr lang="it-IT" sz="2000" dirty="0"/>
              <a:t>.</a:t>
            </a:r>
          </a:p>
        </p:txBody>
      </p:sp>
      <p:sp>
        <p:nvSpPr>
          <p:cNvPr id="4" name="Segnaposto data 3">
            <a:extLst>
              <a:ext uri="{FF2B5EF4-FFF2-40B4-BE49-F238E27FC236}">
                <a16:creationId xmlns:a16="http://schemas.microsoft.com/office/drawing/2014/main" id="{4E39A7DB-C620-BC97-5527-E50A35B09E93}"/>
              </a:ext>
            </a:extLst>
          </p:cNvPr>
          <p:cNvSpPr>
            <a:spLocks noGrp="1"/>
          </p:cNvSpPr>
          <p:nvPr>
            <p:ph type="dt" sz="half" idx="10"/>
          </p:nvPr>
        </p:nvSpPr>
        <p:spPr>
          <a:xfrm>
            <a:off x="838200" y="6356349"/>
            <a:ext cx="2743200" cy="432000"/>
          </a:xfrm>
        </p:spPr>
        <p:txBody>
          <a:bodyPr/>
          <a:lstStyle/>
          <a:p>
            <a:r>
              <a:rPr lang="it-IT" sz="1500" b="1" dirty="0">
                <a:solidFill>
                  <a:srgbClr val="002060"/>
                </a:solidFill>
              </a:rPr>
              <a:t>24.08.2026</a:t>
            </a:r>
          </a:p>
        </p:txBody>
      </p:sp>
      <p:sp>
        <p:nvSpPr>
          <p:cNvPr id="5" name="Segnaposto piè di pagina 4">
            <a:extLst>
              <a:ext uri="{FF2B5EF4-FFF2-40B4-BE49-F238E27FC236}">
                <a16:creationId xmlns:a16="http://schemas.microsoft.com/office/drawing/2014/main" id="{D1CD300B-0EBD-6ABE-1FC8-EBE2164DCD6B}"/>
              </a:ext>
            </a:extLst>
          </p:cNvPr>
          <p:cNvSpPr>
            <a:spLocks noGrp="1"/>
          </p:cNvSpPr>
          <p:nvPr>
            <p:ph type="ftr" sz="quarter" idx="11"/>
          </p:nvPr>
        </p:nvSpPr>
        <p:spPr>
          <a:xfrm>
            <a:off x="0" y="6356349"/>
            <a:ext cx="12192000" cy="432000"/>
          </a:xfrm>
        </p:spPr>
        <p:txBody>
          <a:bodyPr/>
          <a:lstStyle/>
          <a:p>
            <a:r>
              <a:rPr lang="it-IT" sz="1500" b="1" dirty="0">
                <a:solidFill>
                  <a:srgbClr val="002060"/>
                </a:solidFill>
              </a:rPr>
              <a:t>Anna Sofia Moro</a:t>
            </a:r>
          </a:p>
        </p:txBody>
      </p:sp>
      <p:sp>
        <p:nvSpPr>
          <p:cNvPr id="6" name="Segnaposto numero diapositiva 5">
            <a:extLst>
              <a:ext uri="{FF2B5EF4-FFF2-40B4-BE49-F238E27FC236}">
                <a16:creationId xmlns:a16="http://schemas.microsoft.com/office/drawing/2014/main" id="{D1E12B5E-9162-22A6-B2CE-A7528195A127}"/>
              </a:ext>
            </a:extLst>
          </p:cNvPr>
          <p:cNvSpPr>
            <a:spLocks noGrp="1"/>
          </p:cNvSpPr>
          <p:nvPr>
            <p:ph type="sldNum" sz="quarter" idx="12"/>
          </p:nvPr>
        </p:nvSpPr>
        <p:spPr>
          <a:xfrm>
            <a:off x="8610600" y="6356349"/>
            <a:ext cx="2743200" cy="432000"/>
          </a:xfrm>
        </p:spPr>
        <p:txBody>
          <a:bodyPr/>
          <a:lstStyle/>
          <a:p>
            <a:fld id="{0A318BD9-CA14-4A83-ACF0-03D5918EB402}" type="slidenum">
              <a:rPr lang="it-IT" sz="1500" b="1" smtClean="0">
                <a:solidFill>
                  <a:srgbClr val="002060"/>
                </a:solidFill>
              </a:rPr>
              <a:t>11</a:t>
            </a:fld>
            <a:endParaRPr lang="it-IT" sz="1500" b="1" dirty="0">
              <a:solidFill>
                <a:srgbClr val="002060"/>
              </a:solidFill>
            </a:endParaRPr>
          </a:p>
        </p:txBody>
      </p:sp>
      <p:cxnSp>
        <p:nvCxnSpPr>
          <p:cNvPr id="10" name="Connettore diritto 9">
            <a:extLst>
              <a:ext uri="{FF2B5EF4-FFF2-40B4-BE49-F238E27FC236}">
                <a16:creationId xmlns:a16="http://schemas.microsoft.com/office/drawing/2014/main" id="{4D3F1391-657A-1CAA-5D4C-EA799D1925D9}"/>
              </a:ext>
            </a:extLst>
          </p:cNvPr>
          <p:cNvCxnSpPr>
            <a:cxnSpLocks/>
          </p:cNvCxnSpPr>
          <p:nvPr/>
        </p:nvCxnSpPr>
        <p:spPr>
          <a:xfrm>
            <a:off x="696000" y="1155368"/>
            <a:ext cx="10800000" cy="0"/>
          </a:xfrm>
          <a:prstGeom prst="line">
            <a:avLst/>
          </a:prstGeom>
          <a:ln w="38100">
            <a:solidFill>
              <a:srgbClr val="002060"/>
            </a:solidFill>
          </a:ln>
        </p:spPr>
        <p:style>
          <a:lnRef idx="2">
            <a:schemeClr val="accent1"/>
          </a:lnRef>
          <a:fillRef idx="0">
            <a:schemeClr val="accent1"/>
          </a:fillRef>
          <a:effectRef idx="1">
            <a:schemeClr val="accent1"/>
          </a:effectRef>
          <a:fontRef idx="minor">
            <a:schemeClr val="tx1"/>
          </a:fontRef>
        </p:style>
      </p:cxnSp>
      <p:grpSp>
        <p:nvGrpSpPr>
          <p:cNvPr id="24" name="Gruppo 23">
            <a:extLst>
              <a:ext uri="{FF2B5EF4-FFF2-40B4-BE49-F238E27FC236}">
                <a16:creationId xmlns:a16="http://schemas.microsoft.com/office/drawing/2014/main" id="{0D59DA23-F82A-E144-21AD-4751255283A5}"/>
              </a:ext>
            </a:extLst>
          </p:cNvPr>
          <p:cNvGrpSpPr/>
          <p:nvPr/>
        </p:nvGrpSpPr>
        <p:grpSpPr>
          <a:xfrm>
            <a:off x="232946" y="2156056"/>
            <a:ext cx="9493450" cy="3320716"/>
            <a:chOff x="232946" y="2040556"/>
            <a:chExt cx="9493450" cy="3320716"/>
          </a:xfrm>
        </p:grpSpPr>
        <p:sp>
          <p:nvSpPr>
            <p:cNvPr id="18" name="CasellaDiTesto 17">
              <a:extLst>
                <a:ext uri="{FF2B5EF4-FFF2-40B4-BE49-F238E27FC236}">
                  <a16:creationId xmlns:a16="http://schemas.microsoft.com/office/drawing/2014/main" id="{C4649E7F-5920-3413-5D26-2E2BEBC6E8BB}"/>
                </a:ext>
              </a:extLst>
            </p:cNvPr>
            <p:cNvSpPr txBox="1"/>
            <p:nvPr/>
          </p:nvSpPr>
          <p:spPr>
            <a:xfrm>
              <a:off x="232946" y="2593936"/>
              <a:ext cx="2078388" cy="646331"/>
            </a:xfrm>
            <a:prstGeom prst="rect">
              <a:avLst/>
            </a:prstGeom>
            <a:noFill/>
          </p:spPr>
          <p:txBody>
            <a:bodyPr wrap="square" rtlCol="0">
              <a:spAutoFit/>
            </a:bodyPr>
            <a:lstStyle/>
            <a:p>
              <a:pPr algn="ctr"/>
              <a:r>
                <a:rPr lang="it-IT" i="1" dirty="0">
                  <a:solidFill>
                    <a:srgbClr val="002060"/>
                  </a:solidFill>
                </a:rPr>
                <a:t>IMPACT POSITION</a:t>
              </a:r>
            </a:p>
            <a:p>
              <a:pPr algn="ctr"/>
              <a:r>
                <a:rPr lang="it-IT" i="1" dirty="0">
                  <a:solidFill>
                    <a:srgbClr val="002060"/>
                  </a:solidFill>
                </a:rPr>
                <a:t>OF ALL PARTICLES</a:t>
              </a:r>
            </a:p>
          </p:txBody>
        </p:sp>
        <p:sp>
          <p:nvSpPr>
            <p:cNvPr id="20" name="CasellaDiTesto 19">
              <a:extLst>
                <a:ext uri="{FF2B5EF4-FFF2-40B4-BE49-F238E27FC236}">
                  <a16:creationId xmlns:a16="http://schemas.microsoft.com/office/drawing/2014/main" id="{C4AD72A4-DF42-AA52-22A8-E7633C4A4DC3}"/>
                </a:ext>
              </a:extLst>
            </p:cNvPr>
            <p:cNvSpPr txBox="1"/>
            <p:nvPr/>
          </p:nvSpPr>
          <p:spPr>
            <a:xfrm>
              <a:off x="419100" y="4166393"/>
              <a:ext cx="1979141" cy="646331"/>
            </a:xfrm>
            <a:prstGeom prst="rect">
              <a:avLst/>
            </a:prstGeom>
            <a:noFill/>
          </p:spPr>
          <p:txBody>
            <a:bodyPr wrap="square" rtlCol="0">
              <a:spAutoFit/>
            </a:bodyPr>
            <a:lstStyle/>
            <a:p>
              <a:pPr algn="ctr"/>
              <a:r>
                <a:rPr lang="it-IT" i="1" dirty="0">
                  <a:solidFill>
                    <a:srgbClr val="002060"/>
                  </a:solidFill>
                </a:rPr>
                <a:t>OF CHANNELED PARTICLES</a:t>
              </a:r>
            </a:p>
          </p:txBody>
        </p:sp>
        <p:sp>
          <p:nvSpPr>
            <p:cNvPr id="21" name="Parentesi graffa aperta 20">
              <a:extLst>
                <a:ext uri="{FF2B5EF4-FFF2-40B4-BE49-F238E27FC236}">
                  <a16:creationId xmlns:a16="http://schemas.microsoft.com/office/drawing/2014/main" id="{DE53ED93-825D-AC7F-70D6-688AFF70BE2B}"/>
                </a:ext>
              </a:extLst>
            </p:cNvPr>
            <p:cNvSpPr/>
            <p:nvPr/>
          </p:nvSpPr>
          <p:spPr>
            <a:xfrm>
              <a:off x="2207699" y="2067292"/>
              <a:ext cx="381084" cy="1468619"/>
            </a:xfrm>
            <a:prstGeom prst="leftBrace">
              <a:avLst>
                <a:gd name="adj1" fmla="val 36529"/>
                <a:gd name="adj2" fmla="val 50000"/>
              </a:avLst>
            </a:prstGeom>
            <a:ln w="38100">
              <a:solidFill>
                <a:srgbClr val="00206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it-IT"/>
            </a:p>
          </p:txBody>
        </p:sp>
        <p:sp>
          <p:nvSpPr>
            <p:cNvPr id="23" name="Parentesi graffa aperta 22">
              <a:extLst>
                <a:ext uri="{FF2B5EF4-FFF2-40B4-BE49-F238E27FC236}">
                  <a16:creationId xmlns:a16="http://schemas.microsoft.com/office/drawing/2014/main" id="{2D95720A-BD41-32E8-1D6D-5D7603E6298E}"/>
                </a:ext>
              </a:extLst>
            </p:cNvPr>
            <p:cNvSpPr/>
            <p:nvPr/>
          </p:nvSpPr>
          <p:spPr>
            <a:xfrm>
              <a:off x="2202335" y="3726405"/>
              <a:ext cx="381084" cy="1468619"/>
            </a:xfrm>
            <a:prstGeom prst="leftBrace">
              <a:avLst>
                <a:gd name="adj1" fmla="val 36529"/>
                <a:gd name="adj2" fmla="val 50000"/>
              </a:avLst>
            </a:prstGeom>
            <a:ln w="38100">
              <a:solidFill>
                <a:srgbClr val="00206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it-IT"/>
            </a:p>
          </p:txBody>
        </p:sp>
        <p:grpSp>
          <p:nvGrpSpPr>
            <p:cNvPr id="9" name="Gruppo 8">
              <a:extLst>
                <a:ext uri="{FF2B5EF4-FFF2-40B4-BE49-F238E27FC236}">
                  <a16:creationId xmlns:a16="http://schemas.microsoft.com/office/drawing/2014/main" id="{AFD15A83-2207-4DE2-BC78-72230903C480}"/>
                </a:ext>
              </a:extLst>
            </p:cNvPr>
            <p:cNvGrpSpPr/>
            <p:nvPr/>
          </p:nvGrpSpPr>
          <p:grpSpPr>
            <a:xfrm>
              <a:off x="2463803" y="2040556"/>
              <a:ext cx="7262593" cy="3320716"/>
              <a:chOff x="1111250" y="1222745"/>
              <a:chExt cx="10210800" cy="5582366"/>
            </a:xfrm>
          </p:grpSpPr>
          <p:pic>
            <p:nvPicPr>
              <p:cNvPr id="11" name="Immagine 10">
                <a:extLst>
                  <a:ext uri="{FF2B5EF4-FFF2-40B4-BE49-F238E27FC236}">
                    <a16:creationId xmlns:a16="http://schemas.microsoft.com/office/drawing/2014/main" id="{F3846541-9936-BE45-AAC0-A4FAA0F14FF9}"/>
                  </a:ext>
                </a:extLst>
              </p:cNvPr>
              <p:cNvPicPr>
                <a:picLocks noChangeAspect="1"/>
              </p:cNvPicPr>
              <p:nvPr/>
            </p:nvPicPr>
            <p:blipFill>
              <a:blip r:embed="rId3">
                <a:extLst>
                  <a:ext uri="{28A0092B-C50C-407E-A947-70E740481C1C}">
                    <a14:useLocalDpi xmlns:a14="http://schemas.microsoft.com/office/drawing/2010/main" val="0"/>
                  </a:ext>
                </a:extLst>
              </a:blip>
              <a:srcRect t="5444" b="5444"/>
              <a:stretch/>
            </p:blipFill>
            <p:spPr>
              <a:xfrm>
                <a:off x="1111250" y="1222745"/>
                <a:ext cx="10210800" cy="5582366"/>
              </a:xfrm>
              <a:prstGeom prst="rect">
                <a:avLst/>
              </a:prstGeom>
            </p:spPr>
          </p:pic>
          <p:sp>
            <p:nvSpPr>
              <p:cNvPr id="12" name="Rettangolo 11">
                <a:extLst>
                  <a:ext uri="{FF2B5EF4-FFF2-40B4-BE49-F238E27FC236}">
                    <a16:creationId xmlns:a16="http://schemas.microsoft.com/office/drawing/2014/main" id="{72104B99-B76D-1B5A-2481-411B645C88F2}"/>
                  </a:ext>
                </a:extLst>
              </p:cNvPr>
              <p:cNvSpPr/>
              <p:nvPr/>
            </p:nvSpPr>
            <p:spPr>
              <a:xfrm>
                <a:off x="2740025" y="1964256"/>
                <a:ext cx="527050" cy="974078"/>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3" name="Rettangolo 12">
                <a:extLst>
                  <a:ext uri="{FF2B5EF4-FFF2-40B4-BE49-F238E27FC236}">
                    <a16:creationId xmlns:a16="http://schemas.microsoft.com/office/drawing/2014/main" id="{54E3362A-00F6-7F8F-94C1-5935DA3388E8}"/>
                  </a:ext>
                </a:extLst>
              </p:cNvPr>
              <p:cNvSpPr/>
              <p:nvPr/>
            </p:nvSpPr>
            <p:spPr>
              <a:xfrm>
                <a:off x="7850299" y="1964256"/>
                <a:ext cx="527050" cy="974078"/>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cxnSp>
            <p:nvCxnSpPr>
              <p:cNvPr id="14" name="Connettore diritto 13">
                <a:extLst>
                  <a:ext uri="{FF2B5EF4-FFF2-40B4-BE49-F238E27FC236}">
                    <a16:creationId xmlns:a16="http://schemas.microsoft.com/office/drawing/2014/main" id="{E20FEB9B-0259-DEE6-5B4B-66D2E68CCC94}"/>
                  </a:ext>
                </a:extLst>
              </p:cNvPr>
              <p:cNvCxnSpPr>
                <a:cxnSpLocks/>
              </p:cNvCxnSpPr>
              <p:nvPr/>
            </p:nvCxnSpPr>
            <p:spPr>
              <a:xfrm flipV="1">
                <a:off x="1708151" y="2938334"/>
                <a:ext cx="1031874" cy="1389190"/>
              </a:xfrm>
              <a:prstGeom prst="line">
                <a:avLst/>
              </a:prstGeom>
              <a:ln>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5" name="Connettore diritto 14">
                <a:extLst>
                  <a:ext uri="{FF2B5EF4-FFF2-40B4-BE49-F238E27FC236}">
                    <a16:creationId xmlns:a16="http://schemas.microsoft.com/office/drawing/2014/main" id="{7862B18A-E334-1F11-7B6F-EE12798260E1}"/>
                  </a:ext>
                </a:extLst>
              </p:cNvPr>
              <p:cNvCxnSpPr>
                <a:cxnSpLocks/>
              </p:cNvCxnSpPr>
              <p:nvPr/>
            </p:nvCxnSpPr>
            <p:spPr>
              <a:xfrm flipV="1">
                <a:off x="6812074" y="2938334"/>
                <a:ext cx="1038225" cy="1389190"/>
              </a:xfrm>
              <a:prstGeom prst="line">
                <a:avLst/>
              </a:prstGeom>
              <a:ln>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6" name="Connettore diritto 15">
                <a:extLst>
                  <a:ext uri="{FF2B5EF4-FFF2-40B4-BE49-F238E27FC236}">
                    <a16:creationId xmlns:a16="http://schemas.microsoft.com/office/drawing/2014/main" id="{E74CB15A-2238-C0D7-9D61-AAC36C7C5DDE}"/>
                  </a:ext>
                </a:extLst>
              </p:cNvPr>
              <p:cNvCxnSpPr>
                <a:cxnSpLocks/>
              </p:cNvCxnSpPr>
              <p:nvPr/>
            </p:nvCxnSpPr>
            <p:spPr>
              <a:xfrm flipH="1" flipV="1">
                <a:off x="3267076" y="2938334"/>
                <a:ext cx="2343262" cy="1389190"/>
              </a:xfrm>
              <a:prstGeom prst="line">
                <a:avLst/>
              </a:prstGeom>
              <a:ln>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7" name="Connettore diritto 16">
                <a:extLst>
                  <a:ext uri="{FF2B5EF4-FFF2-40B4-BE49-F238E27FC236}">
                    <a16:creationId xmlns:a16="http://schemas.microsoft.com/office/drawing/2014/main" id="{189F36E2-03E7-17E7-185F-9E706841666B}"/>
                  </a:ext>
                </a:extLst>
              </p:cNvPr>
              <p:cNvCxnSpPr>
                <a:cxnSpLocks/>
              </p:cNvCxnSpPr>
              <p:nvPr/>
            </p:nvCxnSpPr>
            <p:spPr>
              <a:xfrm flipH="1" flipV="1">
                <a:off x="8377349" y="2938334"/>
                <a:ext cx="2351993" cy="1389190"/>
              </a:xfrm>
              <a:prstGeom prst="line">
                <a:avLst/>
              </a:prstGeom>
              <a:ln>
                <a:solidFill>
                  <a:srgbClr val="FF0000"/>
                </a:solidFill>
              </a:ln>
            </p:spPr>
            <p:style>
              <a:lnRef idx="2">
                <a:schemeClr val="accent1"/>
              </a:lnRef>
              <a:fillRef idx="0">
                <a:schemeClr val="accent1"/>
              </a:fillRef>
              <a:effectRef idx="1">
                <a:schemeClr val="accent1"/>
              </a:effectRef>
              <a:fontRef idx="minor">
                <a:schemeClr val="tx1"/>
              </a:fontRef>
            </p:style>
          </p:cxnSp>
        </p:grpSp>
      </p:grpSp>
    </p:spTree>
    <p:extLst>
      <p:ext uri="{BB962C8B-B14F-4D97-AF65-F5344CB8AC3E}">
        <p14:creationId xmlns:p14="http://schemas.microsoft.com/office/powerpoint/2010/main" val="21972747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23FA93-8E2E-1C9F-8219-407C9632ECDB}"/>
            </a:ext>
          </a:extLst>
        </p:cNvPr>
        <p:cNvGrpSpPr/>
        <p:nvPr/>
      </p:nvGrpSpPr>
      <p:grpSpPr>
        <a:xfrm>
          <a:off x="0" y="0"/>
          <a:ext cx="0" cy="0"/>
          <a:chOff x="0" y="0"/>
          <a:chExt cx="0" cy="0"/>
        </a:xfrm>
      </p:grpSpPr>
      <p:pic>
        <p:nvPicPr>
          <p:cNvPr id="27" name="Immagine 26">
            <a:extLst>
              <a:ext uri="{FF2B5EF4-FFF2-40B4-BE49-F238E27FC236}">
                <a16:creationId xmlns:a16="http://schemas.microsoft.com/office/drawing/2014/main" id="{D9366BB9-EA5C-69F9-6B86-BF1EE1769AA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6651322" y="3241606"/>
            <a:ext cx="3918560" cy="3420000"/>
          </a:xfrm>
          <a:prstGeom prst="rect">
            <a:avLst/>
          </a:prstGeom>
        </p:spPr>
      </p:pic>
      <p:pic>
        <p:nvPicPr>
          <p:cNvPr id="28" name="Segnaposto contenuto 13">
            <a:extLst>
              <a:ext uri="{FF2B5EF4-FFF2-40B4-BE49-F238E27FC236}">
                <a16:creationId xmlns:a16="http://schemas.microsoft.com/office/drawing/2014/main" id="{A96E174C-4D16-737A-EEFE-FC48760ED83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1622119" y="3241606"/>
            <a:ext cx="3918560" cy="3420000"/>
          </a:xfrm>
          <a:prstGeom prst="rect">
            <a:avLst/>
          </a:prstGeom>
        </p:spPr>
      </p:pic>
      <p:sp>
        <p:nvSpPr>
          <p:cNvPr id="2" name="Titolo 1">
            <a:extLst>
              <a:ext uri="{FF2B5EF4-FFF2-40B4-BE49-F238E27FC236}">
                <a16:creationId xmlns:a16="http://schemas.microsoft.com/office/drawing/2014/main" id="{B8F46AA1-A41C-E935-60A8-188E79C9F005}"/>
              </a:ext>
            </a:extLst>
          </p:cNvPr>
          <p:cNvSpPr>
            <a:spLocks noGrp="1"/>
          </p:cNvSpPr>
          <p:nvPr>
            <p:ph type="title"/>
          </p:nvPr>
        </p:nvSpPr>
        <p:spPr>
          <a:xfrm>
            <a:off x="38100" y="69651"/>
            <a:ext cx="12114000" cy="1153094"/>
          </a:xfrm>
          <a:prstGeom prst="roundRect">
            <a:avLst>
              <a:gd name="adj" fmla="val 36459"/>
            </a:avLst>
          </a:prstGeom>
          <a:noFill/>
        </p:spPr>
        <p:txBody>
          <a:bodyPr>
            <a:normAutofit/>
          </a:bodyPr>
          <a:lstStyle/>
          <a:p>
            <a:r>
              <a:rPr lang="it-IT" b="1" dirty="0">
                <a:solidFill>
                  <a:srgbClr val="002060"/>
                </a:solidFill>
              </a:rPr>
              <a:t>	2. PREVIOUS ANALYSIS: CRYSTAL EDGES</a:t>
            </a:r>
          </a:p>
        </p:txBody>
      </p:sp>
      <mc:AlternateContent xmlns:mc="http://schemas.openxmlformats.org/markup-compatibility/2006" xmlns:a14="http://schemas.microsoft.com/office/drawing/2010/main">
        <mc:Choice Requires="a14">
          <p:sp>
            <p:nvSpPr>
              <p:cNvPr id="3" name="Segnaposto contenuto 2">
                <a:extLst>
                  <a:ext uri="{FF2B5EF4-FFF2-40B4-BE49-F238E27FC236}">
                    <a16:creationId xmlns:a16="http://schemas.microsoft.com/office/drawing/2014/main" id="{213B1C5B-6364-2BF9-A14D-96F3D0EA6F7A}"/>
                  </a:ext>
                </a:extLst>
              </p:cNvPr>
              <p:cNvSpPr>
                <a:spLocks noGrp="1"/>
              </p:cNvSpPr>
              <p:nvPr>
                <p:ph idx="1"/>
              </p:nvPr>
            </p:nvSpPr>
            <p:spPr>
              <a:xfrm>
                <a:off x="838200" y="1401288"/>
                <a:ext cx="10515600" cy="4776227"/>
              </a:xfrm>
            </p:spPr>
            <p:txBody>
              <a:bodyPr>
                <a:noAutofit/>
              </a:bodyPr>
              <a:lstStyle/>
              <a:p>
                <a:r>
                  <a:rPr lang="it-IT" sz="2400" dirty="0"/>
                  <a:t>The impact points of </a:t>
                </a:r>
                <a:r>
                  <a:rPr lang="it-IT" sz="2400" dirty="0" err="1"/>
                  <a:t>these</a:t>
                </a:r>
                <a:r>
                  <a:rPr lang="it-IT" sz="2400" dirty="0"/>
                  <a:t> </a:t>
                </a:r>
                <a:r>
                  <a:rPr lang="it-IT" sz="2400" dirty="0" err="1"/>
                  <a:t>particles</a:t>
                </a:r>
                <a:r>
                  <a:rPr lang="it-IT" sz="2400" dirty="0"/>
                  <a:t> </a:t>
                </a:r>
                <a:r>
                  <a:rPr lang="it-IT" sz="2400" dirty="0" err="1"/>
                  <a:t>revealed</a:t>
                </a:r>
                <a:r>
                  <a:rPr lang="it-IT" sz="2400" dirty="0"/>
                  <a:t> the </a:t>
                </a:r>
                <a:r>
                  <a:rPr lang="it-IT" sz="2400" dirty="0" err="1"/>
                  <a:t>physical</a:t>
                </a:r>
                <a:r>
                  <a:rPr lang="it-IT" sz="2400" dirty="0"/>
                  <a:t> location of the </a:t>
                </a:r>
                <a:r>
                  <a:rPr lang="it-IT" sz="2400" dirty="0" err="1"/>
                  <a:t>crystal</a:t>
                </a:r>
                <a:r>
                  <a:rPr lang="it-IT" sz="2400" dirty="0"/>
                  <a:t>, matching </a:t>
                </a:r>
                <a:r>
                  <a:rPr lang="it-IT" sz="2400" dirty="0" err="1"/>
                  <a:t>its</a:t>
                </a:r>
                <a:r>
                  <a:rPr lang="it-IT" sz="2400" dirty="0"/>
                  <a:t> </a:t>
                </a:r>
                <a:r>
                  <a:rPr lang="it-IT" sz="2400" dirty="0" err="1"/>
                  <a:t>expected</a:t>
                </a:r>
                <a:r>
                  <a:rPr lang="it-IT" sz="2400" dirty="0"/>
                  <a:t> </a:t>
                </a:r>
                <a:r>
                  <a:rPr lang="it-IT" sz="2400" dirty="0" err="1"/>
                  <a:t>dimensions</a:t>
                </a:r>
                <a:r>
                  <a:rPr lang="it-IT" sz="2400" dirty="0"/>
                  <a:t> of 2 by 12.8 mm.</a:t>
                </a:r>
              </a:p>
              <a:p>
                <a:r>
                  <a:rPr lang="it-IT" sz="2400" dirty="0"/>
                  <a:t>To </a:t>
                </a:r>
                <a:r>
                  <a:rPr lang="it-IT" sz="2400" dirty="0" err="1"/>
                  <a:t>find</a:t>
                </a:r>
                <a:r>
                  <a:rPr lang="it-IT" sz="2400" dirty="0"/>
                  <a:t> the </a:t>
                </a:r>
                <a:r>
                  <a:rPr lang="it-IT" sz="2400" dirty="0" err="1"/>
                  <a:t>edges</a:t>
                </a:r>
                <a:r>
                  <a:rPr lang="it-IT" sz="2400" dirty="0"/>
                  <a:t> </a:t>
                </a:r>
                <a:r>
                  <a:rPr lang="it-IT" sz="2400" dirty="0" err="1"/>
                  <a:t>along</a:t>
                </a:r>
                <a:r>
                  <a:rPr lang="it-IT" sz="2400" dirty="0"/>
                  <a:t> </a:t>
                </a:r>
                <a14:m>
                  <m:oMath xmlns:m="http://schemas.openxmlformats.org/officeDocument/2006/math">
                    <m:r>
                      <a:rPr lang="it-IT" sz="2400" i="1">
                        <a:latin typeface="Cambria Math" panose="02040503050406030204" pitchFamily="18" charset="0"/>
                      </a:rPr>
                      <m:t>𝑥</m:t>
                    </m:r>
                  </m:oMath>
                </a14:m>
                <a:r>
                  <a:rPr lang="it-IT" sz="2400" dirty="0"/>
                  <a:t> (that </a:t>
                </a:r>
                <a:r>
                  <a:rPr lang="it-IT" sz="2400" dirty="0" err="1"/>
                  <a:t>have</a:t>
                </a:r>
                <a:r>
                  <a:rPr lang="it-IT" sz="2400" dirty="0"/>
                  <a:t> an </a:t>
                </a:r>
                <a:r>
                  <a:rPr lang="it-IT" sz="2400" dirty="0" err="1"/>
                  <a:t>asymmetrical</a:t>
                </a:r>
                <a:r>
                  <a:rPr lang="it-IT" sz="2400" dirty="0"/>
                  <a:t> </a:t>
                </a:r>
                <a:r>
                  <a:rPr lang="it-IT" sz="2400" dirty="0" err="1"/>
                  <a:t>distribution</a:t>
                </a:r>
                <a:r>
                  <a:rPr lang="it-IT" sz="2400" dirty="0"/>
                  <a:t>) we </a:t>
                </a:r>
                <a:r>
                  <a:rPr lang="it-IT" sz="2400" dirty="0" err="1"/>
                  <a:t>perform</a:t>
                </a:r>
                <a:r>
                  <a:rPr lang="it-IT" sz="2400" dirty="0"/>
                  <a:t> a «sliding window» </a:t>
                </a:r>
                <a:r>
                  <a:rPr lang="it-IT" sz="2400" dirty="0" err="1"/>
                  <a:t>method</a:t>
                </a:r>
                <a:r>
                  <a:rPr lang="it-IT" sz="2400" dirty="0"/>
                  <a:t> (</a:t>
                </a:r>
                <a:r>
                  <a:rPr lang="it-IT" sz="2400" dirty="0" err="1"/>
                  <a:t>fixed</a:t>
                </a:r>
                <a:r>
                  <a:rPr lang="it-IT" sz="2400" dirty="0"/>
                  <a:t> width &amp; </a:t>
                </a:r>
                <a:r>
                  <a:rPr lang="it-IT" sz="2400" dirty="0" err="1"/>
                  <a:t>precision</a:t>
                </a:r>
                <a:r>
                  <a:rPr lang="it-IT" sz="2400" dirty="0"/>
                  <a:t> of 0.01mm), </a:t>
                </a:r>
                <a:r>
                  <a:rPr lang="it-IT" sz="2400" dirty="0" err="1"/>
                  <a:t>aiming</a:t>
                </a:r>
                <a:r>
                  <a:rPr lang="it-IT" sz="2400" dirty="0"/>
                  <a:t> for the position that </a:t>
                </a:r>
                <a:r>
                  <a:rPr lang="it-IT" sz="2400" dirty="0" err="1"/>
                  <a:t>maximize</a:t>
                </a:r>
                <a:r>
                  <a:rPr lang="it-IT" sz="2400" dirty="0"/>
                  <a:t> the </a:t>
                </a:r>
                <a:r>
                  <a:rPr lang="it-IT" sz="2400" dirty="0" err="1"/>
                  <a:t>number</a:t>
                </a:r>
                <a:r>
                  <a:rPr lang="it-IT" sz="2400" dirty="0"/>
                  <a:t> of </a:t>
                </a:r>
                <a:r>
                  <a:rPr lang="it-IT" sz="2400" dirty="0" err="1"/>
                  <a:t>particles</a:t>
                </a:r>
                <a:r>
                  <a:rPr lang="it-IT" sz="2400" dirty="0"/>
                  <a:t> inside.</a:t>
                </a:r>
              </a:p>
            </p:txBody>
          </p:sp>
        </mc:Choice>
        <mc:Fallback xmlns="">
          <p:sp>
            <p:nvSpPr>
              <p:cNvPr id="3" name="Segnaposto contenuto 2">
                <a:extLst>
                  <a:ext uri="{FF2B5EF4-FFF2-40B4-BE49-F238E27FC236}">
                    <a16:creationId xmlns:a16="http://schemas.microsoft.com/office/drawing/2014/main" id="{213B1C5B-6364-2BF9-A14D-96F3D0EA6F7A}"/>
                  </a:ext>
                </a:extLst>
              </p:cNvPr>
              <p:cNvSpPr>
                <a:spLocks noGrp="1" noRot="1" noChangeAspect="1" noMove="1" noResize="1" noEditPoints="1" noAdjustHandles="1" noChangeArrowheads="1" noChangeShapeType="1" noTextEdit="1"/>
              </p:cNvSpPr>
              <p:nvPr>
                <p:ph idx="1"/>
              </p:nvPr>
            </p:nvSpPr>
            <p:spPr>
              <a:xfrm>
                <a:off x="838200" y="1401288"/>
                <a:ext cx="10515600" cy="4776227"/>
              </a:xfrm>
              <a:blipFill>
                <a:blip r:embed="rId4"/>
                <a:stretch>
                  <a:fillRect l="-812" t="-1660" r="-348"/>
                </a:stretch>
              </a:blipFill>
            </p:spPr>
            <p:txBody>
              <a:bodyPr/>
              <a:lstStyle/>
              <a:p>
                <a:r>
                  <a:rPr lang="it-IT">
                    <a:noFill/>
                  </a:rPr>
                  <a:t> </a:t>
                </a:r>
              </a:p>
            </p:txBody>
          </p:sp>
        </mc:Fallback>
      </mc:AlternateContent>
      <p:sp>
        <p:nvSpPr>
          <p:cNvPr id="4" name="Segnaposto data 3">
            <a:extLst>
              <a:ext uri="{FF2B5EF4-FFF2-40B4-BE49-F238E27FC236}">
                <a16:creationId xmlns:a16="http://schemas.microsoft.com/office/drawing/2014/main" id="{F84B681B-C0B1-80E0-7387-4B95E2914239}"/>
              </a:ext>
            </a:extLst>
          </p:cNvPr>
          <p:cNvSpPr>
            <a:spLocks noGrp="1"/>
          </p:cNvSpPr>
          <p:nvPr>
            <p:ph type="dt" sz="half" idx="10"/>
          </p:nvPr>
        </p:nvSpPr>
        <p:spPr>
          <a:xfrm>
            <a:off x="838200" y="6356349"/>
            <a:ext cx="2743200" cy="432000"/>
          </a:xfrm>
        </p:spPr>
        <p:txBody>
          <a:bodyPr/>
          <a:lstStyle/>
          <a:p>
            <a:r>
              <a:rPr lang="it-IT" sz="1500" b="1" dirty="0">
                <a:solidFill>
                  <a:srgbClr val="002060"/>
                </a:solidFill>
              </a:rPr>
              <a:t>24.08.2026</a:t>
            </a:r>
          </a:p>
        </p:txBody>
      </p:sp>
      <p:sp>
        <p:nvSpPr>
          <p:cNvPr id="5" name="Segnaposto piè di pagina 4">
            <a:extLst>
              <a:ext uri="{FF2B5EF4-FFF2-40B4-BE49-F238E27FC236}">
                <a16:creationId xmlns:a16="http://schemas.microsoft.com/office/drawing/2014/main" id="{09592F47-28AC-BA86-BCC8-F10BEF85CF9A}"/>
              </a:ext>
            </a:extLst>
          </p:cNvPr>
          <p:cNvSpPr>
            <a:spLocks noGrp="1"/>
          </p:cNvSpPr>
          <p:nvPr>
            <p:ph type="ftr" sz="quarter" idx="11"/>
          </p:nvPr>
        </p:nvSpPr>
        <p:spPr>
          <a:xfrm>
            <a:off x="0" y="6356349"/>
            <a:ext cx="12192000" cy="432000"/>
          </a:xfrm>
        </p:spPr>
        <p:txBody>
          <a:bodyPr/>
          <a:lstStyle/>
          <a:p>
            <a:r>
              <a:rPr lang="it-IT" sz="1500" b="1" dirty="0">
                <a:solidFill>
                  <a:srgbClr val="002060"/>
                </a:solidFill>
              </a:rPr>
              <a:t>Anna Sofia Moro</a:t>
            </a:r>
          </a:p>
        </p:txBody>
      </p:sp>
      <p:sp>
        <p:nvSpPr>
          <p:cNvPr id="6" name="Segnaposto numero diapositiva 5">
            <a:extLst>
              <a:ext uri="{FF2B5EF4-FFF2-40B4-BE49-F238E27FC236}">
                <a16:creationId xmlns:a16="http://schemas.microsoft.com/office/drawing/2014/main" id="{91031187-543E-B81F-CA1C-DBA0444C89BD}"/>
              </a:ext>
            </a:extLst>
          </p:cNvPr>
          <p:cNvSpPr>
            <a:spLocks noGrp="1"/>
          </p:cNvSpPr>
          <p:nvPr>
            <p:ph type="sldNum" sz="quarter" idx="12"/>
          </p:nvPr>
        </p:nvSpPr>
        <p:spPr>
          <a:xfrm>
            <a:off x="8610600" y="6356349"/>
            <a:ext cx="2743200" cy="432000"/>
          </a:xfrm>
        </p:spPr>
        <p:txBody>
          <a:bodyPr/>
          <a:lstStyle/>
          <a:p>
            <a:fld id="{0A318BD9-CA14-4A83-ACF0-03D5918EB402}" type="slidenum">
              <a:rPr lang="it-IT" sz="1500" b="1" smtClean="0">
                <a:solidFill>
                  <a:srgbClr val="002060"/>
                </a:solidFill>
              </a:rPr>
              <a:t>12</a:t>
            </a:fld>
            <a:endParaRPr lang="it-IT" sz="1500" b="1" dirty="0">
              <a:solidFill>
                <a:srgbClr val="002060"/>
              </a:solidFill>
            </a:endParaRPr>
          </a:p>
        </p:txBody>
      </p:sp>
      <p:cxnSp>
        <p:nvCxnSpPr>
          <p:cNvPr id="10" name="Connettore diritto 9">
            <a:extLst>
              <a:ext uri="{FF2B5EF4-FFF2-40B4-BE49-F238E27FC236}">
                <a16:creationId xmlns:a16="http://schemas.microsoft.com/office/drawing/2014/main" id="{FCF6C941-522B-F4EA-03DB-282BB1038ADA}"/>
              </a:ext>
            </a:extLst>
          </p:cNvPr>
          <p:cNvCxnSpPr>
            <a:cxnSpLocks/>
          </p:cNvCxnSpPr>
          <p:nvPr/>
        </p:nvCxnSpPr>
        <p:spPr>
          <a:xfrm>
            <a:off x="696000" y="1155368"/>
            <a:ext cx="10800000" cy="0"/>
          </a:xfrm>
          <a:prstGeom prst="line">
            <a:avLst/>
          </a:prstGeom>
          <a:ln w="38100">
            <a:solidFill>
              <a:srgbClr val="00206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7674354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CC6166-FE84-CE3F-0649-4905E5866306}"/>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B0524BDA-A9F5-3129-9FB8-D3236D264B99}"/>
              </a:ext>
            </a:extLst>
          </p:cNvPr>
          <p:cNvSpPr>
            <a:spLocks noGrp="1"/>
          </p:cNvSpPr>
          <p:nvPr>
            <p:ph type="title"/>
          </p:nvPr>
        </p:nvSpPr>
        <p:spPr>
          <a:xfrm>
            <a:off x="38100" y="69651"/>
            <a:ext cx="12114000" cy="1153094"/>
          </a:xfrm>
          <a:prstGeom prst="roundRect">
            <a:avLst>
              <a:gd name="adj" fmla="val 36459"/>
            </a:avLst>
          </a:prstGeom>
          <a:noFill/>
        </p:spPr>
        <p:txBody>
          <a:bodyPr>
            <a:normAutofit/>
          </a:bodyPr>
          <a:lstStyle/>
          <a:p>
            <a:r>
              <a:rPr lang="it-IT" b="1" dirty="0">
                <a:solidFill>
                  <a:srgbClr val="002060"/>
                </a:solidFill>
              </a:rPr>
              <a:t>	2. PREVIOUS ANALYSIS: CRYSTAL EDGES</a:t>
            </a:r>
          </a:p>
        </p:txBody>
      </p:sp>
      <mc:AlternateContent xmlns:mc="http://schemas.openxmlformats.org/markup-compatibility/2006">
        <mc:Choice xmlns:a14="http://schemas.microsoft.com/office/drawing/2010/main" Requires="a14">
          <p:sp>
            <p:nvSpPr>
              <p:cNvPr id="3" name="Segnaposto contenuto 2">
                <a:extLst>
                  <a:ext uri="{FF2B5EF4-FFF2-40B4-BE49-F238E27FC236}">
                    <a16:creationId xmlns:a16="http://schemas.microsoft.com/office/drawing/2014/main" id="{65D9949E-736C-0832-8EBF-9F079CFB34E5}"/>
                  </a:ext>
                </a:extLst>
              </p:cNvPr>
              <p:cNvSpPr>
                <a:spLocks noGrp="1"/>
              </p:cNvSpPr>
              <p:nvPr>
                <p:ph idx="1"/>
              </p:nvPr>
            </p:nvSpPr>
            <p:spPr>
              <a:xfrm>
                <a:off x="838200" y="1401289"/>
                <a:ext cx="10515600" cy="907174"/>
              </a:xfrm>
            </p:spPr>
            <p:txBody>
              <a:bodyPr>
                <a:noAutofit/>
              </a:bodyPr>
              <a:lstStyle/>
              <a:p>
                <a:r>
                  <a:rPr lang="it-IT" sz="2400" dirty="0"/>
                  <a:t>The impact points of </a:t>
                </a:r>
                <a:r>
                  <a:rPr lang="it-IT" sz="2400" dirty="0" err="1"/>
                  <a:t>these</a:t>
                </a:r>
                <a:r>
                  <a:rPr lang="it-IT" sz="2400" dirty="0"/>
                  <a:t> </a:t>
                </a:r>
                <a:r>
                  <a:rPr lang="it-IT" sz="2400" dirty="0" err="1"/>
                  <a:t>particles</a:t>
                </a:r>
                <a:r>
                  <a:rPr lang="it-IT" sz="2400" dirty="0"/>
                  <a:t> </a:t>
                </a:r>
                <a:r>
                  <a:rPr lang="it-IT" sz="2400" dirty="0" err="1"/>
                  <a:t>revealed</a:t>
                </a:r>
                <a:r>
                  <a:rPr lang="it-IT" sz="2400" dirty="0"/>
                  <a:t> the </a:t>
                </a:r>
                <a:r>
                  <a:rPr lang="it-IT" sz="2400" dirty="0" err="1"/>
                  <a:t>physical</a:t>
                </a:r>
                <a:r>
                  <a:rPr lang="it-IT" sz="2400" dirty="0"/>
                  <a:t> location of the </a:t>
                </a:r>
                <a:r>
                  <a:rPr lang="it-IT" sz="2400" dirty="0" err="1"/>
                  <a:t>crystal</a:t>
                </a:r>
                <a:r>
                  <a:rPr lang="it-IT" sz="2400" dirty="0"/>
                  <a:t>, matching </a:t>
                </a:r>
                <a:r>
                  <a:rPr lang="it-IT" sz="2400" dirty="0" err="1"/>
                  <a:t>its</a:t>
                </a:r>
                <a:r>
                  <a:rPr lang="it-IT" sz="2400" dirty="0"/>
                  <a:t> </a:t>
                </a:r>
                <a:r>
                  <a:rPr lang="it-IT" sz="2400" dirty="0" err="1"/>
                  <a:t>expected</a:t>
                </a:r>
                <a:r>
                  <a:rPr lang="it-IT" sz="2400" dirty="0"/>
                  <a:t> </a:t>
                </a:r>
                <a:r>
                  <a:rPr lang="it-IT" sz="2400" dirty="0" err="1"/>
                  <a:t>dimensions</a:t>
                </a:r>
                <a:r>
                  <a:rPr lang="it-IT" sz="2400" dirty="0"/>
                  <a:t> of 2 by 12.8 mm.</a:t>
                </a:r>
              </a:p>
              <a:p>
                <a:r>
                  <a:rPr lang="it-IT" sz="2400" dirty="0"/>
                  <a:t>To </a:t>
                </a:r>
                <a:r>
                  <a:rPr lang="it-IT" sz="2400" dirty="0" err="1"/>
                  <a:t>find</a:t>
                </a:r>
                <a:r>
                  <a:rPr lang="it-IT" sz="2400" dirty="0"/>
                  <a:t> the </a:t>
                </a:r>
                <a:r>
                  <a:rPr lang="it-IT" sz="2400" dirty="0" err="1"/>
                  <a:t>edges</a:t>
                </a:r>
                <a:r>
                  <a:rPr lang="it-IT" sz="2400" dirty="0"/>
                  <a:t> </a:t>
                </a:r>
                <a:r>
                  <a:rPr lang="it-IT" sz="2400" dirty="0" err="1"/>
                  <a:t>along</a:t>
                </a:r>
                <a:r>
                  <a:rPr lang="it-IT" sz="2400" dirty="0"/>
                  <a:t> </a:t>
                </a:r>
                <a14:m>
                  <m:oMath xmlns:m="http://schemas.openxmlformats.org/officeDocument/2006/math">
                    <m:r>
                      <a:rPr lang="it-IT" sz="2400" i="1">
                        <a:latin typeface="Cambria Math" panose="02040503050406030204" pitchFamily="18" charset="0"/>
                      </a:rPr>
                      <m:t>𝑥</m:t>
                    </m:r>
                  </m:oMath>
                </a14:m>
                <a:r>
                  <a:rPr lang="it-IT" sz="2400" dirty="0"/>
                  <a:t> (that </a:t>
                </a:r>
                <a:r>
                  <a:rPr lang="it-IT" sz="2400" dirty="0" err="1"/>
                  <a:t>have</a:t>
                </a:r>
                <a:r>
                  <a:rPr lang="it-IT" sz="2400" dirty="0"/>
                  <a:t> an </a:t>
                </a:r>
                <a:r>
                  <a:rPr lang="it-IT" sz="2400" dirty="0" err="1"/>
                  <a:t>asymmetrical</a:t>
                </a:r>
                <a:r>
                  <a:rPr lang="it-IT" sz="2400" dirty="0"/>
                  <a:t> </a:t>
                </a:r>
                <a:r>
                  <a:rPr lang="it-IT" sz="2400" dirty="0" err="1"/>
                  <a:t>distribution</a:t>
                </a:r>
                <a:r>
                  <a:rPr lang="it-IT" sz="2400" dirty="0"/>
                  <a:t>) we </a:t>
                </a:r>
                <a:r>
                  <a:rPr lang="it-IT" sz="2400" dirty="0" err="1"/>
                  <a:t>perform</a:t>
                </a:r>
                <a:r>
                  <a:rPr lang="it-IT" sz="2400" dirty="0"/>
                  <a:t> a «sliding window» </a:t>
                </a:r>
                <a:r>
                  <a:rPr lang="it-IT" sz="2400" dirty="0" err="1"/>
                  <a:t>method</a:t>
                </a:r>
                <a:r>
                  <a:rPr lang="it-IT" sz="2400" dirty="0"/>
                  <a:t> (</a:t>
                </a:r>
                <a:r>
                  <a:rPr lang="it-IT" sz="2400" dirty="0" err="1"/>
                  <a:t>fixed</a:t>
                </a:r>
                <a:r>
                  <a:rPr lang="it-IT" sz="2400" dirty="0"/>
                  <a:t> width &amp; </a:t>
                </a:r>
                <a:r>
                  <a:rPr lang="it-IT" sz="2400" dirty="0" err="1"/>
                  <a:t>precision</a:t>
                </a:r>
                <a:r>
                  <a:rPr lang="it-IT" sz="2400" dirty="0"/>
                  <a:t> of 0.01mm), </a:t>
                </a:r>
                <a:r>
                  <a:rPr lang="it-IT" sz="2400" dirty="0" err="1"/>
                  <a:t>aiming</a:t>
                </a:r>
                <a:r>
                  <a:rPr lang="it-IT" sz="2400" dirty="0"/>
                  <a:t> for the position that </a:t>
                </a:r>
                <a:r>
                  <a:rPr lang="it-IT" sz="2400" dirty="0" err="1"/>
                  <a:t>maximize</a:t>
                </a:r>
                <a:r>
                  <a:rPr lang="it-IT" sz="2400" dirty="0"/>
                  <a:t> the </a:t>
                </a:r>
                <a:r>
                  <a:rPr lang="it-IT" sz="2400" dirty="0" err="1"/>
                  <a:t>number</a:t>
                </a:r>
                <a:r>
                  <a:rPr lang="it-IT" sz="2400" dirty="0"/>
                  <a:t> of </a:t>
                </a:r>
                <a:r>
                  <a:rPr lang="it-IT" sz="2400" dirty="0" err="1"/>
                  <a:t>particles</a:t>
                </a:r>
                <a:r>
                  <a:rPr lang="it-IT" sz="2400" dirty="0"/>
                  <a:t> inside.</a:t>
                </a:r>
              </a:p>
              <a:p>
                <a:r>
                  <a:rPr lang="it-IT" sz="2400" dirty="0"/>
                  <a:t>The </a:t>
                </a:r>
                <a:r>
                  <a:rPr lang="it-IT" sz="2400" dirty="0" err="1"/>
                  <a:t>method</a:t>
                </a:r>
                <a:r>
                  <a:rPr lang="it-IT" sz="2400" dirty="0"/>
                  <a:t> was </a:t>
                </a:r>
                <a:r>
                  <a:rPr lang="it-IT" sz="2400" dirty="0" err="1"/>
                  <a:t>performed</a:t>
                </a:r>
                <a:r>
                  <a:rPr lang="it-IT" sz="2400" dirty="0"/>
                  <a:t> on the 				           </a:t>
                </a:r>
                <a:r>
                  <a:rPr lang="it-IT" sz="2400" dirty="0" err="1"/>
                  <a:t>dowstream</a:t>
                </a:r>
                <a:r>
                  <a:rPr lang="it-IT" sz="2400" dirty="0"/>
                  <a:t> </a:t>
                </a:r>
                <a:r>
                  <a:rPr lang="it-IT" sz="2400" dirty="0" err="1"/>
                  <a:t>particles</a:t>
                </a:r>
                <a:r>
                  <a:rPr lang="it-IT" sz="2400" dirty="0"/>
                  <a:t>, </a:t>
                </a:r>
                <a:r>
                  <a:rPr lang="it-IT" sz="2400" dirty="0" err="1"/>
                  <a:t>since</a:t>
                </a:r>
                <a:r>
                  <a:rPr lang="it-IT" sz="2400" dirty="0"/>
                  <a:t> </a:t>
                </a:r>
                <a:r>
                  <a:rPr lang="it-IT" sz="2400" dirty="0" err="1"/>
                  <a:t>they</a:t>
                </a:r>
                <a:r>
                  <a:rPr lang="it-IT" sz="2400" dirty="0"/>
                  <a:t> show 					         more </a:t>
                </a:r>
                <a:r>
                  <a:rPr lang="it-IT" sz="2400" dirty="0" err="1"/>
                  <a:t>defined</a:t>
                </a:r>
                <a:r>
                  <a:rPr lang="it-IT" sz="2400" dirty="0"/>
                  <a:t> </a:t>
                </a:r>
                <a:r>
                  <a:rPr lang="it-IT" sz="2400" dirty="0" err="1"/>
                  <a:t>edges</a:t>
                </a:r>
                <a:r>
                  <a:rPr lang="it-IT" sz="2400" dirty="0"/>
                  <a:t>.</a:t>
                </a:r>
              </a:p>
              <a:p>
                <a:pPr marL="0" indent="0">
                  <a:buNone/>
                </a:pPr>
                <a:endParaRPr lang="it-IT" sz="2400" dirty="0"/>
              </a:p>
            </p:txBody>
          </p:sp>
        </mc:Choice>
        <mc:Fallback>
          <p:sp>
            <p:nvSpPr>
              <p:cNvPr id="3" name="Segnaposto contenuto 2">
                <a:extLst>
                  <a:ext uri="{FF2B5EF4-FFF2-40B4-BE49-F238E27FC236}">
                    <a16:creationId xmlns:a16="http://schemas.microsoft.com/office/drawing/2014/main" id="{65D9949E-736C-0832-8EBF-9F079CFB34E5}"/>
                  </a:ext>
                </a:extLst>
              </p:cNvPr>
              <p:cNvSpPr>
                <a:spLocks noGrp="1" noRot="1" noChangeAspect="1" noMove="1" noResize="1" noEditPoints="1" noAdjustHandles="1" noChangeArrowheads="1" noChangeShapeType="1" noTextEdit="1"/>
              </p:cNvSpPr>
              <p:nvPr>
                <p:ph idx="1"/>
              </p:nvPr>
            </p:nvSpPr>
            <p:spPr>
              <a:xfrm>
                <a:off x="838200" y="1401289"/>
                <a:ext cx="10515600" cy="907174"/>
              </a:xfrm>
              <a:blipFill>
                <a:blip r:embed="rId2"/>
                <a:stretch>
                  <a:fillRect l="-812" t="-8725" r="-348" b="-243624"/>
                </a:stretch>
              </a:blipFill>
            </p:spPr>
            <p:txBody>
              <a:bodyPr/>
              <a:lstStyle/>
              <a:p>
                <a:r>
                  <a:rPr lang="it-IT">
                    <a:noFill/>
                  </a:rPr>
                  <a:t> </a:t>
                </a:r>
              </a:p>
            </p:txBody>
          </p:sp>
        </mc:Fallback>
      </mc:AlternateContent>
      <p:sp>
        <p:nvSpPr>
          <p:cNvPr id="4" name="Segnaposto data 3">
            <a:extLst>
              <a:ext uri="{FF2B5EF4-FFF2-40B4-BE49-F238E27FC236}">
                <a16:creationId xmlns:a16="http://schemas.microsoft.com/office/drawing/2014/main" id="{66F3708B-B74A-74C3-49C4-D47F5DCA24D4}"/>
              </a:ext>
            </a:extLst>
          </p:cNvPr>
          <p:cNvSpPr>
            <a:spLocks noGrp="1"/>
          </p:cNvSpPr>
          <p:nvPr>
            <p:ph type="dt" sz="half" idx="10"/>
          </p:nvPr>
        </p:nvSpPr>
        <p:spPr>
          <a:xfrm>
            <a:off x="838200" y="6356349"/>
            <a:ext cx="2743200" cy="432000"/>
          </a:xfrm>
        </p:spPr>
        <p:txBody>
          <a:bodyPr/>
          <a:lstStyle/>
          <a:p>
            <a:r>
              <a:rPr lang="it-IT" sz="1500" b="1" dirty="0">
                <a:solidFill>
                  <a:srgbClr val="002060"/>
                </a:solidFill>
              </a:rPr>
              <a:t>24.08.2026</a:t>
            </a:r>
          </a:p>
        </p:txBody>
      </p:sp>
      <p:sp>
        <p:nvSpPr>
          <p:cNvPr id="5" name="Segnaposto piè di pagina 4">
            <a:extLst>
              <a:ext uri="{FF2B5EF4-FFF2-40B4-BE49-F238E27FC236}">
                <a16:creationId xmlns:a16="http://schemas.microsoft.com/office/drawing/2014/main" id="{CF497987-DFD4-E644-4DD8-60504FFA6EBB}"/>
              </a:ext>
            </a:extLst>
          </p:cNvPr>
          <p:cNvSpPr>
            <a:spLocks noGrp="1"/>
          </p:cNvSpPr>
          <p:nvPr>
            <p:ph type="ftr" sz="quarter" idx="11"/>
          </p:nvPr>
        </p:nvSpPr>
        <p:spPr>
          <a:xfrm>
            <a:off x="0" y="6356349"/>
            <a:ext cx="12192000" cy="432000"/>
          </a:xfrm>
        </p:spPr>
        <p:txBody>
          <a:bodyPr/>
          <a:lstStyle/>
          <a:p>
            <a:r>
              <a:rPr lang="it-IT" sz="1500" b="1" dirty="0">
                <a:solidFill>
                  <a:srgbClr val="002060"/>
                </a:solidFill>
              </a:rPr>
              <a:t>Anna Sofia Moro</a:t>
            </a:r>
          </a:p>
        </p:txBody>
      </p:sp>
      <p:sp>
        <p:nvSpPr>
          <p:cNvPr id="6" name="Segnaposto numero diapositiva 5">
            <a:extLst>
              <a:ext uri="{FF2B5EF4-FFF2-40B4-BE49-F238E27FC236}">
                <a16:creationId xmlns:a16="http://schemas.microsoft.com/office/drawing/2014/main" id="{96E13CF2-BC13-751B-CA26-A5E740D35AB9}"/>
              </a:ext>
            </a:extLst>
          </p:cNvPr>
          <p:cNvSpPr>
            <a:spLocks noGrp="1"/>
          </p:cNvSpPr>
          <p:nvPr>
            <p:ph type="sldNum" sz="quarter" idx="12"/>
          </p:nvPr>
        </p:nvSpPr>
        <p:spPr>
          <a:xfrm>
            <a:off x="8610600" y="6356349"/>
            <a:ext cx="2743200" cy="432000"/>
          </a:xfrm>
        </p:spPr>
        <p:txBody>
          <a:bodyPr/>
          <a:lstStyle/>
          <a:p>
            <a:fld id="{0A318BD9-CA14-4A83-ACF0-03D5918EB402}" type="slidenum">
              <a:rPr lang="it-IT" sz="1500" b="1" smtClean="0">
                <a:solidFill>
                  <a:srgbClr val="002060"/>
                </a:solidFill>
              </a:rPr>
              <a:t>13</a:t>
            </a:fld>
            <a:endParaRPr lang="it-IT" sz="1500" b="1" dirty="0">
              <a:solidFill>
                <a:srgbClr val="002060"/>
              </a:solidFill>
            </a:endParaRPr>
          </a:p>
        </p:txBody>
      </p:sp>
      <p:cxnSp>
        <p:nvCxnSpPr>
          <p:cNvPr id="10" name="Connettore diritto 9">
            <a:extLst>
              <a:ext uri="{FF2B5EF4-FFF2-40B4-BE49-F238E27FC236}">
                <a16:creationId xmlns:a16="http://schemas.microsoft.com/office/drawing/2014/main" id="{718F4508-C177-0D85-4A4C-1321EA43B6B6}"/>
              </a:ext>
            </a:extLst>
          </p:cNvPr>
          <p:cNvCxnSpPr>
            <a:cxnSpLocks/>
          </p:cNvCxnSpPr>
          <p:nvPr/>
        </p:nvCxnSpPr>
        <p:spPr>
          <a:xfrm>
            <a:off x="696000" y="1155368"/>
            <a:ext cx="10800000" cy="0"/>
          </a:xfrm>
          <a:prstGeom prst="line">
            <a:avLst/>
          </a:prstGeom>
          <a:ln w="38100">
            <a:solidFill>
              <a:srgbClr val="002060"/>
            </a:solidFill>
          </a:ln>
        </p:spPr>
        <p:style>
          <a:lnRef idx="2">
            <a:schemeClr val="accent1"/>
          </a:lnRef>
          <a:fillRef idx="0">
            <a:schemeClr val="accent1"/>
          </a:fillRef>
          <a:effectRef idx="1">
            <a:schemeClr val="accent1"/>
          </a:effectRef>
          <a:fontRef idx="minor">
            <a:schemeClr val="tx1"/>
          </a:fontRef>
        </p:style>
      </p:cxnSp>
      <p:grpSp>
        <p:nvGrpSpPr>
          <p:cNvPr id="7" name="Group 6">
            <a:extLst>
              <a:ext uri="{FF2B5EF4-FFF2-40B4-BE49-F238E27FC236}">
                <a16:creationId xmlns:a16="http://schemas.microsoft.com/office/drawing/2014/main" id="{77A7203D-80D8-03CB-9010-F50AFDF1F0CE}"/>
              </a:ext>
            </a:extLst>
          </p:cNvPr>
          <p:cNvGrpSpPr/>
          <p:nvPr/>
        </p:nvGrpSpPr>
        <p:grpSpPr>
          <a:xfrm>
            <a:off x="6651322" y="3241606"/>
            <a:ext cx="3918560" cy="3420000"/>
            <a:chOff x="6651322" y="3241606"/>
            <a:chExt cx="3918560" cy="3420000"/>
          </a:xfrm>
        </p:grpSpPr>
        <p:pic>
          <p:nvPicPr>
            <p:cNvPr id="26" name="Immagine 25">
              <a:extLst>
                <a:ext uri="{FF2B5EF4-FFF2-40B4-BE49-F238E27FC236}">
                  <a16:creationId xmlns:a16="http://schemas.microsoft.com/office/drawing/2014/main" id="{677B0D9E-035E-F55D-8D73-D0C24D2CCD41}"/>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6651322" y="3241606"/>
              <a:ext cx="3918560" cy="3420000"/>
            </a:xfrm>
            <a:prstGeom prst="rect">
              <a:avLst/>
            </a:prstGeom>
          </p:spPr>
        </p:pic>
        <p:sp>
          <p:nvSpPr>
            <p:cNvPr id="9" name="Rettangolo 8">
              <a:extLst>
                <a:ext uri="{FF2B5EF4-FFF2-40B4-BE49-F238E27FC236}">
                  <a16:creationId xmlns:a16="http://schemas.microsoft.com/office/drawing/2014/main" id="{2E43FB0E-7D20-8032-1D71-D2711D3BD285}"/>
                </a:ext>
              </a:extLst>
            </p:cNvPr>
            <p:cNvSpPr/>
            <p:nvPr/>
          </p:nvSpPr>
          <p:spPr>
            <a:xfrm>
              <a:off x="7359920" y="4792136"/>
              <a:ext cx="810072" cy="134196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cxnSp>
          <p:nvCxnSpPr>
            <p:cNvPr id="16" name="Connettore diritto 15">
              <a:extLst>
                <a:ext uri="{FF2B5EF4-FFF2-40B4-BE49-F238E27FC236}">
                  <a16:creationId xmlns:a16="http://schemas.microsoft.com/office/drawing/2014/main" id="{253F37C6-E636-81DA-4537-B44ED5F9D761}"/>
                </a:ext>
              </a:extLst>
            </p:cNvPr>
            <p:cNvCxnSpPr>
              <a:cxnSpLocks/>
            </p:cNvCxnSpPr>
            <p:nvPr/>
          </p:nvCxnSpPr>
          <p:spPr>
            <a:xfrm>
              <a:off x="7359920" y="3440113"/>
              <a:ext cx="0" cy="1038225"/>
            </a:xfrm>
            <a:prstGeom prst="line">
              <a:avLst/>
            </a:prstGeom>
            <a:ln>
              <a:solidFill>
                <a:srgbClr val="FF0000"/>
              </a:solidFill>
              <a:prstDash val="sysDot"/>
            </a:ln>
          </p:spPr>
          <p:style>
            <a:lnRef idx="2">
              <a:schemeClr val="accent1"/>
            </a:lnRef>
            <a:fillRef idx="0">
              <a:schemeClr val="accent1"/>
            </a:fillRef>
            <a:effectRef idx="1">
              <a:schemeClr val="accent1"/>
            </a:effectRef>
            <a:fontRef idx="minor">
              <a:schemeClr val="tx1"/>
            </a:fontRef>
          </p:style>
        </p:cxnSp>
        <p:cxnSp>
          <p:nvCxnSpPr>
            <p:cNvPr id="17" name="Connettore diritto 16">
              <a:extLst>
                <a:ext uri="{FF2B5EF4-FFF2-40B4-BE49-F238E27FC236}">
                  <a16:creationId xmlns:a16="http://schemas.microsoft.com/office/drawing/2014/main" id="{01308BBB-2F02-586A-9BDF-DA3ABB293EB1}"/>
                </a:ext>
              </a:extLst>
            </p:cNvPr>
            <p:cNvCxnSpPr>
              <a:cxnSpLocks/>
            </p:cNvCxnSpPr>
            <p:nvPr/>
          </p:nvCxnSpPr>
          <p:spPr>
            <a:xfrm>
              <a:off x="8169992" y="3440113"/>
              <a:ext cx="0" cy="1038225"/>
            </a:xfrm>
            <a:prstGeom prst="line">
              <a:avLst/>
            </a:prstGeom>
            <a:ln>
              <a:solidFill>
                <a:srgbClr val="FF0000"/>
              </a:solidFill>
              <a:prstDash val="sysDot"/>
            </a:ln>
          </p:spPr>
          <p:style>
            <a:lnRef idx="2">
              <a:schemeClr val="accent1"/>
            </a:lnRef>
            <a:fillRef idx="0">
              <a:schemeClr val="accent1"/>
            </a:fillRef>
            <a:effectRef idx="1">
              <a:schemeClr val="accent1"/>
            </a:effectRef>
            <a:fontRef idx="minor">
              <a:schemeClr val="tx1"/>
            </a:fontRef>
          </p:style>
        </p:cxnSp>
        <p:cxnSp>
          <p:nvCxnSpPr>
            <p:cNvPr id="23" name="Connettore diritto 22">
              <a:extLst>
                <a:ext uri="{FF2B5EF4-FFF2-40B4-BE49-F238E27FC236}">
                  <a16:creationId xmlns:a16="http://schemas.microsoft.com/office/drawing/2014/main" id="{9CD8AB4A-3551-93F4-7F51-A01117EC332F}"/>
                </a:ext>
              </a:extLst>
            </p:cNvPr>
            <p:cNvCxnSpPr>
              <a:cxnSpLocks/>
            </p:cNvCxnSpPr>
            <p:nvPr/>
          </p:nvCxnSpPr>
          <p:spPr>
            <a:xfrm flipH="1">
              <a:off x="9164637" y="4792136"/>
              <a:ext cx="1203325" cy="0"/>
            </a:xfrm>
            <a:prstGeom prst="line">
              <a:avLst/>
            </a:prstGeom>
            <a:ln>
              <a:solidFill>
                <a:srgbClr val="FF0000"/>
              </a:solidFill>
              <a:prstDash val="sysDot"/>
            </a:ln>
          </p:spPr>
          <p:style>
            <a:lnRef idx="2">
              <a:schemeClr val="accent1"/>
            </a:lnRef>
            <a:fillRef idx="0">
              <a:schemeClr val="accent1"/>
            </a:fillRef>
            <a:effectRef idx="1">
              <a:schemeClr val="accent1"/>
            </a:effectRef>
            <a:fontRef idx="minor">
              <a:schemeClr val="tx1"/>
            </a:fontRef>
          </p:style>
        </p:cxnSp>
        <p:cxnSp>
          <p:nvCxnSpPr>
            <p:cNvPr id="24" name="Connettore diritto 23">
              <a:extLst>
                <a:ext uri="{FF2B5EF4-FFF2-40B4-BE49-F238E27FC236}">
                  <a16:creationId xmlns:a16="http://schemas.microsoft.com/office/drawing/2014/main" id="{CAD7CDBF-935C-69DD-5E6C-9114FEFA1CC5}"/>
                </a:ext>
              </a:extLst>
            </p:cNvPr>
            <p:cNvCxnSpPr>
              <a:cxnSpLocks/>
            </p:cNvCxnSpPr>
            <p:nvPr/>
          </p:nvCxnSpPr>
          <p:spPr>
            <a:xfrm flipH="1">
              <a:off x="9164637" y="6134098"/>
              <a:ext cx="1203325" cy="0"/>
            </a:xfrm>
            <a:prstGeom prst="line">
              <a:avLst/>
            </a:prstGeom>
            <a:ln>
              <a:solidFill>
                <a:srgbClr val="FF0000"/>
              </a:solidFill>
              <a:prstDash val="sysDot"/>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303611346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AE89F9-D1FA-1576-64FD-A2EB689BC090}"/>
            </a:ext>
          </a:extLst>
        </p:cNvPr>
        <p:cNvGrpSpPr/>
        <p:nvPr/>
      </p:nvGrpSpPr>
      <p:grpSpPr>
        <a:xfrm>
          <a:off x="0" y="0"/>
          <a:ext cx="0" cy="0"/>
          <a:chOff x="0" y="0"/>
          <a:chExt cx="0" cy="0"/>
        </a:xfrm>
      </p:grpSpPr>
      <p:pic>
        <p:nvPicPr>
          <p:cNvPr id="26" name="Immagine 25">
            <a:extLst>
              <a:ext uri="{FF2B5EF4-FFF2-40B4-BE49-F238E27FC236}">
                <a16:creationId xmlns:a16="http://schemas.microsoft.com/office/drawing/2014/main" id="{8E94EB5A-4F43-6CBD-4C92-4CA9F1757A37}"/>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6651267" y="3242140"/>
            <a:ext cx="3918670" cy="3418932"/>
          </a:xfrm>
          <a:prstGeom prst="rect">
            <a:avLst/>
          </a:prstGeom>
        </p:spPr>
      </p:pic>
      <p:pic>
        <p:nvPicPr>
          <p:cNvPr id="28" name="Segnaposto contenuto 13">
            <a:extLst>
              <a:ext uri="{FF2B5EF4-FFF2-40B4-BE49-F238E27FC236}">
                <a16:creationId xmlns:a16="http://schemas.microsoft.com/office/drawing/2014/main" id="{F000813B-5FBF-D20E-DACE-03AC95F53943}"/>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1622066" y="3242885"/>
            <a:ext cx="3918667" cy="3417441"/>
          </a:xfrm>
          <a:prstGeom prst="rect">
            <a:avLst/>
          </a:prstGeom>
        </p:spPr>
      </p:pic>
      <p:sp>
        <p:nvSpPr>
          <p:cNvPr id="2" name="Titolo 1">
            <a:extLst>
              <a:ext uri="{FF2B5EF4-FFF2-40B4-BE49-F238E27FC236}">
                <a16:creationId xmlns:a16="http://schemas.microsoft.com/office/drawing/2014/main" id="{B4565F3B-3ED1-0D04-5BA8-550046893FDE}"/>
              </a:ext>
            </a:extLst>
          </p:cNvPr>
          <p:cNvSpPr>
            <a:spLocks noGrp="1"/>
          </p:cNvSpPr>
          <p:nvPr>
            <p:ph type="title"/>
          </p:nvPr>
        </p:nvSpPr>
        <p:spPr>
          <a:xfrm>
            <a:off x="38100" y="69651"/>
            <a:ext cx="12114000" cy="1153094"/>
          </a:xfrm>
          <a:prstGeom prst="roundRect">
            <a:avLst>
              <a:gd name="adj" fmla="val 36459"/>
            </a:avLst>
          </a:prstGeom>
          <a:noFill/>
        </p:spPr>
        <p:txBody>
          <a:bodyPr>
            <a:normAutofit/>
          </a:bodyPr>
          <a:lstStyle/>
          <a:p>
            <a:r>
              <a:rPr lang="it-IT" b="1" dirty="0">
                <a:solidFill>
                  <a:srgbClr val="002060"/>
                </a:solidFill>
              </a:rPr>
              <a:t>	2. PREVIOUS ANALYSIS: CRYSTAL EDGES</a:t>
            </a:r>
          </a:p>
        </p:txBody>
      </p:sp>
      <mc:AlternateContent xmlns:mc="http://schemas.openxmlformats.org/markup-compatibility/2006" xmlns:a14="http://schemas.microsoft.com/office/drawing/2010/main">
        <mc:Choice Requires="a14">
          <p:sp>
            <p:nvSpPr>
              <p:cNvPr id="3" name="Segnaposto contenuto 2">
                <a:extLst>
                  <a:ext uri="{FF2B5EF4-FFF2-40B4-BE49-F238E27FC236}">
                    <a16:creationId xmlns:a16="http://schemas.microsoft.com/office/drawing/2014/main" id="{72EEC9D3-1E73-78F7-9E6A-5F7C3C212E79}"/>
                  </a:ext>
                </a:extLst>
              </p:cNvPr>
              <p:cNvSpPr>
                <a:spLocks noGrp="1"/>
              </p:cNvSpPr>
              <p:nvPr>
                <p:ph idx="1"/>
              </p:nvPr>
            </p:nvSpPr>
            <p:spPr>
              <a:xfrm>
                <a:off x="838200" y="1401288"/>
                <a:ext cx="10515600" cy="4776227"/>
              </a:xfrm>
            </p:spPr>
            <p:txBody>
              <a:bodyPr>
                <a:noAutofit/>
              </a:bodyPr>
              <a:lstStyle/>
              <a:p>
                <a:r>
                  <a:rPr lang="it-IT" sz="2400" dirty="0"/>
                  <a:t>To </a:t>
                </a:r>
                <a:r>
                  <a:rPr lang="it-IT" sz="2400" dirty="0" err="1"/>
                  <a:t>define</a:t>
                </a:r>
                <a:r>
                  <a:rPr lang="it-IT" sz="2400" dirty="0"/>
                  <a:t> the </a:t>
                </a:r>
                <a:r>
                  <a:rPr lang="it-IT" sz="2400" dirty="0" err="1"/>
                  <a:t>true</a:t>
                </a:r>
                <a:r>
                  <a:rPr lang="it-IT" sz="2400" dirty="0"/>
                  <a:t> footprint </a:t>
                </a:r>
                <a:r>
                  <a:rPr lang="it-IT" sz="2400" dirty="0" err="1"/>
                  <a:t>at</a:t>
                </a:r>
                <a:r>
                  <a:rPr lang="it-IT" sz="2400" dirty="0"/>
                  <a:t> the </a:t>
                </a:r>
                <a:r>
                  <a:rPr lang="it-IT" sz="2400" dirty="0" err="1"/>
                  <a:t>entrance</a:t>
                </a:r>
                <a:r>
                  <a:rPr lang="it-IT" sz="2400" dirty="0"/>
                  <a:t> face we must project the downstream </a:t>
                </a:r>
                <a:r>
                  <a:rPr lang="it-IT" sz="2400" dirty="0" err="1"/>
                  <a:t>edges</a:t>
                </a:r>
                <a:r>
                  <a:rPr lang="it-IT" sz="2400" dirty="0"/>
                  <a:t> back upstream.</a:t>
                </a:r>
              </a:p>
              <a:p>
                <a:r>
                  <a:rPr lang="it-IT" sz="2400" dirty="0"/>
                  <a:t>We </a:t>
                </a:r>
                <a:r>
                  <a:rPr lang="it-IT" sz="2400" dirty="0" err="1"/>
                  <a:t>need</a:t>
                </a:r>
                <a:r>
                  <a:rPr lang="it-IT" sz="2400" dirty="0"/>
                  <a:t> to </a:t>
                </a:r>
                <a:r>
                  <a:rPr lang="it-IT" sz="2400" dirty="0" err="1"/>
                  <a:t>subtract</a:t>
                </a:r>
                <a:r>
                  <a:rPr lang="it-IT" sz="2400" dirty="0"/>
                  <a:t> a shift </a:t>
                </a:r>
                <a14:m>
                  <m:oMath xmlns:m="http://schemas.openxmlformats.org/officeDocument/2006/math">
                    <m:r>
                      <m:rPr>
                        <m:sty m:val="p"/>
                      </m:rPr>
                      <a:rPr lang="it-IT" sz="2400" b="0" i="0" smtClean="0">
                        <a:latin typeface="Cambria Math" panose="02040503050406030204" pitchFamily="18" charset="0"/>
                      </a:rPr>
                      <m:t>Δ</m:t>
                    </m:r>
                    <m:r>
                      <a:rPr lang="it-IT" sz="2400" b="0" i="1" smtClean="0">
                        <a:latin typeface="Cambria Math" panose="02040503050406030204" pitchFamily="18" charset="0"/>
                      </a:rPr>
                      <m:t>𝑥</m:t>
                    </m:r>
                  </m:oMath>
                </a14:m>
                <a:r>
                  <a:rPr lang="it-IT" sz="2400" dirty="0"/>
                  <a:t> from the downstream </a:t>
                </a:r>
                <a:r>
                  <a:rPr lang="it-IT" sz="2400" dirty="0" err="1"/>
                  <a:t>edge</a:t>
                </a:r>
                <a:r>
                  <a:rPr lang="it-IT" sz="2400" dirty="0"/>
                  <a:t> position.</a:t>
                </a:r>
              </a:p>
              <a:p>
                <a:r>
                  <a:rPr lang="it-IT" sz="2400" dirty="0" err="1"/>
                  <a:t>Channeled</a:t>
                </a:r>
                <a:r>
                  <a:rPr lang="it-IT" sz="2400" dirty="0"/>
                  <a:t> </a:t>
                </a:r>
                <a:r>
                  <a:rPr lang="it-IT" sz="2400" dirty="0" err="1"/>
                  <a:t>particles</a:t>
                </a:r>
                <a:r>
                  <a:rPr lang="it-IT" sz="2400" dirty="0"/>
                  <a:t> follow the </a:t>
                </a:r>
                <a:r>
                  <a:rPr lang="it-IT" sz="2400" dirty="0" err="1"/>
                  <a:t>bent</a:t>
                </a:r>
                <a:r>
                  <a:rPr lang="it-IT" sz="2400" dirty="0"/>
                  <a:t> lattice </a:t>
                </a:r>
                <a:r>
                  <a:rPr lang="it-IT" sz="2400" dirty="0" err="1"/>
                  <a:t>planes</a:t>
                </a:r>
                <a:r>
                  <a:rPr lang="it-IT" sz="2400" dirty="0"/>
                  <a:t>, </a:t>
                </a:r>
                <a:r>
                  <a:rPr lang="it-IT" sz="2400" dirty="0" err="1"/>
                  <a:t>resulting</a:t>
                </a:r>
                <a:r>
                  <a:rPr lang="it-IT" sz="2400" dirty="0"/>
                  <a:t> in a </a:t>
                </a:r>
                <a:r>
                  <a:rPr lang="it-IT" sz="2400" dirty="0" err="1"/>
                  <a:t>lateral</a:t>
                </a:r>
                <a:r>
                  <a:rPr lang="it-IT" sz="2400" dirty="0"/>
                  <a:t> </a:t>
                </a:r>
                <a:r>
                  <a:rPr lang="it-IT" sz="2400" dirty="0" err="1"/>
                  <a:t>geometric</a:t>
                </a:r>
                <a:r>
                  <a:rPr lang="it-IT" sz="2400" dirty="0"/>
                  <a:t> drift </a:t>
                </a:r>
                <a:r>
                  <a:rPr lang="it-IT" sz="2400" dirty="0" err="1"/>
                  <a:t>along</a:t>
                </a:r>
                <a:r>
                  <a:rPr lang="it-IT" sz="2400" dirty="0"/>
                  <a:t> the </a:t>
                </a:r>
                <a14:m>
                  <m:oMath xmlns:m="http://schemas.openxmlformats.org/officeDocument/2006/math">
                    <m:r>
                      <a:rPr lang="it-IT" sz="2400" i="1" dirty="0" smtClean="0">
                        <a:latin typeface="Cambria Math" panose="02040503050406030204" pitchFamily="18" charset="0"/>
                      </a:rPr>
                      <m:t>𝑥</m:t>
                    </m:r>
                  </m:oMath>
                </a14:m>
                <a:r>
                  <a:rPr lang="it-IT" sz="2400" dirty="0"/>
                  <a:t>-</a:t>
                </a:r>
                <a:r>
                  <a:rPr lang="it-IT" sz="2400" dirty="0" err="1"/>
                  <a:t>axis</a:t>
                </a:r>
                <a:r>
                  <a:rPr lang="it-IT" sz="2400" dirty="0"/>
                  <a:t> </a:t>
                </a:r>
                <a:r>
                  <a:rPr lang="it-IT" sz="2400" dirty="0" err="1"/>
                  <a:t>as</a:t>
                </a:r>
                <a:r>
                  <a:rPr lang="it-IT" sz="2400" dirty="0"/>
                  <a:t> </a:t>
                </a:r>
                <a:r>
                  <a:rPr lang="it-IT" sz="2400" dirty="0" err="1"/>
                  <a:t>they</a:t>
                </a:r>
                <a:r>
                  <a:rPr lang="it-IT" sz="2400" dirty="0"/>
                  <a:t> traverse the </a:t>
                </a:r>
                <a:r>
                  <a:rPr lang="it-IT" sz="2400" dirty="0" err="1"/>
                  <a:t>crystal</a:t>
                </a:r>
                <a:r>
                  <a:rPr lang="it-IT" sz="2400" dirty="0"/>
                  <a:t>.</a:t>
                </a:r>
              </a:p>
            </p:txBody>
          </p:sp>
        </mc:Choice>
        <mc:Fallback xmlns="">
          <p:sp>
            <p:nvSpPr>
              <p:cNvPr id="3" name="Segnaposto contenuto 2">
                <a:extLst>
                  <a:ext uri="{FF2B5EF4-FFF2-40B4-BE49-F238E27FC236}">
                    <a16:creationId xmlns:a16="http://schemas.microsoft.com/office/drawing/2014/main" id="{72EEC9D3-1E73-78F7-9E6A-5F7C3C212E79}"/>
                  </a:ext>
                </a:extLst>
              </p:cNvPr>
              <p:cNvSpPr>
                <a:spLocks noGrp="1" noRot="1" noChangeAspect="1" noMove="1" noResize="1" noEditPoints="1" noAdjustHandles="1" noChangeArrowheads="1" noChangeShapeType="1" noTextEdit="1"/>
              </p:cNvSpPr>
              <p:nvPr>
                <p:ph idx="1"/>
              </p:nvPr>
            </p:nvSpPr>
            <p:spPr>
              <a:xfrm>
                <a:off x="838200" y="1401288"/>
                <a:ext cx="10515600" cy="4776227"/>
              </a:xfrm>
              <a:blipFill>
                <a:blip r:embed="rId5"/>
                <a:stretch>
                  <a:fillRect l="-812" t="-1660"/>
                </a:stretch>
              </a:blipFill>
            </p:spPr>
            <p:txBody>
              <a:bodyPr/>
              <a:lstStyle/>
              <a:p>
                <a:r>
                  <a:rPr lang="it-IT">
                    <a:noFill/>
                  </a:rPr>
                  <a:t> </a:t>
                </a:r>
              </a:p>
            </p:txBody>
          </p:sp>
        </mc:Fallback>
      </mc:AlternateContent>
      <p:sp>
        <p:nvSpPr>
          <p:cNvPr id="4" name="Segnaposto data 3">
            <a:extLst>
              <a:ext uri="{FF2B5EF4-FFF2-40B4-BE49-F238E27FC236}">
                <a16:creationId xmlns:a16="http://schemas.microsoft.com/office/drawing/2014/main" id="{AE8817D2-0A9B-0FAF-36DE-4A11DA6A530E}"/>
              </a:ext>
            </a:extLst>
          </p:cNvPr>
          <p:cNvSpPr>
            <a:spLocks noGrp="1"/>
          </p:cNvSpPr>
          <p:nvPr>
            <p:ph type="dt" sz="half" idx="10"/>
          </p:nvPr>
        </p:nvSpPr>
        <p:spPr>
          <a:xfrm>
            <a:off x="838200" y="6356349"/>
            <a:ext cx="2743200" cy="432000"/>
          </a:xfrm>
        </p:spPr>
        <p:txBody>
          <a:bodyPr/>
          <a:lstStyle/>
          <a:p>
            <a:r>
              <a:rPr lang="it-IT" sz="1500" b="1" dirty="0">
                <a:solidFill>
                  <a:srgbClr val="002060"/>
                </a:solidFill>
              </a:rPr>
              <a:t>24.08.2026</a:t>
            </a:r>
          </a:p>
        </p:txBody>
      </p:sp>
      <p:sp>
        <p:nvSpPr>
          <p:cNvPr id="5" name="Segnaposto piè di pagina 4">
            <a:extLst>
              <a:ext uri="{FF2B5EF4-FFF2-40B4-BE49-F238E27FC236}">
                <a16:creationId xmlns:a16="http://schemas.microsoft.com/office/drawing/2014/main" id="{968EBD17-4982-87E2-3CDB-90B5380C2171}"/>
              </a:ext>
            </a:extLst>
          </p:cNvPr>
          <p:cNvSpPr>
            <a:spLocks noGrp="1"/>
          </p:cNvSpPr>
          <p:nvPr>
            <p:ph type="ftr" sz="quarter" idx="11"/>
          </p:nvPr>
        </p:nvSpPr>
        <p:spPr>
          <a:xfrm>
            <a:off x="0" y="6356349"/>
            <a:ext cx="12192000" cy="432000"/>
          </a:xfrm>
        </p:spPr>
        <p:txBody>
          <a:bodyPr/>
          <a:lstStyle/>
          <a:p>
            <a:r>
              <a:rPr lang="it-IT" sz="1500" b="1" dirty="0">
                <a:solidFill>
                  <a:srgbClr val="002060"/>
                </a:solidFill>
              </a:rPr>
              <a:t>Anna Sofia Moro</a:t>
            </a:r>
          </a:p>
        </p:txBody>
      </p:sp>
      <p:sp>
        <p:nvSpPr>
          <p:cNvPr id="6" name="Segnaposto numero diapositiva 5">
            <a:extLst>
              <a:ext uri="{FF2B5EF4-FFF2-40B4-BE49-F238E27FC236}">
                <a16:creationId xmlns:a16="http://schemas.microsoft.com/office/drawing/2014/main" id="{6107B5E3-3B9D-1082-353B-3394C8D104D8}"/>
              </a:ext>
            </a:extLst>
          </p:cNvPr>
          <p:cNvSpPr>
            <a:spLocks noGrp="1"/>
          </p:cNvSpPr>
          <p:nvPr>
            <p:ph type="sldNum" sz="quarter" idx="12"/>
          </p:nvPr>
        </p:nvSpPr>
        <p:spPr>
          <a:xfrm>
            <a:off x="8610600" y="6356349"/>
            <a:ext cx="2743200" cy="432000"/>
          </a:xfrm>
        </p:spPr>
        <p:txBody>
          <a:bodyPr/>
          <a:lstStyle/>
          <a:p>
            <a:fld id="{0A318BD9-CA14-4A83-ACF0-03D5918EB402}" type="slidenum">
              <a:rPr lang="it-IT" sz="1500" b="1" smtClean="0">
                <a:solidFill>
                  <a:srgbClr val="002060"/>
                </a:solidFill>
              </a:rPr>
              <a:t>14</a:t>
            </a:fld>
            <a:endParaRPr lang="it-IT" sz="1500" b="1" dirty="0">
              <a:solidFill>
                <a:srgbClr val="002060"/>
              </a:solidFill>
            </a:endParaRPr>
          </a:p>
        </p:txBody>
      </p:sp>
      <p:cxnSp>
        <p:nvCxnSpPr>
          <p:cNvPr id="10" name="Connettore diritto 9">
            <a:extLst>
              <a:ext uri="{FF2B5EF4-FFF2-40B4-BE49-F238E27FC236}">
                <a16:creationId xmlns:a16="http://schemas.microsoft.com/office/drawing/2014/main" id="{CC47FAF3-C921-892C-9CA4-BE050B1D5E9B}"/>
              </a:ext>
            </a:extLst>
          </p:cNvPr>
          <p:cNvCxnSpPr>
            <a:cxnSpLocks/>
          </p:cNvCxnSpPr>
          <p:nvPr/>
        </p:nvCxnSpPr>
        <p:spPr>
          <a:xfrm>
            <a:off x="696000" y="1155368"/>
            <a:ext cx="10800000" cy="0"/>
          </a:xfrm>
          <a:prstGeom prst="line">
            <a:avLst/>
          </a:prstGeom>
          <a:ln w="38100">
            <a:solidFill>
              <a:srgbClr val="002060"/>
            </a:solidFill>
          </a:ln>
        </p:spPr>
        <p:style>
          <a:lnRef idx="2">
            <a:schemeClr val="accent1"/>
          </a:lnRef>
          <a:fillRef idx="0">
            <a:schemeClr val="accent1"/>
          </a:fillRef>
          <a:effectRef idx="1">
            <a:schemeClr val="accent1"/>
          </a:effectRef>
          <a:fontRef idx="minor">
            <a:schemeClr val="tx1"/>
          </a:fontRef>
        </p:style>
      </p:cxnSp>
      <p:sp>
        <p:nvSpPr>
          <p:cNvPr id="7" name="Rettangolo 6">
            <a:extLst>
              <a:ext uri="{FF2B5EF4-FFF2-40B4-BE49-F238E27FC236}">
                <a16:creationId xmlns:a16="http://schemas.microsoft.com/office/drawing/2014/main" id="{0188A4B1-7E67-D966-06CE-BDB22631CF37}"/>
              </a:ext>
            </a:extLst>
          </p:cNvPr>
          <p:cNvSpPr/>
          <p:nvPr/>
        </p:nvSpPr>
        <p:spPr>
          <a:xfrm>
            <a:off x="2235201" y="4792137"/>
            <a:ext cx="815636" cy="134196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cxnSp>
        <p:nvCxnSpPr>
          <p:cNvPr id="12" name="Connettore diritto 11">
            <a:extLst>
              <a:ext uri="{FF2B5EF4-FFF2-40B4-BE49-F238E27FC236}">
                <a16:creationId xmlns:a16="http://schemas.microsoft.com/office/drawing/2014/main" id="{FE88FD1A-5454-5AA8-1606-1C9938301A25}"/>
              </a:ext>
            </a:extLst>
          </p:cNvPr>
          <p:cNvCxnSpPr>
            <a:cxnSpLocks/>
          </p:cNvCxnSpPr>
          <p:nvPr/>
        </p:nvCxnSpPr>
        <p:spPr>
          <a:xfrm>
            <a:off x="2245785" y="3429000"/>
            <a:ext cx="0" cy="1038225"/>
          </a:xfrm>
          <a:prstGeom prst="line">
            <a:avLst/>
          </a:prstGeom>
          <a:ln>
            <a:solidFill>
              <a:srgbClr val="FF0000"/>
            </a:solidFill>
            <a:prstDash val="sysDot"/>
          </a:ln>
        </p:spPr>
        <p:style>
          <a:lnRef idx="2">
            <a:schemeClr val="accent1"/>
          </a:lnRef>
          <a:fillRef idx="0">
            <a:schemeClr val="accent1"/>
          </a:fillRef>
          <a:effectRef idx="1">
            <a:schemeClr val="accent1"/>
          </a:effectRef>
          <a:fontRef idx="minor">
            <a:schemeClr val="tx1"/>
          </a:fontRef>
        </p:style>
      </p:cxnSp>
      <p:cxnSp>
        <p:nvCxnSpPr>
          <p:cNvPr id="15" name="Connettore diritto 14">
            <a:extLst>
              <a:ext uri="{FF2B5EF4-FFF2-40B4-BE49-F238E27FC236}">
                <a16:creationId xmlns:a16="http://schemas.microsoft.com/office/drawing/2014/main" id="{AE15623F-17A3-2E34-83DC-B4A12FAAEE97}"/>
              </a:ext>
            </a:extLst>
          </p:cNvPr>
          <p:cNvCxnSpPr>
            <a:cxnSpLocks/>
          </p:cNvCxnSpPr>
          <p:nvPr/>
        </p:nvCxnSpPr>
        <p:spPr>
          <a:xfrm>
            <a:off x="3057187" y="3440113"/>
            <a:ext cx="0" cy="1038225"/>
          </a:xfrm>
          <a:prstGeom prst="line">
            <a:avLst/>
          </a:prstGeom>
          <a:ln>
            <a:solidFill>
              <a:srgbClr val="FF0000"/>
            </a:solidFill>
            <a:prstDash val="sysDot"/>
          </a:ln>
        </p:spPr>
        <p:style>
          <a:lnRef idx="2">
            <a:schemeClr val="accent1"/>
          </a:lnRef>
          <a:fillRef idx="0">
            <a:schemeClr val="accent1"/>
          </a:fillRef>
          <a:effectRef idx="1">
            <a:schemeClr val="accent1"/>
          </a:effectRef>
          <a:fontRef idx="minor">
            <a:schemeClr val="tx1"/>
          </a:fontRef>
        </p:style>
      </p:cxnSp>
      <p:cxnSp>
        <p:nvCxnSpPr>
          <p:cNvPr id="18" name="Connettore diritto 17">
            <a:extLst>
              <a:ext uri="{FF2B5EF4-FFF2-40B4-BE49-F238E27FC236}">
                <a16:creationId xmlns:a16="http://schemas.microsoft.com/office/drawing/2014/main" id="{E1A732FF-C639-A178-1422-EF6F95A240D8}"/>
              </a:ext>
            </a:extLst>
          </p:cNvPr>
          <p:cNvCxnSpPr>
            <a:cxnSpLocks/>
          </p:cNvCxnSpPr>
          <p:nvPr/>
        </p:nvCxnSpPr>
        <p:spPr>
          <a:xfrm flipH="1">
            <a:off x="4138613" y="4792136"/>
            <a:ext cx="1203325" cy="0"/>
          </a:xfrm>
          <a:prstGeom prst="line">
            <a:avLst/>
          </a:prstGeom>
          <a:ln>
            <a:solidFill>
              <a:srgbClr val="FF0000"/>
            </a:solidFill>
            <a:prstDash val="sysDot"/>
          </a:ln>
        </p:spPr>
        <p:style>
          <a:lnRef idx="2">
            <a:schemeClr val="accent1"/>
          </a:lnRef>
          <a:fillRef idx="0">
            <a:schemeClr val="accent1"/>
          </a:fillRef>
          <a:effectRef idx="1">
            <a:schemeClr val="accent1"/>
          </a:effectRef>
          <a:fontRef idx="minor">
            <a:schemeClr val="tx1"/>
          </a:fontRef>
        </p:style>
      </p:cxnSp>
      <p:cxnSp>
        <p:nvCxnSpPr>
          <p:cNvPr id="22" name="Connettore diritto 21">
            <a:extLst>
              <a:ext uri="{FF2B5EF4-FFF2-40B4-BE49-F238E27FC236}">
                <a16:creationId xmlns:a16="http://schemas.microsoft.com/office/drawing/2014/main" id="{F694E3CB-E4C0-FA0D-7F1C-B294C58F5FD2}"/>
              </a:ext>
            </a:extLst>
          </p:cNvPr>
          <p:cNvCxnSpPr>
            <a:cxnSpLocks/>
          </p:cNvCxnSpPr>
          <p:nvPr/>
        </p:nvCxnSpPr>
        <p:spPr>
          <a:xfrm flipH="1">
            <a:off x="4138613" y="6134098"/>
            <a:ext cx="1203325" cy="0"/>
          </a:xfrm>
          <a:prstGeom prst="line">
            <a:avLst/>
          </a:prstGeom>
          <a:ln>
            <a:solidFill>
              <a:srgbClr val="FF0000"/>
            </a:solidFill>
            <a:prstDash val="sysDot"/>
          </a:ln>
        </p:spPr>
        <p:style>
          <a:lnRef idx="2">
            <a:schemeClr val="accent1"/>
          </a:lnRef>
          <a:fillRef idx="0">
            <a:schemeClr val="accent1"/>
          </a:fillRef>
          <a:effectRef idx="1">
            <a:schemeClr val="accent1"/>
          </a:effectRef>
          <a:fontRef idx="minor">
            <a:schemeClr val="tx1"/>
          </a:fontRef>
        </p:style>
      </p:cxnSp>
      <p:sp>
        <p:nvSpPr>
          <p:cNvPr id="11" name="Rettangolo 10">
            <a:extLst>
              <a:ext uri="{FF2B5EF4-FFF2-40B4-BE49-F238E27FC236}">
                <a16:creationId xmlns:a16="http://schemas.microsoft.com/office/drawing/2014/main" id="{4C842739-3CDC-C45E-E714-D97D9BED5D0F}"/>
              </a:ext>
            </a:extLst>
          </p:cNvPr>
          <p:cNvSpPr/>
          <p:nvPr/>
        </p:nvSpPr>
        <p:spPr>
          <a:xfrm>
            <a:off x="7266789" y="4792137"/>
            <a:ext cx="810071" cy="1341962"/>
          </a:xfrm>
          <a:prstGeom prst="rect">
            <a:avLst/>
          </a:prstGeom>
          <a:noFill/>
          <a:ln w="28575">
            <a:solidFill>
              <a:srgbClr val="FFC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mc:AlternateContent xmlns:mc="http://schemas.openxmlformats.org/markup-compatibility/2006" xmlns:a14="http://schemas.microsoft.com/office/drawing/2010/main">
        <mc:Choice Requires="a14">
          <p:sp>
            <p:nvSpPr>
              <p:cNvPr id="13" name="Rettangolo con angoli arrotondati 12">
                <a:extLst>
                  <a:ext uri="{FF2B5EF4-FFF2-40B4-BE49-F238E27FC236}">
                    <a16:creationId xmlns:a16="http://schemas.microsoft.com/office/drawing/2014/main" id="{80D6D794-BEF0-5EB5-B731-DADE666780B1}"/>
                  </a:ext>
                </a:extLst>
              </p:cNvPr>
              <p:cNvSpPr/>
              <p:nvPr/>
            </p:nvSpPr>
            <p:spPr>
              <a:xfrm>
                <a:off x="9164638" y="3332747"/>
                <a:ext cx="2331362" cy="1134475"/>
              </a:xfrm>
              <a:prstGeom prst="roundRect">
                <a:avLst/>
              </a:prstGeom>
              <a:noFill/>
              <a:ln w="38100">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
                      <m:r>
                        <m:rPr>
                          <m:sty m:val="p"/>
                        </m:rPr>
                        <a:rPr lang="it-IT" b="0" i="0" smtClean="0">
                          <a:solidFill>
                            <a:schemeClr val="tx1"/>
                          </a:solidFill>
                          <a:latin typeface="Cambria Math" panose="02040503050406030204" pitchFamily="18" charset="0"/>
                        </a:rPr>
                        <m:t>Δ</m:t>
                      </m:r>
                      <m:r>
                        <a:rPr lang="it-IT" b="0" i="1" smtClean="0">
                          <a:solidFill>
                            <a:schemeClr val="tx1"/>
                          </a:solidFill>
                          <a:latin typeface="Cambria Math" panose="02040503050406030204" pitchFamily="18" charset="0"/>
                        </a:rPr>
                        <m:t>𝑥</m:t>
                      </m:r>
                      <m:r>
                        <a:rPr lang="it-IT" b="0" i="1" smtClean="0">
                          <a:solidFill>
                            <a:schemeClr val="tx1"/>
                          </a:solidFill>
                          <a:latin typeface="Cambria Math" panose="02040503050406030204" pitchFamily="18" charset="0"/>
                        </a:rPr>
                        <m:t>=</m:t>
                      </m:r>
                      <m:f>
                        <m:fPr>
                          <m:ctrlPr>
                            <a:rPr lang="it-IT" b="0" i="1" smtClean="0">
                              <a:solidFill>
                                <a:schemeClr val="tx1"/>
                              </a:solidFill>
                              <a:latin typeface="Cambria Math" panose="02040503050406030204" pitchFamily="18" charset="0"/>
                            </a:rPr>
                          </m:ctrlPr>
                        </m:fPr>
                        <m:num>
                          <m:sSub>
                            <m:sSubPr>
                              <m:ctrlPr>
                                <a:rPr lang="it-IT" b="0" i="1" smtClean="0">
                                  <a:solidFill>
                                    <a:schemeClr val="tx1"/>
                                  </a:solidFill>
                                  <a:latin typeface="Cambria Math" panose="02040503050406030204" pitchFamily="18" charset="0"/>
                                </a:rPr>
                              </m:ctrlPr>
                            </m:sSubPr>
                            <m:e>
                              <m:r>
                                <a:rPr lang="it-IT" b="0" i="1" smtClean="0">
                                  <a:solidFill>
                                    <a:schemeClr val="tx1"/>
                                  </a:solidFill>
                                  <a:latin typeface="Cambria Math" panose="02040503050406030204" pitchFamily="18" charset="0"/>
                                </a:rPr>
                                <m:t>𝜃</m:t>
                              </m:r>
                            </m:e>
                            <m:sub>
                              <m:r>
                                <a:rPr lang="it-IT" b="0" i="1" smtClean="0">
                                  <a:solidFill>
                                    <a:schemeClr val="tx1"/>
                                  </a:solidFill>
                                  <a:latin typeface="Cambria Math" panose="02040503050406030204" pitchFamily="18" charset="0"/>
                                </a:rPr>
                                <m:t>𝑏</m:t>
                              </m:r>
                            </m:sub>
                          </m:sSub>
                          <m:r>
                            <a:rPr lang="it-IT" b="0" i="1" smtClean="0">
                              <a:solidFill>
                                <a:schemeClr val="tx1"/>
                              </a:solidFill>
                              <a:latin typeface="Cambria Math" panose="02040503050406030204" pitchFamily="18" charset="0"/>
                            </a:rPr>
                            <m:t>⋅</m:t>
                          </m:r>
                          <m:r>
                            <a:rPr lang="it-IT" b="0" i="1" smtClean="0">
                              <a:solidFill>
                                <a:schemeClr val="tx1"/>
                              </a:solidFill>
                              <a:latin typeface="Cambria Math" panose="02040503050406030204" pitchFamily="18" charset="0"/>
                            </a:rPr>
                            <m:t>𝐿</m:t>
                          </m:r>
                        </m:num>
                        <m:den>
                          <m:r>
                            <a:rPr lang="it-IT" b="0" i="1" smtClean="0">
                              <a:solidFill>
                                <a:schemeClr val="tx1"/>
                              </a:solidFill>
                              <a:latin typeface="Cambria Math" panose="02040503050406030204" pitchFamily="18" charset="0"/>
                            </a:rPr>
                            <m:t>2</m:t>
                          </m:r>
                        </m:den>
                      </m:f>
                      <m:r>
                        <a:rPr lang="it-IT" b="0" i="1" smtClean="0">
                          <a:solidFill>
                            <a:schemeClr val="tx1"/>
                          </a:solidFill>
                          <a:latin typeface="Cambria Math" panose="02040503050406030204" pitchFamily="18" charset="0"/>
                        </a:rPr>
                        <m:t>∼0.22 </m:t>
                      </m:r>
                      <m:r>
                        <m:rPr>
                          <m:sty m:val="p"/>
                        </m:rPr>
                        <a:rPr lang="it-IT" b="0" i="0" smtClean="0">
                          <a:solidFill>
                            <a:schemeClr val="tx1"/>
                          </a:solidFill>
                          <a:latin typeface="Cambria Math" panose="02040503050406030204" pitchFamily="18" charset="0"/>
                        </a:rPr>
                        <m:t>mm</m:t>
                      </m:r>
                    </m:oMath>
                  </m:oMathPara>
                </a14:m>
                <a:endParaRPr lang="it-IT" dirty="0">
                  <a:solidFill>
                    <a:schemeClr val="tx1"/>
                  </a:solidFill>
                </a:endParaRPr>
              </a:p>
            </p:txBody>
          </p:sp>
        </mc:Choice>
        <mc:Fallback xmlns="">
          <p:sp>
            <p:nvSpPr>
              <p:cNvPr id="13" name="Rettangolo con angoli arrotondati 12">
                <a:extLst>
                  <a:ext uri="{FF2B5EF4-FFF2-40B4-BE49-F238E27FC236}">
                    <a16:creationId xmlns:a16="http://schemas.microsoft.com/office/drawing/2014/main" id="{80D6D794-BEF0-5EB5-B731-DADE666780B1}"/>
                  </a:ext>
                </a:extLst>
              </p:cNvPr>
              <p:cNvSpPr>
                <a:spLocks noRot="1" noChangeAspect="1" noMove="1" noResize="1" noEditPoints="1" noAdjustHandles="1" noChangeArrowheads="1" noChangeShapeType="1" noTextEdit="1"/>
              </p:cNvSpPr>
              <p:nvPr/>
            </p:nvSpPr>
            <p:spPr>
              <a:xfrm>
                <a:off x="9164638" y="3332747"/>
                <a:ext cx="2331362" cy="1134475"/>
              </a:xfrm>
              <a:prstGeom prst="roundRect">
                <a:avLst/>
              </a:prstGeom>
              <a:blipFill>
                <a:blip r:embed="rId6"/>
                <a:stretch>
                  <a:fillRect/>
                </a:stretch>
              </a:blipFill>
              <a:ln w="38100">
                <a:solidFill>
                  <a:srgbClr val="FFC000"/>
                </a:solidFill>
              </a:ln>
            </p:spPr>
            <p:txBody>
              <a:bodyPr/>
              <a:lstStyle/>
              <a:p>
                <a:r>
                  <a:rPr lang="it-IT">
                    <a:noFill/>
                  </a:rPr>
                  <a:t> </a:t>
                </a:r>
              </a:p>
            </p:txBody>
          </p:sp>
        </mc:Fallback>
      </mc:AlternateContent>
      <p:sp>
        <p:nvSpPr>
          <p:cNvPr id="14" name="Rettangolo 13">
            <a:extLst>
              <a:ext uri="{FF2B5EF4-FFF2-40B4-BE49-F238E27FC236}">
                <a16:creationId xmlns:a16="http://schemas.microsoft.com/office/drawing/2014/main" id="{F66C269B-AD02-FB23-A310-25CFF046CF84}"/>
              </a:ext>
            </a:extLst>
          </p:cNvPr>
          <p:cNvSpPr/>
          <p:nvPr/>
        </p:nvSpPr>
        <p:spPr>
          <a:xfrm>
            <a:off x="7359920" y="4792136"/>
            <a:ext cx="810072" cy="134196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cxnSp>
        <p:nvCxnSpPr>
          <p:cNvPr id="19" name="Connettore diritto 18">
            <a:extLst>
              <a:ext uri="{FF2B5EF4-FFF2-40B4-BE49-F238E27FC236}">
                <a16:creationId xmlns:a16="http://schemas.microsoft.com/office/drawing/2014/main" id="{CF40EFBB-9592-14FD-FD6F-31C44D6F346A}"/>
              </a:ext>
            </a:extLst>
          </p:cNvPr>
          <p:cNvCxnSpPr>
            <a:cxnSpLocks/>
          </p:cNvCxnSpPr>
          <p:nvPr/>
        </p:nvCxnSpPr>
        <p:spPr>
          <a:xfrm>
            <a:off x="7359920" y="3440113"/>
            <a:ext cx="0" cy="1038225"/>
          </a:xfrm>
          <a:prstGeom prst="line">
            <a:avLst/>
          </a:prstGeom>
          <a:ln>
            <a:solidFill>
              <a:srgbClr val="FF0000"/>
            </a:solidFill>
            <a:prstDash val="sysDot"/>
          </a:ln>
        </p:spPr>
        <p:style>
          <a:lnRef idx="2">
            <a:schemeClr val="accent1"/>
          </a:lnRef>
          <a:fillRef idx="0">
            <a:schemeClr val="accent1"/>
          </a:fillRef>
          <a:effectRef idx="1">
            <a:schemeClr val="accent1"/>
          </a:effectRef>
          <a:fontRef idx="minor">
            <a:schemeClr val="tx1"/>
          </a:fontRef>
        </p:style>
      </p:cxnSp>
      <p:cxnSp>
        <p:nvCxnSpPr>
          <p:cNvPr id="20" name="Connettore diritto 19">
            <a:extLst>
              <a:ext uri="{FF2B5EF4-FFF2-40B4-BE49-F238E27FC236}">
                <a16:creationId xmlns:a16="http://schemas.microsoft.com/office/drawing/2014/main" id="{C97A30C5-F6A4-B200-3F6A-B463F6AC4C02}"/>
              </a:ext>
            </a:extLst>
          </p:cNvPr>
          <p:cNvCxnSpPr>
            <a:cxnSpLocks/>
          </p:cNvCxnSpPr>
          <p:nvPr/>
        </p:nvCxnSpPr>
        <p:spPr>
          <a:xfrm>
            <a:off x="8169992" y="3440113"/>
            <a:ext cx="0" cy="1038225"/>
          </a:xfrm>
          <a:prstGeom prst="line">
            <a:avLst/>
          </a:prstGeom>
          <a:ln>
            <a:solidFill>
              <a:srgbClr val="FF0000"/>
            </a:solidFill>
            <a:prstDash val="sysDot"/>
          </a:ln>
        </p:spPr>
        <p:style>
          <a:lnRef idx="2">
            <a:schemeClr val="accent1"/>
          </a:lnRef>
          <a:fillRef idx="0">
            <a:schemeClr val="accent1"/>
          </a:fillRef>
          <a:effectRef idx="1">
            <a:schemeClr val="accent1"/>
          </a:effectRef>
          <a:fontRef idx="minor">
            <a:schemeClr val="tx1"/>
          </a:fontRef>
        </p:style>
      </p:cxnSp>
      <p:cxnSp>
        <p:nvCxnSpPr>
          <p:cNvPr id="21" name="Connettore diritto 20">
            <a:extLst>
              <a:ext uri="{FF2B5EF4-FFF2-40B4-BE49-F238E27FC236}">
                <a16:creationId xmlns:a16="http://schemas.microsoft.com/office/drawing/2014/main" id="{7DD34DDB-64B3-960E-FD00-1EC88B81EB0E}"/>
              </a:ext>
            </a:extLst>
          </p:cNvPr>
          <p:cNvCxnSpPr>
            <a:cxnSpLocks/>
          </p:cNvCxnSpPr>
          <p:nvPr/>
        </p:nvCxnSpPr>
        <p:spPr>
          <a:xfrm flipH="1">
            <a:off x="9164637" y="6134098"/>
            <a:ext cx="1203325" cy="0"/>
          </a:xfrm>
          <a:prstGeom prst="line">
            <a:avLst/>
          </a:prstGeom>
          <a:ln>
            <a:solidFill>
              <a:srgbClr val="FF0000"/>
            </a:solidFill>
            <a:prstDash val="sysDot"/>
          </a:ln>
        </p:spPr>
        <p:style>
          <a:lnRef idx="2">
            <a:schemeClr val="accent1"/>
          </a:lnRef>
          <a:fillRef idx="0">
            <a:schemeClr val="accent1"/>
          </a:fillRef>
          <a:effectRef idx="1">
            <a:schemeClr val="accent1"/>
          </a:effectRef>
          <a:fontRef idx="minor">
            <a:schemeClr val="tx1"/>
          </a:fontRef>
        </p:style>
      </p:cxnSp>
      <p:cxnSp>
        <p:nvCxnSpPr>
          <p:cNvPr id="25" name="Connettore diritto 24">
            <a:extLst>
              <a:ext uri="{FF2B5EF4-FFF2-40B4-BE49-F238E27FC236}">
                <a16:creationId xmlns:a16="http://schemas.microsoft.com/office/drawing/2014/main" id="{666D2C75-53F9-9B27-CD77-AA750A933C68}"/>
              </a:ext>
            </a:extLst>
          </p:cNvPr>
          <p:cNvCxnSpPr>
            <a:cxnSpLocks/>
          </p:cNvCxnSpPr>
          <p:nvPr/>
        </p:nvCxnSpPr>
        <p:spPr>
          <a:xfrm flipH="1">
            <a:off x="9164637" y="4792136"/>
            <a:ext cx="1203325" cy="0"/>
          </a:xfrm>
          <a:prstGeom prst="line">
            <a:avLst/>
          </a:prstGeom>
          <a:ln>
            <a:solidFill>
              <a:srgbClr val="FF0000"/>
            </a:solidFill>
            <a:prstDash val="sysDot"/>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77293791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F76D01-217C-59DD-756C-C159F3DD3290}"/>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D736224C-472C-0BFC-A1A7-3DC5DCDAA79D}"/>
              </a:ext>
            </a:extLst>
          </p:cNvPr>
          <p:cNvSpPr>
            <a:spLocks noGrp="1"/>
          </p:cNvSpPr>
          <p:nvPr>
            <p:ph type="title"/>
          </p:nvPr>
        </p:nvSpPr>
        <p:spPr>
          <a:xfrm>
            <a:off x="38100" y="69651"/>
            <a:ext cx="12114000" cy="1153094"/>
          </a:xfrm>
          <a:prstGeom prst="roundRect">
            <a:avLst>
              <a:gd name="adj" fmla="val 36459"/>
            </a:avLst>
          </a:prstGeom>
          <a:noFill/>
        </p:spPr>
        <p:txBody>
          <a:bodyPr>
            <a:normAutofit/>
          </a:bodyPr>
          <a:lstStyle/>
          <a:p>
            <a:r>
              <a:rPr lang="it-IT" b="1" dirty="0">
                <a:solidFill>
                  <a:srgbClr val="002060"/>
                </a:solidFill>
              </a:rPr>
              <a:t>	3. ANALYSIS: TORSION EFFECT</a:t>
            </a:r>
          </a:p>
        </p:txBody>
      </p:sp>
      <mc:AlternateContent xmlns:mc="http://schemas.openxmlformats.org/markup-compatibility/2006" xmlns:a14="http://schemas.microsoft.com/office/drawing/2010/main">
        <mc:Choice Requires="a14">
          <p:sp>
            <p:nvSpPr>
              <p:cNvPr id="3" name="Segnaposto contenuto 2">
                <a:extLst>
                  <a:ext uri="{FF2B5EF4-FFF2-40B4-BE49-F238E27FC236}">
                    <a16:creationId xmlns:a16="http://schemas.microsoft.com/office/drawing/2014/main" id="{C36D42AD-3DE8-BB3A-DB3E-573D0B4E7A80}"/>
                  </a:ext>
                </a:extLst>
              </p:cNvPr>
              <p:cNvSpPr>
                <a:spLocks noGrp="1"/>
              </p:cNvSpPr>
              <p:nvPr>
                <p:ph idx="1"/>
              </p:nvPr>
            </p:nvSpPr>
            <p:spPr>
              <a:xfrm>
                <a:off x="838200" y="1401288"/>
                <a:ext cx="10515600" cy="4776227"/>
              </a:xfrm>
            </p:spPr>
            <p:txBody>
              <a:bodyPr>
                <a:normAutofit/>
              </a:bodyPr>
              <a:lstStyle/>
              <a:p>
                <a:pPr marL="0" indent="0">
                  <a:buNone/>
                </a:pPr>
                <a:r>
                  <a:rPr lang="it-IT" sz="2600" i="1" dirty="0" err="1"/>
                  <a:t>Torsion</a:t>
                </a:r>
                <a:r>
                  <a:rPr lang="it-IT" sz="2600" i="1" dirty="0"/>
                  <a:t> </a:t>
                </a:r>
                <a:r>
                  <a:rPr lang="it-IT" sz="2600" i="1" dirty="0" err="1"/>
                  <a:t>effect</a:t>
                </a:r>
                <a:r>
                  <a:rPr lang="it-IT" sz="2600" i="1" dirty="0"/>
                  <a:t>:</a:t>
                </a:r>
                <a:r>
                  <a:rPr lang="it-IT" sz="2600" dirty="0"/>
                  <a:t> in long </a:t>
                </a:r>
                <a:r>
                  <a:rPr lang="it-IT" sz="2600" dirty="0" err="1"/>
                  <a:t>crystals</a:t>
                </a:r>
                <a:r>
                  <a:rPr lang="it-IT" sz="2600" dirty="0"/>
                  <a:t> (&gt;1 cm), </a:t>
                </a:r>
                <a:r>
                  <a:rPr lang="it-IT" sz="2600" dirty="0" err="1"/>
                  <a:t>structural</a:t>
                </a:r>
                <a:r>
                  <a:rPr lang="it-IT" sz="2600" dirty="0"/>
                  <a:t> </a:t>
                </a:r>
                <a:r>
                  <a:rPr lang="it-IT" sz="2600" dirty="0" err="1"/>
                  <a:t>torsion</a:t>
                </a:r>
                <a:r>
                  <a:rPr lang="it-IT" sz="2600" dirty="0"/>
                  <a:t> </a:t>
                </a:r>
                <a:r>
                  <a:rPr lang="it-IT" sz="2600" dirty="0" err="1"/>
                  <a:t>is</a:t>
                </a:r>
                <a:r>
                  <a:rPr lang="it-IT" sz="2600" dirty="0"/>
                  <a:t> non-</a:t>
                </a:r>
                <a:r>
                  <a:rPr lang="it-IT" sz="2600" dirty="0" err="1"/>
                  <a:t>negligible</a:t>
                </a:r>
                <a:r>
                  <a:rPr lang="it-IT" sz="2600" dirty="0"/>
                  <a:t> and </a:t>
                </a:r>
                <a:r>
                  <a:rPr lang="en-US" sz="2600" dirty="0"/>
                  <a:t>must be incorporated into the analysis.</a:t>
                </a:r>
              </a:p>
              <a:p>
                <a:pPr marL="0" indent="0">
                  <a:buNone/>
                </a:pPr>
                <a:endParaRPr lang="en-US" sz="2600" dirty="0"/>
              </a:p>
              <a:p>
                <a:r>
                  <a:rPr lang="it-IT" sz="2600" dirty="0"/>
                  <a:t>The </a:t>
                </a:r>
                <a:r>
                  <a:rPr lang="it-IT" sz="2600" dirty="0" err="1"/>
                  <a:t>different</a:t>
                </a:r>
                <a:r>
                  <a:rPr lang="it-IT" sz="2600" dirty="0"/>
                  <a:t> </a:t>
                </a:r>
                <a:r>
                  <a:rPr lang="it-IT" sz="2600" dirty="0" err="1"/>
                  <a:t>orientations</a:t>
                </a:r>
                <a:r>
                  <a:rPr lang="it-IT" sz="2600" dirty="0"/>
                  <a:t> of the </a:t>
                </a:r>
                <a:r>
                  <a:rPr lang="it-IT" sz="2600" dirty="0" err="1"/>
                  <a:t>crystallographic</a:t>
                </a:r>
                <a:r>
                  <a:rPr lang="it-IT" sz="2600" dirty="0"/>
                  <a:t> </a:t>
                </a:r>
                <a:r>
                  <a:rPr lang="it-IT" sz="2600" dirty="0" err="1"/>
                  <a:t>planes</a:t>
                </a:r>
                <a:r>
                  <a:rPr lang="it-IT" sz="2600" dirty="0"/>
                  <a:t> </a:t>
                </a:r>
                <a:r>
                  <a:rPr lang="it-IT" sz="2600" dirty="0" err="1"/>
                  <a:t>along</a:t>
                </a:r>
                <a:r>
                  <a:rPr lang="it-IT" sz="2600" dirty="0"/>
                  <a:t> the </a:t>
                </a:r>
                <a:r>
                  <a:rPr lang="it-IT" sz="2600" dirty="0" err="1"/>
                  <a:t>crystal</a:t>
                </a:r>
                <a:r>
                  <a:rPr lang="it-IT" sz="2600" dirty="0"/>
                  <a:t> front </a:t>
                </a:r>
                <a:r>
                  <a:rPr lang="it-IT" sz="2600" dirty="0" err="1"/>
                  <a:t>surface</a:t>
                </a:r>
                <a:r>
                  <a:rPr lang="it-IT" sz="2600" dirty="0"/>
                  <a:t> </a:t>
                </a:r>
                <a:r>
                  <a:rPr lang="it-IT" sz="2600" dirty="0" err="1"/>
                  <a:t>influence</a:t>
                </a:r>
                <a:r>
                  <a:rPr lang="it-IT" sz="2600" dirty="0"/>
                  <a:t> the </a:t>
                </a:r>
                <a:r>
                  <a:rPr lang="it-IT" sz="2600" dirty="0" err="1"/>
                  <a:t>angular</a:t>
                </a:r>
                <a:r>
                  <a:rPr lang="it-IT" sz="2600" dirty="0"/>
                  <a:t> range in </a:t>
                </a:r>
                <a:r>
                  <a:rPr lang="it-IT" sz="2600" dirty="0" err="1"/>
                  <a:t>which</a:t>
                </a:r>
                <a:r>
                  <a:rPr lang="it-IT" sz="2600" dirty="0"/>
                  <a:t> </a:t>
                </a:r>
                <a:r>
                  <a:rPr lang="it-IT" sz="2600" dirty="0" err="1"/>
                  <a:t>particles</a:t>
                </a:r>
                <a:r>
                  <a:rPr lang="it-IT" sz="2600" dirty="0"/>
                  <a:t> can be </a:t>
                </a:r>
                <a:r>
                  <a:rPr lang="it-IT" sz="2600" dirty="0" err="1"/>
                  <a:t>channelled</a:t>
                </a:r>
                <a:r>
                  <a:rPr lang="it-IT" sz="2600" dirty="0"/>
                  <a:t>.</a:t>
                </a:r>
              </a:p>
              <a:p>
                <a:r>
                  <a:rPr lang="it-IT" sz="2600" dirty="0" err="1"/>
                  <a:t>Before</a:t>
                </a:r>
                <a:r>
                  <a:rPr lang="it-IT" sz="2600" dirty="0"/>
                  <a:t> </a:t>
                </a:r>
                <a:r>
                  <a:rPr lang="it-IT" sz="2600" dirty="0" err="1"/>
                  <a:t>selecting</a:t>
                </a:r>
                <a:r>
                  <a:rPr lang="it-IT" sz="2600" dirty="0"/>
                  <a:t> the </a:t>
                </a:r>
                <a:r>
                  <a:rPr lang="it-IT" sz="2600" dirty="0" err="1"/>
                  <a:t>particles</a:t>
                </a:r>
                <a:r>
                  <a:rPr lang="it-IT" sz="2600" dirty="0"/>
                  <a:t> that </a:t>
                </a:r>
                <a:r>
                  <a:rPr lang="it-IT" sz="2600" dirty="0" err="1"/>
                  <a:t>have</a:t>
                </a:r>
                <a:r>
                  <a:rPr lang="it-IT" sz="2600" dirty="0"/>
                  <a:t> </a:t>
                </a:r>
                <a:r>
                  <a:rPr lang="it-IT" sz="2600" dirty="0" err="1"/>
                  <a:t>entered</a:t>
                </a:r>
                <a:r>
                  <a:rPr lang="it-IT" sz="2600" dirty="0"/>
                  <a:t> with the right angle (</a:t>
                </a:r>
                <a:r>
                  <a:rPr lang="it-IT" sz="2600" dirty="0" err="1"/>
                  <a:t>within</a:t>
                </a:r>
                <a:r>
                  <a:rPr lang="it-IT" sz="2600" dirty="0"/>
                  <a:t> </a:t>
                </a:r>
                <a14:m>
                  <m:oMath xmlns:m="http://schemas.openxmlformats.org/officeDocument/2006/math">
                    <m:r>
                      <a:rPr lang="it-IT" sz="2600" i="1">
                        <a:latin typeface="Cambria Math" panose="02040503050406030204" pitchFamily="18" charset="0"/>
                      </a:rPr>
                      <m:t>±</m:t>
                    </m:r>
                    <m:f>
                      <m:fPr>
                        <m:ctrlPr>
                          <a:rPr lang="it-IT" sz="2600" i="1">
                            <a:latin typeface="Cambria Math" panose="02040503050406030204" pitchFamily="18" charset="0"/>
                          </a:rPr>
                        </m:ctrlPr>
                      </m:fPr>
                      <m:num>
                        <m:r>
                          <a:rPr lang="it-IT" sz="2600" i="1">
                            <a:latin typeface="Cambria Math" panose="02040503050406030204" pitchFamily="18" charset="0"/>
                          </a:rPr>
                          <m:t>1</m:t>
                        </m:r>
                      </m:num>
                      <m:den>
                        <m:r>
                          <a:rPr lang="it-IT" sz="2600" i="1">
                            <a:latin typeface="Cambria Math" panose="02040503050406030204" pitchFamily="18" charset="0"/>
                          </a:rPr>
                          <m:t>2</m:t>
                        </m:r>
                      </m:den>
                    </m:f>
                    <m:sSub>
                      <m:sSubPr>
                        <m:ctrlPr>
                          <a:rPr lang="it-IT" sz="2600" i="1">
                            <a:latin typeface="Cambria Math" panose="02040503050406030204" pitchFamily="18" charset="0"/>
                          </a:rPr>
                        </m:ctrlPr>
                      </m:sSubPr>
                      <m:e>
                        <m:r>
                          <a:rPr lang="it-IT" sz="2600" i="1">
                            <a:latin typeface="Cambria Math" panose="02040503050406030204" pitchFamily="18" charset="0"/>
                          </a:rPr>
                          <m:t>𝜃</m:t>
                        </m:r>
                      </m:e>
                      <m:sub>
                        <m:r>
                          <a:rPr lang="it-IT" sz="2600" i="1">
                            <a:latin typeface="Cambria Math" panose="02040503050406030204" pitchFamily="18" charset="0"/>
                          </a:rPr>
                          <m:t>𝐿</m:t>
                        </m:r>
                      </m:sub>
                    </m:sSub>
                  </m:oMath>
                </a14:m>
                <a:r>
                  <a:rPr lang="it-IT" sz="2600" dirty="0"/>
                  <a:t>) we </a:t>
                </a:r>
                <a:r>
                  <a:rPr lang="it-IT" sz="2600" dirty="0" err="1"/>
                  <a:t>need</a:t>
                </a:r>
                <a:r>
                  <a:rPr lang="it-IT" sz="2600" dirty="0"/>
                  <a:t> to </a:t>
                </a:r>
                <a:r>
                  <a:rPr lang="it-IT" sz="2600" dirty="0" err="1"/>
                  <a:t>apply</a:t>
                </a:r>
                <a:r>
                  <a:rPr lang="it-IT" sz="2600" dirty="0"/>
                  <a:t> a </a:t>
                </a:r>
                <a:r>
                  <a:rPr lang="it-IT" sz="2600" dirty="0" err="1"/>
                  <a:t>correction</a:t>
                </a:r>
                <a:r>
                  <a:rPr lang="it-IT" sz="2600" dirty="0"/>
                  <a:t> </a:t>
                </a:r>
                <a14:m>
                  <m:oMath xmlns:m="http://schemas.openxmlformats.org/officeDocument/2006/math">
                    <m:sSub>
                      <m:sSubPr>
                        <m:ctrlPr>
                          <a:rPr lang="it-IT" sz="2600" i="1">
                            <a:latin typeface="Cambria Math" panose="02040503050406030204" pitchFamily="18" charset="0"/>
                          </a:rPr>
                        </m:ctrlPr>
                      </m:sSubPr>
                      <m:e>
                        <m:r>
                          <a:rPr lang="it-IT" sz="2600" i="1">
                            <a:latin typeface="Cambria Math" panose="02040503050406030204" pitchFamily="18" charset="0"/>
                          </a:rPr>
                          <m:t>𝜃</m:t>
                        </m:r>
                      </m:e>
                      <m:sub>
                        <m:r>
                          <a:rPr lang="it-IT" sz="2600" i="1">
                            <a:latin typeface="Cambria Math" panose="02040503050406030204" pitchFamily="18" charset="0"/>
                          </a:rPr>
                          <m:t>0</m:t>
                        </m:r>
                      </m:sub>
                    </m:sSub>
                  </m:oMath>
                </a14:m>
                <a:r>
                  <a:rPr lang="it-IT" sz="2600" dirty="0"/>
                  <a:t> </a:t>
                </a:r>
                <a:r>
                  <a:rPr lang="it-IT" sz="2600" dirty="0" err="1"/>
                  <a:t>because</a:t>
                </a:r>
                <a:r>
                  <a:rPr lang="it-IT" sz="2600" dirty="0"/>
                  <a:t> the cut </a:t>
                </a:r>
                <a:r>
                  <a:rPr lang="it-IT" sz="2600" dirty="0" err="1"/>
                  <a:t>may</a:t>
                </a:r>
                <a:r>
                  <a:rPr lang="it-IT" sz="2600" dirty="0"/>
                  <a:t> not be </a:t>
                </a:r>
                <a:r>
                  <a:rPr lang="it-IT" sz="2600" dirty="0" err="1"/>
                  <a:t>centered</a:t>
                </a:r>
                <a:r>
                  <a:rPr lang="it-IT" sz="2600" dirty="0"/>
                  <a:t> </a:t>
                </a:r>
                <a:r>
                  <a:rPr lang="it-IT" sz="2600" dirty="0" err="1"/>
                  <a:t>at</a:t>
                </a:r>
                <a:r>
                  <a:rPr lang="it-IT" sz="2600" dirty="0"/>
                  <a:t> zero.</a:t>
                </a:r>
              </a:p>
              <a:p>
                <a:r>
                  <a:rPr lang="it-IT" sz="2600" dirty="0"/>
                  <a:t>We do not </a:t>
                </a:r>
                <a:r>
                  <a:rPr lang="it-IT" sz="2600" dirty="0" err="1"/>
                  <a:t>choose</a:t>
                </a:r>
                <a:r>
                  <a:rPr lang="it-IT" sz="2600" dirty="0"/>
                  <a:t> a single </a:t>
                </a:r>
                <a14:m>
                  <m:oMath xmlns:m="http://schemas.openxmlformats.org/officeDocument/2006/math">
                    <m:sSub>
                      <m:sSubPr>
                        <m:ctrlPr>
                          <a:rPr lang="it-IT" sz="2600" i="1">
                            <a:latin typeface="Cambria Math" panose="02040503050406030204" pitchFamily="18" charset="0"/>
                          </a:rPr>
                        </m:ctrlPr>
                      </m:sSubPr>
                      <m:e>
                        <m:r>
                          <a:rPr lang="it-IT" sz="2600" i="1">
                            <a:latin typeface="Cambria Math" panose="02040503050406030204" pitchFamily="18" charset="0"/>
                          </a:rPr>
                          <m:t>𝜃</m:t>
                        </m:r>
                      </m:e>
                      <m:sub>
                        <m:r>
                          <a:rPr lang="it-IT" sz="2600" i="1">
                            <a:latin typeface="Cambria Math" panose="02040503050406030204" pitchFamily="18" charset="0"/>
                          </a:rPr>
                          <m:t>0</m:t>
                        </m:r>
                      </m:sub>
                    </m:sSub>
                  </m:oMath>
                </a14:m>
                <a:r>
                  <a:rPr lang="it-IT" sz="2600" dirty="0"/>
                  <a:t> </a:t>
                </a:r>
                <a:r>
                  <a:rPr lang="it-IT" sz="2600" dirty="0" err="1"/>
                  <a:t>value</a:t>
                </a:r>
                <a:r>
                  <a:rPr lang="it-IT" sz="2600" dirty="0"/>
                  <a:t> </a:t>
                </a:r>
                <a:r>
                  <a:rPr lang="it-IT" sz="2600" dirty="0" err="1"/>
                  <a:t>but</a:t>
                </a:r>
                <a:r>
                  <a:rPr lang="it-IT" sz="2600" dirty="0"/>
                  <a:t> </a:t>
                </a:r>
                <a:r>
                  <a:rPr lang="it-IT" sz="2600" dirty="0" err="1"/>
                  <a:t>rather</a:t>
                </a:r>
                <a:r>
                  <a:rPr lang="it-IT" sz="2600" dirty="0"/>
                  <a:t> </a:t>
                </a:r>
                <a14:m>
                  <m:oMath xmlns:m="http://schemas.openxmlformats.org/officeDocument/2006/math">
                    <m:sSub>
                      <m:sSubPr>
                        <m:ctrlPr>
                          <a:rPr lang="it-IT" sz="2600" i="1">
                            <a:latin typeface="Cambria Math" panose="02040503050406030204" pitchFamily="18" charset="0"/>
                          </a:rPr>
                        </m:ctrlPr>
                      </m:sSubPr>
                      <m:e>
                        <m:r>
                          <a:rPr lang="it-IT" sz="2600" i="1">
                            <a:latin typeface="Cambria Math" panose="02040503050406030204" pitchFamily="18" charset="0"/>
                          </a:rPr>
                          <m:t>𝜃</m:t>
                        </m:r>
                      </m:e>
                      <m:sub>
                        <m:r>
                          <a:rPr lang="it-IT" sz="2600" i="1">
                            <a:latin typeface="Cambria Math" panose="02040503050406030204" pitchFamily="18" charset="0"/>
                          </a:rPr>
                          <m:t>0</m:t>
                        </m:r>
                      </m:sub>
                    </m:sSub>
                    <m:r>
                      <a:rPr lang="it-IT" sz="2600" i="1">
                        <a:latin typeface="Cambria Math" panose="02040503050406030204" pitchFamily="18" charset="0"/>
                      </a:rPr>
                      <m:t>(</m:t>
                    </m:r>
                    <m:r>
                      <a:rPr lang="it-IT" sz="2600" i="1">
                        <a:latin typeface="Cambria Math" panose="02040503050406030204" pitchFamily="18" charset="0"/>
                      </a:rPr>
                      <m:t>𝑥</m:t>
                    </m:r>
                    <m:r>
                      <a:rPr lang="it-IT" sz="2600" i="1">
                        <a:latin typeface="Cambria Math" panose="02040503050406030204" pitchFamily="18" charset="0"/>
                      </a:rPr>
                      <m:t>,</m:t>
                    </m:r>
                    <m:r>
                      <a:rPr lang="it-IT" sz="2600" i="1">
                        <a:latin typeface="Cambria Math" panose="02040503050406030204" pitchFamily="18" charset="0"/>
                      </a:rPr>
                      <m:t>𝑦</m:t>
                    </m:r>
                    <m:r>
                      <a:rPr lang="it-IT" sz="2600" i="1">
                        <a:latin typeface="Cambria Math" panose="02040503050406030204" pitchFamily="18" charset="0"/>
                      </a:rPr>
                      <m:t>)</m:t>
                    </m:r>
                  </m:oMath>
                </a14:m>
                <a:r>
                  <a:rPr lang="it-IT" sz="2600" dirty="0"/>
                  <a:t> in </a:t>
                </a:r>
                <a:r>
                  <a:rPr lang="it-IT" sz="2600" dirty="0" err="1"/>
                  <a:t>order</a:t>
                </a:r>
                <a:r>
                  <a:rPr lang="it-IT" sz="2600" dirty="0"/>
                  <a:t> to </a:t>
                </a:r>
                <a:r>
                  <a:rPr lang="it-IT" sz="2600" dirty="0" err="1"/>
                  <a:t>also</a:t>
                </a:r>
                <a:r>
                  <a:rPr lang="it-IT" sz="2600" dirty="0"/>
                  <a:t> </a:t>
                </a:r>
                <a:r>
                  <a:rPr lang="it-IT" sz="2600" dirty="0" err="1"/>
                  <a:t>apply</a:t>
                </a:r>
                <a:r>
                  <a:rPr lang="it-IT" sz="2600" dirty="0"/>
                  <a:t> a </a:t>
                </a:r>
                <a:r>
                  <a:rPr lang="it-IT" sz="2600" dirty="0" err="1"/>
                  <a:t>torsion</a:t>
                </a:r>
                <a:r>
                  <a:rPr lang="it-IT" sz="2600" dirty="0"/>
                  <a:t> </a:t>
                </a:r>
                <a:r>
                  <a:rPr lang="it-IT" sz="2600" dirty="0" err="1"/>
                  <a:t>correction</a:t>
                </a:r>
                <a:r>
                  <a:rPr lang="it-IT" sz="2600" dirty="0"/>
                  <a:t> </a:t>
                </a:r>
                <a:r>
                  <a:rPr lang="it-IT" sz="2600" dirty="0" err="1"/>
                  <a:t>which</a:t>
                </a:r>
                <a:r>
                  <a:rPr lang="it-IT" sz="2600" dirty="0"/>
                  <a:t> </a:t>
                </a:r>
                <a:r>
                  <a:rPr lang="it-IT" sz="2600" dirty="0" err="1"/>
                  <a:t>is</a:t>
                </a:r>
                <a:r>
                  <a:rPr lang="it-IT" sz="2600" dirty="0"/>
                  <a:t> not </a:t>
                </a:r>
                <a:r>
                  <a:rPr lang="it-IT" sz="2600" dirty="0" err="1"/>
                  <a:t>negligible</a:t>
                </a:r>
                <a:r>
                  <a:rPr lang="it-IT" sz="2600" dirty="0"/>
                  <a:t> in the long </a:t>
                </a:r>
                <a:r>
                  <a:rPr lang="it-IT" sz="2600" dirty="0" err="1"/>
                  <a:t>crystals</a:t>
                </a:r>
                <a:r>
                  <a:rPr lang="it-IT" sz="2600" dirty="0"/>
                  <a:t>.</a:t>
                </a:r>
              </a:p>
              <a:p>
                <a:endParaRPr lang="en-US" sz="2600" dirty="0"/>
              </a:p>
            </p:txBody>
          </p:sp>
        </mc:Choice>
        <mc:Fallback xmlns="">
          <p:sp>
            <p:nvSpPr>
              <p:cNvPr id="3" name="Segnaposto contenuto 2">
                <a:extLst>
                  <a:ext uri="{FF2B5EF4-FFF2-40B4-BE49-F238E27FC236}">
                    <a16:creationId xmlns:a16="http://schemas.microsoft.com/office/drawing/2014/main" id="{C36D42AD-3DE8-BB3A-DB3E-573D0B4E7A80}"/>
                  </a:ext>
                </a:extLst>
              </p:cNvPr>
              <p:cNvSpPr>
                <a:spLocks noGrp="1" noRot="1" noChangeAspect="1" noMove="1" noResize="1" noEditPoints="1" noAdjustHandles="1" noChangeArrowheads="1" noChangeShapeType="1" noTextEdit="1"/>
              </p:cNvSpPr>
              <p:nvPr>
                <p:ph idx="1"/>
              </p:nvPr>
            </p:nvSpPr>
            <p:spPr>
              <a:xfrm>
                <a:off x="838200" y="1401288"/>
                <a:ext cx="10515600" cy="4776227"/>
              </a:xfrm>
              <a:blipFill>
                <a:blip r:embed="rId3"/>
                <a:stretch>
                  <a:fillRect l="-1043" t="-1916" r="-174" b="-1022"/>
                </a:stretch>
              </a:blipFill>
            </p:spPr>
            <p:txBody>
              <a:bodyPr/>
              <a:lstStyle/>
              <a:p>
                <a:r>
                  <a:rPr lang="it-IT">
                    <a:noFill/>
                  </a:rPr>
                  <a:t> </a:t>
                </a:r>
              </a:p>
            </p:txBody>
          </p:sp>
        </mc:Fallback>
      </mc:AlternateContent>
      <p:sp>
        <p:nvSpPr>
          <p:cNvPr id="4" name="Segnaposto data 3">
            <a:extLst>
              <a:ext uri="{FF2B5EF4-FFF2-40B4-BE49-F238E27FC236}">
                <a16:creationId xmlns:a16="http://schemas.microsoft.com/office/drawing/2014/main" id="{5024B76F-2B5A-A365-1DB2-E063075868A9}"/>
              </a:ext>
            </a:extLst>
          </p:cNvPr>
          <p:cNvSpPr>
            <a:spLocks noGrp="1"/>
          </p:cNvSpPr>
          <p:nvPr>
            <p:ph type="dt" sz="half" idx="10"/>
          </p:nvPr>
        </p:nvSpPr>
        <p:spPr>
          <a:xfrm>
            <a:off x="838200" y="6356349"/>
            <a:ext cx="2743200" cy="432000"/>
          </a:xfrm>
        </p:spPr>
        <p:txBody>
          <a:bodyPr/>
          <a:lstStyle/>
          <a:p>
            <a:r>
              <a:rPr lang="it-IT" sz="1500" b="1" dirty="0">
                <a:solidFill>
                  <a:srgbClr val="002060"/>
                </a:solidFill>
              </a:rPr>
              <a:t>24.08.2026</a:t>
            </a:r>
          </a:p>
        </p:txBody>
      </p:sp>
      <p:sp>
        <p:nvSpPr>
          <p:cNvPr id="5" name="Segnaposto piè di pagina 4">
            <a:extLst>
              <a:ext uri="{FF2B5EF4-FFF2-40B4-BE49-F238E27FC236}">
                <a16:creationId xmlns:a16="http://schemas.microsoft.com/office/drawing/2014/main" id="{E92672AC-E987-DC85-7818-4A23BEB34F36}"/>
              </a:ext>
            </a:extLst>
          </p:cNvPr>
          <p:cNvSpPr>
            <a:spLocks noGrp="1"/>
          </p:cNvSpPr>
          <p:nvPr>
            <p:ph type="ftr" sz="quarter" idx="11"/>
          </p:nvPr>
        </p:nvSpPr>
        <p:spPr>
          <a:xfrm>
            <a:off x="0" y="6356349"/>
            <a:ext cx="12192000" cy="432000"/>
          </a:xfrm>
        </p:spPr>
        <p:txBody>
          <a:bodyPr/>
          <a:lstStyle/>
          <a:p>
            <a:r>
              <a:rPr lang="it-IT" sz="1500" b="1" dirty="0">
                <a:solidFill>
                  <a:srgbClr val="002060"/>
                </a:solidFill>
              </a:rPr>
              <a:t>Anna Sofia Moro</a:t>
            </a:r>
          </a:p>
        </p:txBody>
      </p:sp>
      <p:sp>
        <p:nvSpPr>
          <p:cNvPr id="6" name="Segnaposto numero diapositiva 5">
            <a:extLst>
              <a:ext uri="{FF2B5EF4-FFF2-40B4-BE49-F238E27FC236}">
                <a16:creationId xmlns:a16="http://schemas.microsoft.com/office/drawing/2014/main" id="{7A23CF9B-73B6-496F-F418-16CC8B346E30}"/>
              </a:ext>
            </a:extLst>
          </p:cNvPr>
          <p:cNvSpPr>
            <a:spLocks noGrp="1"/>
          </p:cNvSpPr>
          <p:nvPr>
            <p:ph type="sldNum" sz="quarter" idx="12"/>
          </p:nvPr>
        </p:nvSpPr>
        <p:spPr>
          <a:xfrm>
            <a:off x="8610600" y="6356349"/>
            <a:ext cx="2743200" cy="432000"/>
          </a:xfrm>
        </p:spPr>
        <p:txBody>
          <a:bodyPr/>
          <a:lstStyle/>
          <a:p>
            <a:fld id="{0A318BD9-CA14-4A83-ACF0-03D5918EB402}" type="slidenum">
              <a:rPr lang="it-IT" sz="1500" b="1" smtClean="0">
                <a:solidFill>
                  <a:srgbClr val="002060"/>
                </a:solidFill>
              </a:rPr>
              <a:t>15</a:t>
            </a:fld>
            <a:endParaRPr lang="it-IT" sz="1500" b="1" dirty="0">
              <a:solidFill>
                <a:srgbClr val="002060"/>
              </a:solidFill>
            </a:endParaRPr>
          </a:p>
        </p:txBody>
      </p:sp>
      <p:sp>
        <p:nvSpPr>
          <p:cNvPr id="8" name="CasellaDiTesto 7">
            <a:extLst>
              <a:ext uri="{FF2B5EF4-FFF2-40B4-BE49-F238E27FC236}">
                <a16:creationId xmlns:a16="http://schemas.microsoft.com/office/drawing/2014/main" id="{3F893F73-D8A8-FA7B-CF8A-27F6A5D42D5D}"/>
              </a:ext>
            </a:extLst>
          </p:cNvPr>
          <p:cNvSpPr txBox="1"/>
          <p:nvPr/>
        </p:nvSpPr>
        <p:spPr>
          <a:xfrm>
            <a:off x="3048886" y="3244334"/>
            <a:ext cx="6097772" cy="369332"/>
          </a:xfrm>
          <a:prstGeom prst="rect">
            <a:avLst/>
          </a:prstGeom>
          <a:noFill/>
        </p:spPr>
        <p:txBody>
          <a:bodyPr wrap="square">
            <a:spAutoFit/>
          </a:bodyPr>
          <a:lstStyle/>
          <a:p>
            <a:endParaRPr lang="it-IT" dirty="0"/>
          </a:p>
        </p:txBody>
      </p:sp>
      <p:sp>
        <p:nvSpPr>
          <p:cNvPr id="11" name="CasellaDiTesto 10">
            <a:extLst>
              <a:ext uri="{FF2B5EF4-FFF2-40B4-BE49-F238E27FC236}">
                <a16:creationId xmlns:a16="http://schemas.microsoft.com/office/drawing/2014/main" id="{4BB42D59-8988-FF51-91B5-95ADA046BA21}"/>
              </a:ext>
            </a:extLst>
          </p:cNvPr>
          <p:cNvSpPr txBox="1"/>
          <p:nvPr/>
        </p:nvSpPr>
        <p:spPr>
          <a:xfrm>
            <a:off x="3048886" y="3244334"/>
            <a:ext cx="6097772" cy="369332"/>
          </a:xfrm>
          <a:prstGeom prst="rect">
            <a:avLst/>
          </a:prstGeom>
          <a:noFill/>
        </p:spPr>
        <p:txBody>
          <a:bodyPr wrap="square">
            <a:spAutoFit/>
          </a:bodyPr>
          <a:lstStyle/>
          <a:p>
            <a:endParaRPr lang="it-IT" dirty="0"/>
          </a:p>
        </p:txBody>
      </p:sp>
      <p:sp>
        <p:nvSpPr>
          <p:cNvPr id="13" name="CasellaDiTesto 12">
            <a:extLst>
              <a:ext uri="{FF2B5EF4-FFF2-40B4-BE49-F238E27FC236}">
                <a16:creationId xmlns:a16="http://schemas.microsoft.com/office/drawing/2014/main" id="{E413B42E-6FEF-6243-0FD1-23423BD1D805}"/>
              </a:ext>
            </a:extLst>
          </p:cNvPr>
          <p:cNvSpPr txBox="1"/>
          <p:nvPr/>
        </p:nvSpPr>
        <p:spPr>
          <a:xfrm>
            <a:off x="3048886" y="3244334"/>
            <a:ext cx="6097772" cy="369332"/>
          </a:xfrm>
          <a:prstGeom prst="rect">
            <a:avLst/>
          </a:prstGeom>
          <a:noFill/>
        </p:spPr>
        <p:txBody>
          <a:bodyPr wrap="square">
            <a:spAutoFit/>
          </a:bodyPr>
          <a:lstStyle/>
          <a:p>
            <a:endParaRPr lang="it-IT" dirty="0"/>
          </a:p>
        </p:txBody>
      </p:sp>
      <p:pic>
        <p:nvPicPr>
          <p:cNvPr id="14" name="Immagine 13">
            <a:extLst>
              <a:ext uri="{FF2B5EF4-FFF2-40B4-BE49-F238E27FC236}">
                <a16:creationId xmlns:a16="http://schemas.microsoft.com/office/drawing/2014/main" id="{72A55CC9-B254-F7E0-BA4B-E6798570C0AB}"/>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9105466" y="69651"/>
            <a:ext cx="2154418" cy="1148742"/>
          </a:xfrm>
          <a:prstGeom prst="rect">
            <a:avLst/>
          </a:prstGeom>
        </p:spPr>
      </p:pic>
      <p:sp>
        <p:nvSpPr>
          <p:cNvPr id="16" name="CasellaDiTesto 15">
            <a:extLst>
              <a:ext uri="{FF2B5EF4-FFF2-40B4-BE49-F238E27FC236}">
                <a16:creationId xmlns:a16="http://schemas.microsoft.com/office/drawing/2014/main" id="{F57D110E-CCDE-7140-11DB-AB1EC9B06756}"/>
              </a:ext>
            </a:extLst>
          </p:cNvPr>
          <p:cNvSpPr txBox="1"/>
          <p:nvPr/>
        </p:nvSpPr>
        <p:spPr>
          <a:xfrm>
            <a:off x="3048886" y="3244334"/>
            <a:ext cx="6097772" cy="369332"/>
          </a:xfrm>
          <a:prstGeom prst="rect">
            <a:avLst/>
          </a:prstGeom>
          <a:noFill/>
        </p:spPr>
        <p:txBody>
          <a:bodyPr wrap="square">
            <a:spAutoFit/>
          </a:bodyPr>
          <a:lstStyle/>
          <a:p>
            <a:endParaRPr lang="it-IT" dirty="0"/>
          </a:p>
        </p:txBody>
      </p:sp>
      <p:cxnSp>
        <p:nvCxnSpPr>
          <p:cNvPr id="10" name="Connettore diritto 9">
            <a:extLst>
              <a:ext uri="{FF2B5EF4-FFF2-40B4-BE49-F238E27FC236}">
                <a16:creationId xmlns:a16="http://schemas.microsoft.com/office/drawing/2014/main" id="{27E35FD3-526F-767A-3541-C3577FD9AA1D}"/>
              </a:ext>
            </a:extLst>
          </p:cNvPr>
          <p:cNvCxnSpPr>
            <a:cxnSpLocks/>
          </p:cNvCxnSpPr>
          <p:nvPr/>
        </p:nvCxnSpPr>
        <p:spPr>
          <a:xfrm>
            <a:off x="696000" y="1155368"/>
            <a:ext cx="10800000" cy="0"/>
          </a:xfrm>
          <a:prstGeom prst="line">
            <a:avLst/>
          </a:prstGeom>
          <a:ln w="38100">
            <a:solidFill>
              <a:srgbClr val="00206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54606719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D23129-B3F6-BD8B-1520-7B87806BCA5E}"/>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3C30A3F6-A095-4045-B83A-58D05D790DEC}"/>
              </a:ext>
            </a:extLst>
          </p:cNvPr>
          <p:cNvSpPr>
            <a:spLocks noGrp="1"/>
          </p:cNvSpPr>
          <p:nvPr>
            <p:ph type="title"/>
          </p:nvPr>
        </p:nvSpPr>
        <p:spPr>
          <a:xfrm>
            <a:off x="38100" y="69651"/>
            <a:ext cx="12114000" cy="1153094"/>
          </a:xfrm>
          <a:prstGeom prst="roundRect">
            <a:avLst>
              <a:gd name="adj" fmla="val 36459"/>
            </a:avLst>
          </a:prstGeom>
          <a:noFill/>
        </p:spPr>
        <p:txBody>
          <a:bodyPr>
            <a:normAutofit/>
          </a:bodyPr>
          <a:lstStyle/>
          <a:p>
            <a:r>
              <a:rPr lang="it-IT" b="1" dirty="0">
                <a:solidFill>
                  <a:srgbClr val="002060"/>
                </a:solidFill>
              </a:rPr>
              <a:t>	3. ANALYSIS: TORSION EFFECT</a:t>
            </a:r>
          </a:p>
        </p:txBody>
      </p:sp>
      <mc:AlternateContent xmlns:mc="http://schemas.openxmlformats.org/markup-compatibility/2006" xmlns:a14="http://schemas.microsoft.com/office/drawing/2010/main">
        <mc:Choice Requires="a14">
          <p:sp>
            <p:nvSpPr>
              <p:cNvPr id="3" name="Segnaposto contenuto 2">
                <a:extLst>
                  <a:ext uri="{FF2B5EF4-FFF2-40B4-BE49-F238E27FC236}">
                    <a16:creationId xmlns:a16="http://schemas.microsoft.com/office/drawing/2014/main" id="{3B0E17FD-4B75-D52D-E59E-B212A576734F}"/>
                  </a:ext>
                </a:extLst>
              </p:cNvPr>
              <p:cNvSpPr>
                <a:spLocks noGrp="1"/>
              </p:cNvSpPr>
              <p:nvPr>
                <p:ph idx="1"/>
              </p:nvPr>
            </p:nvSpPr>
            <p:spPr>
              <a:xfrm>
                <a:off x="838200" y="1401288"/>
                <a:ext cx="10515600" cy="4776227"/>
              </a:xfrm>
            </p:spPr>
            <p:txBody>
              <a:bodyPr>
                <a:normAutofit/>
              </a:bodyPr>
              <a:lstStyle/>
              <a:p>
                <a:pPr marL="0" indent="0">
                  <a:buNone/>
                </a:pPr>
                <a:r>
                  <a:rPr lang="it-IT" sz="2600" i="1" dirty="0" err="1"/>
                  <a:t>Torsion</a:t>
                </a:r>
                <a:r>
                  <a:rPr lang="it-IT" sz="2600" i="1" dirty="0"/>
                  <a:t> </a:t>
                </a:r>
                <a:r>
                  <a:rPr lang="it-IT" sz="2600" i="1" dirty="0" err="1"/>
                  <a:t>effect</a:t>
                </a:r>
                <a:r>
                  <a:rPr lang="it-IT" sz="2600" i="1" dirty="0"/>
                  <a:t>:</a:t>
                </a:r>
                <a:r>
                  <a:rPr lang="it-IT" sz="2600" dirty="0"/>
                  <a:t> in long </a:t>
                </a:r>
                <a:r>
                  <a:rPr lang="it-IT" sz="2600" dirty="0" err="1"/>
                  <a:t>crystals</a:t>
                </a:r>
                <a:r>
                  <a:rPr lang="it-IT" sz="2600" dirty="0"/>
                  <a:t> (&gt;1 cm), </a:t>
                </a:r>
                <a:r>
                  <a:rPr lang="it-IT" sz="2600" dirty="0" err="1"/>
                  <a:t>structural</a:t>
                </a:r>
                <a:r>
                  <a:rPr lang="it-IT" sz="2600" dirty="0"/>
                  <a:t> </a:t>
                </a:r>
                <a:r>
                  <a:rPr lang="it-IT" sz="2600" dirty="0" err="1"/>
                  <a:t>torsion</a:t>
                </a:r>
                <a:r>
                  <a:rPr lang="it-IT" sz="2600" dirty="0"/>
                  <a:t> </a:t>
                </a:r>
                <a:r>
                  <a:rPr lang="it-IT" sz="2600" dirty="0" err="1"/>
                  <a:t>is</a:t>
                </a:r>
                <a:r>
                  <a:rPr lang="it-IT" sz="2600" dirty="0"/>
                  <a:t> non-</a:t>
                </a:r>
                <a:r>
                  <a:rPr lang="it-IT" sz="2600" dirty="0" err="1"/>
                  <a:t>negligible</a:t>
                </a:r>
                <a:r>
                  <a:rPr lang="it-IT" sz="2600" dirty="0"/>
                  <a:t> and </a:t>
                </a:r>
                <a:r>
                  <a:rPr lang="en-US" sz="2600" dirty="0"/>
                  <a:t>must be incorporated into the analysis.</a:t>
                </a:r>
              </a:p>
              <a:p>
                <a:pPr marL="0" indent="0">
                  <a:buNone/>
                </a:pPr>
                <a:endParaRPr lang="en-US" sz="2600" dirty="0"/>
              </a:p>
              <a:p>
                <a:pPr marL="0" indent="0">
                  <a:buNone/>
                </a:pPr>
                <a:r>
                  <a:rPr lang="en-US" sz="2600" dirty="0"/>
                  <a:t>The effect of the torsion can be corrected by doing a checkerboard analysis:</a:t>
                </a:r>
              </a:p>
              <a:p>
                <a:pPr marL="971550" lvl="1" indent="-514350">
                  <a:buFont typeface="+mj-lt"/>
                  <a:buAutoNum type="arabicPeriod"/>
                </a:pPr>
                <a:r>
                  <a:rPr lang="en-US" sz="2600" dirty="0"/>
                  <a:t>Dividing the data sample into square bins (for example 0.1 mm x 0.1 mm) as a function of the impact position on the crystal surface</a:t>
                </a:r>
              </a:p>
              <a:p>
                <a:pPr marL="971550" lvl="1" indent="-514350">
                  <a:buFont typeface="+mj-lt"/>
                  <a:buAutoNum type="arabicPeriod"/>
                </a:pPr>
                <a:r>
                  <a:rPr lang="en-US" sz="2600" dirty="0"/>
                  <a:t>The angular shift parameter </a:t>
                </a:r>
                <a14:m>
                  <m:oMath xmlns:m="http://schemas.openxmlformats.org/officeDocument/2006/math">
                    <m:sSub>
                      <m:sSubPr>
                        <m:ctrlPr>
                          <a:rPr lang="it-IT" sz="2600" i="1">
                            <a:latin typeface="Cambria Math" panose="02040503050406030204" pitchFamily="18" charset="0"/>
                          </a:rPr>
                        </m:ctrlPr>
                      </m:sSubPr>
                      <m:e>
                        <m:r>
                          <a:rPr lang="it-IT" sz="2600" i="1">
                            <a:latin typeface="Cambria Math" panose="02040503050406030204" pitchFamily="18" charset="0"/>
                          </a:rPr>
                          <m:t>𝜃</m:t>
                        </m:r>
                      </m:e>
                      <m:sub>
                        <m:r>
                          <a:rPr lang="it-IT" sz="2600" i="1">
                            <a:latin typeface="Cambria Math" panose="02040503050406030204" pitchFamily="18" charset="0"/>
                          </a:rPr>
                          <m:t>0</m:t>
                        </m:r>
                      </m:sub>
                    </m:sSub>
                  </m:oMath>
                </a14:m>
                <a:r>
                  <a:rPr lang="en-US" sz="2600" dirty="0"/>
                  <a:t> is then varied to find the maximum channeling efficiency </a:t>
                </a:r>
                <a14:m>
                  <m:oMath xmlns:m="http://schemas.openxmlformats.org/officeDocument/2006/math">
                    <m:sSub>
                      <m:sSubPr>
                        <m:ctrlPr>
                          <a:rPr lang="it-IT" sz="2600" i="1">
                            <a:latin typeface="Cambria Math" panose="02040503050406030204" pitchFamily="18" charset="0"/>
                          </a:rPr>
                        </m:ctrlPr>
                      </m:sSubPr>
                      <m:e>
                        <m:r>
                          <a:rPr lang="it-IT" sz="2600" i="1">
                            <a:latin typeface="Cambria Math" panose="02040503050406030204" pitchFamily="18" charset="0"/>
                          </a:rPr>
                          <m:t>𝜖</m:t>
                        </m:r>
                      </m:e>
                      <m:sub>
                        <m:r>
                          <a:rPr lang="it-IT" sz="2600" i="1">
                            <a:latin typeface="Cambria Math" panose="02040503050406030204" pitchFamily="18" charset="0"/>
                          </a:rPr>
                          <m:t>𝑐ℎ</m:t>
                        </m:r>
                      </m:sub>
                    </m:sSub>
                  </m:oMath>
                </a14:m>
                <a:r>
                  <a:rPr lang="en-US" sz="2600" dirty="0"/>
                  <a:t> for each bin</a:t>
                </a:r>
              </a:p>
              <a:p>
                <a:pPr marL="971550" lvl="1" indent="-514350">
                  <a:buFont typeface="+mj-lt"/>
                  <a:buAutoNum type="arabicPeriod"/>
                </a:pPr>
                <a:r>
                  <a:rPr lang="en-US" sz="2600" dirty="0"/>
                  <a:t>We obtain a 2D map of torsion variation across the crystal surface</a:t>
                </a:r>
              </a:p>
              <a:p>
                <a:endParaRPr lang="en-US" sz="2600" dirty="0"/>
              </a:p>
            </p:txBody>
          </p:sp>
        </mc:Choice>
        <mc:Fallback xmlns="">
          <p:sp>
            <p:nvSpPr>
              <p:cNvPr id="3" name="Segnaposto contenuto 2">
                <a:extLst>
                  <a:ext uri="{FF2B5EF4-FFF2-40B4-BE49-F238E27FC236}">
                    <a16:creationId xmlns:a16="http://schemas.microsoft.com/office/drawing/2014/main" id="{3B0E17FD-4B75-D52D-E59E-B212A576734F}"/>
                  </a:ext>
                </a:extLst>
              </p:cNvPr>
              <p:cNvSpPr>
                <a:spLocks noGrp="1" noRot="1" noChangeAspect="1" noMove="1" noResize="1" noEditPoints="1" noAdjustHandles="1" noChangeArrowheads="1" noChangeShapeType="1" noTextEdit="1"/>
              </p:cNvSpPr>
              <p:nvPr>
                <p:ph idx="1"/>
              </p:nvPr>
            </p:nvSpPr>
            <p:spPr>
              <a:xfrm>
                <a:off x="838200" y="1401288"/>
                <a:ext cx="10515600" cy="4776227"/>
              </a:xfrm>
              <a:blipFill>
                <a:blip r:embed="rId3"/>
                <a:stretch>
                  <a:fillRect l="-1043" t="-1916" r="-638"/>
                </a:stretch>
              </a:blipFill>
            </p:spPr>
            <p:txBody>
              <a:bodyPr/>
              <a:lstStyle/>
              <a:p>
                <a:r>
                  <a:rPr lang="it-IT">
                    <a:noFill/>
                  </a:rPr>
                  <a:t> </a:t>
                </a:r>
              </a:p>
            </p:txBody>
          </p:sp>
        </mc:Fallback>
      </mc:AlternateContent>
      <p:sp>
        <p:nvSpPr>
          <p:cNvPr id="4" name="Segnaposto data 3">
            <a:extLst>
              <a:ext uri="{FF2B5EF4-FFF2-40B4-BE49-F238E27FC236}">
                <a16:creationId xmlns:a16="http://schemas.microsoft.com/office/drawing/2014/main" id="{1006EF8A-C1FE-0A73-8ABA-49B0F208DE1D}"/>
              </a:ext>
            </a:extLst>
          </p:cNvPr>
          <p:cNvSpPr>
            <a:spLocks noGrp="1"/>
          </p:cNvSpPr>
          <p:nvPr>
            <p:ph type="dt" sz="half" idx="10"/>
          </p:nvPr>
        </p:nvSpPr>
        <p:spPr>
          <a:xfrm>
            <a:off x="838200" y="6356349"/>
            <a:ext cx="2743200" cy="432000"/>
          </a:xfrm>
        </p:spPr>
        <p:txBody>
          <a:bodyPr/>
          <a:lstStyle/>
          <a:p>
            <a:r>
              <a:rPr lang="it-IT" sz="1500" b="1" dirty="0">
                <a:solidFill>
                  <a:srgbClr val="002060"/>
                </a:solidFill>
              </a:rPr>
              <a:t>24.08.2026</a:t>
            </a:r>
          </a:p>
        </p:txBody>
      </p:sp>
      <p:sp>
        <p:nvSpPr>
          <p:cNvPr id="5" name="Segnaposto piè di pagina 4">
            <a:extLst>
              <a:ext uri="{FF2B5EF4-FFF2-40B4-BE49-F238E27FC236}">
                <a16:creationId xmlns:a16="http://schemas.microsoft.com/office/drawing/2014/main" id="{8AB72C18-1837-C866-0D32-F865BB6ACA53}"/>
              </a:ext>
            </a:extLst>
          </p:cNvPr>
          <p:cNvSpPr>
            <a:spLocks noGrp="1"/>
          </p:cNvSpPr>
          <p:nvPr>
            <p:ph type="ftr" sz="quarter" idx="11"/>
          </p:nvPr>
        </p:nvSpPr>
        <p:spPr>
          <a:xfrm>
            <a:off x="0" y="6356349"/>
            <a:ext cx="12192000" cy="432000"/>
          </a:xfrm>
        </p:spPr>
        <p:txBody>
          <a:bodyPr/>
          <a:lstStyle/>
          <a:p>
            <a:r>
              <a:rPr lang="it-IT" sz="1500" b="1" dirty="0">
                <a:solidFill>
                  <a:srgbClr val="002060"/>
                </a:solidFill>
              </a:rPr>
              <a:t>Anna Sofia Moro</a:t>
            </a:r>
          </a:p>
        </p:txBody>
      </p:sp>
      <p:sp>
        <p:nvSpPr>
          <p:cNvPr id="6" name="Segnaposto numero diapositiva 5">
            <a:extLst>
              <a:ext uri="{FF2B5EF4-FFF2-40B4-BE49-F238E27FC236}">
                <a16:creationId xmlns:a16="http://schemas.microsoft.com/office/drawing/2014/main" id="{EA5844C2-4D4D-CC3E-5949-DC621264CD1A}"/>
              </a:ext>
            </a:extLst>
          </p:cNvPr>
          <p:cNvSpPr>
            <a:spLocks noGrp="1"/>
          </p:cNvSpPr>
          <p:nvPr>
            <p:ph type="sldNum" sz="quarter" idx="12"/>
          </p:nvPr>
        </p:nvSpPr>
        <p:spPr>
          <a:xfrm>
            <a:off x="8610600" y="6356349"/>
            <a:ext cx="2743200" cy="432000"/>
          </a:xfrm>
        </p:spPr>
        <p:txBody>
          <a:bodyPr/>
          <a:lstStyle/>
          <a:p>
            <a:fld id="{0A318BD9-CA14-4A83-ACF0-03D5918EB402}" type="slidenum">
              <a:rPr lang="it-IT" sz="1500" b="1" smtClean="0">
                <a:solidFill>
                  <a:srgbClr val="002060"/>
                </a:solidFill>
              </a:rPr>
              <a:t>16</a:t>
            </a:fld>
            <a:endParaRPr lang="it-IT" sz="1500" b="1" dirty="0">
              <a:solidFill>
                <a:srgbClr val="002060"/>
              </a:solidFill>
            </a:endParaRPr>
          </a:p>
        </p:txBody>
      </p:sp>
      <p:sp>
        <p:nvSpPr>
          <p:cNvPr id="8" name="CasellaDiTesto 7">
            <a:extLst>
              <a:ext uri="{FF2B5EF4-FFF2-40B4-BE49-F238E27FC236}">
                <a16:creationId xmlns:a16="http://schemas.microsoft.com/office/drawing/2014/main" id="{8A362B24-F219-9F07-16C8-F6E0404A0E87}"/>
              </a:ext>
            </a:extLst>
          </p:cNvPr>
          <p:cNvSpPr txBox="1"/>
          <p:nvPr/>
        </p:nvSpPr>
        <p:spPr>
          <a:xfrm>
            <a:off x="3048886" y="3244334"/>
            <a:ext cx="6097772" cy="369332"/>
          </a:xfrm>
          <a:prstGeom prst="rect">
            <a:avLst/>
          </a:prstGeom>
          <a:noFill/>
        </p:spPr>
        <p:txBody>
          <a:bodyPr wrap="square">
            <a:spAutoFit/>
          </a:bodyPr>
          <a:lstStyle/>
          <a:p>
            <a:endParaRPr lang="it-IT" dirty="0"/>
          </a:p>
        </p:txBody>
      </p:sp>
      <p:sp>
        <p:nvSpPr>
          <p:cNvPr id="11" name="CasellaDiTesto 10">
            <a:extLst>
              <a:ext uri="{FF2B5EF4-FFF2-40B4-BE49-F238E27FC236}">
                <a16:creationId xmlns:a16="http://schemas.microsoft.com/office/drawing/2014/main" id="{EC360793-5C5E-CF9F-EAB1-109C46F30BAE}"/>
              </a:ext>
            </a:extLst>
          </p:cNvPr>
          <p:cNvSpPr txBox="1"/>
          <p:nvPr/>
        </p:nvSpPr>
        <p:spPr>
          <a:xfrm>
            <a:off x="3048886" y="3244334"/>
            <a:ext cx="6097772" cy="369332"/>
          </a:xfrm>
          <a:prstGeom prst="rect">
            <a:avLst/>
          </a:prstGeom>
          <a:noFill/>
        </p:spPr>
        <p:txBody>
          <a:bodyPr wrap="square">
            <a:spAutoFit/>
          </a:bodyPr>
          <a:lstStyle/>
          <a:p>
            <a:endParaRPr lang="it-IT" dirty="0"/>
          </a:p>
        </p:txBody>
      </p:sp>
      <p:sp>
        <p:nvSpPr>
          <p:cNvPr id="13" name="CasellaDiTesto 12">
            <a:extLst>
              <a:ext uri="{FF2B5EF4-FFF2-40B4-BE49-F238E27FC236}">
                <a16:creationId xmlns:a16="http://schemas.microsoft.com/office/drawing/2014/main" id="{2B9D01A4-19CC-8368-9297-916355A4200F}"/>
              </a:ext>
            </a:extLst>
          </p:cNvPr>
          <p:cNvSpPr txBox="1"/>
          <p:nvPr/>
        </p:nvSpPr>
        <p:spPr>
          <a:xfrm>
            <a:off x="3048886" y="3244334"/>
            <a:ext cx="6097772" cy="369332"/>
          </a:xfrm>
          <a:prstGeom prst="rect">
            <a:avLst/>
          </a:prstGeom>
          <a:noFill/>
        </p:spPr>
        <p:txBody>
          <a:bodyPr wrap="square">
            <a:spAutoFit/>
          </a:bodyPr>
          <a:lstStyle/>
          <a:p>
            <a:endParaRPr lang="it-IT" dirty="0"/>
          </a:p>
        </p:txBody>
      </p:sp>
      <p:sp>
        <p:nvSpPr>
          <p:cNvPr id="16" name="CasellaDiTesto 15">
            <a:extLst>
              <a:ext uri="{FF2B5EF4-FFF2-40B4-BE49-F238E27FC236}">
                <a16:creationId xmlns:a16="http://schemas.microsoft.com/office/drawing/2014/main" id="{F34C42CA-C8EE-724F-5FDC-E8986B6C98A6}"/>
              </a:ext>
            </a:extLst>
          </p:cNvPr>
          <p:cNvSpPr txBox="1"/>
          <p:nvPr/>
        </p:nvSpPr>
        <p:spPr>
          <a:xfrm>
            <a:off x="3048886" y="3244334"/>
            <a:ext cx="6097772" cy="369332"/>
          </a:xfrm>
          <a:prstGeom prst="rect">
            <a:avLst/>
          </a:prstGeom>
          <a:noFill/>
        </p:spPr>
        <p:txBody>
          <a:bodyPr wrap="square">
            <a:spAutoFit/>
          </a:bodyPr>
          <a:lstStyle/>
          <a:p>
            <a:endParaRPr lang="it-IT" dirty="0"/>
          </a:p>
        </p:txBody>
      </p:sp>
      <p:cxnSp>
        <p:nvCxnSpPr>
          <p:cNvPr id="10" name="Connettore diritto 9">
            <a:extLst>
              <a:ext uri="{FF2B5EF4-FFF2-40B4-BE49-F238E27FC236}">
                <a16:creationId xmlns:a16="http://schemas.microsoft.com/office/drawing/2014/main" id="{44062F87-A922-3990-D29D-7C9CFFB5EE8D}"/>
              </a:ext>
            </a:extLst>
          </p:cNvPr>
          <p:cNvCxnSpPr>
            <a:cxnSpLocks/>
          </p:cNvCxnSpPr>
          <p:nvPr/>
        </p:nvCxnSpPr>
        <p:spPr>
          <a:xfrm>
            <a:off x="696000" y="1155368"/>
            <a:ext cx="10800000" cy="0"/>
          </a:xfrm>
          <a:prstGeom prst="line">
            <a:avLst/>
          </a:prstGeom>
          <a:ln w="38100">
            <a:solidFill>
              <a:srgbClr val="00206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71221676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219772-CA0F-72A5-01E5-0569343B218E}"/>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0191C66B-8C54-FF25-4713-D7FD4D2A5EFD}"/>
              </a:ext>
            </a:extLst>
          </p:cNvPr>
          <p:cNvSpPr>
            <a:spLocks noGrp="1"/>
          </p:cNvSpPr>
          <p:nvPr>
            <p:ph type="title"/>
          </p:nvPr>
        </p:nvSpPr>
        <p:spPr>
          <a:xfrm>
            <a:off x="38100" y="69651"/>
            <a:ext cx="12114000" cy="1153094"/>
          </a:xfrm>
          <a:prstGeom prst="roundRect">
            <a:avLst>
              <a:gd name="adj" fmla="val 36459"/>
            </a:avLst>
          </a:prstGeom>
          <a:noFill/>
        </p:spPr>
        <p:txBody>
          <a:bodyPr>
            <a:normAutofit/>
          </a:bodyPr>
          <a:lstStyle/>
          <a:p>
            <a:r>
              <a:rPr lang="it-IT" b="1" dirty="0">
                <a:solidFill>
                  <a:srgbClr val="002060"/>
                </a:solidFill>
              </a:rPr>
              <a:t>	3. ANALYSIS: TORSION EFFECT</a:t>
            </a:r>
          </a:p>
        </p:txBody>
      </p:sp>
      <p:sp>
        <p:nvSpPr>
          <p:cNvPr id="4" name="Segnaposto data 3">
            <a:extLst>
              <a:ext uri="{FF2B5EF4-FFF2-40B4-BE49-F238E27FC236}">
                <a16:creationId xmlns:a16="http://schemas.microsoft.com/office/drawing/2014/main" id="{0E7D5E5C-DAB3-124E-E9ED-FCC68D06EBC2}"/>
              </a:ext>
            </a:extLst>
          </p:cNvPr>
          <p:cNvSpPr>
            <a:spLocks noGrp="1"/>
          </p:cNvSpPr>
          <p:nvPr>
            <p:ph type="dt" sz="half" idx="10"/>
          </p:nvPr>
        </p:nvSpPr>
        <p:spPr>
          <a:xfrm>
            <a:off x="838200" y="6356349"/>
            <a:ext cx="2743200" cy="432000"/>
          </a:xfrm>
        </p:spPr>
        <p:txBody>
          <a:bodyPr/>
          <a:lstStyle/>
          <a:p>
            <a:r>
              <a:rPr lang="it-IT" sz="1500" b="1" dirty="0">
                <a:solidFill>
                  <a:srgbClr val="002060"/>
                </a:solidFill>
              </a:rPr>
              <a:t>24.08.2026</a:t>
            </a:r>
          </a:p>
        </p:txBody>
      </p:sp>
      <p:sp>
        <p:nvSpPr>
          <p:cNvPr id="5" name="Segnaposto piè di pagina 4">
            <a:extLst>
              <a:ext uri="{FF2B5EF4-FFF2-40B4-BE49-F238E27FC236}">
                <a16:creationId xmlns:a16="http://schemas.microsoft.com/office/drawing/2014/main" id="{4D701879-238A-489C-0B19-AE8043D1EF9A}"/>
              </a:ext>
            </a:extLst>
          </p:cNvPr>
          <p:cNvSpPr>
            <a:spLocks noGrp="1"/>
          </p:cNvSpPr>
          <p:nvPr>
            <p:ph type="ftr" sz="quarter" idx="11"/>
          </p:nvPr>
        </p:nvSpPr>
        <p:spPr>
          <a:xfrm>
            <a:off x="0" y="6356349"/>
            <a:ext cx="12192000" cy="432000"/>
          </a:xfrm>
        </p:spPr>
        <p:txBody>
          <a:bodyPr/>
          <a:lstStyle/>
          <a:p>
            <a:r>
              <a:rPr lang="it-IT" sz="1500" b="1" dirty="0">
                <a:solidFill>
                  <a:srgbClr val="002060"/>
                </a:solidFill>
              </a:rPr>
              <a:t>Anna Sofia Moro</a:t>
            </a:r>
          </a:p>
        </p:txBody>
      </p:sp>
      <p:sp>
        <p:nvSpPr>
          <p:cNvPr id="6" name="Segnaposto numero diapositiva 5">
            <a:extLst>
              <a:ext uri="{FF2B5EF4-FFF2-40B4-BE49-F238E27FC236}">
                <a16:creationId xmlns:a16="http://schemas.microsoft.com/office/drawing/2014/main" id="{BCBD9DF1-AD57-9A42-98DA-0063D175F6D6}"/>
              </a:ext>
            </a:extLst>
          </p:cNvPr>
          <p:cNvSpPr>
            <a:spLocks noGrp="1"/>
          </p:cNvSpPr>
          <p:nvPr>
            <p:ph type="sldNum" sz="quarter" idx="12"/>
          </p:nvPr>
        </p:nvSpPr>
        <p:spPr>
          <a:xfrm>
            <a:off x="8610600" y="6356349"/>
            <a:ext cx="2743200" cy="432000"/>
          </a:xfrm>
        </p:spPr>
        <p:txBody>
          <a:bodyPr/>
          <a:lstStyle/>
          <a:p>
            <a:fld id="{0A318BD9-CA14-4A83-ACF0-03D5918EB402}" type="slidenum">
              <a:rPr lang="it-IT" sz="1500" b="1" smtClean="0">
                <a:solidFill>
                  <a:srgbClr val="002060"/>
                </a:solidFill>
              </a:rPr>
              <a:t>17</a:t>
            </a:fld>
            <a:endParaRPr lang="it-IT" sz="1500" b="1" dirty="0">
              <a:solidFill>
                <a:srgbClr val="002060"/>
              </a:solidFill>
            </a:endParaRPr>
          </a:p>
        </p:txBody>
      </p:sp>
      <p:sp>
        <p:nvSpPr>
          <p:cNvPr id="8" name="CasellaDiTesto 7">
            <a:extLst>
              <a:ext uri="{FF2B5EF4-FFF2-40B4-BE49-F238E27FC236}">
                <a16:creationId xmlns:a16="http://schemas.microsoft.com/office/drawing/2014/main" id="{4828A93C-6AAB-1BE9-4552-1A0897742DD9}"/>
              </a:ext>
            </a:extLst>
          </p:cNvPr>
          <p:cNvSpPr txBox="1"/>
          <p:nvPr/>
        </p:nvSpPr>
        <p:spPr>
          <a:xfrm>
            <a:off x="3048886" y="3244334"/>
            <a:ext cx="6097772" cy="369332"/>
          </a:xfrm>
          <a:prstGeom prst="rect">
            <a:avLst/>
          </a:prstGeom>
          <a:noFill/>
        </p:spPr>
        <p:txBody>
          <a:bodyPr wrap="square">
            <a:spAutoFit/>
          </a:bodyPr>
          <a:lstStyle/>
          <a:p>
            <a:endParaRPr lang="it-IT" dirty="0"/>
          </a:p>
        </p:txBody>
      </p:sp>
      <p:sp>
        <p:nvSpPr>
          <p:cNvPr id="11" name="CasellaDiTesto 10">
            <a:extLst>
              <a:ext uri="{FF2B5EF4-FFF2-40B4-BE49-F238E27FC236}">
                <a16:creationId xmlns:a16="http://schemas.microsoft.com/office/drawing/2014/main" id="{66D49B2E-529F-54C2-7285-883664F70043}"/>
              </a:ext>
            </a:extLst>
          </p:cNvPr>
          <p:cNvSpPr txBox="1"/>
          <p:nvPr/>
        </p:nvSpPr>
        <p:spPr>
          <a:xfrm>
            <a:off x="3048886" y="3244334"/>
            <a:ext cx="6097772" cy="369332"/>
          </a:xfrm>
          <a:prstGeom prst="rect">
            <a:avLst/>
          </a:prstGeom>
          <a:noFill/>
        </p:spPr>
        <p:txBody>
          <a:bodyPr wrap="square">
            <a:spAutoFit/>
          </a:bodyPr>
          <a:lstStyle/>
          <a:p>
            <a:endParaRPr lang="it-IT" dirty="0"/>
          </a:p>
        </p:txBody>
      </p:sp>
      <p:sp>
        <p:nvSpPr>
          <p:cNvPr id="13" name="CasellaDiTesto 12">
            <a:extLst>
              <a:ext uri="{FF2B5EF4-FFF2-40B4-BE49-F238E27FC236}">
                <a16:creationId xmlns:a16="http://schemas.microsoft.com/office/drawing/2014/main" id="{737BC7A6-7125-2715-D652-38A841F06D28}"/>
              </a:ext>
            </a:extLst>
          </p:cNvPr>
          <p:cNvSpPr txBox="1"/>
          <p:nvPr/>
        </p:nvSpPr>
        <p:spPr>
          <a:xfrm>
            <a:off x="3048886" y="3244334"/>
            <a:ext cx="6097772" cy="369332"/>
          </a:xfrm>
          <a:prstGeom prst="rect">
            <a:avLst/>
          </a:prstGeom>
          <a:noFill/>
        </p:spPr>
        <p:txBody>
          <a:bodyPr wrap="square">
            <a:spAutoFit/>
          </a:bodyPr>
          <a:lstStyle/>
          <a:p>
            <a:endParaRPr lang="it-IT" dirty="0"/>
          </a:p>
        </p:txBody>
      </p:sp>
      <p:sp>
        <p:nvSpPr>
          <p:cNvPr id="16" name="CasellaDiTesto 15">
            <a:extLst>
              <a:ext uri="{FF2B5EF4-FFF2-40B4-BE49-F238E27FC236}">
                <a16:creationId xmlns:a16="http://schemas.microsoft.com/office/drawing/2014/main" id="{679C971D-3CEE-476D-C8E9-35183FB0B474}"/>
              </a:ext>
            </a:extLst>
          </p:cNvPr>
          <p:cNvSpPr txBox="1"/>
          <p:nvPr/>
        </p:nvSpPr>
        <p:spPr>
          <a:xfrm>
            <a:off x="3048886" y="3244334"/>
            <a:ext cx="6097772" cy="369332"/>
          </a:xfrm>
          <a:prstGeom prst="rect">
            <a:avLst/>
          </a:prstGeom>
          <a:noFill/>
        </p:spPr>
        <p:txBody>
          <a:bodyPr wrap="square">
            <a:spAutoFit/>
          </a:bodyPr>
          <a:lstStyle/>
          <a:p>
            <a:endParaRPr lang="it-IT" dirty="0"/>
          </a:p>
        </p:txBody>
      </p:sp>
      <p:cxnSp>
        <p:nvCxnSpPr>
          <p:cNvPr id="10" name="Connettore diritto 9">
            <a:extLst>
              <a:ext uri="{FF2B5EF4-FFF2-40B4-BE49-F238E27FC236}">
                <a16:creationId xmlns:a16="http://schemas.microsoft.com/office/drawing/2014/main" id="{3A95D7DC-772C-F2D0-7F6E-7B637FABB5CC}"/>
              </a:ext>
            </a:extLst>
          </p:cNvPr>
          <p:cNvCxnSpPr>
            <a:cxnSpLocks/>
          </p:cNvCxnSpPr>
          <p:nvPr/>
        </p:nvCxnSpPr>
        <p:spPr>
          <a:xfrm>
            <a:off x="696000" y="1155368"/>
            <a:ext cx="10800000" cy="0"/>
          </a:xfrm>
          <a:prstGeom prst="line">
            <a:avLst/>
          </a:prstGeom>
          <a:ln w="38100">
            <a:solidFill>
              <a:srgbClr val="002060"/>
            </a:solidFill>
          </a:ln>
        </p:spPr>
        <p:style>
          <a:lnRef idx="2">
            <a:schemeClr val="accent1"/>
          </a:lnRef>
          <a:fillRef idx="0">
            <a:schemeClr val="accent1"/>
          </a:fillRef>
          <a:effectRef idx="1">
            <a:schemeClr val="accent1"/>
          </a:effectRef>
          <a:fontRef idx="minor">
            <a:schemeClr val="tx1"/>
          </a:fontRef>
        </p:style>
      </p:cxnSp>
      <p:pic>
        <p:nvPicPr>
          <p:cNvPr id="7" name="Immagine 6">
            <a:extLst>
              <a:ext uri="{FF2B5EF4-FFF2-40B4-BE49-F238E27FC236}">
                <a16:creationId xmlns:a16="http://schemas.microsoft.com/office/drawing/2014/main" id="{6E9D8EB2-3A37-43F7-1C5F-7B4FDF8A62C3}"/>
              </a:ext>
            </a:extLst>
          </p:cNvPr>
          <p:cNvPicPr>
            <a:picLocks noChangeAspect="1"/>
          </p:cNvPicPr>
          <p:nvPr/>
        </p:nvPicPr>
        <p:blipFill>
          <a:blip r:embed="rId3">
            <a:extLst>
              <a:ext uri="{28A0092B-C50C-407E-A947-70E740481C1C}">
                <a14:useLocalDpi xmlns:a14="http://schemas.microsoft.com/office/drawing/2010/main" val="0"/>
              </a:ext>
            </a:extLst>
          </a:blip>
          <a:srcRect t="7880"/>
          <a:stretch>
            <a:fillRect/>
          </a:stretch>
        </p:blipFill>
        <p:spPr>
          <a:xfrm>
            <a:off x="0" y="1657998"/>
            <a:ext cx="6263248" cy="4311225"/>
          </a:xfrm>
          <a:prstGeom prst="rect">
            <a:avLst/>
          </a:prstGeom>
        </p:spPr>
      </p:pic>
      <p:pic>
        <p:nvPicPr>
          <p:cNvPr id="9" name="Segnaposto contenuto 9">
            <a:extLst>
              <a:ext uri="{FF2B5EF4-FFF2-40B4-BE49-F238E27FC236}">
                <a16:creationId xmlns:a16="http://schemas.microsoft.com/office/drawing/2014/main" id="{6CA9BF4D-ECEB-7FC8-53BE-361DAA9E17D6}"/>
              </a:ext>
            </a:extLst>
          </p:cNvPr>
          <p:cNvPicPr>
            <a:picLocks noChangeAspect="1"/>
          </p:cNvPicPr>
          <p:nvPr/>
        </p:nvPicPr>
        <p:blipFill>
          <a:blip r:embed="rId4">
            <a:extLst>
              <a:ext uri="{28A0092B-C50C-407E-A947-70E740481C1C}">
                <a14:useLocalDpi xmlns:a14="http://schemas.microsoft.com/office/drawing/2010/main" val="0"/>
              </a:ext>
            </a:extLst>
          </a:blip>
          <a:srcRect t="7880"/>
          <a:stretch>
            <a:fillRect/>
          </a:stretch>
        </p:blipFill>
        <p:spPr>
          <a:xfrm>
            <a:off x="5888851" y="1657997"/>
            <a:ext cx="6263249" cy="4311226"/>
          </a:xfrm>
          <a:prstGeom prst="rect">
            <a:avLst/>
          </a:prstGeom>
        </p:spPr>
      </p:pic>
    </p:spTree>
    <p:extLst>
      <p:ext uri="{BB962C8B-B14F-4D97-AF65-F5344CB8AC3E}">
        <p14:creationId xmlns:p14="http://schemas.microsoft.com/office/powerpoint/2010/main" val="87425613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957A05-5581-2507-2271-32772C04953F}"/>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76CB6FC3-5C80-9455-E161-DA75CFAF4B14}"/>
              </a:ext>
            </a:extLst>
          </p:cNvPr>
          <p:cNvSpPr>
            <a:spLocks noGrp="1"/>
          </p:cNvSpPr>
          <p:nvPr>
            <p:ph type="title"/>
          </p:nvPr>
        </p:nvSpPr>
        <p:spPr>
          <a:xfrm>
            <a:off x="38100" y="69651"/>
            <a:ext cx="12114000" cy="1153094"/>
          </a:xfrm>
          <a:prstGeom prst="roundRect">
            <a:avLst>
              <a:gd name="adj" fmla="val 36459"/>
            </a:avLst>
          </a:prstGeom>
          <a:noFill/>
        </p:spPr>
        <p:txBody>
          <a:bodyPr>
            <a:normAutofit/>
          </a:bodyPr>
          <a:lstStyle/>
          <a:p>
            <a:r>
              <a:rPr lang="it-IT" b="1" dirty="0">
                <a:solidFill>
                  <a:srgbClr val="002060"/>
                </a:solidFill>
              </a:rPr>
              <a:t>	3. ANALYSIS: TORSION FIT</a:t>
            </a:r>
          </a:p>
        </p:txBody>
      </p:sp>
      <mc:AlternateContent xmlns:mc="http://schemas.openxmlformats.org/markup-compatibility/2006" xmlns:a14="http://schemas.microsoft.com/office/drawing/2010/main">
        <mc:Choice Requires="a14">
          <p:sp>
            <p:nvSpPr>
              <p:cNvPr id="3" name="Segnaposto contenuto 2">
                <a:extLst>
                  <a:ext uri="{FF2B5EF4-FFF2-40B4-BE49-F238E27FC236}">
                    <a16:creationId xmlns:a16="http://schemas.microsoft.com/office/drawing/2014/main" id="{CD0CB520-A067-8FE3-9BD0-6B5C105BFE2C}"/>
                  </a:ext>
                </a:extLst>
              </p:cNvPr>
              <p:cNvSpPr>
                <a:spLocks noGrp="1"/>
              </p:cNvSpPr>
              <p:nvPr>
                <p:ph idx="1"/>
              </p:nvPr>
            </p:nvSpPr>
            <p:spPr>
              <a:xfrm>
                <a:off x="838200" y="1401288"/>
                <a:ext cx="10515600" cy="4776227"/>
              </a:xfrm>
            </p:spPr>
            <p:txBody>
              <a:bodyPr>
                <a:normAutofit/>
              </a:bodyPr>
              <a:lstStyle/>
              <a:p>
                <a:pPr marL="0" indent="0">
                  <a:buNone/>
                </a:pPr>
                <a:r>
                  <a:rPr lang="en-US" dirty="0"/>
                  <a:t>The 2d map is fitted through a parabolic function:</a:t>
                </a:r>
                <a:endParaRPr lang="it-IT" i="1" dirty="0">
                  <a:latin typeface="Cambria Math" panose="02040503050406030204" pitchFamily="18" charset="0"/>
                </a:endParaRPr>
              </a:p>
              <a:p>
                <a:pPr marL="0" indent="0">
                  <a:buNone/>
                </a:pPr>
                <a14:m>
                  <m:oMathPara xmlns:m="http://schemas.openxmlformats.org/officeDocument/2006/math">
                    <m:oMath>
                      <m:sSub>
                        <m:sSubPr>
                          <m:ctrlPr>
                            <a:rPr lang="it-IT" i="1">
                              <a:latin typeface="Cambria Math" panose="02040503050406030204" pitchFamily="18" charset="0"/>
                            </a:rPr>
                          </m:ctrlPr>
                        </m:sSubPr>
                        <m:e>
                          <m:r>
                            <a:rPr lang="it-IT" i="1">
                              <a:latin typeface="Cambria Math" panose="02040503050406030204" pitchFamily="18" charset="0"/>
                            </a:rPr>
                            <m:t>𝜃</m:t>
                          </m:r>
                        </m:e>
                        <m:sub>
                          <m:r>
                            <a:rPr lang="it-IT" i="1">
                              <a:latin typeface="Cambria Math" panose="02040503050406030204" pitchFamily="18" charset="0"/>
                            </a:rPr>
                            <m:t>𝑐𝑜𝑟𝑟</m:t>
                          </m:r>
                        </m:sub>
                      </m:sSub>
                      <m:d>
                        <m:dPr>
                          <m:ctrlPr>
                            <a:rPr lang="it-IT" i="1">
                              <a:latin typeface="Cambria Math" panose="02040503050406030204" pitchFamily="18" charset="0"/>
                            </a:rPr>
                          </m:ctrlPr>
                        </m:dPr>
                        <m:e>
                          <m:r>
                            <a:rPr lang="it-IT" i="1">
                              <a:latin typeface="Cambria Math" panose="02040503050406030204" pitchFamily="18" charset="0"/>
                            </a:rPr>
                            <m:t>𝑥</m:t>
                          </m:r>
                          <m:r>
                            <a:rPr lang="it-IT" i="1">
                              <a:latin typeface="Cambria Math" panose="02040503050406030204" pitchFamily="18" charset="0"/>
                            </a:rPr>
                            <m:t>,</m:t>
                          </m:r>
                          <m:r>
                            <a:rPr lang="it-IT" i="1">
                              <a:latin typeface="Cambria Math" panose="02040503050406030204" pitchFamily="18" charset="0"/>
                            </a:rPr>
                            <m:t>𝑦</m:t>
                          </m:r>
                        </m:e>
                      </m:d>
                      <m:r>
                        <a:rPr lang="it-IT" i="1">
                          <a:latin typeface="Cambria Math" panose="02040503050406030204" pitchFamily="18" charset="0"/>
                        </a:rPr>
                        <m:t>=</m:t>
                      </m:r>
                      <m:sSub>
                        <m:sSubPr>
                          <m:ctrlPr>
                            <a:rPr lang="it-IT" i="1">
                              <a:latin typeface="Cambria Math" panose="02040503050406030204" pitchFamily="18" charset="0"/>
                            </a:rPr>
                          </m:ctrlPr>
                        </m:sSubPr>
                        <m:e>
                          <m:r>
                            <a:rPr lang="it-IT" i="1">
                              <a:latin typeface="Cambria Math" panose="02040503050406030204" pitchFamily="18" charset="0"/>
                            </a:rPr>
                            <m:t>𝜃</m:t>
                          </m:r>
                        </m:e>
                        <m:sub>
                          <m:r>
                            <a:rPr lang="it-IT" i="1">
                              <a:latin typeface="Cambria Math" panose="02040503050406030204" pitchFamily="18" charset="0"/>
                            </a:rPr>
                            <m:t>0</m:t>
                          </m:r>
                        </m:sub>
                      </m:sSub>
                      <m:r>
                        <a:rPr lang="it-IT" i="1">
                          <a:latin typeface="Cambria Math" panose="02040503050406030204" pitchFamily="18" charset="0"/>
                        </a:rPr>
                        <m:t>+</m:t>
                      </m:r>
                      <m:sSub>
                        <m:sSubPr>
                          <m:ctrlPr>
                            <a:rPr lang="it-IT" i="1">
                              <a:latin typeface="Cambria Math" panose="02040503050406030204" pitchFamily="18" charset="0"/>
                            </a:rPr>
                          </m:ctrlPr>
                        </m:sSubPr>
                        <m:e>
                          <m:r>
                            <a:rPr lang="it-IT" i="1">
                              <a:latin typeface="Cambria Math" panose="02040503050406030204" pitchFamily="18" charset="0"/>
                            </a:rPr>
                            <m:t>𝜏</m:t>
                          </m:r>
                        </m:e>
                        <m:sub>
                          <m:r>
                            <a:rPr lang="it-IT" i="1">
                              <a:latin typeface="Cambria Math" panose="02040503050406030204" pitchFamily="18" charset="0"/>
                            </a:rPr>
                            <m:t>𝑥</m:t>
                          </m:r>
                        </m:sub>
                      </m:sSub>
                      <m:r>
                        <a:rPr lang="it-IT" i="1">
                          <a:latin typeface="Cambria Math" panose="02040503050406030204" pitchFamily="18" charset="0"/>
                        </a:rPr>
                        <m:t>⋅</m:t>
                      </m:r>
                      <m:r>
                        <a:rPr lang="it-IT" i="1">
                          <a:latin typeface="Cambria Math" panose="02040503050406030204" pitchFamily="18" charset="0"/>
                        </a:rPr>
                        <m:t>𝑥</m:t>
                      </m:r>
                      <m:r>
                        <a:rPr lang="it-IT" i="1">
                          <a:latin typeface="Cambria Math" panose="02040503050406030204" pitchFamily="18" charset="0"/>
                        </a:rPr>
                        <m:t>+</m:t>
                      </m:r>
                      <m:sSub>
                        <m:sSubPr>
                          <m:ctrlPr>
                            <a:rPr lang="it-IT" i="1">
                              <a:latin typeface="Cambria Math" panose="02040503050406030204" pitchFamily="18" charset="0"/>
                            </a:rPr>
                          </m:ctrlPr>
                        </m:sSubPr>
                        <m:e>
                          <m:r>
                            <a:rPr lang="it-IT" i="1">
                              <a:latin typeface="Cambria Math" panose="02040503050406030204" pitchFamily="18" charset="0"/>
                            </a:rPr>
                            <m:t>𝜏</m:t>
                          </m:r>
                        </m:e>
                        <m:sub>
                          <m:r>
                            <a:rPr lang="it-IT" i="1">
                              <a:latin typeface="Cambria Math" panose="02040503050406030204" pitchFamily="18" charset="0"/>
                            </a:rPr>
                            <m:t>𝑦</m:t>
                          </m:r>
                        </m:sub>
                      </m:sSub>
                      <m:r>
                        <a:rPr lang="it-IT" i="1">
                          <a:latin typeface="Cambria Math" panose="02040503050406030204" pitchFamily="18" charset="0"/>
                        </a:rPr>
                        <m:t>⋅</m:t>
                      </m:r>
                      <m:r>
                        <a:rPr lang="it-IT" i="1">
                          <a:latin typeface="Cambria Math" panose="02040503050406030204" pitchFamily="18" charset="0"/>
                        </a:rPr>
                        <m:t>𝑦</m:t>
                      </m:r>
                      <m:r>
                        <a:rPr lang="it-IT" i="1">
                          <a:latin typeface="Cambria Math" panose="02040503050406030204" pitchFamily="18" charset="0"/>
                        </a:rPr>
                        <m:t>+</m:t>
                      </m:r>
                      <m:sSub>
                        <m:sSubPr>
                          <m:ctrlPr>
                            <a:rPr lang="it-IT" i="1">
                              <a:latin typeface="Cambria Math" panose="02040503050406030204" pitchFamily="18" charset="0"/>
                            </a:rPr>
                          </m:ctrlPr>
                        </m:sSubPr>
                        <m:e>
                          <m:r>
                            <a:rPr lang="it-IT" i="1">
                              <a:latin typeface="Cambria Math" panose="02040503050406030204" pitchFamily="18" charset="0"/>
                            </a:rPr>
                            <m:t>𝑝</m:t>
                          </m:r>
                        </m:e>
                        <m:sub>
                          <m:r>
                            <a:rPr lang="it-IT" i="1">
                              <a:latin typeface="Cambria Math" panose="02040503050406030204" pitchFamily="18" charset="0"/>
                            </a:rPr>
                            <m:t>3</m:t>
                          </m:r>
                        </m:sub>
                      </m:sSub>
                      <m:sSup>
                        <m:sSupPr>
                          <m:ctrlPr>
                            <a:rPr lang="it-IT" b="0" i="1" smtClean="0">
                              <a:latin typeface="Cambria Math" panose="02040503050406030204" pitchFamily="18" charset="0"/>
                            </a:rPr>
                          </m:ctrlPr>
                        </m:sSupPr>
                        <m:e>
                          <m:r>
                            <a:rPr lang="it-IT" b="0" i="1" smtClean="0">
                              <a:latin typeface="Cambria Math" panose="02040503050406030204" pitchFamily="18" charset="0"/>
                            </a:rPr>
                            <m:t>𝑦</m:t>
                          </m:r>
                        </m:e>
                        <m:sup>
                          <m:r>
                            <a:rPr lang="it-IT" i="1">
                              <a:latin typeface="Cambria Math" panose="02040503050406030204" pitchFamily="18" charset="0"/>
                            </a:rPr>
                            <m:t>2</m:t>
                          </m:r>
                        </m:sup>
                      </m:sSup>
                    </m:oMath>
                  </m:oMathPara>
                </a14:m>
                <a:endParaRPr lang="it-IT" dirty="0"/>
              </a:p>
            </p:txBody>
          </p:sp>
        </mc:Choice>
        <mc:Fallback xmlns="">
          <p:sp>
            <p:nvSpPr>
              <p:cNvPr id="3" name="Segnaposto contenuto 2">
                <a:extLst>
                  <a:ext uri="{FF2B5EF4-FFF2-40B4-BE49-F238E27FC236}">
                    <a16:creationId xmlns:a16="http://schemas.microsoft.com/office/drawing/2014/main" id="{CD0CB520-A067-8FE3-9BD0-6B5C105BFE2C}"/>
                  </a:ext>
                </a:extLst>
              </p:cNvPr>
              <p:cNvSpPr>
                <a:spLocks noGrp="1" noRot="1" noChangeAspect="1" noMove="1" noResize="1" noEditPoints="1" noAdjustHandles="1" noChangeArrowheads="1" noChangeShapeType="1" noTextEdit="1"/>
              </p:cNvSpPr>
              <p:nvPr>
                <p:ph idx="1"/>
              </p:nvPr>
            </p:nvSpPr>
            <p:spPr>
              <a:xfrm>
                <a:off x="838200" y="1401288"/>
                <a:ext cx="10515600" cy="4776227"/>
              </a:xfrm>
              <a:blipFill>
                <a:blip r:embed="rId3"/>
                <a:stretch>
                  <a:fillRect l="-1217" t="-2299"/>
                </a:stretch>
              </a:blipFill>
            </p:spPr>
            <p:txBody>
              <a:bodyPr/>
              <a:lstStyle/>
              <a:p>
                <a:r>
                  <a:rPr lang="it-IT">
                    <a:noFill/>
                  </a:rPr>
                  <a:t> </a:t>
                </a:r>
              </a:p>
            </p:txBody>
          </p:sp>
        </mc:Fallback>
      </mc:AlternateContent>
      <p:sp>
        <p:nvSpPr>
          <p:cNvPr id="4" name="Segnaposto data 3">
            <a:extLst>
              <a:ext uri="{FF2B5EF4-FFF2-40B4-BE49-F238E27FC236}">
                <a16:creationId xmlns:a16="http://schemas.microsoft.com/office/drawing/2014/main" id="{A5C96FC0-7D82-4607-B5AD-15E8A1471A8E}"/>
              </a:ext>
            </a:extLst>
          </p:cNvPr>
          <p:cNvSpPr>
            <a:spLocks noGrp="1"/>
          </p:cNvSpPr>
          <p:nvPr>
            <p:ph type="dt" sz="half" idx="10"/>
          </p:nvPr>
        </p:nvSpPr>
        <p:spPr>
          <a:xfrm>
            <a:off x="838200" y="6356349"/>
            <a:ext cx="2743200" cy="432000"/>
          </a:xfrm>
        </p:spPr>
        <p:txBody>
          <a:bodyPr/>
          <a:lstStyle/>
          <a:p>
            <a:r>
              <a:rPr lang="it-IT" sz="1500" b="1" dirty="0">
                <a:solidFill>
                  <a:srgbClr val="002060"/>
                </a:solidFill>
              </a:rPr>
              <a:t>24.08.2026</a:t>
            </a:r>
          </a:p>
        </p:txBody>
      </p:sp>
      <p:sp>
        <p:nvSpPr>
          <p:cNvPr id="5" name="Segnaposto piè di pagina 4">
            <a:extLst>
              <a:ext uri="{FF2B5EF4-FFF2-40B4-BE49-F238E27FC236}">
                <a16:creationId xmlns:a16="http://schemas.microsoft.com/office/drawing/2014/main" id="{C86DC3C0-2087-08BF-083B-29C5E3AE847A}"/>
              </a:ext>
            </a:extLst>
          </p:cNvPr>
          <p:cNvSpPr>
            <a:spLocks noGrp="1"/>
          </p:cNvSpPr>
          <p:nvPr>
            <p:ph type="ftr" sz="quarter" idx="11"/>
          </p:nvPr>
        </p:nvSpPr>
        <p:spPr>
          <a:xfrm>
            <a:off x="0" y="6356349"/>
            <a:ext cx="12192000" cy="432000"/>
          </a:xfrm>
        </p:spPr>
        <p:txBody>
          <a:bodyPr/>
          <a:lstStyle/>
          <a:p>
            <a:r>
              <a:rPr lang="it-IT" sz="1500" b="1" dirty="0">
                <a:solidFill>
                  <a:srgbClr val="002060"/>
                </a:solidFill>
              </a:rPr>
              <a:t>Anna Sofia Moro</a:t>
            </a:r>
          </a:p>
        </p:txBody>
      </p:sp>
      <p:sp>
        <p:nvSpPr>
          <p:cNvPr id="6" name="Segnaposto numero diapositiva 5">
            <a:extLst>
              <a:ext uri="{FF2B5EF4-FFF2-40B4-BE49-F238E27FC236}">
                <a16:creationId xmlns:a16="http://schemas.microsoft.com/office/drawing/2014/main" id="{9807D8D7-A2A0-4815-E3B2-8CA47A7CB28C}"/>
              </a:ext>
            </a:extLst>
          </p:cNvPr>
          <p:cNvSpPr>
            <a:spLocks noGrp="1"/>
          </p:cNvSpPr>
          <p:nvPr>
            <p:ph type="sldNum" sz="quarter" idx="12"/>
          </p:nvPr>
        </p:nvSpPr>
        <p:spPr>
          <a:xfrm>
            <a:off x="8610600" y="6356349"/>
            <a:ext cx="2743200" cy="432000"/>
          </a:xfrm>
        </p:spPr>
        <p:txBody>
          <a:bodyPr/>
          <a:lstStyle/>
          <a:p>
            <a:fld id="{0A318BD9-CA14-4A83-ACF0-03D5918EB402}" type="slidenum">
              <a:rPr lang="it-IT" sz="1500" b="1" smtClean="0">
                <a:solidFill>
                  <a:srgbClr val="002060"/>
                </a:solidFill>
              </a:rPr>
              <a:t>18</a:t>
            </a:fld>
            <a:endParaRPr lang="it-IT" sz="1500" b="1" dirty="0">
              <a:solidFill>
                <a:srgbClr val="002060"/>
              </a:solidFill>
            </a:endParaRPr>
          </a:p>
        </p:txBody>
      </p:sp>
      <p:cxnSp>
        <p:nvCxnSpPr>
          <p:cNvPr id="10" name="Connettore diritto 9">
            <a:extLst>
              <a:ext uri="{FF2B5EF4-FFF2-40B4-BE49-F238E27FC236}">
                <a16:creationId xmlns:a16="http://schemas.microsoft.com/office/drawing/2014/main" id="{78AD835D-015D-C803-CA98-A43D0F0AEC66}"/>
              </a:ext>
            </a:extLst>
          </p:cNvPr>
          <p:cNvCxnSpPr>
            <a:cxnSpLocks/>
          </p:cNvCxnSpPr>
          <p:nvPr/>
        </p:nvCxnSpPr>
        <p:spPr>
          <a:xfrm>
            <a:off x="696000" y="1155368"/>
            <a:ext cx="10800000" cy="0"/>
          </a:xfrm>
          <a:prstGeom prst="line">
            <a:avLst/>
          </a:prstGeom>
          <a:ln w="38100">
            <a:solidFill>
              <a:srgbClr val="002060"/>
            </a:solidFill>
          </a:ln>
        </p:spPr>
        <p:style>
          <a:lnRef idx="2">
            <a:schemeClr val="accent1"/>
          </a:lnRef>
          <a:fillRef idx="0">
            <a:schemeClr val="accent1"/>
          </a:fillRef>
          <a:effectRef idx="1">
            <a:schemeClr val="accent1"/>
          </a:effectRef>
          <a:fontRef idx="minor">
            <a:schemeClr val="tx1"/>
          </a:fontRef>
        </p:style>
      </p:cxnSp>
      <p:sp>
        <p:nvSpPr>
          <p:cNvPr id="13" name="CasellaDiTesto 12">
            <a:extLst>
              <a:ext uri="{FF2B5EF4-FFF2-40B4-BE49-F238E27FC236}">
                <a16:creationId xmlns:a16="http://schemas.microsoft.com/office/drawing/2014/main" id="{039CB041-5340-4E95-7D40-AEADA351C4A4}"/>
              </a:ext>
            </a:extLst>
          </p:cNvPr>
          <p:cNvSpPr txBox="1"/>
          <p:nvPr/>
        </p:nvSpPr>
        <p:spPr>
          <a:xfrm>
            <a:off x="3048886" y="3244334"/>
            <a:ext cx="6097772" cy="369332"/>
          </a:xfrm>
          <a:prstGeom prst="rect">
            <a:avLst/>
          </a:prstGeom>
          <a:noFill/>
        </p:spPr>
        <p:txBody>
          <a:bodyPr wrap="square">
            <a:spAutoFit/>
          </a:bodyPr>
          <a:lstStyle/>
          <a:p>
            <a:endParaRPr lang="it-IT" dirty="0"/>
          </a:p>
        </p:txBody>
      </p:sp>
      <p:sp>
        <p:nvSpPr>
          <p:cNvPr id="15" name="CasellaDiTesto 14">
            <a:extLst>
              <a:ext uri="{FF2B5EF4-FFF2-40B4-BE49-F238E27FC236}">
                <a16:creationId xmlns:a16="http://schemas.microsoft.com/office/drawing/2014/main" id="{F43E1EF5-379F-B22C-48CE-2CF97B803ACA}"/>
              </a:ext>
            </a:extLst>
          </p:cNvPr>
          <p:cNvSpPr txBox="1"/>
          <p:nvPr/>
        </p:nvSpPr>
        <p:spPr>
          <a:xfrm>
            <a:off x="3048886" y="3244334"/>
            <a:ext cx="6097772" cy="369332"/>
          </a:xfrm>
          <a:prstGeom prst="rect">
            <a:avLst/>
          </a:prstGeom>
          <a:noFill/>
        </p:spPr>
        <p:txBody>
          <a:bodyPr wrap="square">
            <a:spAutoFit/>
          </a:bodyPr>
          <a:lstStyle/>
          <a:p>
            <a:endParaRPr lang="it-IT" dirty="0"/>
          </a:p>
        </p:txBody>
      </p:sp>
      <p:pic>
        <p:nvPicPr>
          <p:cNvPr id="8" name="Immagine 7">
            <a:extLst>
              <a:ext uri="{FF2B5EF4-FFF2-40B4-BE49-F238E27FC236}">
                <a16:creationId xmlns:a16="http://schemas.microsoft.com/office/drawing/2014/main" id="{62E148E6-13EB-2C99-6BD7-6C050970A0E3}"/>
              </a:ext>
            </a:extLst>
          </p:cNvPr>
          <p:cNvPicPr>
            <a:picLocks noChangeAspect="1"/>
          </p:cNvPicPr>
          <p:nvPr/>
        </p:nvPicPr>
        <p:blipFill>
          <a:blip r:embed="rId4">
            <a:extLst>
              <a:ext uri="{28A0092B-C50C-407E-A947-70E740481C1C}">
                <a14:useLocalDpi xmlns:a14="http://schemas.microsoft.com/office/drawing/2010/main" val="0"/>
              </a:ext>
            </a:extLst>
          </a:blip>
          <a:srcRect l="227" t="6850" r="-227" b="1950"/>
          <a:stretch>
            <a:fillRect/>
          </a:stretch>
        </p:blipFill>
        <p:spPr>
          <a:xfrm>
            <a:off x="3581400" y="2370666"/>
            <a:ext cx="5431280" cy="3996135"/>
          </a:xfrm>
          <a:prstGeom prst="rect">
            <a:avLst/>
          </a:prstGeom>
        </p:spPr>
      </p:pic>
    </p:spTree>
    <p:extLst>
      <p:ext uri="{BB962C8B-B14F-4D97-AF65-F5344CB8AC3E}">
        <p14:creationId xmlns:p14="http://schemas.microsoft.com/office/powerpoint/2010/main" val="225599813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7199CC-8B86-B2EE-64BF-98C6CD9A380A}"/>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4ADCB4FE-C26E-1D5A-A916-88AE81A45AC1}"/>
              </a:ext>
            </a:extLst>
          </p:cNvPr>
          <p:cNvSpPr>
            <a:spLocks noGrp="1"/>
          </p:cNvSpPr>
          <p:nvPr>
            <p:ph type="title"/>
          </p:nvPr>
        </p:nvSpPr>
        <p:spPr>
          <a:xfrm>
            <a:off x="38100" y="69651"/>
            <a:ext cx="12114000" cy="1153094"/>
          </a:xfrm>
          <a:prstGeom prst="roundRect">
            <a:avLst>
              <a:gd name="adj" fmla="val 36459"/>
            </a:avLst>
          </a:prstGeom>
          <a:noFill/>
        </p:spPr>
        <p:txBody>
          <a:bodyPr>
            <a:normAutofit/>
          </a:bodyPr>
          <a:lstStyle/>
          <a:p>
            <a:r>
              <a:rPr lang="it-IT" b="1" dirty="0">
                <a:solidFill>
                  <a:srgbClr val="002060"/>
                </a:solidFill>
              </a:rPr>
              <a:t>	3. ANALYSIS: TORSION EFFECT</a:t>
            </a:r>
          </a:p>
        </p:txBody>
      </p:sp>
      <mc:AlternateContent xmlns:mc="http://schemas.openxmlformats.org/markup-compatibility/2006" xmlns:a14="http://schemas.microsoft.com/office/drawing/2010/main">
        <mc:Choice Requires="a14">
          <p:sp>
            <p:nvSpPr>
              <p:cNvPr id="3" name="Segnaposto contenuto 2">
                <a:extLst>
                  <a:ext uri="{FF2B5EF4-FFF2-40B4-BE49-F238E27FC236}">
                    <a16:creationId xmlns:a16="http://schemas.microsoft.com/office/drawing/2014/main" id="{8CB05CB6-18C8-AD14-0450-7E39FC76E19B}"/>
                  </a:ext>
                </a:extLst>
              </p:cNvPr>
              <p:cNvSpPr>
                <a:spLocks noGrp="1"/>
              </p:cNvSpPr>
              <p:nvPr>
                <p:ph idx="1"/>
              </p:nvPr>
            </p:nvSpPr>
            <p:spPr>
              <a:xfrm>
                <a:off x="838200" y="1401288"/>
                <a:ext cx="10515600" cy="4776227"/>
              </a:xfrm>
            </p:spPr>
            <p:txBody>
              <a:bodyPr>
                <a:normAutofit/>
              </a:bodyPr>
              <a:lstStyle/>
              <a:p>
                <a:pPr marL="0" indent="0">
                  <a:buNone/>
                </a:pPr>
                <a:r>
                  <a:rPr lang="en-US" dirty="0"/>
                  <a:t>The 2d map is fitted through a parabolic function:</a:t>
                </a:r>
                <a:endParaRPr lang="it-IT" i="1" dirty="0">
                  <a:latin typeface="Cambria Math" panose="02040503050406030204" pitchFamily="18" charset="0"/>
                </a:endParaRPr>
              </a:p>
              <a:p>
                <a:pPr marL="0" indent="0">
                  <a:buNone/>
                </a:pPr>
                <a14:m>
                  <m:oMathPara xmlns:m="http://schemas.openxmlformats.org/officeDocument/2006/math">
                    <m:oMathParaPr>
                      <m:jc m:val="center"/>
                    </m:oMathParaPr>
                    <m:oMath>
                      <m:sSub>
                        <m:sSubPr>
                          <m:ctrlPr>
                            <a:rPr lang="it-IT" i="1">
                              <a:latin typeface="Cambria Math" panose="02040503050406030204" pitchFamily="18" charset="0"/>
                            </a:rPr>
                          </m:ctrlPr>
                        </m:sSubPr>
                        <m:e>
                          <m:r>
                            <a:rPr lang="it-IT" i="1">
                              <a:latin typeface="Cambria Math" panose="02040503050406030204" pitchFamily="18" charset="0"/>
                            </a:rPr>
                            <m:t>𝜃</m:t>
                          </m:r>
                        </m:e>
                        <m:sub>
                          <m:r>
                            <a:rPr lang="it-IT" i="1">
                              <a:latin typeface="Cambria Math" panose="02040503050406030204" pitchFamily="18" charset="0"/>
                            </a:rPr>
                            <m:t>𝑐𝑜𝑟𝑟</m:t>
                          </m:r>
                        </m:sub>
                      </m:sSub>
                      <m:d>
                        <m:dPr>
                          <m:ctrlPr>
                            <a:rPr lang="it-IT" i="1">
                              <a:latin typeface="Cambria Math" panose="02040503050406030204" pitchFamily="18" charset="0"/>
                            </a:rPr>
                          </m:ctrlPr>
                        </m:dPr>
                        <m:e>
                          <m:r>
                            <a:rPr lang="it-IT" i="1">
                              <a:latin typeface="Cambria Math" panose="02040503050406030204" pitchFamily="18" charset="0"/>
                            </a:rPr>
                            <m:t>𝑥</m:t>
                          </m:r>
                          <m:r>
                            <a:rPr lang="it-IT" i="1">
                              <a:latin typeface="Cambria Math" panose="02040503050406030204" pitchFamily="18" charset="0"/>
                            </a:rPr>
                            <m:t>,</m:t>
                          </m:r>
                          <m:r>
                            <a:rPr lang="it-IT" i="1">
                              <a:latin typeface="Cambria Math" panose="02040503050406030204" pitchFamily="18" charset="0"/>
                            </a:rPr>
                            <m:t>𝑦</m:t>
                          </m:r>
                        </m:e>
                      </m:d>
                      <m:r>
                        <a:rPr lang="it-IT" i="1">
                          <a:latin typeface="Cambria Math" panose="02040503050406030204" pitchFamily="18" charset="0"/>
                        </a:rPr>
                        <m:t>=</m:t>
                      </m:r>
                      <m:sSub>
                        <m:sSubPr>
                          <m:ctrlPr>
                            <a:rPr lang="it-IT" i="1">
                              <a:latin typeface="Cambria Math" panose="02040503050406030204" pitchFamily="18" charset="0"/>
                            </a:rPr>
                          </m:ctrlPr>
                        </m:sSubPr>
                        <m:e>
                          <m:r>
                            <a:rPr lang="it-IT" i="1">
                              <a:latin typeface="Cambria Math" panose="02040503050406030204" pitchFamily="18" charset="0"/>
                            </a:rPr>
                            <m:t>𝜃</m:t>
                          </m:r>
                        </m:e>
                        <m:sub>
                          <m:r>
                            <a:rPr lang="it-IT" i="1">
                              <a:latin typeface="Cambria Math" panose="02040503050406030204" pitchFamily="18" charset="0"/>
                            </a:rPr>
                            <m:t>0</m:t>
                          </m:r>
                        </m:sub>
                      </m:sSub>
                      <m:r>
                        <a:rPr lang="it-IT" i="1">
                          <a:latin typeface="Cambria Math" panose="02040503050406030204" pitchFamily="18" charset="0"/>
                        </a:rPr>
                        <m:t>+</m:t>
                      </m:r>
                      <m:sSub>
                        <m:sSubPr>
                          <m:ctrlPr>
                            <a:rPr lang="it-IT" i="1">
                              <a:latin typeface="Cambria Math" panose="02040503050406030204" pitchFamily="18" charset="0"/>
                            </a:rPr>
                          </m:ctrlPr>
                        </m:sSubPr>
                        <m:e>
                          <m:r>
                            <a:rPr lang="it-IT" i="1">
                              <a:latin typeface="Cambria Math" panose="02040503050406030204" pitchFamily="18" charset="0"/>
                            </a:rPr>
                            <m:t>𝜏</m:t>
                          </m:r>
                        </m:e>
                        <m:sub>
                          <m:r>
                            <a:rPr lang="it-IT" i="1">
                              <a:latin typeface="Cambria Math" panose="02040503050406030204" pitchFamily="18" charset="0"/>
                            </a:rPr>
                            <m:t>𝑥</m:t>
                          </m:r>
                        </m:sub>
                      </m:sSub>
                      <m:r>
                        <a:rPr lang="it-IT" i="1">
                          <a:latin typeface="Cambria Math" panose="02040503050406030204" pitchFamily="18" charset="0"/>
                        </a:rPr>
                        <m:t>⋅</m:t>
                      </m:r>
                      <m:r>
                        <a:rPr lang="it-IT" i="1">
                          <a:latin typeface="Cambria Math" panose="02040503050406030204" pitchFamily="18" charset="0"/>
                        </a:rPr>
                        <m:t>𝑥</m:t>
                      </m:r>
                      <m:r>
                        <a:rPr lang="it-IT" i="1">
                          <a:latin typeface="Cambria Math" panose="02040503050406030204" pitchFamily="18" charset="0"/>
                        </a:rPr>
                        <m:t>+</m:t>
                      </m:r>
                      <m:sSub>
                        <m:sSubPr>
                          <m:ctrlPr>
                            <a:rPr lang="it-IT" i="1">
                              <a:latin typeface="Cambria Math" panose="02040503050406030204" pitchFamily="18" charset="0"/>
                            </a:rPr>
                          </m:ctrlPr>
                        </m:sSubPr>
                        <m:e>
                          <m:r>
                            <a:rPr lang="it-IT" i="1">
                              <a:latin typeface="Cambria Math" panose="02040503050406030204" pitchFamily="18" charset="0"/>
                            </a:rPr>
                            <m:t>𝜏</m:t>
                          </m:r>
                        </m:e>
                        <m:sub>
                          <m:r>
                            <a:rPr lang="it-IT" i="1">
                              <a:latin typeface="Cambria Math" panose="02040503050406030204" pitchFamily="18" charset="0"/>
                            </a:rPr>
                            <m:t>𝑦</m:t>
                          </m:r>
                        </m:sub>
                      </m:sSub>
                      <m:r>
                        <a:rPr lang="it-IT" i="1">
                          <a:latin typeface="Cambria Math" panose="02040503050406030204" pitchFamily="18" charset="0"/>
                        </a:rPr>
                        <m:t>⋅</m:t>
                      </m:r>
                      <m:r>
                        <a:rPr lang="it-IT" i="1">
                          <a:latin typeface="Cambria Math" panose="02040503050406030204" pitchFamily="18" charset="0"/>
                        </a:rPr>
                        <m:t>𝑦</m:t>
                      </m:r>
                      <m:r>
                        <a:rPr lang="it-IT" i="1">
                          <a:latin typeface="Cambria Math" panose="02040503050406030204" pitchFamily="18" charset="0"/>
                        </a:rPr>
                        <m:t>+</m:t>
                      </m:r>
                      <m:sSub>
                        <m:sSubPr>
                          <m:ctrlPr>
                            <a:rPr lang="it-IT" i="1">
                              <a:latin typeface="Cambria Math" panose="02040503050406030204" pitchFamily="18" charset="0"/>
                            </a:rPr>
                          </m:ctrlPr>
                        </m:sSubPr>
                        <m:e>
                          <m:r>
                            <a:rPr lang="it-IT" i="1">
                              <a:latin typeface="Cambria Math" panose="02040503050406030204" pitchFamily="18" charset="0"/>
                            </a:rPr>
                            <m:t>𝑝</m:t>
                          </m:r>
                        </m:e>
                        <m:sub>
                          <m:r>
                            <a:rPr lang="it-IT" i="1">
                              <a:latin typeface="Cambria Math" panose="02040503050406030204" pitchFamily="18" charset="0"/>
                            </a:rPr>
                            <m:t>3</m:t>
                          </m:r>
                        </m:sub>
                      </m:sSub>
                      <m:sSup>
                        <m:sSupPr>
                          <m:ctrlPr>
                            <a:rPr lang="it-IT" i="1">
                              <a:latin typeface="Cambria Math" panose="02040503050406030204" pitchFamily="18" charset="0"/>
                            </a:rPr>
                          </m:ctrlPr>
                        </m:sSupPr>
                        <m:e>
                          <m:r>
                            <a:rPr lang="it-IT" i="1">
                              <a:latin typeface="Cambria Math" panose="02040503050406030204" pitchFamily="18" charset="0"/>
                            </a:rPr>
                            <m:t>𝑦</m:t>
                          </m:r>
                        </m:e>
                        <m:sup>
                          <m:r>
                            <a:rPr lang="it-IT" i="1">
                              <a:latin typeface="Cambria Math" panose="02040503050406030204" pitchFamily="18" charset="0"/>
                            </a:rPr>
                            <m:t>2</m:t>
                          </m:r>
                        </m:sup>
                      </m:sSup>
                    </m:oMath>
                  </m:oMathPara>
                </a14:m>
                <a:endParaRPr lang="it-IT" dirty="0"/>
              </a:p>
              <a:p>
                <a:pPr marL="0" indent="0">
                  <a:buNone/>
                </a:pPr>
                <a:endParaRPr lang="it-IT" dirty="0"/>
              </a:p>
              <a:p>
                <a:pPr marL="0" indent="0">
                  <a:buNone/>
                </a:pPr>
                <a:endParaRPr lang="it-IT" dirty="0"/>
              </a:p>
              <a:p>
                <a:pPr marL="0" indent="0">
                  <a:buNone/>
                </a:pPr>
                <a:r>
                  <a:rPr lang="en-US" dirty="0"/>
                  <a:t>Now we correct the effect of torsion using the parameter 	  </a:t>
                </a:r>
                <a14:m>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𝜃</m:t>
                        </m:r>
                      </m:e>
                      <m:sub>
                        <m:r>
                          <a:rPr lang="it-IT" b="0" i="1" smtClean="0">
                            <a:latin typeface="Cambria Math" panose="02040503050406030204" pitchFamily="18" charset="0"/>
                          </a:rPr>
                          <m:t>0</m:t>
                        </m:r>
                      </m:sub>
                    </m:sSub>
                    <m:r>
                      <a:rPr lang="it-IT" i="1">
                        <a:latin typeface="Cambria Math" panose="02040503050406030204" pitchFamily="18" charset="0"/>
                      </a:rPr>
                      <m:t>(</m:t>
                    </m:r>
                    <m:r>
                      <a:rPr lang="it-IT" i="1">
                        <a:latin typeface="Cambria Math" panose="02040503050406030204" pitchFamily="18" charset="0"/>
                      </a:rPr>
                      <m:t>𝑥</m:t>
                    </m:r>
                    <m:r>
                      <a:rPr lang="it-IT" i="1">
                        <a:latin typeface="Cambria Math" panose="02040503050406030204" pitchFamily="18" charset="0"/>
                      </a:rPr>
                      <m:t>,</m:t>
                    </m:r>
                    <m:r>
                      <a:rPr lang="it-IT" i="1">
                        <a:latin typeface="Cambria Math" panose="02040503050406030204" pitchFamily="18" charset="0"/>
                      </a:rPr>
                      <m:t>𝑦</m:t>
                    </m:r>
                    <m:r>
                      <a:rPr lang="it-IT" i="1">
                        <a:latin typeface="Cambria Math" panose="02040503050406030204" pitchFamily="18" charset="0"/>
                      </a:rPr>
                      <m:t>)</m:t>
                    </m:r>
                  </m:oMath>
                </a14:m>
                <a:r>
                  <a:rPr lang="en-US" dirty="0"/>
                  <a:t> found for each bin.</a:t>
                </a:r>
              </a:p>
              <a:p>
                <a:pPr marL="0" indent="0" algn="ctr">
                  <a:buNone/>
                </a:pPr>
                <a:r>
                  <a:rPr lang="en-US" dirty="0"/>
                  <a:t>instead of the Lindhard cut </a:t>
                </a:r>
                <a14:m>
                  <m:oMath xmlns:m="http://schemas.openxmlformats.org/officeDocument/2006/math">
                    <m:sSub>
                      <m:sSubPr>
                        <m:ctrlPr>
                          <a:rPr lang="it-IT" i="1">
                            <a:latin typeface="Cambria Math" panose="02040503050406030204" pitchFamily="18" charset="0"/>
                          </a:rPr>
                        </m:ctrlPr>
                      </m:sSubPr>
                      <m:e>
                        <m:r>
                          <a:rPr lang="it-IT" i="1">
                            <a:latin typeface="Cambria Math" panose="02040503050406030204" pitchFamily="18" charset="0"/>
                          </a:rPr>
                          <m:t>|</m:t>
                        </m:r>
                        <m:r>
                          <a:rPr lang="it-IT" i="1">
                            <a:latin typeface="Cambria Math" panose="02040503050406030204" pitchFamily="18" charset="0"/>
                          </a:rPr>
                          <m:t>𝜃</m:t>
                        </m:r>
                      </m:e>
                      <m:sub>
                        <m:r>
                          <a:rPr lang="it-IT" i="1">
                            <a:latin typeface="Cambria Math" panose="02040503050406030204" pitchFamily="18" charset="0"/>
                          </a:rPr>
                          <m:t>𝑖𝑛</m:t>
                        </m:r>
                        <m:r>
                          <a:rPr lang="it-IT" i="1">
                            <a:latin typeface="Cambria Math" panose="02040503050406030204" pitchFamily="18" charset="0"/>
                          </a:rPr>
                          <m:t>,</m:t>
                        </m:r>
                        <m:r>
                          <a:rPr lang="it-IT" i="1">
                            <a:latin typeface="Cambria Math" panose="02040503050406030204" pitchFamily="18" charset="0"/>
                          </a:rPr>
                          <m:t>𝑥</m:t>
                        </m:r>
                      </m:sub>
                    </m:sSub>
                    <m:r>
                      <a:rPr lang="it-IT" i="1">
                        <a:latin typeface="Cambria Math" panose="02040503050406030204" pitchFamily="18" charset="0"/>
                      </a:rPr>
                      <m:t>|≤</m:t>
                    </m:r>
                    <m:f>
                      <m:fPr>
                        <m:ctrlPr>
                          <a:rPr lang="it-IT" i="1">
                            <a:latin typeface="Cambria Math" panose="02040503050406030204" pitchFamily="18" charset="0"/>
                          </a:rPr>
                        </m:ctrlPr>
                      </m:fPr>
                      <m:num>
                        <m:r>
                          <a:rPr lang="it-IT" i="1">
                            <a:latin typeface="Cambria Math" panose="02040503050406030204" pitchFamily="18" charset="0"/>
                          </a:rPr>
                          <m:t>1</m:t>
                        </m:r>
                      </m:num>
                      <m:den>
                        <m:r>
                          <a:rPr lang="it-IT" i="1">
                            <a:latin typeface="Cambria Math" panose="02040503050406030204" pitchFamily="18" charset="0"/>
                          </a:rPr>
                          <m:t>2</m:t>
                        </m:r>
                      </m:den>
                    </m:f>
                    <m:sSub>
                      <m:sSubPr>
                        <m:ctrlPr>
                          <a:rPr lang="it-IT" i="1">
                            <a:latin typeface="Cambria Math" panose="02040503050406030204" pitchFamily="18" charset="0"/>
                          </a:rPr>
                        </m:ctrlPr>
                      </m:sSubPr>
                      <m:e>
                        <m:r>
                          <a:rPr lang="it-IT" i="1">
                            <a:latin typeface="Cambria Math" panose="02040503050406030204" pitchFamily="18" charset="0"/>
                          </a:rPr>
                          <m:t>𝜃</m:t>
                        </m:r>
                      </m:e>
                      <m:sub>
                        <m:r>
                          <a:rPr lang="it-IT" i="1">
                            <a:latin typeface="Cambria Math" panose="02040503050406030204" pitchFamily="18" charset="0"/>
                          </a:rPr>
                          <m:t>𝐿</m:t>
                        </m:r>
                      </m:sub>
                    </m:sSub>
                  </m:oMath>
                </a14:m>
                <a:r>
                  <a:rPr lang="en-US" dirty="0"/>
                  <a:t> we will use</a:t>
                </a:r>
                <a:endParaRPr lang="it-IT" i="1" dirty="0">
                  <a:latin typeface="Cambria Math" panose="02040503050406030204" pitchFamily="18" charset="0"/>
                </a:endParaRPr>
              </a:p>
              <a:p>
                <a:pPr marL="0" indent="0" algn="ctr">
                  <a:buNone/>
                </a:pPr>
                <a14:m>
                  <m:oMath xmlns:m="http://schemas.openxmlformats.org/officeDocument/2006/math">
                    <m:d>
                      <m:dPr>
                        <m:begChr m:val="|"/>
                        <m:endChr m:val="|"/>
                        <m:ctrlPr>
                          <a:rPr lang="it-IT" i="1">
                            <a:latin typeface="Cambria Math" panose="02040503050406030204" pitchFamily="18" charset="0"/>
                          </a:rPr>
                        </m:ctrlPr>
                      </m:dPr>
                      <m:e>
                        <m:sSubSup>
                          <m:sSubSupPr>
                            <m:ctrlPr>
                              <a:rPr lang="it-IT" i="1">
                                <a:latin typeface="Cambria Math" panose="02040503050406030204" pitchFamily="18" charset="0"/>
                              </a:rPr>
                            </m:ctrlPr>
                          </m:sSubSupPr>
                          <m:e>
                            <m:r>
                              <a:rPr lang="it-IT" i="1">
                                <a:latin typeface="Cambria Math" panose="02040503050406030204" pitchFamily="18" charset="0"/>
                              </a:rPr>
                              <m:t>𝜃</m:t>
                            </m:r>
                          </m:e>
                          <m:sub>
                            <m:r>
                              <a:rPr lang="it-IT" i="1">
                                <a:latin typeface="Cambria Math" panose="02040503050406030204" pitchFamily="18" charset="0"/>
                              </a:rPr>
                              <m:t>𝑥</m:t>
                            </m:r>
                          </m:sub>
                          <m:sup>
                            <m:r>
                              <a:rPr lang="it-IT" i="1">
                                <a:latin typeface="Cambria Math" panose="02040503050406030204" pitchFamily="18" charset="0"/>
                              </a:rPr>
                              <m:t>𝑖𝑛</m:t>
                            </m:r>
                          </m:sup>
                        </m:sSubSup>
                        <m:r>
                          <a:rPr lang="it-IT" i="1">
                            <a:latin typeface="Cambria Math" panose="02040503050406030204" pitchFamily="18" charset="0"/>
                          </a:rPr>
                          <m:t>−</m:t>
                        </m:r>
                        <m:d>
                          <m:dPr>
                            <m:ctrlPr>
                              <a:rPr lang="it-IT" i="1">
                                <a:latin typeface="Cambria Math" panose="02040503050406030204" pitchFamily="18" charset="0"/>
                              </a:rPr>
                            </m:ctrlPr>
                          </m:dPr>
                          <m:e>
                            <m:sSubSup>
                              <m:sSubSupPr>
                                <m:ctrlPr>
                                  <a:rPr lang="it-IT" i="1">
                                    <a:latin typeface="Cambria Math" panose="02040503050406030204" pitchFamily="18" charset="0"/>
                                  </a:rPr>
                                </m:ctrlPr>
                              </m:sSubSupPr>
                              <m:e>
                                <m:r>
                                  <a:rPr lang="it-IT" i="1">
                                    <a:latin typeface="Cambria Math" panose="02040503050406030204" pitchFamily="18" charset="0"/>
                                  </a:rPr>
                                  <m:t>𝜃</m:t>
                                </m:r>
                              </m:e>
                              <m:sub>
                                <m:r>
                                  <a:rPr lang="it-IT" i="1">
                                    <a:latin typeface="Cambria Math" panose="02040503050406030204" pitchFamily="18" charset="0"/>
                                  </a:rPr>
                                  <m:t>𝑥</m:t>
                                </m:r>
                              </m:sub>
                              <m:sup>
                                <m:r>
                                  <a:rPr lang="it-IT" i="1">
                                    <a:latin typeface="Cambria Math" panose="02040503050406030204" pitchFamily="18" charset="0"/>
                                  </a:rPr>
                                  <m:t>𝑜𝑓𝑓</m:t>
                                </m:r>
                              </m:sup>
                            </m:sSubSup>
                            <m:r>
                              <a:rPr lang="it-IT" i="1">
                                <a:latin typeface="Cambria Math" panose="02040503050406030204" pitchFamily="18" charset="0"/>
                              </a:rPr>
                              <m:t>+</m:t>
                            </m:r>
                            <m:sSub>
                              <m:sSubPr>
                                <m:ctrlPr>
                                  <a:rPr lang="it-IT" i="1">
                                    <a:latin typeface="Cambria Math" panose="02040503050406030204" pitchFamily="18" charset="0"/>
                                  </a:rPr>
                                </m:ctrlPr>
                              </m:sSubPr>
                              <m:e>
                                <m:r>
                                  <a:rPr lang="it-IT" i="1">
                                    <a:latin typeface="Cambria Math" panose="02040503050406030204" pitchFamily="18" charset="0"/>
                                  </a:rPr>
                                  <m:t>𝜏</m:t>
                                </m:r>
                              </m:e>
                              <m:sub>
                                <m:r>
                                  <a:rPr lang="it-IT" i="1">
                                    <a:latin typeface="Cambria Math" panose="02040503050406030204" pitchFamily="18" charset="0"/>
                                  </a:rPr>
                                  <m:t>𝑦</m:t>
                                </m:r>
                              </m:sub>
                            </m:sSub>
                            <m:r>
                              <a:rPr lang="it-IT" i="1">
                                <a:latin typeface="Cambria Math" panose="02040503050406030204" pitchFamily="18" charset="0"/>
                              </a:rPr>
                              <m:t>⋅</m:t>
                            </m:r>
                            <m:sSub>
                              <m:sSubPr>
                                <m:ctrlPr>
                                  <a:rPr lang="it-IT" i="1">
                                    <a:latin typeface="Cambria Math" panose="02040503050406030204" pitchFamily="18" charset="0"/>
                                  </a:rPr>
                                </m:ctrlPr>
                              </m:sSubPr>
                              <m:e>
                                <m:r>
                                  <a:rPr lang="it-IT" i="1">
                                    <a:latin typeface="Cambria Math" panose="02040503050406030204" pitchFamily="18" charset="0"/>
                                  </a:rPr>
                                  <m:t>𝑑</m:t>
                                </m:r>
                              </m:e>
                              <m:sub>
                                <m:r>
                                  <a:rPr lang="it-IT" i="1">
                                    <a:latin typeface="Cambria Math" panose="02040503050406030204" pitchFamily="18" charset="0"/>
                                  </a:rPr>
                                  <m:t>𝑦</m:t>
                                </m:r>
                              </m:sub>
                            </m:sSub>
                            <m:r>
                              <a:rPr lang="it-IT" i="1">
                                <a:solidFill>
                                  <a:schemeClr val="bg1">
                                    <a:lumMod val="65000"/>
                                  </a:schemeClr>
                                </a:solidFill>
                                <a:latin typeface="Cambria Math" panose="02040503050406030204" pitchFamily="18" charset="0"/>
                              </a:rPr>
                              <m:t>+</m:t>
                            </m:r>
                            <m:sSub>
                              <m:sSubPr>
                                <m:ctrlPr>
                                  <a:rPr lang="it-IT" i="1">
                                    <a:solidFill>
                                      <a:schemeClr val="bg1">
                                        <a:lumMod val="65000"/>
                                      </a:schemeClr>
                                    </a:solidFill>
                                    <a:latin typeface="Cambria Math" panose="02040503050406030204" pitchFamily="18" charset="0"/>
                                  </a:rPr>
                                </m:ctrlPr>
                              </m:sSubPr>
                              <m:e>
                                <m:r>
                                  <a:rPr lang="it-IT" i="1">
                                    <a:solidFill>
                                      <a:schemeClr val="bg1">
                                        <a:lumMod val="65000"/>
                                      </a:schemeClr>
                                    </a:solidFill>
                                    <a:latin typeface="Cambria Math" panose="02040503050406030204" pitchFamily="18" charset="0"/>
                                  </a:rPr>
                                  <m:t>𝜏</m:t>
                                </m:r>
                              </m:e>
                              <m:sub>
                                <m:r>
                                  <a:rPr lang="it-IT" i="1">
                                    <a:solidFill>
                                      <a:schemeClr val="bg1">
                                        <a:lumMod val="65000"/>
                                      </a:schemeClr>
                                    </a:solidFill>
                                    <a:latin typeface="Cambria Math" panose="02040503050406030204" pitchFamily="18" charset="0"/>
                                  </a:rPr>
                                  <m:t>𝑥</m:t>
                                </m:r>
                              </m:sub>
                            </m:sSub>
                            <m:r>
                              <a:rPr lang="it-IT" i="1">
                                <a:solidFill>
                                  <a:schemeClr val="bg1">
                                    <a:lumMod val="65000"/>
                                  </a:schemeClr>
                                </a:solidFill>
                                <a:latin typeface="Cambria Math" panose="02040503050406030204" pitchFamily="18" charset="0"/>
                              </a:rPr>
                              <m:t>⋅</m:t>
                            </m:r>
                            <m:sSub>
                              <m:sSubPr>
                                <m:ctrlPr>
                                  <a:rPr lang="it-IT" i="1">
                                    <a:solidFill>
                                      <a:schemeClr val="bg1">
                                        <a:lumMod val="65000"/>
                                      </a:schemeClr>
                                    </a:solidFill>
                                    <a:latin typeface="Cambria Math" panose="02040503050406030204" pitchFamily="18" charset="0"/>
                                  </a:rPr>
                                </m:ctrlPr>
                              </m:sSubPr>
                              <m:e>
                                <m:r>
                                  <a:rPr lang="it-IT" i="1">
                                    <a:solidFill>
                                      <a:schemeClr val="bg1">
                                        <a:lumMod val="65000"/>
                                      </a:schemeClr>
                                    </a:solidFill>
                                    <a:latin typeface="Cambria Math" panose="02040503050406030204" pitchFamily="18" charset="0"/>
                                  </a:rPr>
                                  <m:t>𝑑</m:t>
                                </m:r>
                              </m:e>
                              <m:sub>
                                <m:r>
                                  <a:rPr lang="it-IT" i="1">
                                    <a:solidFill>
                                      <a:schemeClr val="bg1">
                                        <a:lumMod val="65000"/>
                                      </a:schemeClr>
                                    </a:solidFill>
                                    <a:latin typeface="Cambria Math" panose="02040503050406030204" pitchFamily="18" charset="0"/>
                                  </a:rPr>
                                  <m:t>𝑥</m:t>
                                </m:r>
                              </m:sub>
                            </m:sSub>
                          </m:e>
                        </m:d>
                      </m:e>
                    </m:d>
                    <m:r>
                      <a:rPr lang="it-IT" i="1">
                        <a:latin typeface="Cambria Math" panose="02040503050406030204" pitchFamily="18" charset="0"/>
                      </a:rPr>
                      <m:t>≤</m:t>
                    </m:r>
                    <m:f>
                      <m:fPr>
                        <m:ctrlPr>
                          <a:rPr lang="it-IT" i="1">
                            <a:latin typeface="Cambria Math" panose="02040503050406030204" pitchFamily="18" charset="0"/>
                          </a:rPr>
                        </m:ctrlPr>
                      </m:fPr>
                      <m:num>
                        <m:r>
                          <a:rPr lang="it-IT" i="1">
                            <a:latin typeface="Cambria Math" panose="02040503050406030204" pitchFamily="18" charset="0"/>
                          </a:rPr>
                          <m:t>1</m:t>
                        </m:r>
                      </m:num>
                      <m:den>
                        <m:r>
                          <a:rPr lang="it-IT" i="1">
                            <a:latin typeface="Cambria Math" panose="02040503050406030204" pitchFamily="18" charset="0"/>
                          </a:rPr>
                          <m:t>2</m:t>
                        </m:r>
                      </m:den>
                    </m:f>
                    <m:sSub>
                      <m:sSubPr>
                        <m:ctrlPr>
                          <a:rPr lang="it-IT" i="1">
                            <a:latin typeface="Cambria Math" panose="02040503050406030204" pitchFamily="18" charset="0"/>
                          </a:rPr>
                        </m:ctrlPr>
                      </m:sSubPr>
                      <m:e>
                        <m:r>
                          <a:rPr lang="it-IT" i="1">
                            <a:latin typeface="Cambria Math" panose="02040503050406030204" pitchFamily="18" charset="0"/>
                          </a:rPr>
                          <m:t>𝜃</m:t>
                        </m:r>
                      </m:e>
                      <m:sub>
                        <m:r>
                          <a:rPr lang="it-IT" i="1">
                            <a:latin typeface="Cambria Math" panose="02040503050406030204" pitchFamily="18" charset="0"/>
                          </a:rPr>
                          <m:t>𝐿</m:t>
                        </m:r>
                      </m:sub>
                    </m:sSub>
                  </m:oMath>
                </a14:m>
                <a:r>
                  <a:rPr lang="en-US" dirty="0"/>
                  <a:t> </a:t>
                </a:r>
              </a:p>
              <a:p>
                <a:pPr marL="0" indent="0">
                  <a:buNone/>
                </a:pPr>
                <a:endParaRPr lang="it-IT" dirty="0"/>
              </a:p>
            </p:txBody>
          </p:sp>
        </mc:Choice>
        <mc:Fallback xmlns="">
          <p:sp>
            <p:nvSpPr>
              <p:cNvPr id="3" name="Segnaposto contenuto 2">
                <a:extLst>
                  <a:ext uri="{FF2B5EF4-FFF2-40B4-BE49-F238E27FC236}">
                    <a16:creationId xmlns:a16="http://schemas.microsoft.com/office/drawing/2014/main" id="{8CB05CB6-18C8-AD14-0450-7E39FC76E19B}"/>
                  </a:ext>
                </a:extLst>
              </p:cNvPr>
              <p:cNvSpPr>
                <a:spLocks noGrp="1" noRot="1" noChangeAspect="1" noMove="1" noResize="1" noEditPoints="1" noAdjustHandles="1" noChangeArrowheads="1" noChangeShapeType="1" noTextEdit="1"/>
              </p:cNvSpPr>
              <p:nvPr>
                <p:ph idx="1"/>
              </p:nvPr>
            </p:nvSpPr>
            <p:spPr>
              <a:xfrm>
                <a:off x="838200" y="1401288"/>
                <a:ext cx="10515600" cy="4776227"/>
              </a:xfrm>
              <a:blipFill>
                <a:blip r:embed="rId3"/>
                <a:stretch>
                  <a:fillRect l="-1217" t="-2299"/>
                </a:stretch>
              </a:blipFill>
            </p:spPr>
            <p:txBody>
              <a:bodyPr/>
              <a:lstStyle/>
              <a:p>
                <a:r>
                  <a:rPr lang="it-IT">
                    <a:noFill/>
                  </a:rPr>
                  <a:t> </a:t>
                </a:r>
              </a:p>
            </p:txBody>
          </p:sp>
        </mc:Fallback>
      </mc:AlternateContent>
      <p:sp>
        <p:nvSpPr>
          <p:cNvPr id="4" name="Segnaposto data 3">
            <a:extLst>
              <a:ext uri="{FF2B5EF4-FFF2-40B4-BE49-F238E27FC236}">
                <a16:creationId xmlns:a16="http://schemas.microsoft.com/office/drawing/2014/main" id="{0FBA471C-F0EE-5F04-A29E-E0CB002E4942}"/>
              </a:ext>
            </a:extLst>
          </p:cNvPr>
          <p:cNvSpPr>
            <a:spLocks noGrp="1"/>
          </p:cNvSpPr>
          <p:nvPr>
            <p:ph type="dt" sz="half" idx="10"/>
          </p:nvPr>
        </p:nvSpPr>
        <p:spPr>
          <a:xfrm>
            <a:off x="838200" y="6356349"/>
            <a:ext cx="2743200" cy="432000"/>
          </a:xfrm>
        </p:spPr>
        <p:txBody>
          <a:bodyPr/>
          <a:lstStyle/>
          <a:p>
            <a:r>
              <a:rPr lang="it-IT" sz="1500" b="1" dirty="0">
                <a:solidFill>
                  <a:srgbClr val="002060"/>
                </a:solidFill>
              </a:rPr>
              <a:t>24.08.2026</a:t>
            </a:r>
          </a:p>
        </p:txBody>
      </p:sp>
      <p:sp>
        <p:nvSpPr>
          <p:cNvPr id="5" name="Segnaposto piè di pagina 4">
            <a:extLst>
              <a:ext uri="{FF2B5EF4-FFF2-40B4-BE49-F238E27FC236}">
                <a16:creationId xmlns:a16="http://schemas.microsoft.com/office/drawing/2014/main" id="{58ABB026-FA86-A760-183A-FE10D536EF3B}"/>
              </a:ext>
            </a:extLst>
          </p:cNvPr>
          <p:cNvSpPr>
            <a:spLocks noGrp="1"/>
          </p:cNvSpPr>
          <p:nvPr>
            <p:ph type="ftr" sz="quarter" idx="11"/>
          </p:nvPr>
        </p:nvSpPr>
        <p:spPr>
          <a:xfrm>
            <a:off x="0" y="6356349"/>
            <a:ext cx="12192000" cy="432000"/>
          </a:xfrm>
        </p:spPr>
        <p:txBody>
          <a:bodyPr/>
          <a:lstStyle/>
          <a:p>
            <a:r>
              <a:rPr lang="it-IT" sz="1500" b="1" dirty="0">
                <a:solidFill>
                  <a:srgbClr val="002060"/>
                </a:solidFill>
              </a:rPr>
              <a:t>Anna Sofia Moro</a:t>
            </a:r>
          </a:p>
        </p:txBody>
      </p:sp>
      <p:sp>
        <p:nvSpPr>
          <p:cNvPr id="6" name="Segnaposto numero diapositiva 5">
            <a:extLst>
              <a:ext uri="{FF2B5EF4-FFF2-40B4-BE49-F238E27FC236}">
                <a16:creationId xmlns:a16="http://schemas.microsoft.com/office/drawing/2014/main" id="{77FD25C1-5937-F4CD-E5E1-898A8851E179}"/>
              </a:ext>
            </a:extLst>
          </p:cNvPr>
          <p:cNvSpPr>
            <a:spLocks noGrp="1"/>
          </p:cNvSpPr>
          <p:nvPr>
            <p:ph type="sldNum" sz="quarter" idx="12"/>
          </p:nvPr>
        </p:nvSpPr>
        <p:spPr>
          <a:xfrm>
            <a:off x="8610600" y="6356349"/>
            <a:ext cx="2743200" cy="432000"/>
          </a:xfrm>
        </p:spPr>
        <p:txBody>
          <a:bodyPr/>
          <a:lstStyle/>
          <a:p>
            <a:fld id="{0A318BD9-CA14-4A83-ACF0-03D5918EB402}" type="slidenum">
              <a:rPr lang="it-IT" sz="1500" b="1" smtClean="0">
                <a:solidFill>
                  <a:srgbClr val="002060"/>
                </a:solidFill>
              </a:rPr>
              <a:t>19</a:t>
            </a:fld>
            <a:endParaRPr lang="it-IT" sz="1500" b="1" dirty="0">
              <a:solidFill>
                <a:srgbClr val="002060"/>
              </a:solidFill>
            </a:endParaRPr>
          </a:p>
        </p:txBody>
      </p:sp>
      <p:cxnSp>
        <p:nvCxnSpPr>
          <p:cNvPr id="10" name="Connettore diritto 9">
            <a:extLst>
              <a:ext uri="{FF2B5EF4-FFF2-40B4-BE49-F238E27FC236}">
                <a16:creationId xmlns:a16="http://schemas.microsoft.com/office/drawing/2014/main" id="{B2A6038D-432C-2F4A-7030-A075D3CF4C2B}"/>
              </a:ext>
            </a:extLst>
          </p:cNvPr>
          <p:cNvCxnSpPr>
            <a:cxnSpLocks/>
          </p:cNvCxnSpPr>
          <p:nvPr/>
        </p:nvCxnSpPr>
        <p:spPr>
          <a:xfrm>
            <a:off x="696000" y="1155368"/>
            <a:ext cx="10800000" cy="0"/>
          </a:xfrm>
          <a:prstGeom prst="line">
            <a:avLst/>
          </a:prstGeom>
          <a:ln w="38100">
            <a:solidFill>
              <a:srgbClr val="002060"/>
            </a:solidFill>
          </a:ln>
        </p:spPr>
        <p:style>
          <a:lnRef idx="2">
            <a:schemeClr val="accent1"/>
          </a:lnRef>
          <a:fillRef idx="0">
            <a:schemeClr val="accent1"/>
          </a:fillRef>
          <a:effectRef idx="1">
            <a:schemeClr val="accent1"/>
          </a:effectRef>
          <a:fontRef idx="minor">
            <a:schemeClr val="tx1"/>
          </a:fontRef>
        </p:style>
      </p:cxnSp>
      <p:sp>
        <p:nvSpPr>
          <p:cNvPr id="13" name="CasellaDiTesto 12">
            <a:extLst>
              <a:ext uri="{FF2B5EF4-FFF2-40B4-BE49-F238E27FC236}">
                <a16:creationId xmlns:a16="http://schemas.microsoft.com/office/drawing/2014/main" id="{D6ECE314-D833-6651-B033-28F4F1798FAC}"/>
              </a:ext>
            </a:extLst>
          </p:cNvPr>
          <p:cNvSpPr txBox="1"/>
          <p:nvPr/>
        </p:nvSpPr>
        <p:spPr>
          <a:xfrm>
            <a:off x="3048886" y="3244334"/>
            <a:ext cx="6097772" cy="369332"/>
          </a:xfrm>
          <a:prstGeom prst="rect">
            <a:avLst/>
          </a:prstGeom>
          <a:noFill/>
        </p:spPr>
        <p:txBody>
          <a:bodyPr wrap="square">
            <a:spAutoFit/>
          </a:bodyPr>
          <a:lstStyle/>
          <a:p>
            <a:endParaRPr lang="it-IT" dirty="0"/>
          </a:p>
        </p:txBody>
      </p:sp>
      <p:sp>
        <p:nvSpPr>
          <p:cNvPr id="15" name="CasellaDiTesto 14">
            <a:extLst>
              <a:ext uri="{FF2B5EF4-FFF2-40B4-BE49-F238E27FC236}">
                <a16:creationId xmlns:a16="http://schemas.microsoft.com/office/drawing/2014/main" id="{E4B96A90-5280-D2F9-54F4-EC33C69AA886}"/>
              </a:ext>
            </a:extLst>
          </p:cNvPr>
          <p:cNvSpPr txBox="1"/>
          <p:nvPr/>
        </p:nvSpPr>
        <p:spPr>
          <a:xfrm>
            <a:off x="3048886" y="3244334"/>
            <a:ext cx="6097772" cy="369332"/>
          </a:xfrm>
          <a:prstGeom prst="rect">
            <a:avLst/>
          </a:prstGeom>
          <a:noFill/>
        </p:spPr>
        <p:txBody>
          <a:bodyPr wrap="square">
            <a:spAutoFit/>
          </a:bodyPr>
          <a:lstStyle/>
          <a:p>
            <a:endParaRPr lang="it-IT" dirty="0"/>
          </a:p>
        </p:txBody>
      </p:sp>
      <p:pic>
        <p:nvPicPr>
          <p:cNvPr id="9" name="Immagine 8">
            <a:extLst>
              <a:ext uri="{FF2B5EF4-FFF2-40B4-BE49-F238E27FC236}">
                <a16:creationId xmlns:a16="http://schemas.microsoft.com/office/drawing/2014/main" id="{CFFF44FA-E276-ED10-F4B0-EBF88C28557C}"/>
              </a:ext>
            </a:extLst>
          </p:cNvPr>
          <p:cNvPicPr>
            <a:picLocks noChangeAspect="1"/>
          </p:cNvPicPr>
          <p:nvPr/>
        </p:nvPicPr>
        <p:blipFill>
          <a:blip r:embed="rId4"/>
          <a:srcRect l="966" r="10659"/>
          <a:stretch>
            <a:fillRect/>
          </a:stretch>
        </p:blipFill>
        <p:spPr>
          <a:xfrm>
            <a:off x="8925102" y="1309849"/>
            <a:ext cx="2926004" cy="2436651"/>
          </a:xfrm>
          <a:prstGeom prst="rect">
            <a:avLst/>
          </a:prstGeom>
        </p:spPr>
      </p:pic>
    </p:spTree>
    <p:extLst>
      <p:ext uri="{BB962C8B-B14F-4D97-AF65-F5344CB8AC3E}">
        <p14:creationId xmlns:p14="http://schemas.microsoft.com/office/powerpoint/2010/main" val="308939766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0A5160-53F5-0D96-6732-BE65EFCB8FCF}"/>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656BBFA8-148B-A6EE-D5B0-343218899C9C}"/>
              </a:ext>
            </a:extLst>
          </p:cNvPr>
          <p:cNvSpPr>
            <a:spLocks noGrp="1"/>
          </p:cNvSpPr>
          <p:nvPr>
            <p:ph type="title"/>
          </p:nvPr>
        </p:nvSpPr>
        <p:spPr>
          <a:xfrm>
            <a:off x="38100" y="69651"/>
            <a:ext cx="12114000" cy="1153094"/>
          </a:xfrm>
          <a:prstGeom prst="roundRect">
            <a:avLst>
              <a:gd name="adj" fmla="val 36459"/>
            </a:avLst>
          </a:prstGeom>
          <a:noFill/>
        </p:spPr>
        <p:txBody>
          <a:bodyPr>
            <a:normAutofit/>
          </a:bodyPr>
          <a:lstStyle/>
          <a:p>
            <a:r>
              <a:rPr lang="it-IT" b="1" dirty="0">
                <a:solidFill>
                  <a:srgbClr val="002060"/>
                </a:solidFill>
              </a:rPr>
              <a:t>	3. ANALYSIS</a:t>
            </a:r>
          </a:p>
        </p:txBody>
      </p:sp>
      <p:sp>
        <p:nvSpPr>
          <p:cNvPr id="3" name="Segnaposto contenuto 2">
            <a:extLst>
              <a:ext uri="{FF2B5EF4-FFF2-40B4-BE49-F238E27FC236}">
                <a16:creationId xmlns:a16="http://schemas.microsoft.com/office/drawing/2014/main" id="{A60CBF39-6A49-8BC7-6425-C33F0B2E963F}"/>
              </a:ext>
            </a:extLst>
          </p:cNvPr>
          <p:cNvSpPr>
            <a:spLocks noGrp="1"/>
          </p:cNvSpPr>
          <p:nvPr>
            <p:ph idx="1"/>
          </p:nvPr>
        </p:nvSpPr>
        <p:spPr>
          <a:xfrm>
            <a:off x="838200" y="1401288"/>
            <a:ext cx="10515600" cy="4776227"/>
          </a:xfrm>
        </p:spPr>
        <p:txBody>
          <a:bodyPr>
            <a:normAutofit/>
          </a:bodyPr>
          <a:lstStyle/>
          <a:p>
            <a:pPr marL="0" indent="0">
              <a:buNone/>
            </a:pPr>
            <a:r>
              <a:rPr lang="it-IT" dirty="0"/>
              <a:t>We can </a:t>
            </a:r>
            <a:r>
              <a:rPr lang="it-IT" dirty="0" err="1"/>
              <a:t>now</a:t>
            </a:r>
            <a:r>
              <a:rPr lang="it-IT" dirty="0"/>
              <a:t> compute the </a:t>
            </a:r>
            <a:r>
              <a:rPr lang="it-IT" dirty="0" err="1"/>
              <a:t>efficiency</a:t>
            </a:r>
            <a:r>
              <a:rPr lang="it-IT" dirty="0"/>
              <a:t> </a:t>
            </a:r>
            <a:r>
              <a:rPr lang="it-IT" dirty="0" err="1"/>
              <a:t>as</a:t>
            </a:r>
            <a:r>
              <a:rPr lang="it-IT" dirty="0"/>
              <a:t> the ratio of </a:t>
            </a:r>
            <a:r>
              <a:rPr lang="it-IT" dirty="0" err="1"/>
              <a:t>successfully</a:t>
            </a:r>
            <a:r>
              <a:rPr lang="it-IT" dirty="0"/>
              <a:t> </a:t>
            </a:r>
            <a:r>
              <a:rPr lang="it-IT" dirty="0" err="1"/>
              <a:t>channeled</a:t>
            </a:r>
            <a:r>
              <a:rPr lang="it-IT" dirty="0"/>
              <a:t> </a:t>
            </a:r>
            <a:r>
              <a:rPr lang="it-IT" dirty="0" err="1"/>
              <a:t>particles</a:t>
            </a:r>
            <a:r>
              <a:rPr lang="it-IT" dirty="0"/>
              <a:t> to the </a:t>
            </a:r>
            <a:r>
              <a:rPr lang="it-IT" dirty="0" err="1"/>
              <a:t>total</a:t>
            </a:r>
            <a:r>
              <a:rPr lang="it-IT" dirty="0"/>
              <a:t> </a:t>
            </a:r>
            <a:r>
              <a:rPr lang="it-IT" dirty="0" err="1"/>
              <a:t>number</a:t>
            </a:r>
            <a:r>
              <a:rPr lang="it-IT" dirty="0"/>
              <a:t> of </a:t>
            </a:r>
            <a:r>
              <a:rPr lang="it-IT" dirty="0" err="1"/>
              <a:t>incident</a:t>
            </a:r>
            <a:r>
              <a:rPr lang="it-IT" dirty="0"/>
              <a:t> </a:t>
            </a:r>
            <a:r>
              <a:rPr lang="it-IT" dirty="0" err="1"/>
              <a:t>particles</a:t>
            </a:r>
            <a:r>
              <a:rPr lang="it-IT" dirty="0"/>
              <a:t>.</a:t>
            </a:r>
          </a:p>
        </p:txBody>
      </p:sp>
      <p:sp>
        <p:nvSpPr>
          <p:cNvPr id="6" name="Segnaposto numero diapositiva 5">
            <a:extLst>
              <a:ext uri="{FF2B5EF4-FFF2-40B4-BE49-F238E27FC236}">
                <a16:creationId xmlns:a16="http://schemas.microsoft.com/office/drawing/2014/main" id="{F3E0AFA0-61E3-D8A9-56A7-DC0F946D4866}"/>
              </a:ext>
            </a:extLst>
          </p:cNvPr>
          <p:cNvSpPr>
            <a:spLocks noGrp="1"/>
          </p:cNvSpPr>
          <p:nvPr>
            <p:ph type="sldNum" sz="quarter" idx="12"/>
          </p:nvPr>
        </p:nvSpPr>
        <p:spPr>
          <a:xfrm>
            <a:off x="8610600" y="6356349"/>
            <a:ext cx="2743200" cy="432000"/>
          </a:xfrm>
        </p:spPr>
        <p:txBody>
          <a:bodyPr/>
          <a:lstStyle/>
          <a:p>
            <a:fld id="{0A318BD9-CA14-4A83-ACF0-03D5918EB402}" type="slidenum">
              <a:rPr lang="it-IT" sz="1500" b="1" smtClean="0">
                <a:solidFill>
                  <a:srgbClr val="002060"/>
                </a:solidFill>
              </a:rPr>
              <a:t>20</a:t>
            </a:fld>
            <a:endParaRPr lang="it-IT" sz="1500" b="1" dirty="0">
              <a:solidFill>
                <a:srgbClr val="002060"/>
              </a:solidFill>
            </a:endParaRPr>
          </a:p>
        </p:txBody>
      </p:sp>
      <p:cxnSp>
        <p:nvCxnSpPr>
          <p:cNvPr id="10" name="Connettore diritto 9">
            <a:extLst>
              <a:ext uri="{FF2B5EF4-FFF2-40B4-BE49-F238E27FC236}">
                <a16:creationId xmlns:a16="http://schemas.microsoft.com/office/drawing/2014/main" id="{C8B57960-238D-1446-8231-5A6EAEC972B1}"/>
              </a:ext>
            </a:extLst>
          </p:cNvPr>
          <p:cNvCxnSpPr>
            <a:cxnSpLocks/>
          </p:cNvCxnSpPr>
          <p:nvPr/>
        </p:nvCxnSpPr>
        <p:spPr>
          <a:xfrm>
            <a:off x="696000" y="1155368"/>
            <a:ext cx="10800000" cy="0"/>
          </a:xfrm>
          <a:prstGeom prst="line">
            <a:avLst/>
          </a:prstGeom>
          <a:ln w="38100">
            <a:solidFill>
              <a:srgbClr val="002060"/>
            </a:solidFill>
          </a:ln>
        </p:spPr>
        <p:style>
          <a:lnRef idx="2">
            <a:schemeClr val="accent1"/>
          </a:lnRef>
          <a:fillRef idx="0">
            <a:schemeClr val="accent1"/>
          </a:fillRef>
          <a:effectRef idx="1">
            <a:schemeClr val="accent1"/>
          </a:effectRef>
          <a:fontRef idx="minor">
            <a:schemeClr val="tx1"/>
          </a:fontRef>
        </p:style>
      </p:cxnSp>
      <p:sp>
        <p:nvSpPr>
          <p:cNvPr id="13" name="CasellaDiTesto 12">
            <a:extLst>
              <a:ext uri="{FF2B5EF4-FFF2-40B4-BE49-F238E27FC236}">
                <a16:creationId xmlns:a16="http://schemas.microsoft.com/office/drawing/2014/main" id="{E50B2FFE-00F1-2BC4-EC60-0131B113B70F}"/>
              </a:ext>
            </a:extLst>
          </p:cNvPr>
          <p:cNvSpPr txBox="1"/>
          <p:nvPr/>
        </p:nvSpPr>
        <p:spPr>
          <a:xfrm>
            <a:off x="3048886" y="3244334"/>
            <a:ext cx="6097772" cy="369332"/>
          </a:xfrm>
          <a:prstGeom prst="rect">
            <a:avLst/>
          </a:prstGeom>
          <a:noFill/>
        </p:spPr>
        <p:txBody>
          <a:bodyPr wrap="square">
            <a:spAutoFit/>
          </a:bodyPr>
          <a:lstStyle/>
          <a:p>
            <a:endParaRPr lang="it-IT" dirty="0"/>
          </a:p>
        </p:txBody>
      </p:sp>
      <p:sp>
        <p:nvSpPr>
          <p:cNvPr id="15" name="CasellaDiTesto 14">
            <a:extLst>
              <a:ext uri="{FF2B5EF4-FFF2-40B4-BE49-F238E27FC236}">
                <a16:creationId xmlns:a16="http://schemas.microsoft.com/office/drawing/2014/main" id="{777C4D9B-5566-E01F-9A9E-00516CA43C48}"/>
              </a:ext>
            </a:extLst>
          </p:cNvPr>
          <p:cNvSpPr txBox="1"/>
          <p:nvPr/>
        </p:nvSpPr>
        <p:spPr>
          <a:xfrm>
            <a:off x="3048886" y="3244334"/>
            <a:ext cx="6097772" cy="369332"/>
          </a:xfrm>
          <a:prstGeom prst="rect">
            <a:avLst/>
          </a:prstGeom>
          <a:noFill/>
        </p:spPr>
        <p:txBody>
          <a:bodyPr wrap="square">
            <a:spAutoFit/>
          </a:bodyPr>
          <a:lstStyle/>
          <a:p>
            <a:endParaRPr lang="it-IT" dirty="0"/>
          </a:p>
        </p:txBody>
      </p:sp>
      <p:pic>
        <p:nvPicPr>
          <p:cNvPr id="11" name="Immagine 10">
            <a:extLst>
              <a:ext uri="{FF2B5EF4-FFF2-40B4-BE49-F238E27FC236}">
                <a16:creationId xmlns:a16="http://schemas.microsoft.com/office/drawing/2014/main" id="{43163043-DF86-E4CC-C083-AD992BCE1F48}"/>
              </a:ext>
            </a:extLst>
          </p:cNvPr>
          <p:cNvPicPr>
            <a:picLocks noChangeAspect="1"/>
          </p:cNvPicPr>
          <p:nvPr/>
        </p:nvPicPr>
        <p:blipFill>
          <a:blip r:embed="rId2">
            <a:extLst>
              <a:ext uri="{28A0092B-C50C-407E-A947-70E740481C1C}">
                <a14:useLocalDpi xmlns:a14="http://schemas.microsoft.com/office/drawing/2010/main" val="0"/>
              </a:ext>
            </a:extLst>
          </a:blip>
          <a:srcRect t="7378" r="5287" b="651"/>
          <a:stretch>
            <a:fillRect/>
          </a:stretch>
        </p:blipFill>
        <p:spPr>
          <a:xfrm>
            <a:off x="696000" y="2308462"/>
            <a:ext cx="7002965" cy="4236025"/>
          </a:xfrm>
          <a:prstGeom prst="rect">
            <a:avLst/>
          </a:prstGeom>
        </p:spPr>
      </p:pic>
      <mc:AlternateContent xmlns:mc="http://schemas.openxmlformats.org/markup-compatibility/2006" xmlns:a14="http://schemas.microsoft.com/office/drawing/2010/main">
        <mc:Choice Requires="a14">
          <p:sp>
            <p:nvSpPr>
              <p:cNvPr id="26" name="Rettangolo con angoli arrotondati 25">
                <a:extLst>
                  <a:ext uri="{FF2B5EF4-FFF2-40B4-BE49-F238E27FC236}">
                    <a16:creationId xmlns:a16="http://schemas.microsoft.com/office/drawing/2014/main" id="{8FC6E12E-5C3E-72F7-980E-E93CD9556588}"/>
                  </a:ext>
                </a:extLst>
              </p:cNvPr>
              <p:cNvSpPr/>
              <p:nvPr/>
            </p:nvSpPr>
            <p:spPr>
              <a:xfrm>
                <a:off x="7700576" y="2310232"/>
                <a:ext cx="3535758" cy="4030359"/>
              </a:xfrm>
              <a:prstGeom prst="roundRect">
                <a:avLst/>
              </a:prstGeom>
              <a:noFill/>
              <a:ln w="38100">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it-IT" sz="3200" b="1" dirty="0">
                    <a:solidFill>
                      <a:srgbClr val="002060"/>
                    </a:solidFill>
                  </a:rPr>
                  <a:t>CHANNELING EFFICIENCY</a:t>
                </a:r>
              </a:p>
              <a:p>
                <a:pPr algn="ctr"/>
                <a:endParaRPr lang="it-IT" sz="3200" b="1" dirty="0">
                  <a:solidFill>
                    <a:srgbClr val="002060"/>
                  </a:solidFill>
                </a:endParaRPr>
              </a:p>
              <a:p>
                <a:pPr algn="ctr"/>
                <a14:m>
                  <m:oMathPara xmlns:m="http://schemas.openxmlformats.org/officeDocument/2006/math">
                    <m:oMath>
                      <m:sSub>
                        <m:sSubPr>
                          <m:ctrlPr>
                            <a:rPr lang="it-IT" sz="3200" b="1" i="1" smtClean="0">
                              <a:solidFill>
                                <a:srgbClr val="002060"/>
                              </a:solidFill>
                              <a:latin typeface="Cambria Math" panose="02040503050406030204" pitchFamily="18" charset="0"/>
                            </a:rPr>
                          </m:ctrlPr>
                        </m:sSubPr>
                        <m:e>
                          <m:r>
                            <a:rPr lang="it-IT" sz="3200" b="1" i="1" smtClean="0">
                              <a:solidFill>
                                <a:srgbClr val="002060"/>
                              </a:solidFill>
                              <a:latin typeface="Cambria Math" panose="02040503050406030204" pitchFamily="18" charset="0"/>
                            </a:rPr>
                            <m:t>𝝐</m:t>
                          </m:r>
                        </m:e>
                        <m:sub>
                          <m:r>
                            <a:rPr lang="it-IT" sz="3200" b="1" i="1" smtClean="0">
                              <a:solidFill>
                                <a:srgbClr val="002060"/>
                              </a:solidFill>
                              <a:latin typeface="Cambria Math" panose="02040503050406030204" pitchFamily="18" charset="0"/>
                            </a:rPr>
                            <m:t>𝒄𝒉</m:t>
                          </m:r>
                        </m:sub>
                      </m:sSub>
                      <m:r>
                        <a:rPr lang="it-IT" sz="3200" b="1" i="1" smtClean="0">
                          <a:solidFill>
                            <a:srgbClr val="002060"/>
                          </a:solidFill>
                          <a:latin typeface="Cambria Math" panose="02040503050406030204" pitchFamily="18" charset="0"/>
                        </a:rPr>
                        <m:t>=</m:t>
                      </m:r>
                      <m:f>
                        <m:fPr>
                          <m:ctrlPr>
                            <a:rPr lang="it-IT" sz="3200" b="1" i="1" smtClean="0">
                              <a:solidFill>
                                <a:srgbClr val="002060"/>
                              </a:solidFill>
                              <a:latin typeface="Cambria Math" panose="02040503050406030204" pitchFamily="18" charset="0"/>
                            </a:rPr>
                          </m:ctrlPr>
                        </m:fPr>
                        <m:num>
                          <m:sSub>
                            <m:sSubPr>
                              <m:ctrlPr>
                                <a:rPr lang="it-IT" sz="3200" b="1" i="1" smtClean="0">
                                  <a:solidFill>
                                    <a:srgbClr val="002060"/>
                                  </a:solidFill>
                                  <a:latin typeface="Cambria Math" panose="02040503050406030204" pitchFamily="18" charset="0"/>
                                </a:rPr>
                              </m:ctrlPr>
                            </m:sSubPr>
                            <m:e>
                              <m:r>
                                <a:rPr lang="it-IT" sz="3200" b="1" i="1" smtClean="0">
                                  <a:solidFill>
                                    <a:srgbClr val="002060"/>
                                  </a:solidFill>
                                  <a:latin typeface="Cambria Math" panose="02040503050406030204" pitchFamily="18" charset="0"/>
                                </a:rPr>
                                <m:t>𝑵</m:t>
                              </m:r>
                            </m:e>
                            <m:sub>
                              <m:r>
                                <a:rPr lang="it-IT" sz="3200" b="1" i="1" smtClean="0">
                                  <a:solidFill>
                                    <a:srgbClr val="002060"/>
                                  </a:solidFill>
                                  <a:latin typeface="Cambria Math" panose="02040503050406030204" pitchFamily="18" charset="0"/>
                                </a:rPr>
                                <m:t>𝒄𝒉</m:t>
                              </m:r>
                            </m:sub>
                          </m:sSub>
                        </m:num>
                        <m:den>
                          <m:sSub>
                            <m:sSubPr>
                              <m:ctrlPr>
                                <a:rPr lang="it-IT" sz="3200" b="1" i="1" smtClean="0">
                                  <a:solidFill>
                                    <a:srgbClr val="002060"/>
                                  </a:solidFill>
                                  <a:latin typeface="Cambria Math" panose="02040503050406030204" pitchFamily="18" charset="0"/>
                                </a:rPr>
                              </m:ctrlPr>
                            </m:sSubPr>
                            <m:e>
                              <m:r>
                                <a:rPr lang="it-IT" sz="3200" b="1" i="1" smtClean="0">
                                  <a:solidFill>
                                    <a:srgbClr val="002060"/>
                                  </a:solidFill>
                                  <a:latin typeface="Cambria Math" panose="02040503050406030204" pitchFamily="18" charset="0"/>
                                </a:rPr>
                                <m:t>𝑵</m:t>
                              </m:r>
                            </m:e>
                            <m:sub>
                              <m:r>
                                <a:rPr lang="it-IT" sz="3200" b="1" i="1" smtClean="0">
                                  <a:solidFill>
                                    <a:srgbClr val="002060"/>
                                  </a:solidFill>
                                  <a:latin typeface="Cambria Math" panose="02040503050406030204" pitchFamily="18" charset="0"/>
                                </a:rPr>
                                <m:t>𝒕𝒐𝒕</m:t>
                              </m:r>
                            </m:sub>
                          </m:sSub>
                        </m:den>
                      </m:f>
                    </m:oMath>
                  </m:oMathPara>
                </a14:m>
                <a:endParaRPr lang="it-IT" sz="3200" b="1" dirty="0">
                  <a:solidFill>
                    <a:srgbClr val="002060"/>
                  </a:solidFill>
                </a:endParaRPr>
              </a:p>
            </p:txBody>
          </p:sp>
        </mc:Choice>
        <mc:Fallback xmlns="">
          <p:sp>
            <p:nvSpPr>
              <p:cNvPr id="26" name="Rettangolo con angoli arrotondati 25">
                <a:extLst>
                  <a:ext uri="{FF2B5EF4-FFF2-40B4-BE49-F238E27FC236}">
                    <a16:creationId xmlns:a16="http://schemas.microsoft.com/office/drawing/2014/main" id="{8FC6E12E-5C3E-72F7-980E-E93CD9556588}"/>
                  </a:ext>
                </a:extLst>
              </p:cNvPr>
              <p:cNvSpPr>
                <a:spLocks noRot="1" noChangeAspect="1" noMove="1" noResize="1" noEditPoints="1" noAdjustHandles="1" noChangeArrowheads="1" noChangeShapeType="1" noTextEdit="1"/>
              </p:cNvSpPr>
              <p:nvPr/>
            </p:nvSpPr>
            <p:spPr>
              <a:xfrm>
                <a:off x="7700576" y="2310232"/>
                <a:ext cx="3535758" cy="4030359"/>
              </a:xfrm>
              <a:prstGeom prst="roundRect">
                <a:avLst/>
              </a:prstGeom>
              <a:blipFill>
                <a:blip r:embed="rId3"/>
                <a:stretch>
                  <a:fillRect/>
                </a:stretch>
              </a:blipFill>
              <a:ln w="38100">
                <a:solidFill>
                  <a:srgbClr val="002060"/>
                </a:solidFill>
              </a:ln>
            </p:spPr>
            <p:txBody>
              <a:bodyPr/>
              <a:lstStyle/>
              <a:p>
                <a:r>
                  <a:rPr lang="it-IT">
                    <a:noFill/>
                  </a:rPr>
                  <a:t> </a:t>
                </a:r>
              </a:p>
            </p:txBody>
          </p:sp>
        </mc:Fallback>
      </mc:AlternateContent>
      <p:sp>
        <p:nvSpPr>
          <p:cNvPr id="5" name="Segnaposto piè di pagina 4">
            <a:extLst>
              <a:ext uri="{FF2B5EF4-FFF2-40B4-BE49-F238E27FC236}">
                <a16:creationId xmlns:a16="http://schemas.microsoft.com/office/drawing/2014/main" id="{0510AF69-2D03-0DD4-090C-8C15F1AB9370}"/>
              </a:ext>
            </a:extLst>
          </p:cNvPr>
          <p:cNvSpPr>
            <a:spLocks noGrp="1"/>
          </p:cNvSpPr>
          <p:nvPr>
            <p:ph type="ftr" sz="quarter" idx="11"/>
          </p:nvPr>
        </p:nvSpPr>
        <p:spPr>
          <a:xfrm>
            <a:off x="0" y="6356349"/>
            <a:ext cx="12192000" cy="432000"/>
          </a:xfrm>
        </p:spPr>
        <p:txBody>
          <a:bodyPr/>
          <a:lstStyle/>
          <a:p>
            <a:r>
              <a:rPr lang="it-IT" sz="1500" b="1" dirty="0">
                <a:solidFill>
                  <a:srgbClr val="002060"/>
                </a:solidFill>
              </a:rPr>
              <a:t>Anna Sofia Moro</a:t>
            </a:r>
          </a:p>
        </p:txBody>
      </p:sp>
      <p:sp>
        <p:nvSpPr>
          <p:cNvPr id="4" name="Segnaposto data 3">
            <a:extLst>
              <a:ext uri="{FF2B5EF4-FFF2-40B4-BE49-F238E27FC236}">
                <a16:creationId xmlns:a16="http://schemas.microsoft.com/office/drawing/2014/main" id="{EC682348-A51C-8908-4A7A-D6D6AF8CFF4A}"/>
              </a:ext>
            </a:extLst>
          </p:cNvPr>
          <p:cNvSpPr>
            <a:spLocks noGrp="1"/>
          </p:cNvSpPr>
          <p:nvPr>
            <p:ph type="dt" sz="half" idx="10"/>
          </p:nvPr>
        </p:nvSpPr>
        <p:spPr>
          <a:xfrm>
            <a:off x="838200" y="6356349"/>
            <a:ext cx="2743200" cy="432000"/>
          </a:xfrm>
        </p:spPr>
        <p:txBody>
          <a:bodyPr/>
          <a:lstStyle/>
          <a:p>
            <a:r>
              <a:rPr lang="it-IT" sz="1500" b="1" dirty="0">
                <a:solidFill>
                  <a:srgbClr val="002060"/>
                </a:solidFill>
              </a:rPr>
              <a:t>24.08.2026</a:t>
            </a:r>
          </a:p>
        </p:txBody>
      </p:sp>
    </p:spTree>
    <p:extLst>
      <p:ext uri="{BB962C8B-B14F-4D97-AF65-F5344CB8AC3E}">
        <p14:creationId xmlns:p14="http://schemas.microsoft.com/office/powerpoint/2010/main" val="30677226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1E354-B03F-BD18-F01A-A41D48938654}"/>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B0CD704B-3434-5030-BB5F-2FDD6B8F41C1}"/>
              </a:ext>
            </a:extLst>
          </p:cNvPr>
          <p:cNvSpPr>
            <a:spLocks noGrp="1"/>
          </p:cNvSpPr>
          <p:nvPr>
            <p:ph type="title"/>
          </p:nvPr>
        </p:nvSpPr>
        <p:spPr>
          <a:xfrm>
            <a:off x="38100" y="69651"/>
            <a:ext cx="12114000" cy="1153094"/>
          </a:xfrm>
          <a:prstGeom prst="roundRect">
            <a:avLst>
              <a:gd name="adj" fmla="val 36459"/>
            </a:avLst>
          </a:prstGeom>
          <a:noFill/>
        </p:spPr>
        <p:txBody>
          <a:bodyPr>
            <a:normAutofit/>
          </a:bodyPr>
          <a:lstStyle/>
          <a:p>
            <a:r>
              <a:rPr lang="it-IT" b="1" dirty="0">
                <a:solidFill>
                  <a:srgbClr val="002060"/>
                </a:solidFill>
              </a:rPr>
              <a:t>	3. ANALYSIS</a:t>
            </a:r>
          </a:p>
        </p:txBody>
      </p:sp>
      <p:sp>
        <p:nvSpPr>
          <p:cNvPr id="3" name="Segnaposto contenuto 2">
            <a:extLst>
              <a:ext uri="{FF2B5EF4-FFF2-40B4-BE49-F238E27FC236}">
                <a16:creationId xmlns:a16="http://schemas.microsoft.com/office/drawing/2014/main" id="{6A0B74F6-27D2-7C8C-E165-33A2F02927BB}"/>
              </a:ext>
            </a:extLst>
          </p:cNvPr>
          <p:cNvSpPr>
            <a:spLocks noGrp="1"/>
          </p:cNvSpPr>
          <p:nvPr>
            <p:ph idx="1"/>
          </p:nvPr>
        </p:nvSpPr>
        <p:spPr>
          <a:xfrm>
            <a:off x="838200" y="1401288"/>
            <a:ext cx="10515600" cy="4776227"/>
          </a:xfrm>
        </p:spPr>
        <p:txBody>
          <a:bodyPr>
            <a:normAutofit/>
          </a:bodyPr>
          <a:lstStyle/>
          <a:p>
            <a:r>
              <a:rPr lang="it-IT" sz="2400" dirty="0"/>
              <a:t>A </a:t>
            </a:r>
            <a:r>
              <a:rPr lang="it-IT" sz="2400" dirty="0" err="1"/>
              <a:t>Gaussian</a:t>
            </a:r>
            <a:r>
              <a:rPr lang="it-IT" sz="2400" dirty="0"/>
              <a:t> </a:t>
            </a:r>
            <a:r>
              <a:rPr lang="it-IT" sz="2400" dirty="0" err="1"/>
              <a:t>fit</a:t>
            </a:r>
            <a:r>
              <a:rPr lang="it-IT" sz="2400" dirty="0"/>
              <a:t> </a:t>
            </a:r>
            <a:r>
              <a:rPr lang="it-IT" sz="2400" dirty="0" err="1"/>
              <a:t>is</a:t>
            </a:r>
            <a:r>
              <a:rPr lang="it-IT" sz="2400" dirty="0"/>
              <a:t> </a:t>
            </a:r>
            <a:r>
              <a:rPr lang="it-IT" sz="2400" dirty="0" err="1"/>
              <a:t>performed</a:t>
            </a:r>
            <a:r>
              <a:rPr lang="it-IT" sz="2400" dirty="0"/>
              <a:t> on the </a:t>
            </a:r>
            <a:r>
              <a:rPr lang="it-IT" sz="2400" dirty="0" err="1"/>
              <a:t>deflection</a:t>
            </a:r>
            <a:r>
              <a:rPr lang="it-IT" sz="2400" dirty="0"/>
              <a:t> </a:t>
            </a:r>
            <a:r>
              <a:rPr lang="it-IT" sz="2400" dirty="0" err="1"/>
              <a:t>peak</a:t>
            </a:r>
            <a:r>
              <a:rPr lang="it-IT" sz="2400" dirty="0"/>
              <a:t>.</a:t>
            </a:r>
          </a:p>
          <a:p>
            <a:r>
              <a:rPr lang="it-IT" sz="2400" dirty="0"/>
              <a:t>We </a:t>
            </a:r>
            <a:r>
              <a:rPr lang="it-IT" sz="2400" dirty="0" err="1"/>
              <a:t>fit</a:t>
            </a:r>
            <a:r>
              <a:rPr lang="it-IT" sz="2400" dirty="0"/>
              <a:t> the right side of the </a:t>
            </a:r>
            <a:r>
              <a:rPr lang="it-IT" sz="2400" dirty="0" err="1"/>
              <a:t>peak</a:t>
            </a:r>
            <a:r>
              <a:rPr lang="it-IT" sz="2400" dirty="0"/>
              <a:t> to </a:t>
            </a:r>
            <a:r>
              <a:rPr lang="it-IT" sz="2400" dirty="0" err="1"/>
              <a:t>ensure</a:t>
            </a:r>
            <a:r>
              <a:rPr lang="it-IT" sz="2400" dirty="0"/>
              <a:t> the </a:t>
            </a:r>
            <a:r>
              <a:rPr lang="it-IT" sz="2400" dirty="0" err="1"/>
              <a:t>cleanest</a:t>
            </a:r>
            <a:r>
              <a:rPr lang="it-IT" sz="2400" dirty="0"/>
              <a:t> </a:t>
            </a:r>
            <a:r>
              <a:rPr lang="it-IT" sz="2400" dirty="0" err="1"/>
              <a:t>measurement</a:t>
            </a:r>
            <a:r>
              <a:rPr lang="it-IT" sz="2400" dirty="0"/>
              <a:t> (no </a:t>
            </a:r>
            <a:r>
              <a:rPr lang="it-IT" sz="2400" dirty="0" err="1"/>
              <a:t>dechanneled</a:t>
            </a:r>
            <a:r>
              <a:rPr lang="it-IT" sz="2400" dirty="0"/>
              <a:t> </a:t>
            </a:r>
            <a:r>
              <a:rPr lang="it-IT" sz="2400" dirty="0" err="1"/>
              <a:t>particles</a:t>
            </a:r>
            <a:r>
              <a:rPr lang="it-IT" sz="2400" dirty="0"/>
              <a:t> </a:t>
            </a:r>
            <a:r>
              <a:rPr lang="it-IT" sz="2400" dirty="0" err="1"/>
              <a:t>contribution</a:t>
            </a:r>
            <a:r>
              <a:rPr lang="it-IT" sz="2400" dirty="0"/>
              <a:t>).</a:t>
            </a:r>
          </a:p>
          <a:p>
            <a:pPr marL="0" indent="0">
              <a:buNone/>
            </a:pPr>
            <a:endParaRPr lang="it-IT" sz="2400" dirty="0"/>
          </a:p>
        </p:txBody>
      </p:sp>
      <p:sp>
        <p:nvSpPr>
          <p:cNvPr id="4" name="Segnaposto data 3">
            <a:extLst>
              <a:ext uri="{FF2B5EF4-FFF2-40B4-BE49-F238E27FC236}">
                <a16:creationId xmlns:a16="http://schemas.microsoft.com/office/drawing/2014/main" id="{02163C9A-DA38-D8AD-1517-2D1F552FBF9D}"/>
              </a:ext>
            </a:extLst>
          </p:cNvPr>
          <p:cNvSpPr>
            <a:spLocks noGrp="1"/>
          </p:cNvSpPr>
          <p:nvPr>
            <p:ph type="dt" sz="half" idx="10"/>
          </p:nvPr>
        </p:nvSpPr>
        <p:spPr>
          <a:xfrm>
            <a:off x="838200" y="6356349"/>
            <a:ext cx="2743200" cy="432000"/>
          </a:xfrm>
        </p:spPr>
        <p:txBody>
          <a:bodyPr/>
          <a:lstStyle/>
          <a:p>
            <a:r>
              <a:rPr lang="it-IT" sz="1500" b="1" dirty="0">
                <a:solidFill>
                  <a:srgbClr val="002060"/>
                </a:solidFill>
              </a:rPr>
              <a:t>24.08.2026</a:t>
            </a:r>
          </a:p>
        </p:txBody>
      </p:sp>
      <p:sp>
        <p:nvSpPr>
          <p:cNvPr id="5" name="Segnaposto piè di pagina 4">
            <a:extLst>
              <a:ext uri="{FF2B5EF4-FFF2-40B4-BE49-F238E27FC236}">
                <a16:creationId xmlns:a16="http://schemas.microsoft.com/office/drawing/2014/main" id="{20B72CDD-1B29-A1B1-AE7F-C338BFAB6D2B}"/>
              </a:ext>
            </a:extLst>
          </p:cNvPr>
          <p:cNvSpPr>
            <a:spLocks noGrp="1"/>
          </p:cNvSpPr>
          <p:nvPr>
            <p:ph type="ftr" sz="quarter" idx="11"/>
          </p:nvPr>
        </p:nvSpPr>
        <p:spPr>
          <a:xfrm>
            <a:off x="0" y="6356349"/>
            <a:ext cx="12192000" cy="432000"/>
          </a:xfrm>
        </p:spPr>
        <p:txBody>
          <a:bodyPr/>
          <a:lstStyle/>
          <a:p>
            <a:r>
              <a:rPr lang="it-IT" sz="1500" b="1" dirty="0">
                <a:solidFill>
                  <a:srgbClr val="002060"/>
                </a:solidFill>
              </a:rPr>
              <a:t>Anna Sofia Moro</a:t>
            </a:r>
          </a:p>
        </p:txBody>
      </p:sp>
      <p:sp>
        <p:nvSpPr>
          <p:cNvPr id="6" name="Segnaposto numero diapositiva 5">
            <a:extLst>
              <a:ext uri="{FF2B5EF4-FFF2-40B4-BE49-F238E27FC236}">
                <a16:creationId xmlns:a16="http://schemas.microsoft.com/office/drawing/2014/main" id="{299682B3-4B3D-15C8-A998-726454F8F521}"/>
              </a:ext>
            </a:extLst>
          </p:cNvPr>
          <p:cNvSpPr>
            <a:spLocks noGrp="1"/>
          </p:cNvSpPr>
          <p:nvPr>
            <p:ph type="sldNum" sz="quarter" idx="12"/>
          </p:nvPr>
        </p:nvSpPr>
        <p:spPr>
          <a:xfrm>
            <a:off x="8610600" y="6356349"/>
            <a:ext cx="2743200" cy="432000"/>
          </a:xfrm>
        </p:spPr>
        <p:txBody>
          <a:bodyPr/>
          <a:lstStyle/>
          <a:p>
            <a:fld id="{0A318BD9-CA14-4A83-ACF0-03D5918EB402}" type="slidenum">
              <a:rPr lang="it-IT" sz="1500" b="1" smtClean="0">
                <a:solidFill>
                  <a:srgbClr val="002060"/>
                </a:solidFill>
              </a:rPr>
              <a:t>21</a:t>
            </a:fld>
            <a:endParaRPr lang="it-IT" sz="1500" b="1" dirty="0">
              <a:solidFill>
                <a:srgbClr val="002060"/>
              </a:solidFill>
            </a:endParaRPr>
          </a:p>
        </p:txBody>
      </p:sp>
      <p:cxnSp>
        <p:nvCxnSpPr>
          <p:cNvPr id="10" name="Connettore diritto 9">
            <a:extLst>
              <a:ext uri="{FF2B5EF4-FFF2-40B4-BE49-F238E27FC236}">
                <a16:creationId xmlns:a16="http://schemas.microsoft.com/office/drawing/2014/main" id="{F91A779A-7270-7A98-408A-1444357C9E35}"/>
              </a:ext>
            </a:extLst>
          </p:cNvPr>
          <p:cNvCxnSpPr>
            <a:cxnSpLocks/>
          </p:cNvCxnSpPr>
          <p:nvPr/>
        </p:nvCxnSpPr>
        <p:spPr>
          <a:xfrm>
            <a:off x="696000" y="1155368"/>
            <a:ext cx="10800000" cy="0"/>
          </a:xfrm>
          <a:prstGeom prst="line">
            <a:avLst/>
          </a:prstGeom>
          <a:ln w="38100">
            <a:solidFill>
              <a:srgbClr val="002060"/>
            </a:solidFill>
          </a:ln>
        </p:spPr>
        <p:style>
          <a:lnRef idx="2">
            <a:schemeClr val="accent1"/>
          </a:lnRef>
          <a:fillRef idx="0">
            <a:schemeClr val="accent1"/>
          </a:fillRef>
          <a:effectRef idx="1">
            <a:schemeClr val="accent1"/>
          </a:effectRef>
          <a:fontRef idx="minor">
            <a:schemeClr val="tx1"/>
          </a:fontRef>
        </p:style>
      </p:cxnSp>
      <p:sp>
        <p:nvSpPr>
          <p:cNvPr id="13" name="CasellaDiTesto 12">
            <a:extLst>
              <a:ext uri="{FF2B5EF4-FFF2-40B4-BE49-F238E27FC236}">
                <a16:creationId xmlns:a16="http://schemas.microsoft.com/office/drawing/2014/main" id="{1DBD5622-AE76-F3F2-E78E-A7E2566D28BA}"/>
              </a:ext>
            </a:extLst>
          </p:cNvPr>
          <p:cNvSpPr txBox="1"/>
          <p:nvPr/>
        </p:nvSpPr>
        <p:spPr>
          <a:xfrm>
            <a:off x="3048886" y="3244334"/>
            <a:ext cx="6097772" cy="369332"/>
          </a:xfrm>
          <a:prstGeom prst="rect">
            <a:avLst/>
          </a:prstGeom>
          <a:noFill/>
        </p:spPr>
        <p:txBody>
          <a:bodyPr wrap="square">
            <a:spAutoFit/>
          </a:bodyPr>
          <a:lstStyle/>
          <a:p>
            <a:endParaRPr lang="it-IT" dirty="0"/>
          </a:p>
        </p:txBody>
      </p:sp>
      <p:sp>
        <p:nvSpPr>
          <p:cNvPr id="15" name="CasellaDiTesto 14">
            <a:extLst>
              <a:ext uri="{FF2B5EF4-FFF2-40B4-BE49-F238E27FC236}">
                <a16:creationId xmlns:a16="http://schemas.microsoft.com/office/drawing/2014/main" id="{84ACA1D1-0026-540C-70E3-FEA431668F69}"/>
              </a:ext>
            </a:extLst>
          </p:cNvPr>
          <p:cNvSpPr txBox="1"/>
          <p:nvPr/>
        </p:nvSpPr>
        <p:spPr>
          <a:xfrm>
            <a:off x="3048886" y="3244334"/>
            <a:ext cx="6097772" cy="369332"/>
          </a:xfrm>
          <a:prstGeom prst="rect">
            <a:avLst/>
          </a:prstGeom>
          <a:noFill/>
        </p:spPr>
        <p:txBody>
          <a:bodyPr wrap="square">
            <a:spAutoFit/>
          </a:bodyPr>
          <a:lstStyle/>
          <a:p>
            <a:endParaRPr lang="it-IT" dirty="0"/>
          </a:p>
        </p:txBody>
      </p:sp>
      <p:pic>
        <p:nvPicPr>
          <p:cNvPr id="8" name="Immagine 7">
            <a:extLst>
              <a:ext uri="{FF2B5EF4-FFF2-40B4-BE49-F238E27FC236}">
                <a16:creationId xmlns:a16="http://schemas.microsoft.com/office/drawing/2014/main" id="{D9FE3799-AA56-96B5-61CD-52ADB4695CE5}"/>
              </a:ext>
            </a:extLst>
          </p:cNvPr>
          <p:cNvPicPr>
            <a:picLocks noChangeAspect="1"/>
          </p:cNvPicPr>
          <p:nvPr/>
        </p:nvPicPr>
        <p:blipFill>
          <a:blip r:embed="rId3">
            <a:extLst>
              <a:ext uri="{28A0092B-C50C-407E-A947-70E740481C1C}">
                <a14:useLocalDpi xmlns:a14="http://schemas.microsoft.com/office/drawing/2010/main" val="0"/>
              </a:ext>
            </a:extLst>
          </a:blip>
          <a:srcRect t="7591" b="3978"/>
          <a:stretch>
            <a:fillRect/>
          </a:stretch>
        </p:blipFill>
        <p:spPr>
          <a:xfrm>
            <a:off x="5446277" y="2755900"/>
            <a:ext cx="6705823" cy="3693929"/>
          </a:xfrm>
          <a:prstGeom prst="rect">
            <a:avLst/>
          </a:prstGeom>
        </p:spPr>
      </p:pic>
      <p:pic>
        <p:nvPicPr>
          <p:cNvPr id="11" name="Immagine 10">
            <a:extLst>
              <a:ext uri="{FF2B5EF4-FFF2-40B4-BE49-F238E27FC236}">
                <a16:creationId xmlns:a16="http://schemas.microsoft.com/office/drawing/2014/main" id="{A369F6DF-241B-FC05-FB2C-74DFB0379E8B}"/>
              </a:ext>
            </a:extLst>
          </p:cNvPr>
          <p:cNvPicPr>
            <a:picLocks noChangeAspect="1"/>
          </p:cNvPicPr>
          <p:nvPr/>
        </p:nvPicPr>
        <p:blipFill>
          <a:blip r:embed="rId4">
            <a:extLst>
              <a:ext uri="{28A0092B-C50C-407E-A947-70E740481C1C}">
                <a14:useLocalDpi xmlns:a14="http://schemas.microsoft.com/office/drawing/2010/main" val="0"/>
              </a:ext>
            </a:extLst>
          </a:blip>
          <a:srcRect t="7588" r="5536" b="651"/>
          <a:stretch>
            <a:fillRect/>
          </a:stretch>
        </p:blipFill>
        <p:spPr>
          <a:xfrm>
            <a:off x="206168" y="2843889"/>
            <a:ext cx="5328357" cy="3224130"/>
          </a:xfrm>
          <a:prstGeom prst="rect">
            <a:avLst/>
          </a:prstGeom>
        </p:spPr>
      </p:pic>
      <p:sp>
        <p:nvSpPr>
          <p:cNvPr id="14" name="Ovale 13">
            <a:extLst>
              <a:ext uri="{FF2B5EF4-FFF2-40B4-BE49-F238E27FC236}">
                <a16:creationId xmlns:a16="http://schemas.microsoft.com/office/drawing/2014/main" id="{5C2CDB7F-4798-849A-B362-05F16E54F49C}"/>
              </a:ext>
            </a:extLst>
          </p:cNvPr>
          <p:cNvSpPr/>
          <p:nvPr/>
        </p:nvSpPr>
        <p:spPr>
          <a:xfrm>
            <a:off x="3794967" y="2984577"/>
            <a:ext cx="1286540" cy="2945218"/>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7" name="Arco 16">
            <a:extLst>
              <a:ext uri="{FF2B5EF4-FFF2-40B4-BE49-F238E27FC236}">
                <a16:creationId xmlns:a16="http://schemas.microsoft.com/office/drawing/2014/main" id="{219D7ECA-BCC6-3278-8C9C-03F146B36666}"/>
              </a:ext>
            </a:extLst>
          </p:cNvPr>
          <p:cNvSpPr/>
          <p:nvPr/>
        </p:nvSpPr>
        <p:spPr>
          <a:xfrm rot="18171475">
            <a:off x="5124294" y="2234943"/>
            <a:ext cx="2827745" cy="3968027"/>
          </a:xfrm>
          <a:prstGeom prst="arc">
            <a:avLst>
              <a:gd name="adj1" fmla="val 15945701"/>
              <a:gd name="adj2" fmla="val 1052481"/>
            </a:avLst>
          </a:prstGeom>
          <a:ln w="38100">
            <a:solidFill>
              <a:srgbClr val="FF0000"/>
            </a:solidFill>
            <a:headEnd type="none" w="med" len="med"/>
            <a:tailEnd type="arrow" w="med" len="med"/>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it-IT"/>
          </a:p>
        </p:txBody>
      </p:sp>
      <p:cxnSp>
        <p:nvCxnSpPr>
          <p:cNvPr id="22" name="Connettore 2 21">
            <a:extLst>
              <a:ext uri="{FF2B5EF4-FFF2-40B4-BE49-F238E27FC236}">
                <a16:creationId xmlns:a16="http://schemas.microsoft.com/office/drawing/2014/main" id="{A5FB51C5-E6E6-4E41-99C1-ACAD81F796A0}"/>
              </a:ext>
            </a:extLst>
          </p:cNvPr>
          <p:cNvCxnSpPr>
            <a:cxnSpLocks/>
          </p:cNvCxnSpPr>
          <p:nvPr/>
        </p:nvCxnSpPr>
        <p:spPr>
          <a:xfrm>
            <a:off x="8267701" y="5410817"/>
            <a:ext cx="0" cy="668390"/>
          </a:xfrm>
          <a:prstGeom prst="straightConnector1">
            <a:avLst/>
          </a:prstGeom>
          <a:ln w="38100">
            <a:solidFill>
              <a:srgbClr val="FF0000"/>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7" name="CasellaDiTesto 6">
                <a:extLst>
                  <a:ext uri="{FF2B5EF4-FFF2-40B4-BE49-F238E27FC236}">
                    <a16:creationId xmlns:a16="http://schemas.microsoft.com/office/drawing/2014/main" id="{9782FBE4-B7CD-5D20-0D70-213BC119BA8F}"/>
                  </a:ext>
                </a:extLst>
              </p:cNvPr>
              <p:cNvSpPr txBox="1"/>
              <p:nvPr/>
            </p:nvSpPr>
            <p:spPr>
              <a:xfrm>
                <a:off x="2355837" y="3072809"/>
                <a:ext cx="1286540" cy="523220"/>
              </a:xfrm>
              <a:prstGeom prst="rect">
                <a:avLst/>
              </a:prstGeom>
              <a:noFill/>
            </p:spPr>
            <p:txBody>
              <a:bodyPr wrap="square" rtlCol="0">
                <a:spAutoFit/>
              </a:bodyPr>
              <a:lstStyle/>
              <a:p>
                <a:pPr/>
                <a14:m>
                  <m:oMathPara xmlns:m="http://schemas.openxmlformats.org/officeDocument/2006/math">
                    <m:oMath>
                      <m:sSub>
                        <m:sSubPr>
                          <m:ctrlPr>
                            <a:rPr lang="it-IT" sz="2800" b="0" i="1" smtClean="0">
                              <a:solidFill>
                                <a:srgbClr val="FF0000"/>
                              </a:solidFill>
                              <a:latin typeface="Cambria Math" panose="02040503050406030204" pitchFamily="18" charset="0"/>
                            </a:rPr>
                          </m:ctrlPr>
                        </m:sSubPr>
                        <m:e>
                          <m:r>
                            <a:rPr lang="it-IT" sz="2800" b="0" i="1" smtClean="0">
                              <a:solidFill>
                                <a:srgbClr val="FF0000"/>
                              </a:solidFill>
                              <a:latin typeface="Cambria Math" panose="02040503050406030204" pitchFamily="18" charset="0"/>
                            </a:rPr>
                            <m:t>𝑁</m:t>
                          </m:r>
                        </m:e>
                        <m:sub>
                          <m:r>
                            <a:rPr lang="it-IT" sz="2800" b="0" i="1" smtClean="0">
                              <a:solidFill>
                                <a:srgbClr val="FF0000"/>
                              </a:solidFill>
                              <a:latin typeface="Cambria Math" panose="02040503050406030204" pitchFamily="18" charset="0"/>
                            </a:rPr>
                            <m:t>𝑡𝑜𝑡</m:t>
                          </m:r>
                        </m:sub>
                      </m:sSub>
                    </m:oMath>
                  </m:oMathPara>
                </a14:m>
                <a:endParaRPr lang="it-IT" sz="2800" dirty="0">
                  <a:solidFill>
                    <a:srgbClr val="FF0000"/>
                  </a:solidFill>
                </a:endParaRPr>
              </a:p>
            </p:txBody>
          </p:sp>
        </mc:Choice>
        <mc:Fallback xmlns="">
          <p:sp>
            <p:nvSpPr>
              <p:cNvPr id="7" name="CasellaDiTesto 6">
                <a:extLst>
                  <a:ext uri="{FF2B5EF4-FFF2-40B4-BE49-F238E27FC236}">
                    <a16:creationId xmlns:a16="http://schemas.microsoft.com/office/drawing/2014/main" id="{9782FBE4-B7CD-5D20-0D70-213BC119BA8F}"/>
                  </a:ext>
                </a:extLst>
              </p:cNvPr>
              <p:cNvSpPr txBox="1">
                <a:spLocks noRot="1" noChangeAspect="1" noMove="1" noResize="1" noEditPoints="1" noAdjustHandles="1" noChangeArrowheads="1" noChangeShapeType="1" noTextEdit="1"/>
              </p:cNvSpPr>
              <p:nvPr/>
            </p:nvSpPr>
            <p:spPr>
              <a:xfrm>
                <a:off x="2355837" y="3072809"/>
                <a:ext cx="1286540" cy="523220"/>
              </a:xfrm>
              <a:prstGeom prst="rect">
                <a:avLst/>
              </a:prstGeom>
              <a:blipFill>
                <a:blip r:embed="rId5"/>
                <a:stretch>
                  <a:fillRect/>
                </a:stretch>
              </a:blipFill>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CasellaDiTesto 11">
                <a:extLst>
                  <a:ext uri="{FF2B5EF4-FFF2-40B4-BE49-F238E27FC236}">
                    <a16:creationId xmlns:a16="http://schemas.microsoft.com/office/drawing/2014/main" id="{8B695AC5-A004-5B7A-AA21-F7DDCB3AF5BB}"/>
                  </a:ext>
                </a:extLst>
              </p:cNvPr>
              <p:cNvSpPr txBox="1"/>
              <p:nvPr/>
            </p:nvSpPr>
            <p:spPr>
              <a:xfrm>
                <a:off x="8638096" y="4494208"/>
                <a:ext cx="1286540" cy="523220"/>
              </a:xfrm>
              <a:prstGeom prst="rect">
                <a:avLst/>
              </a:prstGeom>
              <a:noFill/>
            </p:spPr>
            <p:txBody>
              <a:bodyPr wrap="square" rtlCol="0">
                <a:spAutoFit/>
              </a:bodyPr>
              <a:lstStyle/>
              <a:p>
                <a:pPr/>
                <a14:m>
                  <m:oMathPara xmlns:m="http://schemas.openxmlformats.org/officeDocument/2006/math">
                    <m:oMath>
                      <m:sSub>
                        <m:sSubPr>
                          <m:ctrlPr>
                            <a:rPr lang="it-IT" sz="2800" b="0" i="1" smtClean="0">
                              <a:solidFill>
                                <a:srgbClr val="FF0000"/>
                              </a:solidFill>
                              <a:latin typeface="Cambria Math" panose="02040503050406030204" pitchFamily="18" charset="0"/>
                            </a:rPr>
                          </m:ctrlPr>
                        </m:sSubPr>
                        <m:e>
                          <m:r>
                            <a:rPr lang="it-IT" sz="2800" b="0" i="1" smtClean="0">
                              <a:solidFill>
                                <a:srgbClr val="FF0000"/>
                              </a:solidFill>
                              <a:latin typeface="Cambria Math" panose="02040503050406030204" pitchFamily="18" charset="0"/>
                            </a:rPr>
                            <m:t>𝑁</m:t>
                          </m:r>
                        </m:e>
                        <m:sub>
                          <m:r>
                            <a:rPr lang="it-IT" sz="2800" b="0" i="1" smtClean="0">
                              <a:solidFill>
                                <a:srgbClr val="FF0000"/>
                              </a:solidFill>
                              <a:latin typeface="Cambria Math" panose="02040503050406030204" pitchFamily="18" charset="0"/>
                            </a:rPr>
                            <m:t>𝑐ℎ</m:t>
                          </m:r>
                        </m:sub>
                      </m:sSub>
                    </m:oMath>
                  </m:oMathPara>
                </a14:m>
                <a:endParaRPr lang="it-IT" sz="2800" dirty="0">
                  <a:solidFill>
                    <a:srgbClr val="FF0000"/>
                  </a:solidFill>
                </a:endParaRPr>
              </a:p>
            </p:txBody>
          </p:sp>
        </mc:Choice>
        <mc:Fallback xmlns="">
          <p:sp>
            <p:nvSpPr>
              <p:cNvPr id="12" name="CasellaDiTesto 11">
                <a:extLst>
                  <a:ext uri="{FF2B5EF4-FFF2-40B4-BE49-F238E27FC236}">
                    <a16:creationId xmlns:a16="http://schemas.microsoft.com/office/drawing/2014/main" id="{8B695AC5-A004-5B7A-AA21-F7DDCB3AF5BB}"/>
                  </a:ext>
                </a:extLst>
              </p:cNvPr>
              <p:cNvSpPr txBox="1">
                <a:spLocks noRot="1" noChangeAspect="1" noMove="1" noResize="1" noEditPoints="1" noAdjustHandles="1" noChangeArrowheads="1" noChangeShapeType="1" noTextEdit="1"/>
              </p:cNvSpPr>
              <p:nvPr/>
            </p:nvSpPr>
            <p:spPr>
              <a:xfrm>
                <a:off x="8638096" y="4494208"/>
                <a:ext cx="1286540" cy="523220"/>
              </a:xfrm>
              <a:prstGeom prst="rect">
                <a:avLst/>
              </a:prstGeom>
              <a:blipFill>
                <a:blip r:embed="rId6"/>
                <a:stretch>
                  <a:fillRect/>
                </a:stretch>
              </a:blipFill>
            </p:spPr>
            <p:txBody>
              <a:bodyPr/>
              <a:lstStyle/>
              <a:p>
                <a:r>
                  <a:rPr lang="it-IT">
                    <a:noFill/>
                  </a:rPr>
                  <a:t> </a:t>
                </a:r>
              </a:p>
            </p:txBody>
          </p:sp>
        </mc:Fallback>
      </mc:AlternateContent>
    </p:spTree>
    <p:extLst>
      <p:ext uri="{BB962C8B-B14F-4D97-AF65-F5344CB8AC3E}">
        <p14:creationId xmlns:p14="http://schemas.microsoft.com/office/powerpoint/2010/main" val="350712569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0D1461-C75C-7E30-7CB1-94EE05E41B0E}"/>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42FD112F-A6F5-EDE0-3EF1-FE53FF0D0BFC}"/>
              </a:ext>
            </a:extLst>
          </p:cNvPr>
          <p:cNvSpPr>
            <a:spLocks noGrp="1"/>
          </p:cNvSpPr>
          <p:nvPr>
            <p:ph type="title"/>
          </p:nvPr>
        </p:nvSpPr>
        <p:spPr>
          <a:xfrm>
            <a:off x="38100" y="69651"/>
            <a:ext cx="12114000" cy="1153094"/>
          </a:xfrm>
          <a:prstGeom prst="roundRect">
            <a:avLst>
              <a:gd name="adj" fmla="val 36459"/>
            </a:avLst>
          </a:prstGeom>
          <a:noFill/>
        </p:spPr>
        <p:txBody>
          <a:bodyPr>
            <a:normAutofit/>
          </a:bodyPr>
          <a:lstStyle/>
          <a:p>
            <a:r>
              <a:rPr lang="it-IT" b="1" dirty="0">
                <a:solidFill>
                  <a:srgbClr val="002060"/>
                </a:solidFill>
              </a:rPr>
              <a:t>	4. RESULTS</a:t>
            </a:r>
          </a:p>
        </p:txBody>
      </p:sp>
      <p:sp>
        <p:nvSpPr>
          <p:cNvPr id="4" name="Segnaposto data 3">
            <a:extLst>
              <a:ext uri="{FF2B5EF4-FFF2-40B4-BE49-F238E27FC236}">
                <a16:creationId xmlns:a16="http://schemas.microsoft.com/office/drawing/2014/main" id="{18C8395F-5A29-CBE5-2F17-8C5F1B0FB535}"/>
              </a:ext>
            </a:extLst>
          </p:cNvPr>
          <p:cNvSpPr>
            <a:spLocks noGrp="1"/>
          </p:cNvSpPr>
          <p:nvPr>
            <p:ph type="dt" sz="half" idx="10"/>
          </p:nvPr>
        </p:nvSpPr>
        <p:spPr>
          <a:xfrm>
            <a:off x="838200" y="6356349"/>
            <a:ext cx="2743200" cy="432000"/>
          </a:xfrm>
        </p:spPr>
        <p:txBody>
          <a:bodyPr/>
          <a:lstStyle/>
          <a:p>
            <a:r>
              <a:rPr lang="it-IT" sz="1500" b="1" dirty="0">
                <a:solidFill>
                  <a:srgbClr val="002060"/>
                </a:solidFill>
              </a:rPr>
              <a:t>24.08.2026</a:t>
            </a:r>
          </a:p>
        </p:txBody>
      </p:sp>
      <p:sp>
        <p:nvSpPr>
          <p:cNvPr id="5" name="Segnaposto piè di pagina 4">
            <a:extLst>
              <a:ext uri="{FF2B5EF4-FFF2-40B4-BE49-F238E27FC236}">
                <a16:creationId xmlns:a16="http://schemas.microsoft.com/office/drawing/2014/main" id="{5C8632CE-25AA-0A1B-BC06-2686BE582B76}"/>
              </a:ext>
            </a:extLst>
          </p:cNvPr>
          <p:cNvSpPr>
            <a:spLocks noGrp="1"/>
          </p:cNvSpPr>
          <p:nvPr>
            <p:ph type="ftr" sz="quarter" idx="11"/>
          </p:nvPr>
        </p:nvSpPr>
        <p:spPr>
          <a:xfrm>
            <a:off x="0" y="6356349"/>
            <a:ext cx="12192000" cy="432000"/>
          </a:xfrm>
        </p:spPr>
        <p:txBody>
          <a:bodyPr/>
          <a:lstStyle/>
          <a:p>
            <a:r>
              <a:rPr lang="it-IT" sz="1500" b="1" dirty="0">
                <a:solidFill>
                  <a:srgbClr val="002060"/>
                </a:solidFill>
              </a:rPr>
              <a:t>Anna Sofia Moro</a:t>
            </a:r>
          </a:p>
        </p:txBody>
      </p:sp>
      <p:sp>
        <p:nvSpPr>
          <p:cNvPr id="6" name="Segnaposto numero diapositiva 5">
            <a:extLst>
              <a:ext uri="{FF2B5EF4-FFF2-40B4-BE49-F238E27FC236}">
                <a16:creationId xmlns:a16="http://schemas.microsoft.com/office/drawing/2014/main" id="{0EB70B37-5218-F84D-2646-2A877AFD5BDE}"/>
              </a:ext>
            </a:extLst>
          </p:cNvPr>
          <p:cNvSpPr>
            <a:spLocks noGrp="1"/>
          </p:cNvSpPr>
          <p:nvPr>
            <p:ph type="sldNum" sz="quarter" idx="12"/>
          </p:nvPr>
        </p:nvSpPr>
        <p:spPr>
          <a:xfrm>
            <a:off x="8610600" y="6356349"/>
            <a:ext cx="2743200" cy="432000"/>
          </a:xfrm>
        </p:spPr>
        <p:txBody>
          <a:bodyPr/>
          <a:lstStyle/>
          <a:p>
            <a:fld id="{0A318BD9-CA14-4A83-ACF0-03D5918EB402}" type="slidenum">
              <a:rPr lang="it-IT" sz="1500" b="1" smtClean="0">
                <a:solidFill>
                  <a:srgbClr val="002060"/>
                </a:solidFill>
              </a:rPr>
              <a:t>22</a:t>
            </a:fld>
            <a:endParaRPr lang="it-IT" sz="1500" b="1" dirty="0">
              <a:solidFill>
                <a:srgbClr val="002060"/>
              </a:solidFill>
            </a:endParaRPr>
          </a:p>
        </p:txBody>
      </p:sp>
      <p:cxnSp>
        <p:nvCxnSpPr>
          <p:cNvPr id="10" name="Connettore diritto 9">
            <a:extLst>
              <a:ext uri="{FF2B5EF4-FFF2-40B4-BE49-F238E27FC236}">
                <a16:creationId xmlns:a16="http://schemas.microsoft.com/office/drawing/2014/main" id="{FD0A2B7C-B5A1-D2BC-41BE-0AFDF9DAB6A1}"/>
              </a:ext>
            </a:extLst>
          </p:cNvPr>
          <p:cNvCxnSpPr>
            <a:cxnSpLocks/>
          </p:cNvCxnSpPr>
          <p:nvPr/>
        </p:nvCxnSpPr>
        <p:spPr>
          <a:xfrm>
            <a:off x="696000" y="1155368"/>
            <a:ext cx="10800000" cy="0"/>
          </a:xfrm>
          <a:prstGeom prst="line">
            <a:avLst/>
          </a:prstGeom>
          <a:ln w="38100">
            <a:solidFill>
              <a:srgbClr val="002060"/>
            </a:solidFill>
          </a:ln>
        </p:spPr>
        <p:style>
          <a:lnRef idx="2">
            <a:schemeClr val="accent1"/>
          </a:lnRef>
          <a:fillRef idx="0">
            <a:schemeClr val="accent1"/>
          </a:fillRef>
          <a:effectRef idx="1">
            <a:schemeClr val="accent1"/>
          </a:effectRef>
          <a:fontRef idx="minor">
            <a:schemeClr val="tx1"/>
          </a:fontRef>
        </p:style>
      </p:cxnSp>
      <p:sp>
        <p:nvSpPr>
          <p:cNvPr id="13" name="CasellaDiTesto 12">
            <a:extLst>
              <a:ext uri="{FF2B5EF4-FFF2-40B4-BE49-F238E27FC236}">
                <a16:creationId xmlns:a16="http://schemas.microsoft.com/office/drawing/2014/main" id="{3C5574AB-0B0B-8361-1ED1-AA4582A18A6D}"/>
              </a:ext>
            </a:extLst>
          </p:cNvPr>
          <p:cNvSpPr txBox="1"/>
          <p:nvPr/>
        </p:nvSpPr>
        <p:spPr>
          <a:xfrm>
            <a:off x="3048886" y="3244334"/>
            <a:ext cx="6097772" cy="369332"/>
          </a:xfrm>
          <a:prstGeom prst="rect">
            <a:avLst/>
          </a:prstGeom>
          <a:noFill/>
        </p:spPr>
        <p:txBody>
          <a:bodyPr wrap="square">
            <a:spAutoFit/>
          </a:bodyPr>
          <a:lstStyle/>
          <a:p>
            <a:endParaRPr lang="it-IT" dirty="0"/>
          </a:p>
        </p:txBody>
      </p:sp>
      <p:sp>
        <p:nvSpPr>
          <p:cNvPr id="15" name="CasellaDiTesto 14">
            <a:extLst>
              <a:ext uri="{FF2B5EF4-FFF2-40B4-BE49-F238E27FC236}">
                <a16:creationId xmlns:a16="http://schemas.microsoft.com/office/drawing/2014/main" id="{8F7B6111-24ED-E494-D339-85B73CFCBE65}"/>
              </a:ext>
            </a:extLst>
          </p:cNvPr>
          <p:cNvSpPr txBox="1"/>
          <p:nvPr/>
        </p:nvSpPr>
        <p:spPr>
          <a:xfrm>
            <a:off x="3048886" y="3244334"/>
            <a:ext cx="6097772" cy="369332"/>
          </a:xfrm>
          <a:prstGeom prst="rect">
            <a:avLst/>
          </a:prstGeom>
          <a:noFill/>
        </p:spPr>
        <p:txBody>
          <a:bodyPr wrap="square">
            <a:spAutoFit/>
          </a:bodyPr>
          <a:lstStyle/>
          <a:p>
            <a:endParaRPr lang="it-IT" dirty="0"/>
          </a:p>
        </p:txBody>
      </p:sp>
      <mc:AlternateContent xmlns:mc="http://schemas.openxmlformats.org/markup-compatibility/2006" xmlns:a14="http://schemas.microsoft.com/office/drawing/2010/main">
        <mc:Choice Requires="a14">
          <p:graphicFrame>
            <p:nvGraphicFramePr>
              <p:cNvPr id="11" name="Segnaposto contenuto 10">
                <a:extLst>
                  <a:ext uri="{FF2B5EF4-FFF2-40B4-BE49-F238E27FC236}">
                    <a16:creationId xmlns:a16="http://schemas.microsoft.com/office/drawing/2014/main" id="{71DF83D9-FF00-8DC4-EF2F-A708B15EC92F}"/>
                  </a:ext>
                </a:extLst>
              </p:cNvPr>
              <p:cNvGraphicFramePr>
                <a:graphicFrameLocks noGrp="1"/>
              </p:cNvGraphicFramePr>
              <p:nvPr>
                <p:ph idx="1"/>
                <p:extLst>
                  <p:ext uri="{D42A27DB-BD31-4B8C-83A1-F6EECF244321}">
                    <p14:modId xmlns:p14="http://schemas.microsoft.com/office/powerpoint/2010/main" val="3649525259"/>
                  </p:ext>
                </p:extLst>
              </p:nvPr>
            </p:nvGraphicFramePr>
            <p:xfrm>
              <a:off x="838200" y="2059186"/>
              <a:ext cx="10515600" cy="2776728"/>
            </p:xfrm>
            <a:graphic>
              <a:graphicData uri="http://schemas.openxmlformats.org/drawingml/2006/table">
                <a:tbl>
                  <a:tblPr firstRow="1" bandRow="1">
                    <a:tableStyleId>{5940675A-B579-460E-94D1-54222C63F5DA}</a:tableStyleId>
                  </a:tblPr>
                  <a:tblGrid>
                    <a:gridCol w="2103120">
                      <a:extLst>
                        <a:ext uri="{9D8B030D-6E8A-4147-A177-3AD203B41FA5}">
                          <a16:colId xmlns:a16="http://schemas.microsoft.com/office/drawing/2014/main" val="3834650750"/>
                        </a:ext>
                      </a:extLst>
                    </a:gridCol>
                    <a:gridCol w="1642712">
                      <a:extLst>
                        <a:ext uri="{9D8B030D-6E8A-4147-A177-3AD203B41FA5}">
                          <a16:colId xmlns:a16="http://schemas.microsoft.com/office/drawing/2014/main" val="1666825536"/>
                        </a:ext>
                      </a:extLst>
                    </a:gridCol>
                    <a:gridCol w="2358189">
                      <a:extLst>
                        <a:ext uri="{9D8B030D-6E8A-4147-A177-3AD203B41FA5}">
                          <a16:colId xmlns:a16="http://schemas.microsoft.com/office/drawing/2014/main" val="1022820918"/>
                        </a:ext>
                      </a:extLst>
                    </a:gridCol>
                    <a:gridCol w="2159446">
                      <a:extLst>
                        <a:ext uri="{9D8B030D-6E8A-4147-A177-3AD203B41FA5}">
                          <a16:colId xmlns:a16="http://schemas.microsoft.com/office/drawing/2014/main" val="2020566626"/>
                        </a:ext>
                      </a:extLst>
                    </a:gridCol>
                    <a:gridCol w="2252133">
                      <a:extLst>
                        <a:ext uri="{9D8B030D-6E8A-4147-A177-3AD203B41FA5}">
                          <a16:colId xmlns:a16="http://schemas.microsoft.com/office/drawing/2014/main" val="199116097"/>
                        </a:ext>
                      </a:extLst>
                    </a:gridCol>
                  </a:tblGrid>
                  <a:tr h="370840">
                    <a:tc>
                      <a:txBody>
                        <a:bodyPr/>
                        <a:lstStyle/>
                        <a:p>
                          <a:pPr algn="ctr"/>
                          <a:endParaRPr lang="it-IT" sz="2400" dirty="0"/>
                        </a:p>
                      </a:txBody>
                      <a:tcPr anchor="ctr">
                        <a:lnL w="12700" cap="flat" cmpd="sng" algn="ctr">
                          <a:no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28575" cap="flat" cmpd="sng" algn="ctr">
                          <a:solidFill>
                            <a:schemeClr val="tx1"/>
                          </a:solidFill>
                          <a:prstDash val="solid"/>
                          <a:round/>
                          <a:headEnd type="none" w="med" len="med"/>
                          <a:tailEnd type="none" w="med" len="med"/>
                        </a:lnB>
                      </a:tcPr>
                    </a:tc>
                    <a:tc>
                      <a:txBody>
                        <a:bodyPr/>
                        <a:lstStyle/>
                        <a:p>
                          <a:pPr algn="ctr"/>
                          <a:r>
                            <a:rPr lang="it-IT" sz="2400" b="1" dirty="0" err="1"/>
                            <a:t>run</a:t>
                          </a:r>
                          <a:endParaRPr lang="it-IT" sz="2400" b="1" dirty="0"/>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28575"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
                                <m:sSub>
                                  <m:sSubPr>
                                    <m:ctrlPr>
                                      <a:rPr lang="it-IT" sz="2400" b="1" i="1" smtClean="0">
                                        <a:latin typeface="Cambria Math" panose="02040503050406030204" pitchFamily="18" charset="0"/>
                                      </a:rPr>
                                    </m:ctrlPr>
                                  </m:sSubPr>
                                  <m:e>
                                    <m:r>
                                      <a:rPr lang="it-IT" sz="2400" b="1" i="1" smtClean="0">
                                        <a:latin typeface="Cambria Math" panose="02040503050406030204" pitchFamily="18" charset="0"/>
                                      </a:rPr>
                                      <m:t>𝝉</m:t>
                                    </m:r>
                                  </m:e>
                                  <m:sub>
                                    <m:r>
                                      <a:rPr lang="it-IT" sz="2400" b="1" i="1" smtClean="0">
                                        <a:latin typeface="Cambria Math" panose="02040503050406030204" pitchFamily="18" charset="0"/>
                                      </a:rPr>
                                      <m:t>𝒚</m:t>
                                    </m:r>
                                  </m:sub>
                                </m:sSub>
                                <m:r>
                                  <a:rPr lang="it-IT" sz="2400" b="1" i="1" smtClean="0">
                                    <a:latin typeface="Cambria Math" panose="02040503050406030204" pitchFamily="18" charset="0"/>
                                  </a:rPr>
                                  <m:t> [</m:t>
                                </m:r>
                                <m:r>
                                  <a:rPr lang="it-IT" sz="2400" b="1" i="1" smtClean="0">
                                    <a:latin typeface="Cambria Math" panose="02040503050406030204" pitchFamily="18" charset="0"/>
                                  </a:rPr>
                                  <m:t>𝝁</m:t>
                                </m:r>
                                <m:r>
                                  <a:rPr lang="it-IT" sz="2400" b="1" i="0" smtClean="0">
                                    <a:latin typeface="Cambria Math" panose="02040503050406030204" pitchFamily="18" charset="0"/>
                                  </a:rPr>
                                  <m:t>𝐫𝐚𝐝</m:t>
                                </m:r>
                                <m:r>
                                  <a:rPr lang="it-IT" sz="2400" b="1" i="0" smtClean="0">
                                    <a:latin typeface="Cambria Math" panose="02040503050406030204" pitchFamily="18" charset="0"/>
                                  </a:rPr>
                                  <m:t>/</m:t>
                                </m:r>
                                <m:r>
                                  <a:rPr lang="it-IT" sz="2400" b="1" i="0" smtClean="0">
                                    <a:latin typeface="Cambria Math" panose="02040503050406030204" pitchFamily="18" charset="0"/>
                                  </a:rPr>
                                  <m:t>𝐦𝐦</m:t>
                                </m:r>
                                <m:r>
                                  <a:rPr lang="it-IT" sz="2400" b="1" i="1" smtClean="0">
                                    <a:latin typeface="Cambria Math" panose="02040503050406030204" pitchFamily="18" charset="0"/>
                                  </a:rPr>
                                  <m:t>]</m:t>
                                </m:r>
                              </m:oMath>
                            </m:oMathPara>
                          </a14:m>
                          <a:endParaRPr lang="it-IT" sz="2400" b="1" dirty="0"/>
                        </a:p>
                      </a:txBody>
                      <a:tcPr anchor="ctr">
                        <a:lnL w="28575" cap="flat" cmpd="sng" algn="ctr">
                          <a:solidFill>
                            <a:schemeClr val="tx1"/>
                          </a:solidFill>
                          <a:prstDash val="solid"/>
                          <a:round/>
                          <a:headEnd type="none" w="med" len="med"/>
                          <a:tailEnd type="none" w="med" len="med"/>
                        </a:lnL>
                        <a:lnT w="12700" cap="flat" cmpd="sng" algn="ctr">
                          <a:noFill/>
                          <a:prstDash val="solid"/>
                          <a:round/>
                          <a:headEnd type="none" w="med" len="med"/>
                          <a:tailEnd type="none" w="med" len="med"/>
                        </a:lnT>
                        <a:lnB w="28575" cap="flat" cmpd="sng" algn="ctr">
                          <a:solidFill>
                            <a:schemeClr val="tx1"/>
                          </a:solidFill>
                          <a:prstDash val="solid"/>
                          <a:round/>
                          <a:headEnd type="none" w="med" len="med"/>
                          <a:tailEnd type="none" w="med" len="med"/>
                        </a:lnB>
                      </a:tcPr>
                    </a:tc>
                    <a:tc>
                      <a:txBody>
                        <a:bodyPr/>
                        <a:lstStyle/>
                        <a:p>
                          <a:pPr algn="ctr"/>
                          <a14:m>
                            <m:oMath xmlns:m="http://schemas.openxmlformats.org/officeDocument/2006/math">
                              <m:sSub>
                                <m:sSubPr>
                                  <m:ctrlPr>
                                    <a:rPr lang="it-IT" sz="2400" b="1" i="1" smtClean="0">
                                      <a:latin typeface="Cambria Math" panose="02040503050406030204" pitchFamily="18" charset="0"/>
                                    </a:rPr>
                                  </m:ctrlPr>
                                </m:sSubPr>
                                <m:e>
                                  <m:r>
                                    <a:rPr lang="it-IT" sz="2400" b="1" i="1" smtClean="0">
                                      <a:latin typeface="Cambria Math" panose="02040503050406030204" pitchFamily="18" charset="0"/>
                                    </a:rPr>
                                    <m:t>𝜽</m:t>
                                  </m:r>
                                </m:e>
                                <m:sub>
                                  <m:r>
                                    <a:rPr lang="it-IT" sz="2400" b="1" i="1" smtClean="0">
                                      <a:latin typeface="Cambria Math" panose="02040503050406030204" pitchFamily="18" charset="0"/>
                                    </a:rPr>
                                    <m:t>𝒃</m:t>
                                  </m:r>
                                </m:sub>
                              </m:sSub>
                              <m:r>
                                <a:rPr lang="it-IT" sz="2400" b="1" i="1" smtClean="0">
                                  <a:latin typeface="Cambria Math" panose="02040503050406030204" pitchFamily="18" charset="0"/>
                                </a:rPr>
                                <m:t> [</m:t>
                              </m:r>
                              <m:r>
                                <a:rPr lang="it-IT" sz="2400" b="1" i="1" smtClean="0">
                                  <a:latin typeface="Cambria Math" panose="02040503050406030204" pitchFamily="18" charset="0"/>
                                </a:rPr>
                                <m:t>𝝁</m:t>
                              </m:r>
                              <m:r>
                                <a:rPr lang="it-IT" sz="2400" b="1" i="0" smtClean="0">
                                  <a:latin typeface="Cambria Math" panose="02040503050406030204" pitchFamily="18" charset="0"/>
                                </a:rPr>
                                <m:t>𝐫𝐚𝐝</m:t>
                              </m:r>
                              <m:r>
                                <a:rPr lang="it-IT" sz="2400" b="1" i="1" smtClean="0">
                                  <a:latin typeface="Cambria Math" panose="02040503050406030204" pitchFamily="18" charset="0"/>
                                </a:rPr>
                                <m:t>]</m:t>
                              </m:r>
                            </m:oMath>
                          </a14:m>
                          <a:r>
                            <a:rPr lang="it-IT" sz="2400" b="1" dirty="0"/>
                            <a:t> </a:t>
                          </a:r>
                        </a:p>
                      </a:txBody>
                      <a:tcPr anchor="ctr">
                        <a:lnT w="12700" cap="flat" cmpd="sng" algn="ctr">
                          <a:noFill/>
                          <a:prstDash val="solid"/>
                          <a:round/>
                          <a:headEnd type="none" w="med" len="med"/>
                          <a:tailEnd type="none" w="med" len="med"/>
                        </a:lnT>
                        <a:lnB w="28575"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
                                <m:sSub>
                                  <m:sSubPr>
                                    <m:ctrlPr>
                                      <a:rPr lang="it-IT" sz="2400" b="1" i="1" smtClean="0">
                                        <a:latin typeface="Cambria Math" panose="02040503050406030204" pitchFamily="18" charset="0"/>
                                      </a:rPr>
                                    </m:ctrlPr>
                                  </m:sSubPr>
                                  <m:e>
                                    <m:r>
                                      <a:rPr lang="it-IT" sz="2400" b="1" i="1" smtClean="0">
                                        <a:latin typeface="Cambria Math" panose="02040503050406030204" pitchFamily="18" charset="0"/>
                                      </a:rPr>
                                      <m:t>𝝐</m:t>
                                    </m:r>
                                  </m:e>
                                  <m:sub>
                                    <m:r>
                                      <a:rPr lang="it-IT" sz="2400" b="1" i="1" smtClean="0">
                                        <a:latin typeface="Cambria Math" panose="02040503050406030204" pitchFamily="18" charset="0"/>
                                      </a:rPr>
                                      <m:t>𝒄𝒉</m:t>
                                    </m:r>
                                  </m:sub>
                                </m:sSub>
                                <m:r>
                                  <a:rPr lang="it-IT" sz="2400" b="1" i="1" smtClean="0">
                                    <a:latin typeface="Cambria Math" panose="02040503050406030204" pitchFamily="18" charset="0"/>
                                  </a:rPr>
                                  <m:t> [%]</m:t>
                                </m:r>
                              </m:oMath>
                            </m:oMathPara>
                          </a14:m>
                          <a:endParaRPr lang="it-IT" sz="2400" b="1" dirty="0"/>
                        </a:p>
                      </a:txBody>
                      <a:tcPr anchor="ctr">
                        <a:lnR w="12700" cap="flat" cmpd="sng" algn="ctr">
                          <a:noFill/>
                          <a:prstDash val="solid"/>
                          <a:round/>
                          <a:headEnd type="none" w="med" len="med"/>
                          <a:tailEnd type="none" w="med" len="med"/>
                        </a:lnR>
                        <a:lnT w="12700" cap="flat" cmpd="sng" algn="ctr">
                          <a:noFill/>
                          <a:prstDash val="solid"/>
                          <a:round/>
                          <a:headEnd type="none" w="med" len="med"/>
                          <a:tailEnd type="none" w="med" len="med"/>
                        </a:lnT>
                        <a:lnB w="285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36405646"/>
                      </a:ext>
                    </a:extLst>
                  </a:tr>
                  <a:tr h="370840">
                    <a:tc rowSpan="3">
                      <a:txBody>
                        <a:bodyPr/>
                        <a:lstStyle/>
                        <a:p>
                          <a:pPr algn="ctr"/>
                          <a:r>
                            <a:rPr lang="it-IT" sz="2400" dirty="0"/>
                            <a:t>Long </a:t>
                          </a:r>
                          <a:r>
                            <a:rPr lang="it-IT" sz="2400" dirty="0" err="1"/>
                            <a:t>crystal</a:t>
                          </a:r>
                          <a:r>
                            <a:rPr lang="it-IT" sz="2400" dirty="0"/>
                            <a:t> 1</a:t>
                          </a:r>
                        </a:p>
                      </a:txBody>
                      <a:tcPr anchor="ctr">
                        <a:lnL w="12700" cap="flat" cmpd="sng" algn="ctr">
                          <a:no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
                                <m:r>
                                  <a:rPr lang="it-IT" sz="2400" i="1" dirty="0" smtClean="0">
                                    <a:latin typeface="Cambria Math" panose="02040503050406030204" pitchFamily="18" charset="0"/>
                                  </a:rPr>
                                  <m:t>8430</m:t>
                                </m:r>
                              </m:oMath>
                            </m:oMathPara>
                          </a14:m>
                          <a:endParaRPr lang="it-IT" sz="2400" dirty="0"/>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tcPr>
                    </a:tc>
                    <a:tc>
                      <a:txBody>
                        <a:bodyPr/>
                        <a:lstStyle/>
                        <a:p>
                          <a:pPr algn="ctr"/>
                          <a14:m>
                            <m:oMathPara xmlns:m="http://schemas.openxmlformats.org/officeDocument/2006/math">
                              <m:oMath>
                                <m:r>
                                  <a:rPr lang="it-IT" sz="2400" b="0" i="1" smtClean="0">
                                    <a:latin typeface="Cambria Math" panose="02040503050406030204" pitchFamily="18" charset="0"/>
                                  </a:rPr>
                                  <m:t>6.25±0.04</m:t>
                                </m:r>
                              </m:oMath>
                            </m:oMathPara>
                          </a14:m>
                          <a:endParaRPr lang="it-IT" sz="2400" dirty="0"/>
                        </a:p>
                      </a:txBody>
                      <a:tcPr anchor="ctr">
                        <a:lnL w="28575" cap="flat" cmpd="sng" algn="ctr">
                          <a:solidFill>
                            <a:schemeClr val="tx1"/>
                          </a:solidFill>
                          <a:prstDash val="solid"/>
                          <a:round/>
                          <a:headEnd type="none" w="med" len="med"/>
                          <a:tailEnd type="none" w="med" len="med"/>
                        </a:lnL>
                        <a:lnT w="28575" cap="flat" cmpd="sng" algn="ctr">
                          <a:solidFill>
                            <a:schemeClr val="tx1"/>
                          </a:solidFill>
                          <a:prstDash val="solid"/>
                          <a:round/>
                          <a:headEnd type="none" w="med" len="med"/>
                          <a:tailEnd type="none" w="med" len="med"/>
                        </a:lnT>
                      </a:tcPr>
                    </a:tc>
                    <a:tc>
                      <a:txBody>
                        <a:bodyPr/>
                        <a:lstStyle/>
                        <a:p>
                          <a:pPr algn="ctr"/>
                          <a14:m>
                            <m:oMathPara xmlns:m="http://schemas.openxmlformats.org/officeDocument/2006/math">
                              <m:oMath>
                                <m:r>
                                  <a:rPr lang="it-IT" sz="2400" b="0" i="1" smtClean="0">
                                    <a:latin typeface="Cambria Math" panose="02040503050406030204" pitchFamily="18" charset="0"/>
                                  </a:rPr>
                                  <m:t>6008.4±0.2</m:t>
                                </m:r>
                              </m:oMath>
                            </m:oMathPara>
                          </a14:m>
                          <a:endParaRPr lang="it-IT" sz="2400" i="0" dirty="0"/>
                        </a:p>
                      </a:txBody>
                      <a:tcPr anchor="ctr">
                        <a:lnT w="28575" cap="flat" cmpd="sng" algn="ctr">
                          <a:solidFill>
                            <a:schemeClr val="tx1"/>
                          </a:solidFill>
                          <a:prstDash val="solid"/>
                          <a:round/>
                          <a:headEnd type="none" w="med" len="med"/>
                          <a:tailEnd type="none" w="med" len="med"/>
                        </a:lnT>
                      </a:tcPr>
                    </a:tc>
                    <a:tc>
                      <a:txBody>
                        <a:bodyPr/>
                        <a:lstStyle/>
                        <a:p>
                          <a:pPr algn="ctr"/>
                          <a14:m>
                            <m:oMathPara xmlns:m="http://schemas.openxmlformats.org/officeDocument/2006/math">
                              <m:oMath>
                                <m:r>
                                  <a:rPr lang="it-IT" sz="2400" b="0" i="1" smtClean="0">
                                    <a:latin typeface="Cambria Math" panose="02040503050406030204" pitchFamily="18" charset="0"/>
                                  </a:rPr>
                                  <m:t>19.6±0.01</m:t>
                                </m:r>
                              </m:oMath>
                            </m:oMathPara>
                          </a14:m>
                          <a:endParaRPr lang="it-IT" sz="2400" dirty="0"/>
                        </a:p>
                      </a:txBody>
                      <a:tcPr anchor="ctr">
                        <a:lnR w="12700" cap="flat" cmpd="sng" algn="ctr">
                          <a:noFill/>
                          <a:prstDash val="solid"/>
                          <a:round/>
                          <a:headEnd type="none" w="med" len="med"/>
                          <a:tailEnd type="none" w="med" len="med"/>
                        </a:lnR>
                        <a:lnT w="28575"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1529356210"/>
                      </a:ext>
                    </a:extLst>
                  </a:tr>
                  <a:tr h="370840">
                    <a:tc vMerge="1">
                      <a:txBody>
                        <a:bodyPr/>
                        <a:lstStyle/>
                        <a:p>
                          <a:endParaRPr lang="it-IT" dirty="0"/>
                        </a:p>
                      </a:txBody>
                      <a:tcPr/>
                    </a:tc>
                    <a:tc>
                      <a:txBody>
                        <a:bodyPr/>
                        <a:lstStyle/>
                        <a:p>
                          <a:pPr algn="ctr"/>
                          <a14:m>
                            <m:oMathPara xmlns:m="http://schemas.openxmlformats.org/officeDocument/2006/math">
                              <m:oMath>
                                <m:r>
                                  <a:rPr lang="it-IT" sz="2400" i="1" dirty="0" smtClean="0">
                                    <a:latin typeface="Cambria Math" panose="02040503050406030204" pitchFamily="18" charset="0"/>
                                  </a:rPr>
                                  <m:t>8431</m:t>
                                </m:r>
                              </m:oMath>
                            </m:oMathPara>
                          </a14:m>
                          <a:endParaRPr lang="it-IT" sz="2400" dirty="0"/>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kumimoji="0" lang="it-IT"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5.71±0.04</m:t>
                                </m:r>
                              </m:oMath>
                            </m:oMathPara>
                          </a14:m>
                          <a:endParaRPr kumimoji="0" lang="it-IT" sz="2400" b="0" i="0" u="none" strike="noStrike" kern="1200" cap="none" spc="0" normalizeH="0" baseline="0" noProof="0" dirty="0">
                            <a:ln>
                              <a:noFill/>
                            </a:ln>
                            <a:solidFill>
                              <a:prstClr val="black"/>
                            </a:solidFill>
                            <a:effectLst/>
                            <a:uLnTx/>
                            <a:uFillTx/>
                            <a:latin typeface="Aptos" panose="02110004020202020204"/>
                            <a:ea typeface="+mn-ea"/>
                            <a:cs typeface="+mn-cs"/>
                          </a:endParaRPr>
                        </a:p>
                      </a:txBody>
                      <a:tcPr anchor="ctr">
                        <a:lnL w="28575" cap="flat" cmpd="sng" algn="ctr">
                          <a:solidFill>
                            <a:schemeClr val="tx1"/>
                          </a:solidFill>
                          <a:prstDash val="solid"/>
                          <a:round/>
                          <a:headEnd type="none" w="med" len="med"/>
                          <a:tailEnd type="none" w="med" len="med"/>
                        </a:ln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kumimoji="0" lang="it-IT"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6008.4±0.2</m:t>
                                </m:r>
                              </m:oMath>
                            </m:oMathPara>
                          </a14:m>
                          <a:endParaRPr kumimoji="0" lang="it-IT" sz="2400" b="0" i="0" u="none" strike="noStrike" kern="1200" cap="none" spc="0" normalizeH="0" baseline="0" noProof="0" dirty="0">
                            <a:ln>
                              <a:noFill/>
                            </a:ln>
                            <a:solidFill>
                              <a:prstClr val="black"/>
                            </a:solidFill>
                            <a:effectLst/>
                            <a:uLnTx/>
                            <a:uFillTx/>
                            <a:latin typeface="Aptos" panose="02110004020202020204"/>
                            <a:ea typeface="+mn-ea"/>
                            <a:cs typeface="+mn-cs"/>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it-IT" sz="2400" b="0" i="1" smtClean="0">
                                    <a:latin typeface="Cambria Math" panose="02040503050406030204" pitchFamily="18" charset="0"/>
                                  </a:rPr>
                                  <m:t>19.1±0.01</m:t>
                                </m:r>
                              </m:oMath>
                            </m:oMathPara>
                          </a14:m>
                          <a:endParaRPr lang="it-IT" sz="2400" dirty="0"/>
                        </a:p>
                      </a:txBody>
                      <a:tcPr anchor="ctr">
                        <a:lnR w="12700" cap="flat" cmpd="sng" algn="ctr">
                          <a:noFill/>
                          <a:prstDash val="solid"/>
                          <a:round/>
                          <a:headEnd type="none" w="med" len="med"/>
                          <a:tailEnd type="none" w="med" len="med"/>
                        </a:lnR>
                      </a:tcPr>
                    </a:tc>
                    <a:extLst>
                      <a:ext uri="{0D108BD9-81ED-4DB2-BD59-A6C34878D82A}">
                        <a16:rowId xmlns:a16="http://schemas.microsoft.com/office/drawing/2014/main" val="348010959"/>
                      </a:ext>
                    </a:extLst>
                  </a:tr>
                  <a:tr h="370840">
                    <a:tc vMerge="1">
                      <a:txBody>
                        <a:bodyPr/>
                        <a:lstStyle/>
                        <a:p>
                          <a:endParaRPr lang="it-IT" dirty="0"/>
                        </a:p>
                      </a:txBody>
                      <a:tcPr/>
                    </a:tc>
                    <a:tc>
                      <a:txBody>
                        <a:bodyPr/>
                        <a:lstStyle/>
                        <a:p>
                          <a:pPr algn="ctr"/>
                          <a14:m>
                            <m:oMathPara xmlns:m="http://schemas.openxmlformats.org/officeDocument/2006/math">
                              <m:oMath>
                                <m:r>
                                  <a:rPr lang="it-IT" sz="2400" i="1" dirty="0" smtClean="0">
                                    <a:latin typeface="Cambria Math" panose="02040503050406030204" pitchFamily="18" charset="0"/>
                                  </a:rPr>
                                  <m:t>8650</m:t>
                                </m:r>
                              </m:oMath>
                            </m:oMathPara>
                          </a14:m>
                          <a:endParaRPr lang="it-IT" sz="2400" dirty="0"/>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B w="285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kumimoji="0" lang="it-IT"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3.89±0.01</m:t>
                                </m:r>
                              </m:oMath>
                            </m:oMathPara>
                          </a14:m>
                          <a:endParaRPr kumimoji="0" lang="it-IT" sz="2400" b="0" i="0" u="none" strike="noStrike" kern="1200" cap="none" spc="0" normalizeH="0" baseline="0" noProof="0" dirty="0">
                            <a:ln>
                              <a:noFill/>
                            </a:ln>
                            <a:solidFill>
                              <a:prstClr val="black"/>
                            </a:solidFill>
                            <a:effectLst/>
                            <a:uLnTx/>
                            <a:uFillTx/>
                            <a:latin typeface="Aptos" panose="02110004020202020204"/>
                            <a:ea typeface="+mn-ea"/>
                            <a:cs typeface="+mn-cs"/>
                          </a:endParaRPr>
                        </a:p>
                      </a:txBody>
                      <a:tcPr anchor="ctr">
                        <a:lnL w="28575" cap="flat" cmpd="sng" algn="ctr">
                          <a:solidFill>
                            <a:schemeClr val="tx1"/>
                          </a:solidFill>
                          <a:prstDash val="solid"/>
                          <a:round/>
                          <a:headEnd type="none" w="med" len="med"/>
                          <a:tailEnd type="none" w="med" len="med"/>
                        </a:lnL>
                        <a:lnB w="285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kumimoji="0" lang="it-IT"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6081.7±0.1</m:t>
                                </m:r>
                              </m:oMath>
                            </m:oMathPara>
                          </a14:m>
                          <a:endParaRPr kumimoji="0" lang="it-IT" sz="2400" b="0" i="0" u="none" strike="noStrike" kern="1200" cap="none" spc="0" normalizeH="0" baseline="0" noProof="0" dirty="0">
                            <a:ln>
                              <a:noFill/>
                            </a:ln>
                            <a:solidFill>
                              <a:prstClr val="black"/>
                            </a:solidFill>
                            <a:effectLst/>
                            <a:uLnTx/>
                            <a:uFillTx/>
                            <a:latin typeface="Aptos" panose="02110004020202020204"/>
                            <a:ea typeface="+mn-ea"/>
                            <a:cs typeface="+mn-cs"/>
                          </a:endParaRPr>
                        </a:p>
                      </a:txBody>
                      <a:tcPr anchor="ctr">
                        <a:lnB w="285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it-IT" sz="2400" b="0" i="1" smtClean="0">
                                    <a:latin typeface="Cambria Math" panose="02040503050406030204" pitchFamily="18" charset="0"/>
                                  </a:rPr>
                                  <m:t>17.1±0.01</m:t>
                                </m:r>
                              </m:oMath>
                            </m:oMathPara>
                          </a14:m>
                          <a:endParaRPr lang="it-IT" sz="2400" dirty="0"/>
                        </a:p>
                      </a:txBody>
                      <a:tcPr anchor="ctr">
                        <a:lnR w="12700" cap="flat" cmpd="sng" algn="ctr">
                          <a:noFill/>
                          <a:prstDash val="solid"/>
                          <a:round/>
                          <a:headEnd type="none" w="med" len="med"/>
                          <a:tailEnd type="none" w="med" len="med"/>
                        </a:lnR>
                        <a:lnB w="285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53670846"/>
                      </a:ext>
                    </a:extLst>
                  </a:tr>
                  <a:tr h="370840">
                    <a:tc rowSpan="2">
                      <a:txBody>
                        <a:bodyPr/>
                        <a:lstStyle/>
                        <a:p>
                          <a:pPr algn="ctr"/>
                          <a:r>
                            <a:rPr lang="it-IT" sz="2400" dirty="0"/>
                            <a:t>Long </a:t>
                          </a:r>
                          <a:r>
                            <a:rPr lang="it-IT" sz="2400" dirty="0" err="1"/>
                            <a:t>crystal</a:t>
                          </a:r>
                          <a:r>
                            <a:rPr lang="it-IT" sz="2400" dirty="0"/>
                            <a:t> 2</a:t>
                          </a:r>
                        </a:p>
                      </a:txBody>
                      <a:tcPr anchor="ctr">
                        <a:lnL w="12700" cap="flat" cmpd="sng" algn="ctr">
                          <a:no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gn="ctr"/>
                          <a14:m>
                            <m:oMathPara xmlns:m="http://schemas.openxmlformats.org/officeDocument/2006/math">
                              <m:oMath>
                                <m:r>
                                  <a:rPr lang="it-IT" sz="2400" i="1" dirty="0" smtClean="0">
                                    <a:latin typeface="Cambria Math" panose="02040503050406030204" pitchFamily="18" charset="0"/>
                                  </a:rPr>
                                  <m:t>8655</m:t>
                                </m:r>
                              </m:oMath>
                            </m:oMathPara>
                          </a14:m>
                          <a:endParaRPr lang="it-IT" sz="2400" dirty="0"/>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kumimoji="0" lang="it-IT"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3.67±0.02</m:t>
                                </m:r>
                              </m:oMath>
                            </m:oMathPara>
                          </a14:m>
                          <a:endParaRPr kumimoji="0" lang="it-IT" sz="2400" b="0" i="0" u="none" strike="noStrike" kern="1200" cap="none" spc="0" normalizeH="0" baseline="0" noProof="0" dirty="0">
                            <a:ln>
                              <a:noFill/>
                            </a:ln>
                            <a:solidFill>
                              <a:prstClr val="black"/>
                            </a:solidFill>
                            <a:effectLst/>
                            <a:uLnTx/>
                            <a:uFillTx/>
                            <a:latin typeface="Aptos" panose="02110004020202020204"/>
                            <a:ea typeface="+mn-ea"/>
                            <a:cs typeface="+mn-cs"/>
                          </a:endParaRPr>
                        </a:p>
                      </a:txBody>
                      <a:tcPr anchor="ctr">
                        <a:lnL w="28575" cap="flat" cmpd="sng" algn="ctr">
                          <a:solidFill>
                            <a:schemeClr val="tx1"/>
                          </a:solidFill>
                          <a:prstDash val="solid"/>
                          <a:round/>
                          <a:headEnd type="none" w="med" len="med"/>
                          <a:tailEnd type="none" w="med" len="med"/>
                        </a:lnL>
                        <a:lnT w="28575" cap="flat" cmpd="sng" algn="ctr">
                          <a:solidFill>
                            <a:schemeClr val="tx1"/>
                          </a:solidFill>
                          <a:prstDash val="solid"/>
                          <a:round/>
                          <a:headEnd type="none" w="med" len="med"/>
                          <a:tailEnd type="none" w="med" len="med"/>
                        </a:lnT>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kumimoji="0" lang="it-IT"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6122.6±0.3</m:t>
                                </m:r>
                              </m:oMath>
                            </m:oMathPara>
                          </a14:m>
                          <a:endParaRPr kumimoji="0" lang="it-IT" sz="2400" b="0" i="0" u="none" strike="noStrike" kern="1200" cap="none" spc="0" normalizeH="0" baseline="0" noProof="0" dirty="0">
                            <a:ln>
                              <a:noFill/>
                            </a:ln>
                            <a:solidFill>
                              <a:prstClr val="black"/>
                            </a:solidFill>
                            <a:effectLst/>
                            <a:uLnTx/>
                            <a:uFillTx/>
                            <a:latin typeface="Aptos" panose="02110004020202020204"/>
                            <a:ea typeface="+mn-ea"/>
                            <a:cs typeface="+mn-cs"/>
                          </a:endParaRPr>
                        </a:p>
                      </a:txBody>
                      <a:tcPr anchor="ctr">
                        <a:lnT w="28575" cap="flat" cmpd="sng" algn="ctr">
                          <a:solidFill>
                            <a:schemeClr val="tx1"/>
                          </a:solidFill>
                          <a:prstDash val="solid"/>
                          <a:round/>
                          <a:headEnd type="none" w="med" len="med"/>
                          <a:tailEnd type="none" w="med" len="med"/>
                        </a:lnT>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kumimoji="0" lang="it-IT"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18.0±0.01</m:t>
                                </m:r>
                              </m:oMath>
                            </m:oMathPara>
                          </a14:m>
                          <a:endParaRPr kumimoji="0" lang="it-IT" sz="2400" b="0" i="0" u="none" strike="noStrike" kern="1200" cap="none" spc="0" normalizeH="0" baseline="0" noProof="0" dirty="0">
                            <a:ln>
                              <a:noFill/>
                            </a:ln>
                            <a:solidFill>
                              <a:prstClr val="black"/>
                            </a:solidFill>
                            <a:effectLst/>
                            <a:uLnTx/>
                            <a:uFillTx/>
                            <a:latin typeface="Aptos" panose="02110004020202020204"/>
                            <a:ea typeface="+mn-ea"/>
                            <a:cs typeface="+mn-cs"/>
                          </a:endParaRPr>
                        </a:p>
                      </a:txBody>
                      <a:tcPr anchor="ctr">
                        <a:lnR w="12700" cap="flat" cmpd="sng" algn="ctr">
                          <a:noFill/>
                          <a:prstDash val="solid"/>
                          <a:round/>
                          <a:headEnd type="none" w="med" len="med"/>
                          <a:tailEnd type="none" w="med" len="med"/>
                        </a:lnR>
                        <a:lnT w="28575"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3544524089"/>
                      </a:ext>
                    </a:extLst>
                  </a:tr>
                  <a:tr h="370840">
                    <a:tc vMerge="1">
                      <a:txBody>
                        <a:bodyPr/>
                        <a:lstStyle/>
                        <a:p>
                          <a:endParaRPr lang="it-IT" dirty="0"/>
                        </a:p>
                      </a:txBody>
                      <a:tcPr/>
                    </a:tc>
                    <a:tc>
                      <a:txBody>
                        <a:bodyPr/>
                        <a:lstStyle/>
                        <a:p>
                          <a:pPr algn="ctr"/>
                          <a14:m>
                            <m:oMathPara xmlns:m="http://schemas.openxmlformats.org/officeDocument/2006/math">
                              <m:oMath>
                                <m:r>
                                  <a:rPr lang="it-IT" sz="2400" i="1" dirty="0" smtClean="0">
                                    <a:latin typeface="Cambria Math" panose="02040503050406030204" pitchFamily="18" charset="0"/>
                                  </a:rPr>
                                  <m:t>8656</m:t>
                                </m:r>
                              </m:oMath>
                            </m:oMathPara>
                          </a14:m>
                          <a:endParaRPr lang="it-IT" sz="2400" dirty="0"/>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B w="12700" cap="flat" cmpd="sng" algn="ctr">
                          <a:no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kumimoji="0" lang="it-IT"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3.80±0.01</m:t>
                                </m:r>
                              </m:oMath>
                            </m:oMathPara>
                          </a14:m>
                          <a:endParaRPr kumimoji="0" lang="it-IT" sz="2400" b="0" i="0" u="none" strike="noStrike" kern="1200" cap="none" spc="0" normalizeH="0" baseline="0" noProof="0" dirty="0">
                            <a:ln>
                              <a:noFill/>
                            </a:ln>
                            <a:solidFill>
                              <a:prstClr val="black"/>
                            </a:solidFill>
                            <a:effectLst/>
                            <a:uLnTx/>
                            <a:uFillTx/>
                            <a:latin typeface="Aptos" panose="02110004020202020204"/>
                            <a:ea typeface="+mn-ea"/>
                            <a:cs typeface="+mn-cs"/>
                          </a:endParaRPr>
                        </a:p>
                      </a:txBody>
                      <a:tcPr anchor="ctr">
                        <a:lnL w="28575" cap="flat" cmpd="sng" algn="ctr">
                          <a:solidFill>
                            <a:schemeClr val="tx1"/>
                          </a:solidFill>
                          <a:prstDash val="solid"/>
                          <a:round/>
                          <a:headEnd type="none" w="med" len="med"/>
                          <a:tailEnd type="none" w="med" len="med"/>
                        </a:lnL>
                        <a:lnB w="12700" cap="flat" cmpd="sng" algn="ctr">
                          <a:no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kumimoji="0" lang="it-IT"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6122.0±0.3</m:t>
                                </m:r>
                              </m:oMath>
                            </m:oMathPara>
                          </a14:m>
                          <a:endParaRPr kumimoji="0" lang="it-IT" sz="2400" b="0" i="0" u="none" strike="noStrike" kern="1200" cap="none" spc="0" normalizeH="0" baseline="0" noProof="0" dirty="0">
                            <a:ln>
                              <a:noFill/>
                            </a:ln>
                            <a:solidFill>
                              <a:prstClr val="black"/>
                            </a:solidFill>
                            <a:effectLst/>
                            <a:uLnTx/>
                            <a:uFillTx/>
                            <a:latin typeface="Aptos" panose="02110004020202020204"/>
                            <a:ea typeface="+mn-ea"/>
                            <a:cs typeface="+mn-cs"/>
                          </a:endParaRPr>
                        </a:p>
                      </a:txBody>
                      <a:tcPr anchor="ctr">
                        <a:lnB w="12700" cap="flat" cmpd="sng" algn="ctr">
                          <a:no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kumimoji="0" lang="it-IT"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18.0±0.01</m:t>
                                </m:r>
                              </m:oMath>
                            </m:oMathPara>
                          </a14:m>
                          <a:endParaRPr kumimoji="0" lang="it-IT" sz="2400" b="0" i="0" u="none" strike="noStrike" kern="1200" cap="none" spc="0" normalizeH="0" baseline="0" noProof="0" dirty="0">
                            <a:ln>
                              <a:noFill/>
                            </a:ln>
                            <a:solidFill>
                              <a:prstClr val="black"/>
                            </a:solidFill>
                            <a:effectLst/>
                            <a:uLnTx/>
                            <a:uFillTx/>
                            <a:latin typeface="Aptos" panose="02110004020202020204"/>
                            <a:ea typeface="+mn-ea"/>
                            <a:cs typeface="+mn-cs"/>
                          </a:endParaRPr>
                        </a:p>
                      </a:txBody>
                      <a:tcPr anchor="ctr">
                        <a:lnR w="12700" cap="flat" cmpd="sng" algn="ctr">
                          <a:noFill/>
                          <a:prstDash val="solid"/>
                          <a:round/>
                          <a:headEnd type="none" w="med" len="med"/>
                          <a:tailEnd type="none" w="med" len="med"/>
                        </a:lnR>
                        <a:lnB w="12700" cap="flat" cmpd="sng" algn="ctr">
                          <a:noFill/>
                          <a:prstDash val="solid"/>
                          <a:round/>
                          <a:headEnd type="none" w="med" len="med"/>
                          <a:tailEnd type="none" w="med" len="med"/>
                        </a:lnB>
                      </a:tcPr>
                    </a:tc>
                    <a:extLst>
                      <a:ext uri="{0D108BD9-81ED-4DB2-BD59-A6C34878D82A}">
                        <a16:rowId xmlns:a16="http://schemas.microsoft.com/office/drawing/2014/main" val="842738182"/>
                      </a:ext>
                    </a:extLst>
                  </a:tr>
                </a:tbl>
              </a:graphicData>
            </a:graphic>
          </p:graphicFrame>
        </mc:Choice>
        <mc:Fallback xmlns="">
          <p:graphicFrame>
            <p:nvGraphicFramePr>
              <p:cNvPr id="11" name="Segnaposto contenuto 10">
                <a:extLst>
                  <a:ext uri="{FF2B5EF4-FFF2-40B4-BE49-F238E27FC236}">
                    <a16:creationId xmlns:a16="http://schemas.microsoft.com/office/drawing/2014/main" id="{71DF83D9-FF00-8DC4-EF2F-A708B15EC92F}"/>
                  </a:ext>
                </a:extLst>
              </p:cNvPr>
              <p:cNvGraphicFramePr>
                <a:graphicFrameLocks noGrp="1"/>
              </p:cNvGraphicFramePr>
              <p:nvPr>
                <p:ph idx="1"/>
                <p:extLst>
                  <p:ext uri="{D42A27DB-BD31-4B8C-83A1-F6EECF244321}">
                    <p14:modId xmlns:p14="http://schemas.microsoft.com/office/powerpoint/2010/main" val="3649525259"/>
                  </p:ext>
                </p:extLst>
              </p:nvPr>
            </p:nvGraphicFramePr>
            <p:xfrm>
              <a:off x="838200" y="2059186"/>
              <a:ext cx="10515600" cy="2776728"/>
            </p:xfrm>
            <a:graphic>
              <a:graphicData uri="http://schemas.openxmlformats.org/drawingml/2006/table">
                <a:tbl>
                  <a:tblPr firstRow="1" bandRow="1">
                    <a:tableStyleId>{5940675A-B579-460E-94D1-54222C63F5DA}</a:tableStyleId>
                  </a:tblPr>
                  <a:tblGrid>
                    <a:gridCol w="2103120">
                      <a:extLst>
                        <a:ext uri="{9D8B030D-6E8A-4147-A177-3AD203B41FA5}">
                          <a16:colId xmlns:a16="http://schemas.microsoft.com/office/drawing/2014/main" val="3834650750"/>
                        </a:ext>
                      </a:extLst>
                    </a:gridCol>
                    <a:gridCol w="1642712">
                      <a:extLst>
                        <a:ext uri="{9D8B030D-6E8A-4147-A177-3AD203B41FA5}">
                          <a16:colId xmlns:a16="http://schemas.microsoft.com/office/drawing/2014/main" val="1666825536"/>
                        </a:ext>
                      </a:extLst>
                    </a:gridCol>
                    <a:gridCol w="2358189">
                      <a:extLst>
                        <a:ext uri="{9D8B030D-6E8A-4147-A177-3AD203B41FA5}">
                          <a16:colId xmlns:a16="http://schemas.microsoft.com/office/drawing/2014/main" val="1022820918"/>
                        </a:ext>
                      </a:extLst>
                    </a:gridCol>
                    <a:gridCol w="2159446">
                      <a:extLst>
                        <a:ext uri="{9D8B030D-6E8A-4147-A177-3AD203B41FA5}">
                          <a16:colId xmlns:a16="http://schemas.microsoft.com/office/drawing/2014/main" val="2020566626"/>
                        </a:ext>
                      </a:extLst>
                    </a:gridCol>
                    <a:gridCol w="2252133">
                      <a:extLst>
                        <a:ext uri="{9D8B030D-6E8A-4147-A177-3AD203B41FA5}">
                          <a16:colId xmlns:a16="http://schemas.microsoft.com/office/drawing/2014/main" val="199116097"/>
                        </a:ext>
                      </a:extLst>
                    </a:gridCol>
                  </a:tblGrid>
                  <a:tr h="490728">
                    <a:tc>
                      <a:txBody>
                        <a:bodyPr/>
                        <a:lstStyle/>
                        <a:p>
                          <a:pPr algn="ctr"/>
                          <a:endParaRPr lang="it-IT" sz="2400" dirty="0"/>
                        </a:p>
                      </a:txBody>
                      <a:tcPr anchor="ctr">
                        <a:lnL w="12700" cap="flat" cmpd="sng" algn="ctr">
                          <a:no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28575" cap="flat" cmpd="sng" algn="ctr">
                          <a:solidFill>
                            <a:schemeClr val="tx1"/>
                          </a:solidFill>
                          <a:prstDash val="solid"/>
                          <a:round/>
                          <a:headEnd type="none" w="med" len="med"/>
                          <a:tailEnd type="none" w="med" len="med"/>
                        </a:lnB>
                      </a:tcPr>
                    </a:tc>
                    <a:tc>
                      <a:txBody>
                        <a:bodyPr/>
                        <a:lstStyle/>
                        <a:p>
                          <a:pPr algn="ctr"/>
                          <a:r>
                            <a:rPr lang="it-IT" sz="2400" b="1" dirty="0" err="1"/>
                            <a:t>run</a:t>
                          </a:r>
                          <a:endParaRPr lang="it-IT" sz="2400" b="1" dirty="0"/>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28575" cap="flat" cmpd="sng" algn="ctr">
                          <a:solidFill>
                            <a:schemeClr val="tx1"/>
                          </a:solidFill>
                          <a:prstDash val="solid"/>
                          <a:round/>
                          <a:headEnd type="none" w="med" len="med"/>
                          <a:tailEnd type="none" w="med" len="med"/>
                        </a:lnB>
                      </a:tcPr>
                    </a:tc>
                    <a:tc>
                      <a:txBody>
                        <a:bodyPr/>
                        <a:lstStyle/>
                        <a:p>
                          <a:endParaRPr lang="it-IT"/>
                        </a:p>
                      </a:txBody>
                      <a:tcPr anchor="ctr">
                        <a:lnL w="28575" cap="flat" cmpd="sng" algn="ctr">
                          <a:solidFill>
                            <a:schemeClr val="tx1"/>
                          </a:solidFill>
                          <a:prstDash val="solid"/>
                          <a:round/>
                          <a:headEnd type="none" w="med" len="med"/>
                          <a:tailEnd type="none" w="med" len="med"/>
                        </a:lnL>
                        <a:lnT w="12700" cap="flat" cmpd="sng" algn="ctr">
                          <a:noFill/>
                          <a:prstDash val="solid"/>
                          <a:round/>
                          <a:headEnd type="none" w="med" len="med"/>
                          <a:tailEnd type="none" w="med" len="med"/>
                        </a:lnT>
                        <a:lnB w="28575" cap="flat" cmpd="sng" algn="ctr">
                          <a:solidFill>
                            <a:schemeClr val="tx1"/>
                          </a:solidFill>
                          <a:prstDash val="solid"/>
                          <a:round/>
                          <a:headEnd type="none" w="med" len="med"/>
                          <a:tailEnd type="none" w="med" len="med"/>
                        </a:lnB>
                        <a:blipFill>
                          <a:blip r:embed="rId3"/>
                          <a:stretch>
                            <a:fillRect l="-158915" t="-4938" r="-187597" b="-466667"/>
                          </a:stretch>
                        </a:blipFill>
                      </a:tcPr>
                    </a:tc>
                    <a:tc>
                      <a:txBody>
                        <a:bodyPr/>
                        <a:lstStyle/>
                        <a:p>
                          <a:endParaRPr lang="it-IT"/>
                        </a:p>
                      </a:txBody>
                      <a:tcPr anchor="ctr">
                        <a:lnT w="12700" cap="flat" cmpd="sng" algn="ctr">
                          <a:noFill/>
                          <a:prstDash val="solid"/>
                          <a:round/>
                          <a:headEnd type="none" w="med" len="med"/>
                          <a:tailEnd type="none" w="med" len="med"/>
                        </a:lnT>
                        <a:lnB w="28575" cap="flat" cmpd="sng" algn="ctr">
                          <a:solidFill>
                            <a:schemeClr val="tx1"/>
                          </a:solidFill>
                          <a:prstDash val="solid"/>
                          <a:round/>
                          <a:headEnd type="none" w="med" len="med"/>
                          <a:tailEnd type="none" w="med" len="med"/>
                        </a:lnB>
                        <a:blipFill>
                          <a:blip r:embed="rId3"/>
                          <a:stretch>
                            <a:fillRect l="-283051" t="-4938" r="-105085" b="-466667"/>
                          </a:stretch>
                        </a:blipFill>
                      </a:tcPr>
                    </a:tc>
                    <a:tc>
                      <a:txBody>
                        <a:bodyPr/>
                        <a:lstStyle/>
                        <a:p>
                          <a:endParaRPr lang="it-IT"/>
                        </a:p>
                      </a:txBody>
                      <a:tcPr anchor="ctr">
                        <a:lnR w="12700" cap="flat" cmpd="sng" algn="ctr">
                          <a:noFill/>
                          <a:prstDash val="solid"/>
                          <a:round/>
                          <a:headEnd type="none" w="med" len="med"/>
                          <a:tailEnd type="none" w="med" len="med"/>
                        </a:lnR>
                        <a:lnT w="12700" cap="flat" cmpd="sng" algn="ctr">
                          <a:noFill/>
                          <a:prstDash val="solid"/>
                          <a:round/>
                          <a:headEnd type="none" w="med" len="med"/>
                          <a:tailEnd type="none" w="med" len="med"/>
                        </a:lnT>
                        <a:lnB w="28575" cap="flat" cmpd="sng" algn="ctr">
                          <a:solidFill>
                            <a:schemeClr val="tx1"/>
                          </a:solidFill>
                          <a:prstDash val="solid"/>
                          <a:round/>
                          <a:headEnd type="none" w="med" len="med"/>
                          <a:tailEnd type="none" w="med" len="med"/>
                        </a:lnB>
                        <a:blipFill>
                          <a:blip r:embed="rId3"/>
                          <a:stretch>
                            <a:fillRect l="-366486" t="-4938" r="-541" b="-466667"/>
                          </a:stretch>
                        </a:blipFill>
                      </a:tcPr>
                    </a:tc>
                    <a:extLst>
                      <a:ext uri="{0D108BD9-81ED-4DB2-BD59-A6C34878D82A}">
                        <a16:rowId xmlns:a16="http://schemas.microsoft.com/office/drawing/2014/main" val="2436405646"/>
                      </a:ext>
                    </a:extLst>
                  </a:tr>
                  <a:tr h="457200">
                    <a:tc rowSpan="3">
                      <a:txBody>
                        <a:bodyPr/>
                        <a:lstStyle/>
                        <a:p>
                          <a:pPr algn="ctr"/>
                          <a:r>
                            <a:rPr lang="it-IT" sz="2400" dirty="0"/>
                            <a:t>Long </a:t>
                          </a:r>
                          <a:r>
                            <a:rPr lang="it-IT" sz="2400" dirty="0" err="1"/>
                            <a:t>crystal</a:t>
                          </a:r>
                          <a:r>
                            <a:rPr lang="it-IT" sz="2400" dirty="0"/>
                            <a:t> 1</a:t>
                          </a:r>
                        </a:p>
                      </a:txBody>
                      <a:tcPr anchor="ctr">
                        <a:lnL w="12700" cap="flat" cmpd="sng" algn="ctr">
                          <a:no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tcPr>
                    </a:tc>
                    <a:tc>
                      <a:txBody>
                        <a:bodyPr/>
                        <a:lstStyle/>
                        <a:p>
                          <a:endParaRPr lang="it-IT"/>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blipFill>
                          <a:blip r:embed="rId3"/>
                          <a:stretch>
                            <a:fillRect l="-127778" t="-113333" r="-412222" b="-404000"/>
                          </a:stretch>
                        </a:blipFill>
                      </a:tcPr>
                    </a:tc>
                    <a:tc>
                      <a:txBody>
                        <a:bodyPr/>
                        <a:lstStyle/>
                        <a:p>
                          <a:endParaRPr lang="it-IT"/>
                        </a:p>
                      </a:txBody>
                      <a:tcPr anchor="ctr">
                        <a:lnL w="28575" cap="flat" cmpd="sng" algn="ctr">
                          <a:solidFill>
                            <a:schemeClr val="tx1"/>
                          </a:solidFill>
                          <a:prstDash val="solid"/>
                          <a:round/>
                          <a:headEnd type="none" w="med" len="med"/>
                          <a:tailEnd type="none" w="med" len="med"/>
                        </a:lnL>
                        <a:lnT w="28575" cap="flat" cmpd="sng" algn="ctr">
                          <a:solidFill>
                            <a:schemeClr val="tx1"/>
                          </a:solidFill>
                          <a:prstDash val="solid"/>
                          <a:round/>
                          <a:headEnd type="none" w="med" len="med"/>
                          <a:tailEnd type="none" w="med" len="med"/>
                        </a:lnT>
                        <a:blipFill>
                          <a:blip r:embed="rId3"/>
                          <a:stretch>
                            <a:fillRect l="-158915" t="-113333" r="-187597" b="-404000"/>
                          </a:stretch>
                        </a:blipFill>
                      </a:tcPr>
                    </a:tc>
                    <a:tc>
                      <a:txBody>
                        <a:bodyPr/>
                        <a:lstStyle/>
                        <a:p>
                          <a:endParaRPr lang="it-IT"/>
                        </a:p>
                      </a:txBody>
                      <a:tcPr anchor="ctr">
                        <a:lnT w="28575" cap="flat" cmpd="sng" algn="ctr">
                          <a:solidFill>
                            <a:schemeClr val="tx1"/>
                          </a:solidFill>
                          <a:prstDash val="solid"/>
                          <a:round/>
                          <a:headEnd type="none" w="med" len="med"/>
                          <a:tailEnd type="none" w="med" len="med"/>
                        </a:lnT>
                        <a:blipFill>
                          <a:blip r:embed="rId3"/>
                          <a:stretch>
                            <a:fillRect l="-283051" t="-113333" r="-105085" b="-404000"/>
                          </a:stretch>
                        </a:blipFill>
                      </a:tcPr>
                    </a:tc>
                    <a:tc>
                      <a:txBody>
                        <a:bodyPr/>
                        <a:lstStyle/>
                        <a:p>
                          <a:endParaRPr lang="it-IT"/>
                        </a:p>
                      </a:txBody>
                      <a:tcPr anchor="ctr">
                        <a:lnR w="12700" cap="flat" cmpd="sng" algn="ctr">
                          <a:noFill/>
                          <a:prstDash val="solid"/>
                          <a:round/>
                          <a:headEnd type="none" w="med" len="med"/>
                          <a:tailEnd type="none" w="med" len="med"/>
                        </a:lnR>
                        <a:lnT w="28575" cap="flat" cmpd="sng" algn="ctr">
                          <a:solidFill>
                            <a:schemeClr val="tx1"/>
                          </a:solidFill>
                          <a:prstDash val="solid"/>
                          <a:round/>
                          <a:headEnd type="none" w="med" len="med"/>
                          <a:tailEnd type="none" w="med" len="med"/>
                        </a:lnT>
                        <a:blipFill>
                          <a:blip r:embed="rId3"/>
                          <a:stretch>
                            <a:fillRect l="-366486" t="-113333" r="-541" b="-404000"/>
                          </a:stretch>
                        </a:blipFill>
                      </a:tcPr>
                    </a:tc>
                    <a:extLst>
                      <a:ext uri="{0D108BD9-81ED-4DB2-BD59-A6C34878D82A}">
                        <a16:rowId xmlns:a16="http://schemas.microsoft.com/office/drawing/2014/main" val="1529356210"/>
                      </a:ext>
                    </a:extLst>
                  </a:tr>
                  <a:tr h="457200">
                    <a:tc vMerge="1">
                      <a:txBody>
                        <a:bodyPr/>
                        <a:lstStyle/>
                        <a:p>
                          <a:endParaRPr lang="it-IT" dirty="0"/>
                        </a:p>
                      </a:txBody>
                      <a:tcPr/>
                    </a:tc>
                    <a:tc>
                      <a:txBody>
                        <a:bodyPr/>
                        <a:lstStyle/>
                        <a:p>
                          <a:endParaRPr lang="it-IT"/>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blipFill>
                          <a:blip r:embed="rId3"/>
                          <a:stretch>
                            <a:fillRect l="-127778" t="-213333" r="-412222" b="-304000"/>
                          </a:stretch>
                        </a:blipFill>
                      </a:tcPr>
                    </a:tc>
                    <a:tc>
                      <a:txBody>
                        <a:bodyPr/>
                        <a:lstStyle/>
                        <a:p>
                          <a:endParaRPr lang="it-IT"/>
                        </a:p>
                      </a:txBody>
                      <a:tcPr anchor="ctr">
                        <a:lnL w="28575" cap="flat" cmpd="sng" algn="ctr">
                          <a:solidFill>
                            <a:schemeClr val="tx1"/>
                          </a:solidFill>
                          <a:prstDash val="solid"/>
                          <a:round/>
                          <a:headEnd type="none" w="med" len="med"/>
                          <a:tailEnd type="none" w="med" len="med"/>
                        </a:lnL>
                        <a:blipFill>
                          <a:blip r:embed="rId3"/>
                          <a:stretch>
                            <a:fillRect l="-158915" t="-213333" r="-187597" b="-304000"/>
                          </a:stretch>
                        </a:blipFill>
                      </a:tcPr>
                    </a:tc>
                    <a:tc>
                      <a:txBody>
                        <a:bodyPr/>
                        <a:lstStyle/>
                        <a:p>
                          <a:endParaRPr lang="it-IT"/>
                        </a:p>
                      </a:txBody>
                      <a:tcPr anchor="ctr">
                        <a:blipFill>
                          <a:blip r:embed="rId3"/>
                          <a:stretch>
                            <a:fillRect l="-283051" t="-213333" r="-105085" b="-304000"/>
                          </a:stretch>
                        </a:blipFill>
                      </a:tcPr>
                    </a:tc>
                    <a:tc>
                      <a:txBody>
                        <a:bodyPr/>
                        <a:lstStyle/>
                        <a:p>
                          <a:endParaRPr lang="it-IT"/>
                        </a:p>
                      </a:txBody>
                      <a:tcPr anchor="ctr">
                        <a:lnR w="12700" cap="flat" cmpd="sng" algn="ctr">
                          <a:noFill/>
                          <a:prstDash val="solid"/>
                          <a:round/>
                          <a:headEnd type="none" w="med" len="med"/>
                          <a:tailEnd type="none" w="med" len="med"/>
                        </a:lnR>
                        <a:blipFill>
                          <a:blip r:embed="rId3"/>
                          <a:stretch>
                            <a:fillRect l="-366486" t="-213333" r="-541" b="-304000"/>
                          </a:stretch>
                        </a:blipFill>
                      </a:tcPr>
                    </a:tc>
                    <a:extLst>
                      <a:ext uri="{0D108BD9-81ED-4DB2-BD59-A6C34878D82A}">
                        <a16:rowId xmlns:a16="http://schemas.microsoft.com/office/drawing/2014/main" val="348010959"/>
                      </a:ext>
                    </a:extLst>
                  </a:tr>
                  <a:tr h="457200">
                    <a:tc vMerge="1">
                      <a:txBody>
                        <a:bodyPr/>
                        <a:lstStyle/>
                        <a:p>
                          <a:endParaRPr lang="it-IT" dirty="0"/>
                        </a:p>
                      </a:txBody>
                      <a:tcPr/>
                    </a:tc>
                    <a:tc>
                      <a:txBody>
                        <a:bodyPr/>
                        <a:lstStyle/>
                        <a:p>
                          <a:endParaRPr lang="it-IT"/>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B w="28575" cap="flat" cmpd="sng" algn="ctr">
                          <a:solidFill>
                            <a:schemeClr val="tx1"/>
                          </a:solidFill>
                          <a:prstDash val="solid"/>
                          <a:round/>
                          <a:headEnd type="none" w="med" len="med"/>
                          <a:tailEnd type="none" w="med" len="med"/>
                        </a:lnB>
                        <a:blipFill>
                          <a:blip r:embed="rId3"/>
                          <a:stretch>
                            <a:fillRect l="-127778" t="-309211" r="-412222" b="-200000"/>
                          </a:stretch>
                        </a:blipFill>
                      </a:tcPr>
                    </a:tc>
                    <a:tc>
                      <a:txBody>
                        <a:bodyPr/>
                        <a:lstStyle/>
                        <a:p>
                          <a:endParaRPr lang="it-IT"/>
                        </a:p>
                      </a:txBody>
                      <a:tcPr anchor="ctr">
                        <a:lnL w="28575" cap="flat" cmpd="sng" algn="ctr">
                          <a:solidFill>
                            <a:schemeClr val="tx1"/>
                          </a:solidFill>
                          <a:prstDash val="solid"/>
                          <a:round/>
                          <a:headEnd type="none" w="med" len="med"/>
                          <a:tailEnd type="none" w="med" len="med"/>
                        </a:lnL>
                        <a:lnB w="28575" cap="flat" cmpd="sng" algn="ctr">
                          <a:solidFill>
                            <a:schemeClr val="tx1"/>
                          </a:solidFill>
                          <a:prstDash val="solid"/>
                          <a:round/>
                          <a:headEnd type="none" w="med" len="med"/>
                          <a:tailEnd type="none" w="med" len="med"/>
                        </a:lnB>
                        <a:blipFill>
                          <a:blip r:embed="rId3"/>
                          <a:stretch>
                            <a:fillRect l="-158915" t="-309211" r="-187597" b="-200000"/>
                          </a:stretch>
                        </a:blipFill>
                      </a:tcPr>
                    </a:tc>
                    <a:tc>
                      <a:txBody>
                        <a:bodyPr/>
                        <a:lstStyle/>
                        <a:p>
                          <a:endParaRPr lang="it-IT"/>
                        </a:p>
                      </a:txBody>
                      <a:tcPr anchor="ctr">
                        <a:lnB w="28575" cap="flat" cmpd="sng" algn="ctr">
                          <a:solidFill>
                            <a:schemeClr val="tx1"/>
                          </a:solidFill>
                          <a:prstDash val="solid"/>
                          <a:round/>
                          <a:headEnd type="none" w="med" len="med"/>
                          <a:tailEnd type="none" w="med" len="med"/>
                        </a:lnB>
                        <a:blipFill>
                          <a:blip r:embed="rId3"/>
                          <a:stretch>
                            <a:fillRect l="-283051" t="-309211" r="-105085" b="-200000"/>
                          </a:stretch>
                        </a:blipFill>
                      </a:tcPr>
                    </a:tc>
                    <a:tc>
                      <a:txBody>
                        <a:bodyPr/>
                        <a:lstStyle/>
                        <a:p>
                          <a:endParaRPr lang="it-IT"/>
                        </a:p>
                      </a:txBody>
                      <a:tcPr anchor="ctr">
                        <a:lnR w="12700" cap="flat" cmpd="sng" algn="ctr">
                          <a:noFill/>
                          <a:prstDash val="solid"/>
                          <a:round/>
                          <a:headEnd type="none" w="med" len="med"/>
                          <a:tailEnd type="none" w="med" len="med"/>
                        </a:lnR>
                        <a:lnB w="28575" cap="flat" cmpd="sng" algn="ctr">
                          <a:solidFill>
                            <a:schemeClr val="tx1"/>
                          </a:solidFill>
                          <a:prstDash val="solid"/>
                          <a:round/>
                          <a:headEnd type="none" w="med" len="med"/>
                          <a:tailEnd type="none" w="med" len="med"/>
                        </a:lnB>
                        <a:blipFill>
                          <a:blip r:embed="rId3"/>
                          <a:stretch>
                            <a:fillRect l="-366486" t="-309211" r="-541" b="-200000"/>
                          </a:stretch>
                        </a:blipFill>
                      </a:tcPr>
                    </a:tc>
                    <a:extLst>
                      <a:ext uri="{0D108BD9-81ED-4DB2-BD59-A6C34878D82A}">
                        <a16:rowId xmlns:a16="http://schemas.microsoft.com/office/drawing/2014/main" val="3053670846"/>
                      </a:ext>
                    </a:extLst>
                  </a:tr>
                  <a:tr h="457200">
                    <a:tc rowSpan="2">
                      <a:txBody>
                        <a:bodyPr/>
                        <a:lstStyle/>
                        <a:p>
                          <a:pPr algn="ctr"/>
                          <a:r>
                            <a:rPr lang="it-IT" sz="2400" dirty="0"/>
                            <a:t>Long </a:t>
                          </a:r>
                          <a:r>
                            <a:rPr lang="it-IT" sz="2400" dirty="0" err="1"/>
                            <a:t>crystal</a:t>
                          </a:r>
                          <a:r>
                            <a:rPr lang="it-IT" sz="2400" dirty="0"/>
                            <a:t> 2</a:t>
                          </a:r>
                        </a:p>
                      </a:txBody>
                      <a:tcPr anchor="ctr">
                        <a:lnL w="12700" cap="flat" cmpd="sng" algn="ctr">
                          <a:no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endParaRPr lang="it-IT"/>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blipFill>
                          <a:blip r:embed="rId3"/>
                          <a:stretch>
                            <a:fillRect l="-127778" t="-414667" r="-412222" b="-102667"/>
                          </a:stretch>
                        </a:blipFill>
                      </a:tcPr>
                    </a:tc>
                    <a:tc>
                      <a:txBody>
                        <a:bodyPr/>
                        <a:lstStyle/>
                        <a:p>
                          <a:endParaRPr lang="it-IT"/>
                        </a:p>
                      </a:txBody>
                      <a:tcPr anchor="ctr">
                        <a:lnL w="28575" cap="flat" cmpd="sng" algn="ctr">
                          <a:solidFill>
                            <a:schemeClr val="tx1"/>
                          </a:solidFill>
                          <a:prstDash val="solid"/>
                          <a:round/>
                          <a:headEnd type="none" w="med" len="med"/>
                          <a:tailEnd type="none" w="med" len="med"/>
                        </a:lnL>
                        <a:lnT w="28575" cap="flat" cmpd="sng" algn="ctr">
                          <a:solidFill>
                            <a:schemeClr val="tx1"/>
                          </a:solidFill>
                          <a:prstDash val="solid"/>
                          <a:round/>
                          <a:headEnd type="none" w="med" len="med"/>
                          <a:tailEnd type="none" w="med" len="med"/>
                        </a:lnT>
                        <a:blipFill>
                          <a:blip r:embed="rId3"/>
                          <a:stretch>
                            <a:fillRect l="-158915" t="-414667" r="-187597" b="-102667"/>
                          </a:stretch>
                        </a:blipFill>
                      </a:tcPr>
                    </a:tc>
                    <a:tc>
                      <a:txBody>
                        <a:bodyPr/>
                        <a:lstStyle/>
                        <a:p>
                          <a:endParaRPr lang="it-IT"/>
                        </a:p>
                      </a:txBody>
                      <a:tcPr anchor="ctr">
                        <a:lnT w="28575" cap="flat" cmpd="sng" algn="ctr">
                          <a:solidFill>
                            <a:schemeClr val="tx1"/>
                          </a:solidFill>
                          <a:prstDash val="solid"/>
                          <a:round/>
                          <a:headEnd type="none" w="med" len="med"/>
                          <a:tailEnd type="none" w="med" len="med"/>
                        </a:lnT>
                        <a:blipFill>
                          <a:blip r:embed="rId3"/>
                          <a:stretch>
                            <a:fillRect l="-283051" t="-414667" r="-105085" b="-102667"/>
                          </a:stretch>
                        </a:blipFill>
                      </a:tcPr>
                    </a:tc>
                    <a:tc>
                      <a:txBody>
                        <a:bodyPr/>
                        <a:lstStyle/>
                        <a:p>
                          <a:endParaRPr lang="it-IT"/>
                        </a:p>
                      </a:txBody>
                      <a:tcPr anchor="ctr">
                        <a:lnR w="12700" cap="flat" cmpd="sng" algn="ctr">
                          <a:noFill/>
                          <a:prstDash val="solid"/>
                          <a:round/>
                          <a:headEnd type="none" w="med" len="med"/>
                          <a:tailEnd type="none" w="med" len="med"/>
                        </a:lnR>
                        <a:lnT w="28575" cap="flat" cmpd="sng" algn="ctr">
                          <a:solidFill>
                            <a:schemeClr val="tx1"/>
                          </a:solidFill>
                          <a:prstDash val="solid"/>
                          <a:round/>
                          <a:headEnd type="none" w="med" len="med"/>
                          <a:tailEnd type="none" w="med" len="med"/>
                        </a:lnT>
                        <a:blipFill>
                          <a:blip r:embed="rId3"/>
                          <a:stretch>
                            <a:fillRect l="-366486" t="-414667" r="-541" b="-102667"/>
                          </a:stretch>
                        </a:blipFill>
                      </a:tcPr>
                    </a:tc>
                    <a:extLst>
                      <a:ext uri="{0D108BD9-81ED-4DB2-BD59-A6C34878D82A}">
                        <a16:rowId xmlns:a16="http://schemas.microsoft.com/office/drawing/2014/main" val="3544524089"/>
                      </a:ext>
                    </a:extLst>
                  </a:tr>
                  <a:tr h="457200">
                    <a:tc vMerge="1">
                      <a:txBody>
                        <a:bodyPr/>
                        <a:lstStyle/>
                        <a:p>
                          <a:endParaRPr lang="it-IT" dirty="0"/>
                        </a:p>
                      </a:txBody>
                      <a:tcPr/>
                    </a:tc>
                    <a:tc>
                      <a:txBody>
                        <a:bodyPr/>
                        <a:lstStyle/>
                        <a:p>
                          <a:endParaRPr lang="it-IT"/>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B w="12700" cap="flat" cmpd="sng" algn="ctr">
                          <a:noFill/>
                          <a:prstDash val="solid"/>
                          <a:round/>
                          <a:headEnd type="none" w="med" len="med"/>
                          <a:tailEnd type="none" w="med" len="med"/>
                        </a:lnB>
                        <a:blipFill>
                          <a:blip r:embed="rId3"/>
                          <a:stretch>
                            <a:fillRect l="-127778" t="-514667" r="-412222" b="-2667"/>
                          </a:stretch>
                        </a:blipFill>
                      </a:tcPr>
                    </a:tc>
                    <a:tc>
                      <a:txBody>
                        <a:bodyPr/>
                        <a:lstStyle/>
                        <a:p>
                          <a:endParaRPr lang="it-IT"/>
                        </a:p>
                      </a:txBody>
                      <a:tcPr anchor="ctr">
                        <a:lnL w="28575" cap="flat" cmpd="sng" algn="ctr">
                          <a:solidFill>
                            <a:schemeClr val="tx1"/>
                          </a:solidFill>
                          <a:prstDash val="solid"/>
                          <a:round/>
                          <a:headEnd type="none" w="med" len="med"/>
                          <a:tailEnd type="none" w="med" len="med"/>
                        </a:lnL>
                        <a:lnB w="12700" cap="flat" cmpd="sng" algn="ctr">
                          <a:noFill/>
                          <a:prstDash val="solid"/>
                          <a:round/>
                          <a:headEnd type="none" w="med" len="med"/>
                          <a:tailEnd type="none" w="med" len="med"/>
                        </a:lnB>
                        <a:blipFill>
                          <a:blip r:embed="rId3"/>
                          <a:stretch>
                            <a:fillRect l="-158915" t="-514667" r="-187597" b="-2667"/>
                          </a:stretch>
                        </a:blipFill>
                      </a:tcPr>
                    </a:tc>
                    <a:tc>
                      <a:txBody>
                        <a:bodyPr/>
                        <a:lstStyle/>
                        <a:p>
                          <a:endParaRPr lang="it-IT"/>
                        </a:p>
                      </a:txBody>
                      <a:tcPr anchor="ctr">
                        <a:lnB w="12700" cap="flat" cmpd="sng" algn="ctr">
                          <a:noFill/>
                          <a:prstDash val="solid"/>
                          <a:round/>
                          <a:headEnd type="none" w="med" len="med"/>
                          <a:tailEnd type="none" w="med" len="med"/>
                        </a:lnB>
                        <a:blipFill>
                          <a:blip r:embed="rId3"/>
                          <a:stretch>
                            <a:fillRect l="-283051" t="-514667" r="-105085" b="-2667"/>
                          </a:stretch>
                        </a:blipFill>
                      </a:tcPr>
                    </a:tc>
                    <a:tc>
                      <a:txBody>
                        <a:bodyPr/>
                        <a:lstStyle/>
                        <a:p>
                          <a:endParaRPr lang="it-IT"/>
                        </a:p>
                      </a:txBody>
                      <a:tcPr anchor="ctr">
                        <a:lnR w="12700" cap="flat" cmpd="sng" algn="ctr">
                          <a:noFill/>
                          <a:prstDash val="solid"/>
                          <a:round/>
                          <a:headEnd type="none" w="med" len="med"/>
                          <a:tailEnd type="none" w="med" len="med"/>
                        </a:lnR>
                        <a:lnB w="12700" cap="flat" cmpd="sng" algn="ctr">
                          <a:noFill/>
                          <a:prstDash val="solid"/>
                          <a:round/>
                          <a:headEnd type="none" w="med" len="med"/>
                          <a:tailEnd type="none" w="med" len="med"/>
                        </a:lnB>
                        <a:blipFill>
                          <a:blip r:embed="rId3"/>
                          <a:stretch>
                            <a:fillRect l="-366486" t="-514667" r="-541" b="-2667"/>
                          </a:stretch>
                        </a:blipFill>
                      </a:tcPr>
                    </a:tc>
                    <a:extLst>
                      <a:ext uri="{0D108BD9-81ED-4DB2-BD59-A6C34878D82A}">
                        <a16:rowId xmlns:a16="http://schemas.microsoft.com/office/drawing/2014/main" val="842738182"/>
                      </a:ext>
                    </a:extLst>
                  </a:tr>
                </a:tbl>
              </a:graphicData>
            </a:graphic>
          </p:graphicFrame>
        </mc:Fallback>
      </mc:AlternateContent>
    </p:spTree>
    <p:extLst>
      <p:ext uri="{BB962C8B-B14F-4D97-AF65-F5344CB8AC3E}">
        <p14:creationId xmlns:p14="http://schemas.microsoft.com/office/powerpoint/2010/main" val="368323354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028AE4-22DD-C84D-6B99-6B8F166EAC21}"/>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22E230AE-9326-DFD6-E766-34D542C75E59}"/>
              </a:ext>
            </a:extLst>
          </p:cNvPr>
          <p:cNvSpPr>
            <a:spLocks noGrp="1"/>
          </p:cNvSpPr>
          <p:nvPr>
            <p:ph type="title"/>
          </p:nvPr>
        </p:nvSpPr>
        <p:spPr>
          <a:xfrm>
            <a:off x="38100" y="69651"/>
            <a:ext cx="12114000" cy="1153094"/>
          </a:xfrm>
          <a:prstGeom prst="roundRect">
            <a:avLst>
              <a:gd name="adj" fmla="val 36459"/>
            </a:avLst>
          </a:prstGeom>
          <a:noFill/>
        </p:spPr>
        <p:txBody>
          <a:bodyPr>
            <a:normAutofit/>
          </a:bodyPr>
          <a:lstStyle/>
          <a:p>
            <a:r>
              <a:rPr lang="it-IT" b="1" dirty="0">
                <a:solidFill>
                  <a:srgbClr val="002060"/>
                </a:solidFill>
              </a:rPr>
              <a:t>	4. RESULTS</a:t>
            </a:r>
          </a:p>
        </p:txBody>
      </p:sp>
      <p:sp>
        <p:nvSpPr>
          <p:cNvPr id="4" name="Segnaposto data 3">
            <a:extLst>
              <a:ext uri="{FF2B5EF4-FFF2-40B4-BE49-F238E27FC236}">
                <a16:creationId xmlns:a16="http://schemas.microsoft.com/office/drawing/2014/main" id="{EBC65657-D6AD-1A90-0352-400511BB48CC}"/>
              </a:ext>
            </a:extLst>
          </p:cNvPr>
          <p:cNvSpPr>
            <a:spLocks noGrp="1"/>
          </p:cNvSpPr>
          <p:nvPr>
            <p:ph type="dt" sz="half" idx="10"/>
          </p:nvPr>
        </p:nvSpPr>
        <p:spPr>
          <a:xfrm>
            <a:off x="838200" y="6356349"/>
            <a:ext cx="2743200" cy="432000"/>
          </a:xfrm>
        </p:spPr>
        <p:txBody>
          <a:bodyPr/>
          <a:lstStyle/>
          <a:p>
            <a:r>
              <a:rPr lang="it-IT" sz="1500" b="1" dirty="0">
                <a:solidFill>
                  <a:srgbClr val="002060"/>
                </a:solidFill>
              </a:rPr>
              <a:t>24.08.2026</a:t>
            </a:r>
          </a:p>
        </p:txBody>
      </p:sp>
      <p:sp>
        <p:nvSpPr>
          <p:cNvPr id="5" name="Segnaposto piè di pagina 4">
            <a:extLst>
              <a:ext uri="{FF2B5EF4-FFF2-40B4-BE49-F238E27FC236}">
                <a16:creationId xmlns:a16="http://schemas.microsoft.com/office/drawing/2014/main" id="{09D64C05-16B6-4D7B-A9DF-CB4A2F1824BE}"/>
              </a:ext>
            </a:extLst>
          </p:cNvPr>
          <p:cNvSpPr>
            <a:spLocks noGrp="1"/>
          </p:cNvSpPr>
          <p:nvPr>
            <p:ph type="ftr" sz="quarter" idx="11"/>
          </p:nvPr>
        </p:nvSpPr>
        <p:spPr>
          <a:xfrm>
            <a:off x="0" y="6356349"/>
            <a:ext cx="12192000" cy="432000"/>
          </a:xfrm>
        </p:spPr>
        <p:txBody>
          <a:bodyPr/>
          <a:lstStyle/>
          <a:p>
            <a:r>
              <a:rPr lang="it-IT" sz="1500" b="1" dirty="0">
                <a:solidFill>
                  <a:srgbClr val="002060"/>
                </a:solidFill>
              </a:rPr>
              <a:t>Anna Sofia Moro</a:t>
            </a:r>
          </a:p>
        </p:txBody>
      </p:sp>
      <p:sp>
        <p:nvSpPr>
          <p:cNvPr id="6" name="Segnaposto numero diapositiva 5">
            <a:extLst>
              <a:ext uri="{FF2B5EF4-FFF2-40B4-BE49-F238E27FC236}">
                <a16:creationId xmlns:a16="http://schemas.microsoft.com/office/drawing/2014/main" id="{0BCA64BA-AFA7-136B-BDC7-CDF6F73E0791}"/>
              </a:ext>
            </a:extLst>
          </p:cNvPr>
          <p:cNvSpPr>
            <a:spLocks noGrp="1"/>
          </p:cNvSpPr>
          <p:nvPr>
            <p:ph type="sldNum" sz="quarter" idx="12"/>
          </p:nvPr>
        </p:nvSpPr>
        <p:spPr>
          <a:xfrm>
            <a:off x="8610600" y="6356349"/>
            <a:ext cx="2743200" cy="432000"/>
          </a:xfrm>
        </p:spPr>
        <p:txBody>
          <a:bodyPr/>
          <a:lstStyle/>
          <a:p>
            <a:fld id="{0A318BD9-CA14-4A83-ACF0-03D5918EB402}" type="slidenum">
              <a:rPr lang="it-IT" sz="1500" b="1" smtClean="0">
                <a:solidFill>
                  <a:srgbClr val="002060"/>
                </a:solidFill>
              </a:rPr>
              <a:t>23</a:t>
            </a:fld>
            <a:endParaRPr lang="it-IT" sz="1500" b="1" dirty="0">
              <a:solidFill>
                <a:srgbClr val="002060"/>
              </a:solidFill>
            </a:endParaRPr>
          </a:p>
        </p:txBody>
      </p:sp>
      <p:cxnSp>
        <p:nvCxnSpPr>
          <p:cNvPr id="10" name="Connettore diritto 9">
            <a:extLst>
              <a:ext uri="{FF2B5EF4-FFF2-40B4-BE49-F238E27FC236}">
                <a16:creationId xmlns:a16="http://schemas.microsoft.com/office/drawing/2014/main" id="{88305F19-5DA9-0789-9A3D-B5DE30A01643}"/>
              </a:ext>
            </a:extLst>
          </p:cNvPr>
          <p:cNvCxnSpPr>
            <a:cxnSpLocks/>
          </p:cNvCxnSpPr>
          <p:nvPr/>
        </p:nvCxnSpPr>
        <p:spPr>
          <a:xfrm>
            <a:off x="696000" y="1155368"/>
            <a:ext cx="10800000" cy="0"/>
          </a:xfrm>
          <a:prstGeom prst="line">
            <a:avLst/>
          </a:prstGeom>
          <a:ln w="38100">
            <a:solidFill>
              <a:srgbClr val="002060"/>
            </a:solidFill>
          </a:ln>
        </p:spPr>
        <p:style>
          <a:lnRef idx="2">
            <a:schemeClr val="accent1"/>
          </a:lnRef>
          <a:fillRef idx="0">
            <a:schemeClr val="accent1"/>
          </a:fillRef>
          <a:effectRef idx="1">
            <a:schemeClr val="accent1"/>
          </a:effectRef>
          <a:fontRef idx="minor">
            <a:schemeClr val="tx1"/>
          </a:fontRef>
        </p:style>
      </p:cxnSp>
      <p:sp>
        <p:nvSpPr>
          <p:cNvPr id="13" name="CasellaDiTesto 12">
            <a:extLst>
              <a:ext uri="{FF2B5EF4-FFF2-40B4-BE49-F238E27FC236}">
                <a16:creationId xmlns:a16="http://schemas.microsoft.com/office/drawing/2014/main" id="{54ADF62F-16BF-5959-2E42-8AF5FC5668E7}"/>
              </a:ext>
            </a:extLst>
          </p:cNvPr>
          <p:cNvSpPr txBox="1"/>
          <p:nvPr/>
        </p:nvSpPr>
        <p:spPr>
          <a:xfrm>
            <a:off x="3048886" y="3244334"/>
            <a:ext cx="6097772" cy="369332"/>
          </a:xfrm>
          <a:prstGeom prst="rect">
            <a:avLst/>
          </a:prstGeom>
          <a:noFill/>
        </p:spPr>
        <p:txBody>
          <a:bodyPr wrap="square">
            <a:spAutoFit/>
          </a:bodyPr>
          <a:lstStyle/>
          <a:p>
            <a:endParaRPr lang="it-IT" dirty="0"/>
          </a:p>
        </p:txBody>
      </p:sp>
      <p:sp>
        <p:nvSpPr>
          <p:cNvPr id="15" name="CasellaDiTesto 14">
            <a:extLst>
              <a:ext uri="{FF2B5EF4-FFF2-40B4-BE49-F238E27FC236}">
                <a16:creationId xmlns:a16="http://schemas.microsoft.com/office/drawing/2014/main" id="{1B513348-9F2B-B81E-DEF8-95243544830F}"/>
              </a:ext>
            </a:extLst>
          </p:cNvPr>
          <p:cNvSpPr txBox="1"/>
          <p:nvPr/>
        </p:nvSpPr>
        <p:spPr>
          <a:xfrm>
            <a:off x="3048886" y="3244334"/>
            <a:ext cx="6097772" cy="369332"/>
          </a:xfrm>
          <a:prstGeom prst="rect">
            <a:avLst/>
          </a:prstGeom>
          <a:noFill/>
        </p:spPr>
        <p:txBody>
          <a:bodyPr wrap="square">
            <a:spAutoFit/>
          </a:bodyPr>
          <a:lstStyle/>
          <a:p>
            <a:endParaRPr lang="it-IT" dirty="0"/>
          </a:p>
        </p:txBody>
      </p:sp>
      <mc:AlternateContent xmlns:mc="http://schemas.openxmlformats.org/markup-compatibility/2006" xmlns:a14="http://schemas.microsoft.com/office/drawing/2010/main">
        <mc:Choice Requires="a14">
          <p:graphicFrame>
            <p:nvGraphicFramePr>
              <p:cNvPr id="11" name="Segnaposto contenuto 10">
                <a:extLst>
                  <a:ext uri="{FF2B5EF4-FFF2-40B4-BE49-F238E27FC236}">
                    <a16:creationId xmlns:a16="http://schemas.microsoft.com/office/drawing/2014/main" id="{8D0382F8-3035-3E53-A226-7D6F37EDAD33}"/>
                  </a:ext>
                </a:extLst>
              </p:cNvPr>
              <p:cNvGraphicFramePr>
                <a:graphicFrameLocks noGrp="1"/>
              </p:cNvGraphicFramePr>
              <p:nvPr>
                <p:ph idx="1"/>
                <p:extLst>
                  <p:ext uri="{D42A27DB-BD31-4B8C-83A1-F6EECF244321}">
                    <p14:modId xmlns:p14="http://schemas.microsoft.com/office/powerpoint/2010/main" val="3902674871"/>
                  </p:ext>
                </p:extLst>
              </p:nvPr>
            </p:nvGraphicFramePr>
            <p:xfrm>
              <a:off x="838200" y="2059186"/>
              <a:ext cx="10515600" cy="2776728"/>
            </p:xfrm>
            <a:graphic>
              <a:graphicData uri="http://schemas.openxmlformats.org/drawingml/2006/table">
                <a:tbl>
                  <a:tblPr firstRow="1" bandRow="1">
                    <a:tableStyleId>{5940675A-B579-460E-94D1-54222C63F5DA}</a:tableStyleId>
                  </a:tblPr>
                  <a:tblGrid>
                    <a:gridCol w="2103120">
                      <a:extLst>
                        <a:ext uri="{9D8B030D-6E8A-4147-A177-3AD203B41FA5}">
                          <a16:colId xmlns:a16="http://schemas.microsoft.com/office/drawing/2014/main" val="3834650750"/>
                        </a:ext>
                      </a:extLst>
                    </a:gridCol>
                    <a:gridCol w="1642712">
                      <a:extLst>
                        <a:ext uri="{9D8B030D-6E8A-4147-A177-3AD203B41FA5}">
                          <a16:colId xmlns:a16="http://schemas.microsoft.com/office/drawing/2014/main" val="1666825536"/>
                        </a:ext>
                      </a:extLst>
                    </a:gridCol>
                    <a:gridCol w="2358189">
                      <a:extLst>
                        <a:ext uri="{9D8B030D-6E8A-4147-A177-3AD203B41FA5}">
                          <a16:colId xmlns:a16="http://schemas.microsoft.com/office/drawing/2014/main" val="1022820918"/>
                        </a:ext>
                      </a:extLst>
                    </a:gridCol>
                    <a:gridCol w="2159446">
                      <a:extLst>
                        <a:ext uri="{9D8B030D-6E8A-4147-A177-3AD203B41FA5}">
                          <a16:colId xmlns:a16="http://schemas.microsoft.com/office/drawing/2014/main" val="2020566626"/>
                        </a:ext>
                      </a:extLst>
                    </a:gridCol>
                    <a:gridCol w="2252133">
                      <a:extLst>
                        <a:ext uri="{9D8B030D-6E8A-4147-A177-3AD203B41FA5}">
                          <a16:colId xmlns:a16="http://schemas.microsoft.com/office/drawing/2014/main" val="199116097"/>
                        </a:ext>
                      </a:extLst>
                    </a:gridCol>
                  </a:tblGrid>
                  <a:tr h="370840">
                    <a:tc>
                      <a:txBody>
                        <a:bodyPr/>
                        <a:lstStyle/>
                        <a:p>
                          <a:pPr algn="ctr"/>
                          <a:endParaRPr lang="it-IT" sz="2400" dirty="0"/>
                        </a:p>
                      </a:txBody>
                      <a:tcPr anchor="ctr">
                        <a:lnL w="12700" cap="flat" cmpd="sng" algn="ctr">
                          <a:no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28575" cap="flat" cmpd="sng" algn="ctr">
                          <a:solidFill>
                            <a:schemeClr val="tx1"/>
                          </a:solidFill>
                          <a:prstDash val="solid"/>
                          <a:round/>
                          <a:headEnd type="none" w="med" len="med"/>
                          <a:tailEnd type="none" w="med" len="med"/>
                        </a:lnB>
                      </a:tcPr>
                    </a:tc>
                    <a:tc>
                      <a:txBody>
                        <a:bodyPr/>
                        <a:lstStyle/>
                        <a:p>
                          <a:pPr algn="ctr"/>
                          <a:r>
                            <a:rPr lang="it-IT" sz="2400" b="1" dirty="0" err="1"/>
                            <a:t>run</a:t>
                          </a:r>
                          <a:endParaRPr lang="it-IT" sz="2400" b="1" dirty="0"/>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28575"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
                                <m:sSub>
                                  <m:sSubPr>
                                    <m:ctrlPr>
                                      <a:rPr lang="it-IT" sz="2400" b="1" i="1" smtClean="0">
                                        <a:latin typeface="Cambria Math" panose="02040503050406030204" pitchFamily="18" charset="0"/>
                                      </a:rPr>
                                    </m:ctrlPr>
                                  </m:sSubPr>
                                  <m:e>
                                    <m:r>
                                      <a:rPr lang="it-IT" sz="2400" b="1" i="1" smtClean="0">
                                        <a:latin typeface="Cambria Math" panose="02040503050406030204" pitchFamily="18" charset="0"/>
                                      </a:rPr>
                                      <m:t>𝝉</m:t>
                                    </m:r>
                                  </m:e>
                                  <m:sub>
                                    <m:r>
                                      <a:rPr lang="it-IT" sz="2400" b="1" i="1" smtClean="0">
                                        <a:latin typeface="Cambria Math" panose="02040503050406030204" pitchFamily="18" charset="0"/>
                                      </a:rPr>
                                      <m:t>𝒚</m:t>
                                    </m:r>
                                  </m:sub>
                                </m:sSub>
                                <m:r>
                                  <a:rPr lang="it-IT" sz="2400" b="1" i="1" smtClean="0">
                                    <a:latin typeface="Cambria Math" panose="02040503050406030204" pitchFamily="18" charset="0"/>
                                  </a:rPr>
                                  <m:t> [</m:t>
                                </m:r>
                                <m:r>
                                  <a:rPr lang="it-IT" sz="2400" b="1" i="1" smtClean="0">
                                    <a:latin typeface="Cambria Math" panose="02040503050406030204" pitchFamily="18" charset="0"/>
                                  </a:rPr>
                                  <m:t>𝝁</m:t>
                                </m:r>
                                <m:r>
                                  <a:rPr lang="it-IT" sz="2400" b="1" i="0" smtClean="0">
                                    <a:latin typeface="Cambria Math" panose="02040503050406030204" pitchFamily="18" charset="0"/>
                                  </a:rPr>
                                  <m:t>𝐫𝐚𝐝</m:t>
                                </m:r>
                                <m:r>
                                  <a:rPr lang="it-IT" sz="2400" b="1" i="0" smtClean="0">
                                    <a:latin typeface="Cambria Math" panose="02040503050406030204" pitchFamily="18" charset="0"/>
                                  </a:rPr>
                                  <m:t>/</m:t>
                                </m:r>
                                <m:r>
                                  <a:rPr lang="it-IT" sz="2400" b="1" i="0" smtClean="0">
                                    <a:latin typeface="Cambria Math" panose="02040503050406030204" pitchFamily="18" charset="0"/>
                                  </a:rPr>
                                  <m:t>𝐦𝐦</m:t>
                                </m:r>
                                <m:r>
                                  <a:rPr lang="it-IT" sz="2400" b="1" i="1" smtClean="0">
                                    <a:latin typeface="Cambria Math" panose="02040503050406030204" pitchFamily="18" charset="0"/>
                                  </a:rPr>
                                  <m:t>]</m:t>
                                </m:r>
                              </m:oMath>
                            </m:oMathPara>
                          </a14:m>
                          <a:endParaRPr lang="it-IT" sz="2400" b="1" dirty="0"/>
                        </a:p>
                      </a:txBody>
                      <a:tcPr anchor="ctr">
                        <a:lnL w="28575" cap="flat" cmpd="sng" algn="ctr">
                          <a:solidFill>
                            <a:schemeClr val="tx1"/>
                          </a:solidFill>
                          <a:prstDash val="solid"/>
                          <a:round/>
                          <a:headEnd type="none" w="med" len="med"/>
                          <a:tailEnd type="none" w="med" len="med"/>
                        </a:lnL>
                        <a:lnT w="12700" cap="flat" cmpd="sng" algn="ctr">
                          <a:noFill/>
                          <a:prstDash val="solid"/>
                          <a:round/>
                          <a:headEnd type="none" w="med" len="med"/>
                          <a:tailEnd type="none" w="med" len="med"/>
                        </a:lnT>
                        <a:lnB w="28575" cap="flat" cmpd="sng" algn="ctr">
                          <a:solidFill>
                            <a:schemeClr val="tx1"/>
                          </a:solidFill>
                          <a:prstDash val="solid"/>
                          <a:round/>
                          <a:headEnd type="none" w="med" len="med"/>
                          <a:tailEnd type="none" w="med" len="med"/>
                        </a:lnB>
                      </a:tcPr>
                    </a:tc>
                    <a:tc>
                      <a:txBody>
                        <a:bodyPr/>
                        <a:lstStyle/>
                        <a:p>
                          <a:pPr algn="ctr"/>
                          <a14:m>
                            <m:oMath xmlns:m="http://schemas.openxmlformats.org/officeDocument/2006/math">
                              <m:sSub>
                                <m:sSubPr>
                                  <m:ctrlPr>
                                    <a:rPr lang="it-IT" sz="2400" b="1" i="1" smtClean="0">
                                      <a:latin typeface="Cambria Math" panose="02040503050406030204" pitchFamily="18" charset="0"/>
                                    </a:rPr>
                                  </m:ctrlPr>
                                </m:sSubPr>
                                <m:e>
                                  <m:r>
                                    <a:rPr lang="it-IT" sz="2400" b="1" i="1" smtClean="0">
                                      <a:latin typeface="Cambria Math" panose="02040503050406030204" pitchFamily="18" charset="0"/>
                                    </a:rPr>
                                    <m:t>𝜽</m:t>
                                  </m:r>
                                </m:e>
                                <m:sub>
                                  <m:r>
                                    <a:rPr lang="it-IT" sz="2400" b="1" i="1" smtClean="0">
                                      <a:latin typeface="Cambria Math" panose="02040503050406030204" pitchFamily="18" charset="0"/>
                                    </a:rPr>
                                    <m:t>𝒃</m:t>
                                  </m:r>
                                </m:sub>
                              </m:sSub>
                              <m:r>
                                <a:rPr lang="it-IT" sz="2400" b="1" i="1" smtClean="0">
                                  <a:latin typeface="Cambria Math" panose="02040503050406030204" pitchFamily="18" charset="0"/>
                                </a:rPr>
                                <m:t> [</m:t>
                              </m:r>
                              <m:r>
                                <a:rPr lang="it-IT" sz="2400" b="1" i="1" smtClean="0">
                                  <a:latin typeface="Cambria Math" panose="02040503050406030204" pitchFamily="18" charset="0"/>
                                </a:rPr>
                                <m:t>𝝁</m:t>
                              </m:r>
                              <m:r>
                                <a:rPr lang="it-IT" sz="2400" b="1" i="0" smtClean="0">
                                  <a:latin typeface="Cambria Math" panose="02040503050406030204" pitchFamily="18" charset="0"/>
                                </a:rPr>
                                <m:t>𝐫𝐚𝐝</m:t>
                              </m:r>
                              <m:r>
                                <a:rPr lang="it-IT" sz="2400" b="1" i="1" smtClean="0">
                                  <a:latin typeface="Cambria Math" panose="02040503050406030204" pitchFamily="18" charset="0"/>
                                </a:rPr>
                                <m:t>]</m:t>
                              </m:r>
                            </m:oMath>
                          </a14:m>
                          <a:r>
                            <a:rPr lang="it-IT" sz="2400" b="1" dirty="0"/>
                            <a:t> </a:t>
                          </a:r>
                        </a:p>
                      </a:txBody>
                      <a:tcPr anchor="ctr">
                        <a:lnT w="12700" cap="flat" cmpd="sng" algn="ctr">
                          <a:noFill/>
                          <a:prstDash val="solid"/>
                          <a:round/>
                          <a:headEnd type="none" w="med" len="med"/>
                          <a:tailEnd type="none" w="med" len="med"/>
                        </a:lnT>
                        <a:lnB w="28575"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
                                <m:sSub>
                                  <m:sSubPr>
                                    <m:ctrlPr>
                                      <a:rPr lang="it-IT" sz="2400" b="1" i="1" smtClean="0">
                                        <a:latin typeface="Cambria Math" panose="02040503050406030204" pitchFamily="18" charset="0"/>
                                      </a:rPr>
                                    </m:ctrlPr>
                                  </m:sSubPr>
                                  <m:e>
                                    <m:r>
                                      <a:rPr lang="it-IT" sz="2400" b="1" i="1" smtClean="0">
                                        <a:latin typeface="Cambria Math" panose="02040503050406030204" pitchFamily="18" charset="0"/>
                                      </a:rPr>
                                      <m:t>𝝐</m:t>
                                    </m:r>
                                  </m:e>
                                  <m:sub>
                                    <m:r>
                                      <a:rPr lang="it-IT" sz="2400" b="1" i="1" smtClean="0">
                                        <a:latin typeface="Cambria Math" panose="02040503050406030204" pitchFamily="18" charset="0"/>
                                      </a:rPr>
                                      <m:t>𝒄𝒉</m:t>
                                    </m:r>
                                  </m:sub>
                                </m:sSub>
                                <m:r>
                                  <a:rPr lang="it-IT" sz="2400" b="1" i="1" smtClean="0">
                                    <a:latin typeface="Cambria Math" panose="02040503050406030204" pitchFamily="18" charset="0"/>
                                  </a:rPr>
                                  <m:t> [%]</m:t>
                                </m:r>
                              </m:oMath>
                            </m:oMathPara>
                          </a14:m>
                          <a:endParaRPr lang="it-IT" sz="2400" b="1" dirty="0"/>
                        </a:p>
                      </a:txBody>
                      <a:tcPr anchor="ctr">
                        <a:lnR w="12700" cap="flat" cmpd="sng" algn="ctr">
                          <a:noFill/>
                          <a:prstDash val="solid"/>
                          <a:round/>
                          <a:headEnd type="none" w="med" len="med"/>
                          <a:tailEnd type="none" w="med" len="med"/>
                        </a:lnR>
                        <a:lnT w="12700" cap="flat" cmpd="sng" algn="ctr">
                          <a:noFill/>
                          <a:prstDash val="solid"/>
                          <a:round/>
                          <a:headEnd type="none" w="med" len="med"/>
                          <a:tailEnd type="none" w="med" len="med"/>
                        </a:lnT>
                        <a:lnB w="285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36405646"/>
                      </a:ext>
                    </a:extLst>
                  </a:tr>
                  <a:tr h="370840">
                    <a:tc rowSpan="3">
                      <a:txBody>
                        <a:bodyPr/>
                        <a:lstStyle/>
                        <a:p>
                          <a:pPr algn="ctr"/>
                          <a:r>
                            <a:rPr lang="it-IT" sz="2400" dirty="0"/>
                            <a:t>Long </a:t>
                          </a:r>
                          <a:r>
                            <a:rPr lang="it-IT" sz="2400" dirty="0" err="1"/>
                            <a:t>crystal</a:t>
                          </a:r>
                          <a:r>
                            <a:rPr lang="it-IT" sz="2400" dirty="0"/>
                            <a:t> 1</a:t>
                          </a:r>
                        </a:p>
                      </a:txBody>
                      <a:tcPr anchor="ctr">
                        <a:lnL w="12700" cap="flat" cmpd="sng" algn="ctr">
                          <a:no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
                                <m:r>
                                  <a:rPr lang="it-IT" sz="2400" i="1" dirty="0" smtClean="0">
                                    <a:latin typeface="Cambria Math" panose="02040503050406030204" pitchFamily="18" charset="0"/>
                                  </a:rPr>
                                  <m:t>8430</m:t>
                                </m:r>
                              </m:oMath>
                            </m:oMathPara>
                          </a14:m>
                          <a:endParaRPr lang="it-IT" sz="2400" dirty="0"/>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tcPr>
                    </a:tc>
                    <a:tc>
                      <a:txBody>
                        <a:bodyPr/>
                        <a:lstStyle/>
                        <a:p>
                          <a:pPr algn="ctr"/>
                          <a14:m>
                            <m:oMathPara xmlns:m="http://schemas.openxmlformats.org/officeDocument/2006/math">
                              <m:oMath>
                                <m:r>
                                  <a:rPr lang="it-IT" sz="2400" b="0" i="1" smtClean="0">
                                    <a:latin typeface="Cambria Math" panose="02040503050406030204" pitchFamily="18" charset="0"/>
                                  </a:rPr>
                                  <m:t>6.25±0.04</m:t>
                                </m:r>
                              </m:oMath>
                            </m:oMathPara>
                          </a14:m>
                          <a:endParaRPr lang="it-IT" sz="2400" dirty="0"/>
                        </a:p>
                      </a:txBody>
                      <a:tcPr anchor="ctr">
                        <a:lnL w="28575" cap="flat" cmpd="sng" algn="ctr">
                          <a:solidFill>
                            <a:schemeClr val="tx1"/>
                          </a:solidFill>
                          <a:prstDash val="solid"/>
                          <a:round/>
                          <a:headEnd type="none" w="med" len="med"/>
                          <a:tailEnd type="none" w="med" len="med"/>
                        </a:lnL>
                        <a:lnT w="28575" cap="flat" cmpd="sng" algn="ctr">
                          <a:solidFill>
                            <a:schemeClr val="tx1"/>
                          </a:solidFill>
                          <a:prstDash val="solid"/>
                          <a:round/>
                          <a:headEnd type="none" w="med" len="med"/>
                          <a:tailEnd type="none" w="med" len="med"/>
                        </a:lnT>
                      </a:tcPr>
                    </a:tc>
                    <a:tc>
                      <a:txBody>
                        <a:bodyPr/>
                        <a:lstStyle/>
                        <a:p>
                          <a:pPr algn="ctr"/>
                          <a14:m>
                            <m:oMathPara xmlns:m="http://schemas.openxmlformats.org/officeDocument/2006/math">
                              <m:oMath>
                                <m:r>
                                  <a:rPr lang="it-IT" sz="2400" b="0" i="1" smtClean="0">
                                    <a:latin typeface="Cambria Math" panose="02040503050406030204" pitchFamily="18" charset="0"/>
                                  </a:rPr>
                                  <m:t>6008.4±0.2</m:t>
                                </m:r>
                              </m:oMath>
                            </m:oMathPara>
                          </a14:m>
                          <a:endParaRPr lang="it-IT" sz="2400" i="0" dirty="0"/>
                        </a:p>
                      </a:txBody>
                      <a:tcPr anchor="ctr">
                        <a:lnT w="28575" cap="flat" cmpd="sng" algn="ctr">
                          <a:solidFill>
                            <a:schemeClr val="tx1"/>
                          </a:solidFill>
                          <a:prstDash val="solid"/>
                          <a:round/>
                          <a:headEnd type="none" w="med" len="med"/>
                          <a:tailEnd type="none" w="med" len="med"/>
                        </a:lnT>
                      </a:tcPr>
                    </a:tc>
                    <a:tc>
                      <a:txBody>
                        <a:bodyPr/>
                        <a:lstStyle/>
                        <a:p>
                          <a:pPr algn="ctr"/>
                          <a14:m>
                            <m:oMathPara xmlns:m="http://schemas.openxmlformats.org/officeDocument/2006/math">
                              <m:oMath>
                                <m:r>
                                  <a:rPr lang="it-IT" sz="2400" b="0" i="1" smtClean="0">
                                    <a:latin typeface="Cambria Math" panose="02040503050406030204" pitchFamily="18" charset="0"/>
                                  </a:rPr>
                                  <m:t>19.6±0.01</m:t>
                                </m:r>
                              </m:oMath>
                            </m:oMathPara>
                          </a14:m>
                          <a:endParaRPr lang="it-IT" sz="2400" dirty="0"/>
                        </a:p>
                      </a:txBody>
                      <a:tcPr anchor="ctr">
                        <a:lnR w="12700" cap="flat" cmpd="sng" algn="ctr">
                          <a:noFill/>
                          <a:prstDash val="solid"/>
                          <a:round/>
                          <a:headEnd type="none" w="med" len="med"/>
                          <a:tailEnd type="none" w="med" len="med"/>
                        </a:lnR>
                        <a:lnT w="28575"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1529356210"/>
                      </a:ext>
                    </a:extLst>
                  </a:tr>
                  <a:tr h="370840">
                    <a:tc vMerge="1">
                      <a:txBody>
                        <a:bodyPr/>
                        <a:lstStyle/>
                        <a:p>
                          <a:endParaRPr lang="it-IT" dirty="0"/>
                        </a:p>
                      </a:txBody>
                      <a:tcPr/>
                    </a:tc>
                    <a:tc>
                      <a:txBody>
                        <a:bodyPr/>
                        <a:lstStyle/>
                        <a:p>
                          <a:pPr algn="ctr"/>
                          <a14:m>
                            <m:oMathPara xmlns:m="http://schemas.openxmlformats.org/officeDocument/2006/math">
                              <m:oMath>
                                <m:r>
                                  <a:rPr lang="it-IT" sz="2400" i="1" dirty="0" smtClean="0">
                                    <a:latin typeface="Cambria Math" panose="02040503050406030204" pitchFamily="18" charset="0"/>
                                  </a:rPr>
                                  <m:t>8431</m:t>
                                </m:r>
                              </m:oMath>
                            </m:oMathPara>
                          </a14:m>
                          <a:endParaRPr lang="it-IT" sz="2400" dirty="0"/>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kumimoji="0" lang="it-IT"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5.71±0.04</m:t>
                                </m:r>
                              </m:oMath>
                            </m:oMathPara>
                          </a14:m>
                          <a:endParaRPr kumimoji="0" lang="it-IT" sz="2400" b="0" i="0" u="none" strike="noStrike" kern="1200" cap="none" spc="0" normalizeH="0" baseline="0" noProof="0" dirty="0">
                            <a:ln>
                              <a:noFill/>
                            </a:ln>
                            <a:solidFill>
                              <a:prstClr val="black"/>
                            </a:solidFill>
                            <a:effectLst/>
                            <a:uLnTx/>
                            <a:uFillTx/>
                            <a:latin typeface="Aptos" panose="02110004020202020204"/>
                            <a:ea typeface="+mn-ea"/>
                            <a:cs typeface="+mn-cs"/>
                          </a:endParaRPr>
                        </a:p>
                      </a:txBody>
                      <a:tcPr anchor="ctr">
                        <a:lnL w="28575" cap="flat" cmpd="sng" algn="ctr">
                          <a:solidFill>
                            <a:schemeClr val="tx1"/>
                          </a:solidFill>
                          <a:prstDash val="solid"/>
                          <a:round/>
                          <a:headEnd type="none" w="med" len="med"/>
                          <a:tailEnd type="none" w="med" len="med"/>
                        </a:ln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kumimoji="0" lang="it-IT"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6008.4±0.2</m:t>
                                </m:r>
                              </m:oMath>
                            </m:oMathPara>
                          </a14:m>
                          <a:endParaRPr kumimoji="0" lang="it-IT" sz="2400" b="0" i="0" u="none" strike="noStrike" kern="1200" cap="none" spc="0" normalizeH="0" baseline="0" noProof="0" dirty="0">
                            <a:ln>
                              <a:noFill/>
                            </a:ln>
                            <a:solidFill>
                              <a:prstClr val="black"/>
                            </a:solidFill>
                            <a:effectLst/>
                            <a:uLnTx/>
                            <a:uFillTx/>
                            <a:latin typeface="Aptos" panose="02110004020202020204"/>
                            <a:ea typeface="+mn-ea"/>
                            <a:cs typeface="+mn-cs"/>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it-IT" sz="2400" b="0" i="1" smtClean="0">
                                    <a:latin typeface="Cambria Math" panose="02040503050406030204" pitchFamily="18" charset="0"/>
                                  </a:rPr>
                                  <m:t>19.1±0.01</m:t>
                                </m:r>
                              </m:oMath>
                            </m:oMathPara>
                          </a14:m>
                          <a:endParaRPr lang="it-IT" sz="2400" dirty="0"/>
                        </a:p>
                      </a:txBody>
                      <a:tcPr anchor="ctr">
                        <a:lnR w="12700" cap="flat" cmpd="sng" algn="ctr">
                          <a:noFill/>
                          <a:prstDash val="solid"/>
                          <a:round/>
                          <a:headEnd type="none" w="med" len="med"/>
                          <a:tailEnd type="none" w="med" len="med"/>
                        </a:lnR>
                      </a:tcPr>
                    </a:tc>
                    <a:extLst>
                      <a:ext uri="{0D108BD9-81ED-4DB2-BD59-A6C34878D82A}">
                        <a16:rowId xmlns:a16="http://schemas.microsoft.com/office/drawing/2014/main" val="348010959"/>
                      </a:ext>
                    </a:extLst>
                  </a:tr>
                  <a:tr h="370840">
                    <a:tc vMerge="1">
                      <a:txBody>
                        <a:bodyPr/>
                        <a:lstStyle/>
                        <a:p>
                          <a:endParaRPr lang="it-IT" dirty="0"/>
                        </a:p>
                      </a:txBody>
                      <a:tcPr/>
                    </a:tc>
                    <a:tc>
                      <a:txBody>
                        <a:bodyPr/>
                        <a:lstStyle/>
                        <a:p>
                          <a:pPr algn="ctr"/>
                          <a14:m>
                            <m:oMathPara xmlns:m="http://schemas.openxmlformats.org/officeDocument/2006/math">
                              <m:oMath>
                                <m:r>
                                  <a:rPr lang="it-IT" sz="2400" i="1" dirty="0" smtClean="0">
                                    <a:solidFill>
                                      <a:srgbClr val="FFC000"/>
                                    </a:solidFill>
                                    <a:latin typeface="Cambria Math" panose="02040503050406030204" pitchFamily="18" charset="0"/>
                                  </a:rPr>
                                  <m:t>8650</m:t>
                                </m:r>
                              </m:oMath>
                            </m:oMathPara>
                          </a14:m>
                          <a:endParaRPr lang="it-IT" sz="2400" dirty="0">
                            <a:solidFill>
                              <a:srgbClr val="FFC000"/>
                            </a:solidFill>
                          </a:endParaRPr>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B w="285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kumimoji="0" lang="it-IT" sz="2400" b="0" i="1" u="none" strike="noStrike" kern="1200" cap="none" spc="0" normalizeH="0" baseline="0" noProof="0" smtClean="0">
                                    <a:ln>
                                      <a:noFill/>
                                    </a:ln>
                                    <a:solidFill>
                                      <a:srgbClr val="FFC000"/>
                                    </a:solidFill>
                                    <a:effectLst/>
                                    <a:uLnTx/>
                                    <a:uFillTx/>
                                    <a:latin typeface="Cambria Math" panose="02040503050406030204" pitchFamily="18" charset="0"/>
                                    <a:ea typeface="+mn-ea"/>
                                    <a:cs typeface="+mn-cs"/>
                                  </a:rPr>
                                  <m:t>3.89±0.01</m:t>
                                </m:r>
                              </m:oMath>
                            </m:oMathPara>
                          </a14:m>
                          <a:endParaRPr kumimoji="0" lang="it-IT" sz="2400" b="0" i="0" u="none" strike="noStrike" kern="1200" cap="none" spc="0" normalizeH="0" baseline="0" noProof="0" dirty="0">
                            <a:ln>
                              <a:noFill/>
                            </a:ln>
                            <a:solidFill>
                              <a:srgbClr val="FFC000"/>
                            </a:solidFill>
                            <a:effectLst/>
                            <a:uLnTx/>
                            <a:uFillTx/>
                            <a:latin typeface="Aptos" panose="02110004020202020204"/>
                            <a:ea typeface="+mn-ea"/>
                            <a:cs typeface="+mn-cs"/>
                          </a:endParaRPr>
                        </a:p>
                      </a:txBody>
                      <a:tcPr anchor="ctr">
                        <a:lnL w="28575" cap="flat" cmpd="sng" algn="ctr">
                          <a:solidFill>
                            <a:schemeClr val="tx1"/>
                          </a:solidFill>
                          <a:prstDash val="solid"/>
                          <a:round/>
                          <a:headEnd type="none" w="med" len="med"/>
                          <a:tailEnd type="none" w="med" len="med"/>
                        </a:lnL>
                        <a:lnB w="285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kumimoji="0" lang="it-IT" sz="2400" b="0" i="1" u="none" strike="noStrike" kern="1200" cap="none" spc="0" normalizeH="0" baseline="0" noProof="0" smtClean="0">
                                    <a:ln>
                                      <a:noFill/>
                                    </a:ln>
                                    <a:solidFill>
                                      <a:srgbClr val="FFC000"/>
                                    </a:solidFill>
                                    <a:effectLst/>
                                    <a:uLnTx/>
                                    <a:uFillTx/>
                                    <a:latin typeface="Cambria Math" panose="02040503050406030204" pitchFamily="18" charset="0"/>
                                    <a:ea typeface="+mn-ea"/>
                                    <a:cs typeface="+mn-cs"/>
                                  </a:rPr>
                                  <m:t>6081.7±0.1</m:t>
                                </m:r>
                              </m:oMath>
                            </m:oMathPara>
                          </a14:m>
                          <a:endParaRPr kumimoji="0" lang="it-IT" sz="2400" b="0" i="0" u="none" strike="noStrike" kern="1200" cap="none" spc="0" normalizeH="0" baseline="0" noProof="0" dirty="0">
                            <a:ln>
                              <a:noFill/>
                            </a:ln>
                            <a:solidFill>
                              <a:srgbClr val="FFC000"/>
                            </a:solidFill>
                            <a:effectLst/>
                            <a:uLnTx/>
                            <a:uFillTx/>
                            <a:latin typeface="Aptos" panose="02110004020202020204"/>
                            <a:ea typeface="+mn-ea"/>
                            <a:cs typeface="+mn-cs"/>
                          </a:endParaRPr>
                        </a:p>
                      </a:txBody>
                      <a:tcPr anchor="ctr">
                        <a:lnB w="285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it-IT" sz="2400" b="0" i="1" smtClean="0">
                                    <a:solidFill>
                                      <a:srgbClr val="FFC000"/>
                                    </a:solidFill>
                                    <a:latin typeface="Cambria Math" panose="02040503050406030204" pitchFamily="18" charset="0"/>
                                  </a:rPr>
                                  <m:t>17.1±0.01</m:t>
                                </m:r>
                              </m:oMath>
                            </m:oMathPara>
                          </a14:m>
                          <a:endParaRPr lang="it-IT" sz="2400" dirty="0">
                            <a:solidFill>
                              <a:srgbClr val="FFC000"/>
                            </a:solidFill>
                          </a:endParaRPr>
                        </a:p>
                      </a:txBody>
                      <a:tcPr anchor="ctr">
                        <a:lnR w="12700" cap="flat" cmpd="sng" algn="ctr">
                          <a:noFill/>
                          <a:prstDash val="solid"/>
                          <a:round/>
                          <a:headEnd type="none" w="med" len="med"/>
                          <a:tailEnd type="none" w="med" len="med"/>
                        </a:lnR>
                        <a:lnB w="285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53670846"/>
                      </a:ext>
                    </a:extLst>
                  </a:tr>
                  <a:tr h="370840">
                    <a:tc rowSpan="2">
                      <a:txBody>
                        <a:bodyPr/>
                        <a:lstStyle/>
                        <a:p>
                          <a:pPr algn="ctr"/>
                          <a:r>
                            <a:rPr lang="it-IT" sz="2400" dirty="0"/>
                            <a:t>Long </a:t>
                          </a:r>
                          <a:r>
                            <a:rPr lang="it-IT" sz="2400" dirty="0" err="1"/>
                            <a:t>crystal</a:t>
                          </a:r>
                          <a:r>
                            <a:rPr lang="it-IT" sz="2400" dirty="0"/>
                            <a:t> 2</a:t>
                          </a:r>
                        </a:p>
                      </a:txBody>
                      <a:tcPr anchor="ctr">
                        <a:lnL w="12700" cap="flat" cmpd="sng" algn="ctr">
                          <a:no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gn="ctr"/>
                          <a14:m>
                            <m:oMathPara xmlns:m="http://schemas.openxmlformats.org/officeDocument/2006/math">
                              <m:oMath>
                                <m:r>
                                  <a:rPr lang="it-IT" sz="2400" i="1" dirty="0" smtClean="0">
                                    <a:latin typeface="Cambria Math" panose="02040503050406030204" pitchFamily="18" charset="0"/>
                                  </a:rPr>
                                  <m:t>8655</m:t>
                                </m:r>
                              </m:oMath>
                            </m:oMathPara>
                          </a14:m>
                          <a:endParaRPr lang="it-IT" sz="2400" dirty="0"/>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kumimoji="0" lang="it-IT"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3.67±0.02</m:t>
                                </m:r>
                              </m:oMath>
                            </m:oMathPara>
                          </a14:m>
                          <a:endParaRPr kumimoji="0" lang="it-IT" sz="2400" b="0" i="0" u="none" strike="noStrike" kern="1200" cap="none" spc="0" normalizeH="0" baseline="0" noProof="0" dirty="0">
                            <a:ln>
                              <a:noFill/>
                            </a:ln>
                            <a:solidFill>
                              <a:prstClr val="black"/>
                            </a:solidFill>
                            <a:effectLst/>
                            <a:uLnTx/>
                            <a:uFillTx/>
                            <a:latin typeface="Aptos" panose="02110004020202020204"/>
                            <a:ea typeface="+mn-ea"/>
                            <a:cs typeface="+mn-cs"/>
                          </a:endParaRPr>
                        </a:p>
                      </a:txBody>
                      <a:tcPr anchor="ctr">
                        <a:lnL w="28575" cap="flat" cmpd="sng" algn="ctr">
                          <a:solidFill>
                            <a:schemeClr val="tx1"/>
                          </a:solidFill>
                          <a:prstDash val="solid"/>
                          <a:round/>
                          <a:headEnd type="none" w="med" len="med"/>
                          <a:tailEnd type="none" w="med" len="med"/>
                        </a:lnL>
                        <a:lnT w="28575" cap="flat" cmpd="sng" algn="ctr">
                          <a:solidFill>
                            <a:schemeClr val="tx1"/>
                          </a:solidFill>
                          <a:prstDash val="solid"/>
                          <a:round/>
                          <a:headEnd type="none" w="med" len="med"/>
                          <a:tailEnd type="none" w="med" len="med"/>
                        </a:lnT>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kumimoji="0" lang="it-IT"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6122.6±0.3</m:t>
                                </m:r>
                              </m:oMath>
                            </m:oMathPara>
                          </a14:m>
                          <a:endParaRPr kumimoji="0" lang="it-IT" sz="2400" b="0" i="0" u="none" strike="noStrike" kern="1200" cap="none" spc="0" normalizeH="0" baseline="0" noProof="0" dirty="0">
                            <a:ln>
                              <a:noFill/>
                            </a:ln>
                            <a:solidFill>
                              <a:prstClr val="black"/>
                            </a:solidFill>
                            <a:effectLst/>
                            <a:uLnTx/>
                            <a:uFillTx/>
                            <a:latin typeface="Aptos" panose="02110004020202020204"/>
                            <a:ea typeface="+mn-ea"/>
                            <a:cs typeface="+mn-cs"/>
                          </a:endParaRPr>
                        </a:p>
                      </a:txBody>
                      <a:tcPr anchor="ctr">
                        <a:lnT w="28575" cap="flat" cmpd="sng" algn="ctr">
                          <a:solidFill>
                            <a:schemeClr val="tx1"/>
                          </a:solidFill>
                          <a:prstDash val="solid"/>
                          <a:round/>
                          <a:headEnd type="none" w="med" len="med"/>
                          <a:tailEnd type="none" w="med" len="med"/>
                        </a:lnT>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kumimoji="0" lang="it-IT"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18.0±0.01</m:t>
                                </m:r>
                              </m:oMath>
                            </m:oMathPara>
                          </a14:m>
                          <a:endParaRPr kumimoji="0" lang="it-IT" sz="2400" b="0" i="0" u="none" strike="noStrike" kern="1200" cap="none" spc="0" normalizeH="0" baseline="0" noProof="0" dirty="0">
                            <a:ln>
                              <a:noFill/>
                            </a:ln>
                            <a:solidFill>
                              <a:prstClr val="black"/>
                            </a:solidFill>
                            <a:effectLst/>
                            <a:uLnTx/>
                            <a:uFillTx/>
                            <a:latin typeface="Aptos" panose="02110004020202020204"/>
                            <a:ea typeface="+mn-ea"/>
                            <a:cs typeface="+mn-cs"/>
                          </a:endParaRPr>
                        </a:p>
                      </a:txBody>
                      <a:tcPr anchor="ctr">
                        <a:lnR w="12700" cap="flat" cmpd="sng" algn="ctr">
                          <a:noFill/>
                          <a:prstDash val="solid"/>
                          <a:round/>
                          <a:headEnd type="none" w="med" len="med"/>
                          <a:tailEnd type="none" w="med" len="med"/>
                        </a:lnR>
                        <a:lnT w="28575"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3544524089"/>
                      </a:ext>
                    </a:extLst>
                  </a:tr>
                  <a:tr h="370840">
                    <a:tc vMerge="1">
                      <a:txBody>
                        <a:bodyPr/>
                        <a:lstStyle/>
                        <a:p>
                          <a:endParaRPr lang="it-IT" dirty="0"/>
                        </a:p>
                      </a:txBody>
                      <a:tcPr/>
                    </a:tc>
                    <a:tc>
                      <a:txBody>
                        <a:bodyPr/>
                        <a:lstStyle/>
                        <a:p>
                          <a:pPr algn="ctr"/>
                          <a14:m>
                            <m:oMathPara xmlns:m="http://schemas.openxmlformats.org/officeDocument/2006/math">
                              <m:oMath>
                                <m:r>
                                  <a:rPr lang="it-IT" sz="2400" i="1" dirty="0" smtClean="0">
                                    <a:latin typeface="Cambria Math" panose="02040503050406030204" pitchFamily="18" charset="0"/>
                                  </a:rPr>
                                  <m:t>8656</m:t>
                                </m:r>
                              </m:oMath>
                            </m:oMathPara>
                          </a14:m>
                          <a:endParaRPr lang="it-IT" sz="2400" dirty="0"/>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B w="12700" cap="flat" cmpd="sng" algn="ctr">
                          <a:no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kumimoji="0" lang="it-IT"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3.80±0.01</m:t>
                                </m:r>
                              </m:oMath>
                            </m:oMathPara>
                          </a14:m>
                          <a:endParaRPr kumimoji="0" lang="it-IT" sz="2400" b="0" i="0" u="none" strike="noStrike" kern="1200" cap="none" spc="0" normalizeH="0" baseline="0" noProof="0" dirty="0">
                            <a:ln>
                              <a:noFill/>
                            </a:ln>
                            <a:solidFill>
                              <a:prstClr val="black"/>
                            </a:solidFill>
                            <a:effectLst/>
                            <a:uLnTx/>
                            <a:uFillTx/>
                            <a:latin typeface="Aptos" panose="02110004020202020204"/>
                            <a:ea typeface="+mn-ea"/>
                            <a:cs typeface="+mn-cs"/>
                          </a:endParaRPr>
                        </a:p>
                      </a:txBody>
                      <a:tcPr anchor="ctr">
                        <a:lnL w="28575" cap="flat" cmpd="sng" algn="ctr">
                          <a:solidFill>
                            <a:schemeClr val="tx1"/>
                          </a:solidFill>
                          <a:prstDash val="solid"/>
                          <a:round/>
                          <a:headEnd type="none" w="med" len="med"/>
                          <a:tailEnd type="none" w="med" len="med"/>
                        </a:lnL>
                        <a:lnB w="12700" cap="flat" cmpd="sng" algn="ctr">
                          <a:no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kumimoji="0" lang="it-IT"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6122.0±0.3</m:t>
                                </m:r>
                              </m:oMath>
                            </m:oMathPara>
                          </a14:m>
                          <a:endParaRPr kumimoji="0" lang="it-IT" sz="2400" b="0" i="0" u="none" strike="noStrike" kern="1200" cap="none" spc="0" normalizeH="0" baseline="0" noProof="0" dirty="0">
                            <a:ln>
                              <a:noFill/>
                            </a:ln>
                            <a:solidFill>
                              <a:prstClr val="black"/>
                            </a:solidFill>
                            <a:effectLst/>
                            <a:uLnTx/>
                            <a:uFillTx/>
                            <a:latin typeface="Aptos" panose="02110004020202020204"/>
                            <a:ea typeface="+mn-ea"/>
                            <a:cs typeface="+mn-cs"/>
                          </a:endParaRPr>
                        </a:p>
                      </a:txBody>
                      <a:tcPr anchor="ctr">
                        <a:lnB w="12700" cap="flat" cmpd="sng" algn="ctr">
                          <a:no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kumimoji="0" lang="it-IT"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18.0±0.01</m:t>
                                </m:r>
                              </m:oMath>
                            </m:oMathPara>
                          </a14:m>
                          <a:endParaRPr kumimoji="0" lang="it-IT" sz="2400" b="0" i="0" u="none" strike="noStrike" kern="1200" cap="none" spc="0" normalizeH="0" baseline="0" noProof="0" dirty="0">
                            <a:ln>
                              <a:noFill/>
                            </a:ln>
                            <a:solidFill>
                              <a:prstClr val="black"/>
                            </a:solidFill>
                            <a:effectLst/>
                            <a:uLnTx/>
                            <a:uFillTx/>
                            <a:latin typeface="Aptos" panose="02110004020202020204"/>
                            <a:ea typeface="+mn-ea"/>
                            <a:cs typeface="+mn-cs"/>
                          </a:endParaRPr>
                        </a:p>
                      </a:txBody>
                      <a:tcPr anchor="ctr">
                        <a:lnR w="12700" cap="flat" cmpd="sng" algn="ctr">
                          <a:noFill/>
                          <a:prstDash val="solid"/>
                          <a:round/>
                          <a:headEnd type="none" w="med" len="med"/>
                          <a:tailEnd type="none" w="med" len="med"/>
                        </a:lnR>
                        <a:lnB w="12700" cap="flat" cmpd="sng" algn="ctr">
                          <a:noFill/>
                          <a:prstDash val="solid"/>
                          <a:round/>
                          <a:headEnd type="none" w="med" len="med"/>
                          <a:tailEnd type="none" w="med" len="med"/>
                        </a:lnB>
                      </a:tcPr>
                    </a:tc>
                    <a:extLst>
                      <a:ext uri="{0D108BD9-81ED-4DB2-BD59-A6C34878D82A}">
                        <a16:rowId xmlns:a16="http://schemas.microsoft.com/office/drawing/2014/main" val="842738182"/>
                      </a:ext>
                    </a:extLst>
                  </a:tr>
                </a:tbl>
              </a:graphicData>
            </a:graphic>
          </p:graphicFrame>
        </mc:Choice>
        <mc:Fallback xmlns="">
          <p:graphicFrame>
            <p:nvGraphicFramePr>
              <p:cNvPr id="11" name="Segnaposto contenuto 10">
                <a:extLst>
                  <a:ext uri="{FF2B5EF4-FFF2-40B4-BE49-F238E27FC236}">
                    <a16:creationId xmlns:a16="http://schemas.microsoft.com/office/drawing/2014/main" id="{8D0382F8-3035-3E53-A226-7D6F37EDAD33}"/>
                  </a:ext>
                </a:extLst>
              </p:cNvPr>
              <p:cNvGraphicFramePr>
                <a:graphicFrameLocks noGrp="1"/>
              </p:cNvGraphicFramePr>
              <p:nvPr>
                <p:ph idx="1"/>
                <p:extLst>
                  <p:ext uri="{D42A27DB-BD31-4B8C-83A1-F6EECF244321}">
                    <p14:modId xmlns:p14="http://schemas.microsoft.com/office/powerpoint/2010/main" val="3902674871"/>
                  </p:ext>
                </p:extLst>
              </p:nvPr>
            </p:nvGraphicFramePr>
            <p:xfrm>
              <a:off x="838200" y="2059186"/>
              <a:ext cx="10515600" cy="2776728"/>
            </p:xfrm>
            <a:graphic>
              <a:graphicData uri="http://schemas.openxmlformats.org/drawingml/2006/table">
                <a:tbl>
                  <a:tblPr firstRow="1" bandRow="1">
                    <a:tableStyleId>{5940675A-B579-460E-94D1-54222C63F5DA}</a:tableStyleId>
                  </a:tblPr>
                  <a:tblGrid>
                    <a:gridCol w="2103120">
                      <a:extLst>
                        <a:ext uri="{9D8B030D-6E8A-4147-A177-3AD203B41FA5}">
                          <a16:colId xmlns:a16="http://schemas.microsoft.com/office/drawing/2014/main" val="3834650750"/>
                        </a:ext>
                      </a:extLst>
                    </a:gridCol>
                    <a:gridCol w="1642712">
                      <a:extLst>
                        <a:ext uri="{9D8B030D-6E8A-4147-A177-3AD203B41FA5}">
                          <a16:colId xmlns:a16="http://schemas.microsoft.com/office/drawing/2014/main" val="1666825536"/>
                        </a:ext>
                      </a:extLst>
                    </a:gridCol>
                    <a:gridCol w="2358189">
                      <a:extLst>
                        <a:ext uri="{9D8B030D-6E8A-4147-A177-3AD203B41FA5}">
                          <a16:colId xmlns:a16="http://schemas.microsoft.com/office/drawing/2014/main" val="1022820918"/>
                        </a:ext>
                      </a:extLst>
                    </a:gridCol>
                    <a:gridCol w="2159446">
                      <a:extLst>
                        <a:ext uri="{9D8B030D-6E8A-4147-A177-3AD203B41FA5}">
                          <a16:colId xmlns:a16="http://schemas.microsoft.com/office/drawing/2014/main" val="2020566626"/>
                        </a:ext>
                      </a:extLst>
                    </a:gridCol>
                    <a:gridCol w="2252133">
                      <a:extLst>
                        <a:ext uri="{9D8B030D-6E8A-4147-A177-3AD203B41FA5}">
                          <a16:colId xmlns:a16="http://schemas.microsoft.com/office/drawing/2014/main" val="199116097"/>
                        </a:ext>
                      </a:extLst>
                    </a:gridCol>
                  </a:tblGrid>
                  <a:tr h="490728">
                    <a:tc>
                      <a:txBody>
                        <a:bodyPr/>
                        <a:lstStyle/>
                        <a:p>
                          <a:pPr algn="ctr"/>
                          <a:endParaRPr lang="it-IT" sz="2400" dirty="0"/>
                        </a:p>
                      </a:txBody>
                      <a:tcPr anchor="ctr">
                        <a:lnL w="12700" cap="flat" cmpd="sng" algn="ctr">
                          <a:no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28575" cap="flat" cmpd="sng" algn="ctr">
                          <a:solidFill>
                            <a:schemeClr val="tx1"/>
                          </a:solidFill>
                          <a:prstDash val="solid"/>
                          <a:round/>
                          <a:headEnd type="none" w="med" len="med"/>
                          <a:tailEnd type="none" w="med" len="med"/>
                        </a:lnB>
                      </a:tcPr>
                    </a:tc>
                    <a:tc>
                      <a:txBody>
                        <a:bodyPr/>
                        <a:lstStyle/>
                        <a:p>
                          <a:pPr algn="ctr"/>
                          <a:r>
                            <a:rPr lang="it-IT" sz="2400" b="1" dirty="0" err="1"/>
                            <a:t>run</a:t>
                          </a:r>
                          <a:endParaRPr lang="it-IT" sz="2400" b="1" dirty="0"/>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28575" cap="flat" cmpd="sng" algn="ctr">
                          <a:solidFill>
                            <a:schemeClr val="tx1"/>
                          </a:solidFill>
                          <a:prstDash val="solid"/>
                          <a:round/>
                          <a:headEnd type="none" w="med" len="med"/>
                          <a:tailEnd type="none" w="med" len="med"/>
                        </a:lnB>
                      </a:tcPr>
                    </a:tc>
                    <a:tc>
                      <a:txBody>
                        <a:bodyPr/>
                        <a:lstStyle/>
                        <a:p>
                          <a:endParaRPr lang="it-IT"/>
                        </a:p>
                      </a:txBody>
                      <a:tcPr anchor="ctr">
                        <a:lnL w="28575" cap="flat" cmpd="sng" algn="ctr">
                          <a:solidFill>
                            <a:schemeClr val="tx1"/>
                          </a:solidFill>
                          <a:prstDash val="solid"/>
                          <a:round/>
                          <a:headEnd type="none" w="med" len="med"/>
                          <a:tailEnd type="none" w="med" len="med"/>
                        </a:lnL>
                        <a:lnT w="12700" cap="flat" cmpd="sng" algn="ctr">
                          <a:noFill/>
                          <a:prstDash val="solid"/>
                          <a:round/>
                          <a:headEnd type="none" w="med" len="med"/>
                          <a:tailEnd type="none" w="med" len="med"/>
                        </a:lnT>
                        <a:lnB w="28575" cap="flat" cmpd="sng" algn="ctr">
                          <a:solidFill>
                            <a:schemeClr val="tx1"/>
                          </a:solidFill>
                          <a:prstDash val="solid"/>
                          <a:round/>
                          <a:headEnd type="none" w="med" len="med"/>
                          <a:tailEnd type="none" w="med" len="med"/>
                        </a:lnB>
                        <a:blipFill>
                          <a:blip r:embed="rId3"/>
                          <a:stretch>
                            <a:fillRect l="-158915" t="-4938" r="-187597" b="-466667"/>
                          </a:stretch>
                        </a:blipFill>
                      </a:tcPr>
                    </a:tc>
                    <a:tc>
                      <a:txBody>
                        <a:bodyPr/>
                        <a:lstStyle/>
                        <a:p>
                          <a:endParaRPr lang="it-IT"/>
                        </a:p>
                      </a:txBody>
                      <a:tcPr anchor="ctr">
                        <a:lnT w="12700" cap="flat" cmpd="sng" algn="ctr">
                          <a:noFill/>
                          <a:prstDash val="solid"/>
                          <a:round/>
                          <a:headEnd type="none" w="med" len="med"/>
                          <a:tailEnd type="none" w="med" len="med"/>
                        </a:lnT>
                        <a:lnB w="28575" cap="flat" cmpd="sng" algn="ctr">
                          <a:solidFill>
                            <a:schemeClr val="tx1"/>
                          </a:solidFill>
                          <a:prstDash val="solid"/>
                          <a:round/>
                          <a:headEnd type="none" w="med" len="med"/>
                          <a:tailEnd type="none" w="med" len="med"/>
                        </a:lnB>
                        <a:blipFill>
                          <a:blip r:embed="rId3"/>
                          <a:stretch>
                            <a:fillRect l="-283051" t="-4938" r="-105085" b="-466667"/>
                          </a:stretch>
                        </a:blipFill>
                      </a:tcPr>
                    </a:tc>
                    <a:tc>
                      <a:txBody>
                        <a:bodyPr/>
                        <a:lstStyle/>
                        <a:p>
                          <a:endParaRPr lang="it-IT"/>
                        </a:p>
                      </a:txBody>
                      <a:tcPr anchor="ctr">
                        <a:lnR w="12700" cap="flat" cmpd="sng" algn="ctr">
                          <a:noFill/>
                          <a:prstDash val="solid"/>
                          <a:round/>
                          <a:headEnd type="none" w="med" len="med"/>
                          <a:tailEnd type="none" w="med" len="med"/>
                        </a:lnR>
                        <a:lnT w="12700" cap="flat" cmpd="sng" algn="ctr">
                          <a:noFill/>
                          <a:prstDash val="solid"/>
                          <a:round/>
                          <a:headEnd type="none" w="med" len="med"/>
                          <a:tailEnd type="none" w="med" len="med"/>
                        </a:lnT>
                        <a:lnB w="28575" cap="flat" cmpd="sng" algn="ctr">
                          <a:solidFill>
                            <a:schemeClr val="tx1"/>
                          </a:solidFill>
                          <a:prstDash val="solid"/>
                          <a:round/>
                          <a:headEnd type="none" w="med" len="med"/>
                          <a:tailEnd type="none" w="med" len="med"/>
                        </a:lnB>
                        <a:blipFill>
                          <a:blip r:embed="rId3"/>
                          <a:stretch>
                            <a:fillRect l="-366486" t="-4938" r="-541" b="-466667"/>
                          </a:stretch>
                        </a:blipFill>
                      </a:tcPr>
                    </a:tc>
                    <a:extLst>
                      <a:ext uri="{0D108BD9-81ED-4DB2-BD59-A6C34878D82A}">
                        <a16:rowId xmlns:a16="http://schemas.microsoft.com/office/drawing/2014/main" val="2436405646"/>
                      </a:ext>
                    </a:extLst>
                  </a:tr>
                  <a:tr h="457200">
                    <a:tc rowSpan="3">
                      <a:txBody>
                        <a:bodyPr/>
                        <a:lstStyle/>
                        <a:p>
                          <a:pPr algn="ctr"/>
                          <a:r>
                            <a:rPr lang="it-IT" sz="2400" dirty="0"/>
                            <a:t>Long </a:t>
                          </a:r>
                          <a:r>
                            <a:rPr lang="it-IT" sz="2400" dirty="0" err="1"/>
                            <a:t>crystal</a:t>
                          </a:r>
                          <a:r>
                            <a:rPr lang="it-IT" sz="2400" dirty="0"/>
                            <a:t> 1</a:t>
                          </a:r>
                        </a:p>
                      </a:txBody>
                      <a:tcPr anchor="ctr">
                        <a:lnL w="12700" cap="flat" cmpd="sng" algn="ctr">
                          <a:no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tcPr>
                    </a:tc>
                    <a:tc>
                      <a:txBody>
                        <a:bodyPr/>
                        <a:lstStyle/>
                        <a:p>
                          <a:endParaRPr lang="it-IT"/>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blipFill>
                          <a:blip r:embed="rId3"/>
                          <a:stretch>
                            <a:fillRect l="-127778" t="-113333" r="-412222" b="-404000"/>
                          </a:stretch>
                        </a:blipFill>
                      </a:tcPr>
                    </a:tc>
                    <a:tc>
                      <a:txBody>
                        <a:bodyPr/>
                        <a:lstStyle/>
                        <a:p>
                          <a:endParaRPr lang="it-IT"/>
                        </a:p>
                      </a:txBody>
                      <a:tcPr anchor="ctr">
                        <a:lnL w="28575" cap="flat" cmpd="sng" algn="ctr">
                          <a:solidFill>
                            <a:schemeClr val="tx1"/>
                          </a:solidFill>
                          <a:prstDash val="solid"/>
                          <a:round/>
                          <a:headEnd type="none" w="med" len="med"/>
                          <a:tailEnd type="none" w="med" len="med"/>
                        </a:lnL>
                        <a:lnT w="28575" cap="flat" cmpd="sng" algn="ctr">
                          <a:solidFill>
                            <a:schemeClr val="tx1"/>
                          </a:solidFill>
                          <a:prstDash val="solid"/>
                          <a:round/>
                          <a:headEnd type="none" w="med" len="med"/>
                          <a:tailEnd type="none" w="med" len="med"/>
                        </a:lnT>
                        <a:blipFill>
                          <a:blip r:embed="rId3"/>
                          <a:stretch>
                            <a:fillRect l="-158915" t="-113333" r="-187597" b="-404000"/>
                          </a:stretch>
                        </a:blipFill>
                      </a:tcPr>
                    </a:tc>
                    <a:tc>
                      <a:txBody>
                        <a:bodyPr/>
                        <a:lstStyle/>
                        <a:p>
                          <a:endParaRPr lang="it-IT"/>
                        </a:p>
                      </a:txBody>
                      <a:tcPr anchor="ctr">
                        <a:lnT w="28575" cap="flat" cmpd="sng" algn="ctr">
                          <a:solidFill>
                            <a:schemeClr val="tx1"/>
                          </a:solidFill>
                          <a:prstDash val="solid"/>
                          <a:round/>
                          <a:headEnd type="none" w="med" len="med"/>
                          <a:tailEnd type="none" w="med" len="med"/>
                        </a:lnT>
                        <a:blipFill>
                          <a:blip r:embed="rId3"/>
                          <a:stretch>
                            <a:fillRect l="-283051" t="-113333" r="-105085" b="-404000"/>
                          </a:stretch>
                        </a:blipFill>
                      </a:tcPr>
                    </a:tc>
                    <a:tc>
                      <a:txBody>
                        <a:bodyPr/>
                        <a:lstStyle/>
                        <a:p>
                          <a:endParaRPr lang="it-IT"/>
                        </a:p>
                      </a:txBody>
                      <a:tcPr anchor="ctr">
                        <a:lnR w="12700" cap="flat" cmpd="sng" algn="ctr">
                          <a:noFill/>
                          <a:prstDash val="solid"/>
                          <a:round/>
                          <a:headEnd type="none" w="med" len="med"/>
                          <a:tailEnd type="none" w="med" len="med"/>
                        </a:lnR>
                        <a:lnT w="28575" cap="flat" cmpd="sng" algn="ctr">
                          <a:solidFill>
                            <a:schemeClr val="tx1"/>
                          </a:solidFill>
                          <a:prstDash val="solid"/>
                          <a:round/>
                          <a:headEnd type="none" w="med" len="med"/>
                          <a:tailEnd type="none" w="med" len="med"/>
                        </a:lnT>
                        <a:blipFill>
                          <a:blip r:embed="rId3"/>
                          <a:stretch>
                            <a:fillRect l="-366486" t="-113333" r="-541" b="-404000"/>
                          </a:stretch>
                        </a:blipFill>
                      </a:tcPr>
                    </a:tc>
                    <a:extLst>
                      <a:ext uri="{0D108BD9-81ED-4DB2-BD59-A6C34878D82A}">
                        <a16:rowId xmlns:a16="http://schemas.microsoft.com/office/drawing/2014/main" val="1529356210"/>
                      </a:ext>
                    </a:extLst>
                  </a:tr>
                  <a:tr h="457200">
                    <a:tc vMerge="1">
                      <a:txBody>
                        <a:bodyPr/>
                        <a:lstStyle/>
                        <a:p>
                          <a:endParaRPr lang="it-IT" dirty="0"/>
                        </a:p>
                      </a:txBody>
                      <a:tcPr/>
                    </a:tc>
                    <a:tc>
                      <a:txBody>
                        <a:bodyPr/>
                        <a:lstStyle/>
                        <a:p>
                          <a:endParaRPr lang="it-IT"/>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blipFill>
                          <a:blip r:embed="rId3"/>
                          <a:stretch>
                            <a:fillRect l="-127778" t="-213333" r="-412222" b="-304000"/>
                          </a:stretch>
                        </a:blipFill>
                      </a:tcPr>
                    </a:tc>
                    <a:tc>
                      <a:txBody>
                        <a:bodyPr/>
                        <a:lstStyle/>
                        <a:p>
                          <a:endParaRPr lang="it-IT"/>
                        </a:p>
                      </a:txBody>
                      <a:tcPr anchor="ctr">
                        <a:lnL w="28575" cap="flat" cmpd="sng" algn="ctr">
                          <a:solidFill>
                            <a:schemeClr val="tx1"/>
                          </a:solidFill>
                          <a:prstDash val="solid"/>
                          <a:round/>
                          <a:headEnd type="none" w="med" len="med"/>
                          <a:tailEnd type="none" w="med" len="med"/>
                        </a:lnL>
                        <a:blipFill>
                          <a:blip r:embed="rId3"/>
                          <a:stretch>
                            <a:fillRect l="-158915" t="-213333" r="-187597" b="-304000"/>
                          </a:stretch>
                        </a:blipFill>
                      </a:tcPr>
                    </a:tc>
                    <a:tc>
                      <a:txBody>
                        <a:bodyPr/>
                        <a:lstStyle/>
                        <a:p>
                          <a:endParaRPr lang="it-IT"/>
                        </a:p>
                      </a:txBody>
                      <a:tcPr anchor="ctr">
                        <a:blipFill>
                          <a:blip r:embed="rId3"/>
                          <a:stretch>
                            <a:fillRect l="-283051" t="-213333" r="-105085" b="-304000"/>
                          </a:stretch>
                        </a:blipFill>
                      </a:tcPr>
                    </a:tc>
                    <a:tc>
                      <a:txBody>
                        <a:bodyPr/>
                        <a:lstStyle/>
                        <a:p>
                          <a:endParaRPr lang="it-IT"/>
                        </a:p>
                      </a:txBody>
                      <a:tcPr anchor="ctr">
                        <a:lnR w="12700" cap="flat" cmpd="sng" algn="ctr">
                          <a:noFill/>
                          <a:prstDash val="solid"/>
                          <a:round/>
                          <a:headEnd type="none" w="med" len="med"/>
                          <a:tailEnd type="none" w="med" len="med"/>
                        </a:lnR>
                        <a:blipFill>
                          <a:blip r:embed="rId3"/>
                          <a:stretch>
                            <a:fillRect l="-366486" t="-213333" r="-541" b="-304000"/>
                          </a:stretch>
                        </a:blipFill>
                      </a:tcPr>
                    </a:tc>
                    <a:extLst>
                      <a:ext uri="{0D108BD9-81ED-4DB2-BD59-A6C34878D82A}">
                        <a16:rowId xmlns:a16="http://schemas.microsoft.com/office/drawing/2014/main" val="348010959"/>
                      </a:ext>
                    </a:extLst>
                  </a:tr>
                  <a:tr h="457200">
                    <a:tc vMerge="1">
                      <a:txBody>
                        <a:bodyPr/>
                        <a:lstStyle/>
                        <a:p>
                          <a:endParaRPr lang="it-IT" dirty="0"/>
                        </a:p>
                      </a:txBody>
                      <a:tcPr/>
                    </a:tc>
                    <a:tc>
                      <a:txBody>
                        <a:bodyPr/>
                        <a:lstStyle/>
                        <a:p>
                          <a:endParaRPr lang="it-IT"/>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B w="28575" cap="flat" cmpd="sng" algn="ctr">
                          <a:solidFill>
                            <a:schemeClr val="tx1"/>
                          </a:solidFill>
                          <a:prstDash val="solid"/>
                          <a:round/>
                          <a:headEnd type="none" w="med" len="med"/>
                          <a:tailEnd type="none" w="med" len="med"/>
                        </a:lnB>
                        <a:blipFill>
                          <a:blip r:embed="rId3"/>
                          <a:stretch>
                            <a:fillRect l="-127778" t="-309211" r="-412222" b="-200000"/>
                          </a:stretch>
                        </a:blipFill>
                      </a:tcPr>
                    </a:tc>
                    <a:tc>
                      <a:txBody>
                        <a:bodyPr/>
                        <a:lstStyle/>
                        <a:p>
                          <a:endParaRPr lang="it-IT"/>
                        </a:p>
                      </a:txBody>
                      <a:tcPr anchor="ctr">
                        <a:lnL w="28575" cap="flat" cmpd="sng" algn="ctr">
                          <a:solidFill>
                            <a:schemeClr val="tx1"/>
                          </a:solidFill>
                          <a:prstDash val="solid"/>
                          <a:round/>
                          <a:headEnd type="none" w="med" len="med"/>
                          <a:tailEnd type="none" w="med" len="med"/>
                        </a:lnL>
                        <a:lnB w="28575" cap="flat" cmpd="sng" algn="ctr">
                          <a:solidFill>
                            <a:schemeClr val="tx1"/>
                          </a:solidFill>
                          <a:prstDash val="solid"/>
                          <a:round/>
                          <a:headEnd type="none" w="med" len="med"/>
                          <a:tailEnd type="none" w="med" len="med"/>
                        </a:lnB>
                        <a:blipFill>
                          <a:blip r:embed="rId3"/>
                          <a:stretch>
                            <a:fillRect l="-158915" t="-309211" r="-187597" b="-200000"/>
                          </a:stretch>
                        </a:blipFill>
                      </a:tcPr>
                    </a:tc>
                    <a:tc>
                      <a:txBody>
                        <a:bodyPr/>
                        <a:lstStyle/>
                        <a:p>
                          <a:endParaRPr lang="it-IT"/>
                        </a:p>
                      </a:txBody>
                      <a:tcPr anchor="ctr">
                        <a:lnB w="28575" cap="flat" cmpd="sng" algn="ctr">
                          <a:solidFill>
                            <a:schemeClr val="tx1"/>
                          </a:solidFill>
                          <a:prstDash val="solid"/>
                          <a:round/>
                          <a:headEnd type="none" w="med" len="med"/>
                          <a:tailEnd type="none" w="med" len="med"/>
                        </a:lnB>
                        <a:blipFill>
                          <a:blip r:embed="rId3"/>
                          <a:stretch>
                            <a:fillRect l="-283051" t="-309211" r="-105085" b="-200000"/>
                          </a:stretch>
                        </a:blipFill>
                      </a:tcPr>
                    </a:tc>
                    <a:tc>
                      <a:txBody>
                        <a:bodyPr/>
                        <a:lstStyle/>
                        <a:p>
                          <a:endParaRPr lang="it-IT"/>
                        </a:p>
                      </a:txBody>
                      <a:tcPr anchor="ctr">
                        <a:lnR w="12700" cap="flat" cmpd="sng" algn="ctr">
                          <a:noFill/>
                          <a:prstDash val="solid"/>
                          <a:round/>
                          <a:headEnd type="none" w="med" len="med"/>
                          <a:tailEnd type="none" w="med" len="med"/>
                        </a:lnR>
                        <a:lnB w="28575" cap="flat" cmpd="sng" algn="ctr">
                          <a:solidFill>
                            <a:schemeClr val="tx1"/>
                          </a:solidFill>
                          <a:prstDash val="solid"/>
                          <a:round/>
                          <a:headEnd type="none" w="med" len="med"/>
                          <a:tailEnd type="none" w="med" len="med"/>
                        </a:lnB>
                        <a:blipFill>
                          <a:blip r:embed="rId3"/>
                          <a:stretch>
                            <a:fillRect l="-366486" t="-309211" r="-541" b="-200000"/>
                          </a:stretch>
                        </a:blipFill>
                      </a:tcPr>
                    </a:tc>
                    <a:extLst>
                      <a:ext uri="{0D108BD9-81ED-4DB2-BD59-A6C34878D82A}">
                        <a16:rowId xmlns:a16="http://schemas.microsoft.com/office/drawing/2014/main" val="3053670846"/>
                      </a:ext>
                    </a:extLst>
                  </a:tr>
                  <a:tr h="457200">
                    <a:tc rowSpan="2">
                      <a:txBody>
                        <a:bodyPr/>
                        <a:lstStyle/>
                        <a:p>
                          <a:pPr algn="ctr"/>
                          <a:r>
                            <a:rPr lang="it-IT" sz="2400" dirty="0"/>
                            <a:t>Long </a:t>
                          </a:r>
                          <a:r>
                            <a:rPr lang="it-IT" sz="2400" dirty="0" err="1"/>
                            <a:t>crystal</a:t>
                          </a:r>
                          <a:r>
                            <a:rPr lang="it-IT" sz="2400" dirty="0"/>
                            <a:t> 2</a:t>
                          </a:r>
                        </a:p>
                      </a:txBody>
                      <a:tcPr anchor="ctr">
                        <a:lnL w="12700" cap="flat" cmpd="sng" algn="ctr">
                          <a:no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endParaRPr lang="it-IT"/>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blipFill>
                          <a:blip r:embed="rId3"/>
                          <a:stretch>
                            <a:fillRect l="-127778" t="-414667" r="-412222" b="-102667"/>
                          </a:stretch>
                        </a:blipFill>
                      </a:tcPr>
                    </a:tc>
                    <a:tc>
                      <a:txBody>
                        <a:bodyPr/>
                        <a:lstStyle/>
                        <a:p>
                          <a:endParaRPr lang="it-IT"/>
                        </a:p>
                      </a:txBody>
                      <a:tcPr anchor="ctr">
                        <a:lnL w="28575" cap="flat" cmpd="sng" algn="ctr">
                          <a:solidFill>
                            <a:schemeClr val="tx1"/>
                          </a:solidFill>
                          <a:prstDash val="solid"/>
                          <a:round/>
                          <a:headEnd type="none" w="med" len="med"/>
                          <a:tailEnd type="none" w="med" len="med"/>
                        </a:lnL>
                        <a:lnT w="28575" cap="flat" cmpd="sng" algn="ctr">
                          <a:solidFill>
                            <a:schemeClr val="tx1"/>
                          </a:solidFill>
                          <a:prstDash val="solid"/>
                          <a:round/>
                          <a:headEnd type="none" w="med" len="med"/>
                          <a:tailEnd type="none" w="med" len="med"/>
                        </a:lnT>
                        <a:blipFill>
                          <a:blip r:embed="rId3"/>
                          <a:stretch>
                            <a:fillRect l="-158915" t="-414667" r="-187597" b="-102667"/>
                          </a:stretch>
                        </a:blipFill>
                      </a:tcPr>
                    </a:tc>
                    <a:tc>
                      <a:txBody>
                        <a:bodyPr/>
                        <a:lstStyle/>
                        <a:p>
                          <a:endParaRPr lang="it-IT"/>
                        </a:p>
                      </a:txBody>
                      <a:tcPr anchor="ctr">
                        <a:lnT w="28575" cap="flat" cmpd="sng" algn="ctr">
                          <a:solidFill>
                            <a:schemeClr val="tx1"/>
                          </a:solidFill>
                          <a:prstDash val="solid"/>
                          <a:round/>
                          <a:headEnd type="none" w="med" len="med"/>
                          <a:tailEnd type="none" w="med" len="med"/>
                        </a:lnT>
                        <a:blipFill>
                          <a:blip r:embed="rId3"/>
                          <a:stretch>
                            <a:fillRect l="-283051" t="-414667" r="-105085" b="-102667"/>
                          </a:stretch>
                        </a:blipFill>
                      </a:tcPr>
                    </a:tc>
                    <a:tc>
                      <a:txBody>
                        <a:bodyPr/>
                        <a:lstStyle/>
                        <a:p>
                          <a:endParaRPr lang="it-IT"/>
                        </a:p>
                      </a:txBody>
                      <a:tcPr anchor="ctr">
                        <a:lnR w="12700" cap="flat" cmpd="sng" algn="ctr">
                          <a:noFill/>
                          <a:prstDash val="solid"/>
                          <a:round/>
                          <a:headEnd type="none" w="med" len="med"/>
                          <a:tailEnd type="none" w="med" len="med"/>
                        </a:lnR>
                        <a:lnT w="28575" cap="flat" cmpd="sng" algn="ctr">
                          <a:solidFill>
                            <a:schemeClr val="tx1"/>
                          </a:solidFill>
                          <a:prstDash val="solid"/>
                          <a:round/>
                          <a:headEnd type="none" w="med" len="med"/>
                          <a:tailEnd type="none" w="med" len="med"/>
                        </a:lnT>
                        <a:blipFill>
                          <a:blip r:embed="rId3"/>
                          <a:stretch>
                            <a:fillRect l="-366486" t="-414667" r="-541" b="-102667"/>
                          </a:stretch>
                        </a:blipFill>
                      </a:tcPr>
                    </a:tc>
                    <a:extLst>
                      <a:ext uri="{0D108BD9-81ED-4DB2-BD59-A6C34878D82A}">
                        <a16:rowId xmlns:a16="http://schemas.microsoft.com/office/drawing/2014/main" val="3544524089"/>
                      </a:ext>
                    </a:extLst>
                  </a:tr>
                  <a:tr h="457200">
                    <a:tc vMerge="1">
                      <a:txBody>
                        <a:bodyPr/>
                        <a:lstStyle/>
                        <a:p>
                          <a:endParaRPr lang="it-IT" dirty="0"/>
                        </a:p>
                      </a:txBody>
                      <a:tcPr/>
                    </a:tc>
                    <a:tc>
                      <a:txBody>
                        <a:bodyPr/>
                        <a:lstStyle/>
                        <a:p>
                          <a:endParaRPr lang="it-IT"/>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B w="12700" cap="flat" cmpd="sng" algn="ctr">
                          <a:noFill/>
                          <a:prstDash val="solid"/>
                          <a:round/>
                          <a:headEnd type="none" w="med" len="med"/>
                          <a:tailEnd type="none" w="med" len="med"/>
                        </a:lnB>
                        <a:blipFill>
                          <a:blip r:embed="rId3"/>
                          <a:stretch>
                            <a:fillRect l="-127778" t="-514667" r="-412222" b="-2667"/>
                          </a:stretch>
                        </a:blipFill>
                      </a:tcPr>
                    </a:tc>
                    <a:tc>
                      <a:txBody>
                        <a:bodyPr/>
                        <a:lstStyle/>
                        <a:p>
                          <a:endParaRPr lang="it-IT"/>
                        </a:p>
                      </a:txBody>
                      <a:tcPr anchor="ctr">
                        <a:lnL w="28575" cap="flat" cmpd="sng" algn="ctr">
                          <a:solidFill>
                            <a:schemeClr val="tx1"/>
                          </a:solidFill>
                          <a:prstDash val="solid"/>
                          <a:round/>
                          <a:headEnd type="none" w="med" len="med"/>
                          <a:tailEnd type="none" w="med" len="med"/>
                        </a:lnL>
                        <a:lnB w="12700" cap="flat" cmpd="sng" algn="ctr">
                          <a:noFill/>
                          <a:prstDash val="solid"/>
                          <a:round/>
                          <a:headEnd type="none" w="med" len="med"/>
                          <a:tailEnd type="none" w="med" len="med"/>
                        </a:lnB>
                        <a:blipFill>
                          <a:blip r:embed="rId3"/>
                          <a:stretch>
                            <a:fillRect l="-158915" t="-514667" r="-187597" b="-2667"/>
                          </a:stretch>
                        </a:blipFill>
                      </a:tcPr>
                    </a:tc>
                    <a:tc>
                      <a:txBody>
                        <a:bodyPr/>
                        <a:lstStyle/>
                        <a:p>
                          <a:endParaRPr lang="it-IT"/>
                        </a:p>
                      </a:txBody>
                      <a:tcPr anchor="ctr">
                        <a:lnB w="12700" cap="flat" cmpd="sng" algn="ctr">
                          <a:noFill/>
                          <a:prstDash val="solid"/>
                          <a:round/>
                          <a:headEnd type="none" w="med" len="med"/>
                          <a:tailEnd type="none" w="med" len="med"/>
                        </a:lnB>
                        <a:blipFill>
                          <a:blip r:embed="rId3"/>
                          <a:stretch>
                            <a:fillRect l="-283051" t="-514667" r="-105085" b="-2667"/>
                          </a:stretch>
                        </a:blipFill>
                      </a:tcPr>
                    </a:tc>
                    <a:tc>
                      <a:txBody>
                        <a:bodyPr/>
                        <a:lstStyle/>
                        <a:p>
                          <a:endParaRPr lang="it-IT"/>
                        </a:p>
                      </a:txBody>
                      <a:tcPr anchor="ctr">
                        <a:lnR w="12700" cap="flat" cmpd="sng" algn="ctr">
                          <a:noFill/>
                          <a:prstDash val="solid"/>
                          <a:round/>
                          <a:headEnd type="none" w="med" len="med"/>
                          <a:tailEnd type="none" w="med" len="med"/>
                        </a:lnR>
                        <a:lnB w="12700" cap="flat" cmpd="sng" algn="ctr">
                          <a:noFill/>
                          <a:prstDash val="solid"/>
                          <a:round/>
                          <a:headEnd type="none" w="med" len="med"/>
                          <a:tailEnd type="none" w="med" len="med"/>
                        </a:lnB>
                        <a:blipFill>
                          <a:blip r:embed="rId3"/>
                          <a:stretch>
                            <a:fillRect l="-366486" t="-514667" r="-541" b="-2667"/>
                          </a:stretch>
                        </a:blipFill>
                      </a:tcPr>
                    </a:tc>
                    <a:extLst>
                      <a:ext uri="{0D108BD9-81ED-4DB2-BD59-A6C34878D82A}">
                        <a16:rowId xmlns:a16="http://schemas.microsoft.com/office/drawing/2014/main" val="842738182"/>
                      </a:ext>
                    </a:extLst>
                  </a:tr>
                </a:tbl>
              </a:graphicData>
            </a:graphic>
          </p:graphicFrame>
        </mc:Fallback>
      </mc:AlternateContent>
    </p:spTree>
    <p:extLst>
      <p:ext uri="{BB962C8B-B14F-4D97-AF65-F5344CB8AC3E}">
        <p14:creationId xmlns:p14="http://schemas.microsoft.com/office/powerpoint/2010/main" val="45114064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2D15EE-E0CD-DBB8-0557-41AFA45E17F4}"/>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2A4CADC3-A97E-6CE9-A43A-682A34F02C75}"/>
              </a:ext>
            </a:extLst>
          </p:cNvPr>
          <p:cNvSpPr>
            <a:spLocks noGrp="1"/>
          </p:cNvSpPr>
          <p:nvPr>
            <p:ph type="title"/>
          </p:nvPr>
        </p:nvSpPr>
        <p:spPr>
          <a:xfrm>
            <a:off x="38100" y="69651"/>
            <a:ext cx="12114000" cy="1153094"/>
          </a:xfrm>
          <a:prstGeom prst="roundRect">
            <a:avLst>
              <a:gd name="adj" fmla="val 36459"/>
            </a:avLst>
          </a:prstGeom>
          <a:noFill/>
        </p:spPr>
        <p:txBody>
          <a:bodyPr>
            <a:normAutofit/>
          </a:bodyPr>
          <a:lstStyle/>
          <a:p>
            <a:r>
              <a:rPr lang="it-IT" b="1" dirty="0">
                <a:solidFill>
                  <a:srgbClr val="002060"/>
                </a:solidFill>
              </a:rPr>
              <a:t>	4. COMBINED RESULTS</a:t>
            </a:r>
          </a:p>
        </p:txBody>
      </p:sp>
      <p:sp>
        <p:nvSpPr>
          <p:cNvPr id="4" name="Segnaposto data 3">
            <a:extLst>
              <a:ext uri="{FF2B5EF4-FFF2-40B4-BE49-F238E27FC236}">
                <a16:creationId xmlns:a16="http://schemas.microsoft.com/office/drawing/2014/main" id="{8DED9B23-6341-6217-27A2-9458D68E2882}"/>
              </a:ext>
            </a:extLst>
          </p:cNvPr>
          <p:cNvSpPr>
            <a:spLocks noGrp="1"/>
          </p:cNvSpPr>
          <p:nvPr>
            <p:ph type="dt" sz="half" idx="10"/>
          </p:nvPr>
        </p:nvSpPr>
        <p:spPr>
          <a:xfrm>
            <a:off x="838200" y="6356349"/>
            <a:ext cx="2743200" cy="432000"/>
          </a:xfrm>
        </p:spPr>
        <p:txBody>
          <a:bodyPr/>
          <a:lstStyle/>
          <a:p>
            <a:r>
              <a:rPr lang="it-IT" sz="1500" b="1" dirty="0">
                <a:solidFill>
                  <a:srgbClr val="002060"/>
                </a:solidFill>
              </a:rPr>
              <a:t>24.08.2026</a:t>
            </a:r>
          </a:p>
        </p:txBody>
      </p:sp>
      <p:sp>
        <p:nvSpPr>
          <p:cNvPr id="5" name="Segnaposto piè di pagina 4">
            <a:extLst>
              <a:ext uri="{FF2B5EF4-FFF2-40B4-BE49-F238E27FC236}">
                <a16:creationId xmlns:a16="http://schemas.microsoft.com/office/drawing/2014/main" id="{16628363-9935-E4B6-77DD-A483B2C3DA56}"/>
              </a:ext>
            </a:extLst>
          </p:cNvPr>
          <p:cNvSpPr>
            <a:spLocks noGrp="1"/>
          </p:cNvSpPr>
          <p:nvPr>
            <p:ph type="ftr" sz="quarter" idx="11"/>
          </p:nvPr>
        </p:nvSpPr>
        <p:spPr>
          <a:xfrm>
            <a:off x="0" y="6356349"/>
            <a:ext cx="12192000" cy="432000"/>
          </a:xfrm>
        </p:spPr>
        <p:txBody>
          <a:bodyPr/>
          <a:lstStyle/>
          <a:p>
            <a:r>
              <a:rPr lang="it-IT" sz="1500" b="1" dirty="0">
                <a:solidFill>
                  <a:srgbClr val="002060"/>
                </a:solidFill>
              </a:rPr>
              <a:t>Anna Sofia Moro</a:t>
            </a:r>
          </a:p>
        </p:txBody>
      </p:sp>
      <p:sp>
        <p:nvSpPr>
          <p:cNvPr id="6" name="Segnaposto numero diapositiva 5">
            <a:extLst>
              <a:ext uri="{FF2B5EF4-FFF2-40B4-BE49-F238E27FC236}">
                <a16:creationId xmlns:a16="http://schemas.microsoft.com/office/drawing/2014/main" id="{B7F505CC-6018-7E71-413B-1016AEE17659}"/>
              </a:ext>
            </a:extLst>
          </p:cNvPr>
          <p:cNvSpPr>
            <a:spLocks noGrp="1"/>
          </p:cNvSpPr>
          <p:nvPr>
            <p:ph type="sldNum" sz="quarter" idx="12"/>
          </p:nvPr>
        </p:nvSpPr>
        <p:spPr>
          <a:xfrm>
            <a:off x="8610600" y="6356349"/>
            <a:ext cx="2743200" cy="432000"/>
          </a:xfrm>
        </p:spPr>
        <p:txBody>
          <a:bodyPr/>
          <a:lstStyle/>
          <a:p>
            <a:fld id="{0A318BD9-CA14-4A83-ACF0-03D5918EB402}" type="slidenum">
              <a:rPr lang="it-IT" sz="1500" b="1" smtClean="0">
                <a:solidFill>
                  <a:srgbClr val="002060"/>
                </a:solidFill>
              </a:rPr>
              <a:t>24</a:t>
            </a:fld>
            <a:endParaRPr lang="it-IT" sz="1500" b="1" dirty="0">
              <a:solidFill>
                <a:srgbClr val="002060"/>
              </a:solidFill>
            </a:endParaRPr>
          </a:p>
        </p:txBody>
      </p:sp>
      <p:cxnSp>
        <p:nvCxnSpPr>
          <p:cNvPr id="10" name="Connettore diritto 9">
            <a:extLst>
              <a:ext uri="{FF2B5EF4-FFF2-40B4-BE49-F238E27FC236}">
                <a16:creationId xmlns:a16="http://schemas.microsoft.com/office/drawing/2014/main" id="{E8019FF7-6D4B-2DBF-09E8-CC4A5508A71A}"/>
              </a:ext>
            </a:extLst>
          </p:cNvPr>
          <p:cNvCxnSpPr>
            <a:cxnSpLocks/>
          </p:cNvCxnSpPr>
          <p:nvPr/>
        </p:nvCxnSpPr>
        <p:spPr>
          <a:xfrm>
            <a:off x="696000" y="1155368"/>
            <a:ext cx="10800000" cy="0"/>
          </a:xfrm>
          <a:prstGeom prst="line">
            <a:avLst/>
          </a:prstGeom>
          <a:ln w="38100">
            <a:solidFill>
              <a:srgbClr val="002060"/>
            </a:solidFill>
          </a:ln>
        </p:spPr>
        <p:style>
          <a:lnRef idx="2">
            <a:schemeClr val="accent1"/>
          </a:lnRef>
          <a:fillRef idx="0">
            <a:schemeClr val="accent1"/>
          </a:fillRef>
          <a:effectRef idx="1">
            <a:schemeClr val="accent1"/>
          </a:effectRef>
          <a:fontRef idx="minor">
            <a:schemeClr val="tx1"/>
          </a:fontRef>
        </p:style>
      </p:cxnSp>
      <p:sp>
        <p:nvSpPr>
          <p:cNvPr id="13" name="CasellaDiTesto 12">
            <a:extLst>
              <a:ext uri="{FF2B5EF4-FFF2-40B4-BE49-F238E27FC236}">
                <a16:creationId xmlns:a16="http://schemas.microsoft.com/office/drawing/2014/main" id="{2A1B56BD-FD0F-1F4B-BB59-5AFD665E3673}"/>
              </a:ext>
            </a:extLst>
          </p:cNvPr>
          <p:cNvSpPr txBox="1"/>
          <p:nvPr/>
        </p:nvSpPr>
        <p:spPr>
          <a:xfrm>
            <a:off x="3048886" y="3244334"/>
            <a:ext cx="6097772" cy="369332"/>
          </a:xfrm>
          <a:prstGeom prst="rect">
            <a:avLst/>
          </a:prstGeom>
          <a:noFill/>
        </p:spPr>
        <p:txBody>
          <a:bodyPr wrap="square">
            <a:spAutoFit/>
          </a:bodyPr>
          <a:lstStyle/>
          <a:p>
            <a:endParaRPr lang="it-IT" dirty="0"/>
          </a:p>
        </p:txBody>
      </p:sp>
      <p:sp>
        <p:nvSpPr>
          <p:cNvPr id="15" name="CasellaDiTesto 14">
            <a:extLst>
              <a:ext uri="{FF2B5EF4-FFF2-40B4-BE49-F238E27FC236}">
                <a16:creationId xmlns:a16="http://schemas.microsoft.com/office/drawing/2014/main" id="{C62BAA7C-A2B4-88F1-D5D2-96BF5F09E297}"/>
              </a:ext>
            </a:extLst>
          </p:cNvPr>
          <p:cNvSpPr txBox="1"/>
          <p:nvPr/>
        </p:nvSpPr>
        <p:spPr>
          <a:xfrm>
            <a:off x="3048886" y="3244334"/>
            <a:ext cx="6097772" cy="369332"/>
          </a:xfrm>
          <a:prstGeom prst="rect">
            <a:avLst/>
          </a:prstGeom>
          <a:noFill/>
        </p:spPr>
        <p:txBody>
          <a:bodyPr wrap="square">
            <a:spAutoFit/>
          </a:bodyPr>
          <a:lstStyle/>
          <a:p>
            <a:endParaRPr lang="it-IT" dirty="0"/>
          </a:p>
        </p:txBody>
      </p:sp>
      <mc:AlternateContent xmlns:mc="http://schemas.openxmlformats.org/markup-compatibility/2006" xmlns:a14="http://schemas.microsoft.com/office/drawing/2010/main">
        <mc:Choice Requires="a14">
          <p:graphicFrame>
            <p:nvGraphicFramePr>
              <p:cNvPr id="11" name="Segnaposto contenuto 10">
                <a:extLst>
                  <a:ext uri="{FF2B5EF4-FFF2-40B4-BE49-F238E27FC236}">
                    <a16:creationId xmlns:a16="http://schemas.microsoft.com/office/drawing/2014/main" id="{64ACAFC3-799E-8B06-CC81-4AD4B1D9346E}"/>
                  </a:ext>
                </a:extLst>
              </p:cNvPr>
              <p:cNvGraphicFramePr>
                <a:graphicFrameLocks noGrp="1"/>
              </p:cNvGraphicFramePr>
              <p:nvPr>
                <p:ph idx="1"/>
                <p:extLst>
                  <p:ext uri="{D42A27DB-BD31-4B8C-83A1-F6EECF244321}">
                    <p14:modId xmlns:p14="http://schemas.microsoft.com/office/powerpoint/2010/main" val="3219283717"/>
                  </p:ext>
                </p:extLst>
              </p:nvPr>
            </p:nvGraphicFramePr>
            <p:xfrm>
              <a:off x="838200" y="2059186"/>
              <a:ext cx="10515600" cy="2319528"/>
            </p:xfrm>
            <a:graphic>
              <a:graphicData uri="http://schemas.openxmlformats.org/drawingml/2006/table">
                <a:tbl>
                  <a:tblPr firstRow="1" bandRow="1">
                    <a:tableStyleId>{5940675A-B579-460E-94D1-54222C63F5DA}</a:tableStyleId>
                  </a:tblPr>
                  <a:tblGrid>
                    <a:gridCol w="2103120">
                      <a:extLst>
                        <a:ext uri="{9D8B030D-6E8A-4147-A177-3AD203B41FA5}">
                          <a16:colId xmlns:a16="http://schemas.microsoft.com/office/drawing/2014/main" val="3834650750"/>
                        </a:ext>
                      </a:extLst>
                    </a:gridCol>
                    <a:gridCol w="1642712">
                      <a:extLst>
                        <a:ext uri="{9D8B030D-6E8A-4147-A177-3AD203B41FA5}">
                          <a16:colId xmlns:a16="http://schemas.microsoft.com/office/drawing/2014/main" val="1666825536"/>
                        </a:ext>
                      </a:extLst>
                    </a:gridCol>
                    <a:gridCol w="2358189">
                      <a:extLst>
                        <a:ext uri="{9D8B030D-6E8A-4147-A177-3AD203B41FA5}">
                          <a16:colId xmlns:a16="http://schemas.microsoft.com/office/drawing/2014/main" val="1022820918"/>
                        </a:ext>
                      </a:extLst>
                    </a:gridCol>
                    <a:gridCol w="2159446">
                      <a:extLst>
                        <a:ext uri="{9D8B030D-6E8A-4147-A177-3AD203B41FA5}">
                          <a16:colId xmlns:a16="http://schemas.microsoft.com/office/drawing/2014/main" val="2020566626"/>
                        </a:ext>
                      </a:extLst>
                    </a:gridCol>
                    <a:gridCol w="2252133">
                      <a:extLst>
                        <a:ext uri="{9D8B030D-6E8A-4147-A177-3AD203B41FA5}">
                          <a16:colId xmlns:a16="http://schemas.microsoft.com/office/drawing/2014/main" val="199116097"/>
                        </a:ext>
                      </a:extLst>
                    </a:gridCol>
                  </a:tblGrid>
                  <a:tr h="370840">
                    <a:tc>
                      <a:txBody>
                        <a:bodyPr/>
                        <a:lstStyle/>
                        <a:p>
                          <a:pPr algn="ctr"/>
                          <a:endParaRPr lang="it-IT" sz="2400" dirty="0"/>
                        </a:p>
                      </a:txBody>
                      <a:tcPr anchor="ctr">
                        <a:lnL w="12700" cap="flat" cmpd="sng" algn="ctr">
                          <a:no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28575" cap="flat" cmpd="sng" algn="ctr">
                          <a:solidFill>
                            <a:schemeClr val="tx1"/>
                          </a:solidFill>
                          <a:prstDash val="solid"/>
                          <a:round/>
                          <a:headEnd type="none" w="med" len="med"/>
                          <a:tailEnd type="none" w="med" len="med"/>
                        </a:lnB>
                      </a:tcPr>
                    </a:tc>
                    <a:tc>
                      <a:txBody>
                        <a:bodyPr/>
                        <a:lstStyle/>
                        <a:p>
                          <a:pPr algn="ctr"/>
                          <a:r>
                            <a:rPr lang="it-IT" sz="2400" b="1" dirty="0" err="1"/>
                            <a:t>run</a:t>
                          </a:r>
                          <a:endParaRPr lang="it-IT" sz="2400" b="1" dirty="0"/>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28575"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
                                <m:sSub>
                                  <m:sSubPr>
                                    <m:ctrlPr>
                                      <a:rPr lang="it-IT" sz="2400" b="1" i="1" smtClean="0">
                                        <a:latin typeface="Cambria Math" panose="02040503050406030204" pitchFamily="18" charset="0"/>
                                      </a:rPr>
                                    </m:ctrlPr>
                                  </m:sSubPr>
                                  <m:e>
                                    <m:r>
                                      <a:rPr lang="it-IT" sz="2400" b="1" i="1" smtClean="0">
                                        <a:latin typeface="Cambria Math" panose="02040503050406030204" pitchFamily="18" charset="0"/>
                                      </a:rPr>
                                      <m:t>𝝉</m:t>
                                    </m:r>
                                  </m:e>
                                  <m:sub>
                                    <m:r>
                                      <a:rPr lang="it-IT" sz="2400" b="1" i="1" smtClean="0">
                                        <a:latin typeface="Cambria Math" panose="02040503050406030204" pitchFamily="18" charset="0"/>
                                      </a:rPr>
                                      <m:t>𝒚</m:t>
                                    </m:r>
                                  </m:sub>
                                </m:sSub>
                                <m:r>
                                  <a:rPr lang="it-IT" sz="2400" b="1" i="1" smtClean="0">
                                    <a:latin typeface="Cambria Math" panose="02040503050406030204" pitchFamily="18" charset="0"/>
                                  </a:rPr>
                                  <m:t> [</m:t>
                                </m:r>
                                <m:r>
                                  <a:rPr lang="it-IT" sz="2400" b="1" i="1" smtClean="0">
                                    <a:latin typeface="Cambria Math" panose="02040503050406030204" pitchFamily="18" charset="0"/>
                                  </a:rPr>
                                  <m:t>𝝁</m:t>
                                </m:r>
                                <m:r>
                                  <a:rPr lang="it-IT" sz="2400" b="1" i="0" smtClean="0">
                                    <a:latin typeface="Cambria Math" panose="02040503050406030204" pitchFamily="18" charset="0"/>
                                  </a:rPr>
                                  <m:t>𝐫𝐚𝐝</m:t>
                                </m:r>
                                <m:r>
                                  <a:rPr lang="it-IT" sz="2400" b="1" i="0" smtClean="0">
                                    <a:latin typeface="Cambria Math" panose="02040503050406030204" pitchFamily="18" charset="0"/>
                                  </a:rPr>
                                  <m:t>/</m:t>
                                </m:r>
                                <m:r>
                                  <a:rPr lang="it-IT" sz="2400" b="1" i="0" smtClean="0">
                                    <a:latin typeface="Cambria Math" panose="02040503050406030204" pitchFamily="18" charset="0"/>
                                  </a:rPr>
                                  <m:t>𝐦𝐦</m:t>
                                </m:r>
                                <m:r>
                                  <a:rPr lang="it-IT" sz="2400" b="1" i="1" smtClean="0">
                                    <a:latin typeface="Cambria Math" panose="02040503050406030204" pitchFamily="18" charset="0"/>
                                  </a:rPr>
                                  <m:t>]</m:t>
                                </m:r>
                              </m:oMath>
                            </m:oMathPara>
                          </a14:m>
                          <a:endParaRPr lang="it-IT" sz="2400" b="1" dirty="0"/>
                        </a:p>
                      </a:txBody>
                      <a:tcPr anchor="ctr">
                        <a:lnL w="28575" cap="flat" cmpd="sng" algn="ctr">
                          <a:solidFill>
                            <a:schemeClr val="tx1"/>
                          </a:solidFill>
                          <a:prstDash val="solid"/>
                          <a:round/>
                          <a:headEnd type="none" w="med" len="med"/>
                          <a:tailEnd type="none" w="med" len="med"/>
                        </a:lnL>
                        <a:lnT w="12700" cap="flat" cmpd="sng" algn="ctr">
                          <a:noFill/>
                          <a:prstDash val="solid"/>
                          <a:round/>
                          <a:headEnd type="none" w="med" len="med"/>
                          <a:tailEnd type="none" w="med" len="med"/>
                        </a:lnT>
                        <a:lnB w="28575" cap="flat" cmpd="sng" algn="ctr">
                          <a:solidFill>
                            <a:schemeClr val="tx1"/>
                          </a:solidFill>
                          <a:prstDash val="solid"/>
                          <a:round/>
                          <a:headEnd type="none" w="med" len="med"/>
                          <a:tailEnd type="none" w="med" len="med"/>
                        </a:lnB>
                      </a:tcPr>
                    </a:tc>
                    <a:tc>
                      <a:txBody>
                        <a:bodyPr/>
                        <a:lstStyle/>
                        <a:p>
                          <a:pPr algn="ctr"/>
                          <a14:m>
                            <m:oMath xmlns:m="http://schemas.openxmlformats.org/officeDocument/2006/math">
                              <m:sSub>
                                <m:sSubPr>
                                  <m:ctrlPr>
                                    <a:rPr lang="it-IT" sz="2400" b="1" i="1" smtClean="0">
                                      <a:latin typeface="Cambria Math" panose="02040503050406030204" pitchFamily="18" charset="0"/>
                                    </a:rPr>
                                  </m:ctrlPr>
                                </m:sSubPr>
                                <m:e>
                                  <m:r>
                                    <a:rPr lang="it-IT" sz="2400" b="1" i="1" smtClean="0">
                                      <a:latin typeface="Cambria Math" panose="02040503050406030204" pitchFamily="18" charset="0"/>
                                    </a:rPr>
                                    <m:t>𝜽</m:t>
                                  </m:r>
                                </m:e>
                                <m:sub>
                                  <m:r>
                                    <a:rPr lang="it-IT" sz="2400" b="1" i="1" smtClean="0">
                                      <a:latin typeface="Cambria Math" panose="02040503050406030204" pitchFamily="18" charset="0"/>
                                    </a:rPr>
                                    <m:t>𝒃</m:t>
                                  </m:r>
                                </m:sub>
                              </m:sSub>
                              <m:r>
                                <a:rPr lang="it-IT" sz="2400" b="1" i="1" smtClean="0">
                                  <a:latin typeface="Cambria Math" panose="02040503050406030204" pitchFamily="18" charset="0"/>
                                </a:rPr>
                                <m:t> [</m:t>
                              </m:r>
                              <m:r>
                                <a:rPr lang="it-IT" sz="2400" b="1" i="1" smtClean="0">
                                  <a:latin typeface="Cambria Math" panose="02040503050406030204" pitchFamily="18" charset="0"/>
                                </a:rPr>
                                <m:t>𝝁</m:t>
                              </m:r>
                              <m:r>
                                <a:rPr lang="it-IT" sz="2400" b="1" i="0" smtClean="0">
                                  <a:latin typeface="Cambria Math" panose="02040503050406030204" pitchFamily="18" charset="0"/>
                                </a:rPr>
                                <m:t>𝐫𝐚𝐝</m:t>
                              </m:r>
                              <m:r>
                                <a:rPr lang="it-IT" sz="2400" b="1" i="1" smtClean="0">
                                  <a:latin typeface="Cambria Math" panose="02040503050406030204" pitchFamily="18" charset="0"/>
                                </a:rPr>
                                <m:t>]</m:t>
                              </m:r>
                            </m:oMath>
                          </a14:m>
                          <a:r>
                            <a:rPr lang="it-IT" sz="2400" b="1" dirty="0"/>
                            <a:t> </a:t>
                          </a:r>
                        </a:p>
                      </a:txBody>
                      <a:tcPr anchor="ctr">
                        <a:lnT w="12700" cap="flat" cmpd="sng" algn="ctr">
                          <a:noFill/>
                          <a:prstDash val="solid"/>
                          <a:round/>
                          <a:headEnd type="none" w="med" len="med"/>
                          <a:tailEnd type="none" w="med" len="med"/>
                        </a:lnT>
                        <a:lnB w="28575"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
                                <m:sSub>
                                  <m:sSubPr>
                                    <m:ctrlPr>
                                      <a:rPr lang="it-IT" sz="2400" b="1" i="1" smtClean="0">
                                        <a:latin typeface="Cambria Math" panose="02040503050406030204" pitchFamily="18" charset="0"/>
                                      </a:rPr>
                                    </m:ctrlPr>
                                  </m:sSubPr>
                                  <m:e>
                                    <m:r>
                                      <a:rPr lang="it-IT" sz="2400" b="1" i="1" smtClean="0">
                                        <a:latin typeface="Cambria Math" panose="02040503050406030204" pitchFamily="18" charset="0"/>
                                      </a:rPr>
                                      <m:t>𝝐</m:t>
                                    </m:r>
                                  </m:e>
                                  <m:sub>
                                    <m:r>
                                      <a:rPr lang="it-IT" sz="2400" b="1" i="1" smtClean="0">
                                        <a:latin typeface="Cambria Math" panose="02040503050406030204" pitchFamily="18" charset="0"/>
                                      </a:rPr>
                                      <m:t>𝒄𝒉</m:t>
                                    </m:r>
                                  </m:sub>
                                </m:sSub>
                                <m:r>
                                  <a:rPr lang="it-IT" sz="2400" b="1" i="1" smtClean="0">
                                    <a:latin typeface="Cambria Math" panose="02040503050406030204" pitchFamily="18" charset="0"/>
                                  </a:rPr>
                                  <m:t> [%]</m:t>
                                </m:r>
                              </m:oMath>
                            </m:oMathPara>
                          </a14:m>
                          <a:endParaRPr lang="it-IT" sz="2400" b="1" dirty="0"/>
                        </a:p>
                      </a:txBody>
                      <a:tcPr anchor="ctr">
                        <a:lnR w="12700" cap="flat" cmpd="sng" algn="ctr">
                          <a:noFill/>
                          <a:prstDash val="solid"/>
                          <a:round/>
                          <a:headEnd type="none" w="med" len="med"/>
                          <a:tailEnd type="none" w="med" len="med"/>
                        </a:lnR>
                        <a:lnT w="12700" cap="flat" cmpd="sng" algn="ctr">
                          <a:noFill/>
                          <a:prstDash val="solid"/>
                          <a:round/>
                          <a:headEnd type="none" w="med" len="med"/>
                          <a:tailEnd type="none" w="med" len="med"/>
                        </a:lnT>
                        <a:lnB w="285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36405646"/>
                      </a:ext>
                    </a:extLst>
                  </a:tr>
                  <a:tr h="370840">
                    <a:tc rowSpan="2">
                      <a:txBody>
                        <a:bodyPr/>
                        <a:lstStyle/>
                        <a:p>
                          <a:pPr algn="ctr"/>
                          <a:r>
                            <a:rPr lang="it-IT" sz="2400" dirty="0"/>
                            <a:t>Long </a:t>
                          </a:r>
                          <a:r>
                            <a:rPr lang="it-IT" sz="2400" dirty="0" err="1"/>
                            <a:t>crystal</a:t>
                          </a:r>
                          <a:r>
                            <a:rPr lang="it-IT" sz="2400" dirty="0"/>
                            <a:t> 1</a:t>
                          </a:r>
                        </a:p>
                      </a:txBody>
                      <a:tcPr anchor="ctr">
                        <a:lnL w="12700" cap="flat" cmpd="sng" algn="ctr">
                          <a:no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
                                <m:r>
                                  <a:rPr lang="it-IT" sz="2400" i="1" dirty="0" smtClean="0">
                                    <a:latin typeface="Cambria Math" panose="02040503050406030204" pitchFamily="18" charset="0"/>
                                  </a:rPr>
                                  <m:t>8430</m:t>
                                </m:r>
                              </m:oMath>
                            </m:oMathPara>
                          </a14:m>
                          <a:endParaRPr lang="it-IT" sz="2400" dirty="0"/>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tcPr>
                    </a:tc>
                    <a:tc rowSpan="2">
                      <a:txBody>
                        <a:bodyPr/>
                        <a:lstStyle/>
                        <a:p>
                          <a:pPr algn="ctr"/>
                          <a14:m>
                            <m:oMathPara xmlns:m="http://schemas.openxmlformats.org/officeDocument/2006/math">
                              <m:oMath>
                                <m:r>
                                  <a:rPr lang="it-IT" sz="2400" b="0" i="1" smtClean="0">
                                    <a:latin typeface="Cambria Math" panose="02040503050406030204" pitchFamily="18" charset="0"/>
                                  </a:rPr>
                                  <m:t>5.98±0.03</m:t>
                                </m:r>
                              </m:oMath>
                            </m:oMathPara>
                          </a14:m>
                          <a:endParaRPr lang="it-IT" sz="2400" b="0" dirty="0"/>
                        </a:p>
                      </a:txBody>
                      <a:tcPr anchor="ctr">
                        <a:lnL w="28575" cap="flat" cmpd="sng" algn="ctr">
                          <a:solidFill>
                            <a:schemeClr val="tx1"/>
                          </a:solidFill>
                          <a:prstDash val="solid"/>
                          <a:round/>
                          <a:headEnd type="none" w="med" len="med"/>
                          <a:tailEnd type="none" w="med" len="med"/>
                        </a:lnL>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tcPr>
                    </a:tc>
                    <a:tc rowSpan="2">
                      <a:txBody>
                        <a:bodyPr/>
                        <a:lstStyle/>
                        <a:p>
                          <a:pPr algn="ctr"/>
                          <a14:m>
                            <m:oMathPara xmlns:m="http://schemas.openxmlformats.org/officeDocument/2006/math">
                              <m:oMath>
                                <m:r>
                                  <a:rPr lang="it-IT" sz="2400" b="0" i="1" smtClean="0">
                                    <a:latin typeface="Cambria Math" panose="02040503050406030204" pitchFamily="18" charset="0"/>
                                  </a:rPr>
                                  <m:t>6008.4±0.1</m:t>
                                </m:r>
                              </m:oMath>
                            </m:oMathPara>
                          </a14:m>
                          <a:endParaRPr lang="it-IT" sz="2400" i="0" dirty="0"/>
                        </a:p>
                      </a:txBody>
                      <a:tcPr anchor="ct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tcPr>
                    </a:tc>
                    <a:tc rowSpan="2">
                      <a:txBody>
                        <a:bodyPr/>
                        <a:lstStyle/>
                        <a:p>
                          <a:pPr algn="ctr"/>
                          <a14:m>
                            <m:oMathPara xmlns:m="http://schemas.openxmlformats.org/officeDocument/2006/math">
                              <m:oMath>
                                <m:r>
                                  <a:rPr lang="it-IT" sz="2400" b="0" i="1" smtClean="0">
                                    <a:latin typeface="Cambria Math" panose="02040503050406030204" pitchFamily="18" charset="0"/>
                                  </a:rPr>
                                  <m:t>19.4±0.01</m:t>
                                </m:r>
                              </m:oMath>
                            </m:oMathPara>
                          </a14:m>
                          <a:endParaRPr lang="it-IT" sz="2400" dirty="0"/>
                        </a:p>
                      </a:txBody>
                      <a:tcPr anchor="ctr">
                        <a:lnR w="12700" cap="flat" cmpd="sng" algn="ctr">
                          <a:no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29356210"/>
                      </a:ext>
                    </a:extLst>
                  </a:tr>
                  <a:tr h="370840">
                    <a:tc vMerge="1">
                      <a:txBody>
                        <a:bodyPr/>
                        <a:lstStyle/>
                        <a:p>
                          <a:endParaRPr lang="it-IT" dirty="0"/>
                        </a:p>
                      </a:txBody>
                      <a:tcPr/>
                    </a:tc>
                    <a:tc>
                      <a:txBody>
                        <a:bodyPr/>
                        <a:lstStyle/>
                        <a:p>
                          <a:pPr algn="ctr"/>
                          <a14:m>
                            <m:oMathPara xmlns:m="http://schemas.openxmlformats.org/officeDocument/2006/math">
                              <m:oMath>
                                <m:r>
                                  <a:rPr lang="it-IT" sz="2400" i="1" dirty="0" smtClean="0">
                                    <a:latin typeface="Cambria Math" panose="02040503050406030204" pitchFamily="18" charset="0"/>
                                  </a:rPr>
                                  <m:t>8431</m:t>
                                </m:r>
                              </m:oMath>
                            </m:oMathPara>
                          </a14:m>
                          <a:endParaRPr lang="it-IT" sz="2400" dirty="0"/>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tcPr>
                    </a:tc>
                    <a:tc vMerge="1">
                      <a:txBody>
                        <a:bodyPr/>
                        <a:lstStyle/>
                        <a:p>
                          <a:endParaRPr/>
                        </a:p>
                      </a:txBody>
                      <a:tcPr anchor="ctr">
                        <a:lnL w="28575" cap="flat" cmpd="sng" algn="ctr">
                          <a:solidFill>
                            <a:schemeClr val="tx1"/>
                          </a:solidFill>
                          <a:prstDash val="solid"/>
                          <a:round/>
                          <a:headEnd type="none" w="med" len="med"/>
                          <a:tailEnd type="none" w="med" len="med"/>
                        </a:lnL>
                      </a:tcPr>
                    </a:tc>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it-IT" sz="2400" b="0" i="0" u="none" strike="noStrike" kern="1200" cap="none" spc="0" normalizeH="0" baseline="0" noProof="0" dirty="0">
                            <a:ln>
                              <a:noFill/>
                            </a:ln>
                            <a:solidFill>
                              <a:prstClr val="black"/>
                            </a:solidFill>
                            <a:effectLst/>
                            <a:uLnTx/>
                            <a:uFillTx/>
                            <a:latin typeface="Aptos" panose="02110004020202020204"/>
                            <a:ea typeface="+mn-ea"/>
                            <a:cs typeface="+mn-cs"/>
                          </a:endParaRPr>
                        </a:p>
                      </a:txBody>
                      <a:tcPr anchor="ctr"/>
                    </a:tc>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it-IT" sz="2400" dirty="0"/>
                        </a:p>
                      </a:txBody>
                      <a:tcPr anchor="ctr">
                        <a:lnR w="12700" cap="flat" cmpd="sng" algn="ctr">
                          <a:noFill/>
                          <a:prstDash val="solid"/>
                          <a:round/>
                          <a:headEnd type="none" w="med" len="med"/>
                          <a:tailEnd type="none" w="med" len="med"/>
                        </a:lnR>
                      </a:tcPr>
                    </a:tc>
                    <a:extLst>
                      <a:ext uri="{0D108BD9-81ED-4DB2-BD59-A6C34878D82A}">
                        <a16:rowId xmlns:a16="http://schemas.microsoft.com/office/drawing/2014/main" val="348010959"/>
                      </a:ext>
                    </a:extLst>
                  </a:tr>
                  <a:tr h="370840">
                    <a:tc rowSpan="2">
                      <a:txBody>
                        <a:bodyPr/>
                        <a:lstStyle/>
                        <a:p>
                          <a:pPr algn="ctr"/>
                          <a:r>
                            <a:rPr lang="it-IT" sz="2400" dirty="0"/>
                            <a:t>Long </a:t>
                          </a:r>
                          <a:r>
                            <a:rPr lang="it-IT" sz="2400" dirty="0" err="1"/>
                            <a:t>crystal</a:t>
                          </a:r>
                          <a:r>
                            <a:rPr lang="it-IT" sz="2400" dirty="0"/>
                            <a:t> 2</a:t>
                          </a:r>
                        </a:p>
                      </a:txBody>
                      <a:tcPr anchor="ctr">
                        <a:lnL w="12700" cap="flat" cmpd="sng" algn="ctr">
                          <a:no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gn="ctr"/>
                          <a14:m>
                            <m:oMathPara xmlns:m="http://schemas.openxmlformats.org/officeDocument/2006/math">
                              <m:oMath>
                                <m:r>
                                  <a:rPr lang="it-IT" sz="2400" i="1" dirty="0" smtClean="0">
                                    <a:latin typeface="Cambria Math" panose="02040503050406030204" pitchFamily="18" charset="0"/>
                                  </a:rPr>
                                  <m:t>8655</m:t>
                                </m:r>
                              </m:oMath>
                            </m:oMathPara>
                          </a14:m>
                          <a:endParaRPr lang="it-IT" sz="2400" dirty="0"/>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kumimoji="0" lang="it-IT"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3.77±0.01</m:t>
                                </m:r>
                              </m:oMath>
                            </m:oMathPara>
                          </a14:m>
                          <a:endParaRPr kumimoji="0" lang="it-IT" sz="2400" b="0" i="0" u="none" strike="noStrike" kern="1200" cap="none" spc="0" normalizeH="0" baseline="0" noProof="0" dirty="0">
                            <a:ln>
                              <a:noFill/>
                            </a:ln>
                            <a:solidFill>
                              <a:prstClr val="black"/>
                            </a:solidFill>
                            <a:effectLst/>
                            <a:uLnTx/>
                            <a:uFillTx/>
                            <a:latin typeface="Aptos" panose="02110004020202020204"/>
                            <a:ea typeface="+mn-ea"/>
                            <a:cs typeface="+mn-cs"/>
                          </a:endParaRPr>
                        </a:p>
                      </a:txBody>
                      <a:tcPr anchor="ctr">
                        <a:lnL w="28575" cap="flat" cmpd="sng" algn="ctr">
                          <a:solidFill>
                            <a:schemeClr val="tx1"/>
                          </a:solidFill>
                          <a:prstDash val="solid"/>
                          <a:round/>
                          <a:headEnd type="none" w="med" len="med"/>
                          <a:tailEnd type="none" w="med" len="med"/>
                        </a:lnL>
                        <a:lnT w="28575"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kumimoji="0" lang="it-IT"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6122.3±0.2</m:t>
                                </m:r>
                              </m:oMath>
                            </m:oMathPara>
                          </a14:m>
                          <a:endParaRPr kumimoji="0" lang="it-IT" sz="2400" b="0" i="0" u="none" strike="noStrike" kern="1200" cap="none" spc="0" normalizeH="0" baseline="0" noProof="0" dirty="0">
                            <a:ln>
                              <a:noFill/>
                            </a:ln>
                            <a:solidFill>
                              <a:prstClr val="black"/>
                            </a:solidFill>
                            <a:effectLst/>
                            <a:uLnTx/>
                            <a:uFillTx/>
                            <a:latin typeface="Aptos" panose="02110004020202020204"/>
                            <a:ea typeface="+mn-ea"/>
                            <a:cs typeface="+mn-cs"/>
                          </a:endParaRPr>
                        </a:p>
                      </a:txBody>
                      <a:tcPr anchor="ctr">
                        <a:lnT w="28575"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kumimoji="0" lang="it-IT"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18.0±0.01</m:t>
                                </m:r>
                              </m:oMath>
                            </m:oMathPara>
                          </a14:m>
                          <a:endParaRPr kumimoji="0" lang="it-IT" sz="2400" b="0" i="0" u="none" strike="noStrike" kern="1200" cap="none" spc="0" normalizeH="0" baseline="0" noProof="0" dirty="0">
                            <a:ln>
                              <a:noFill/>
                            </a:ln>
                            <a:solidFill>
                              <a:prstClr val="black"/>
                            </a:solidFill>
                            <a:effectLst/>
                            <a:uLnTx/>
                            <a:uFillTx/>
                            <a:latin typeface="Aptos" panose="02110004020202020204"/>
                            <a:ea typeface="+mn-ea"/>
                            <a:cs typeface="+mn-cs"/>
                          </a:endParaRPr>
                        </a:p>
                      </a:txBody>
                      <a:tcPr anchor="ctr">
                        <a:lnR w="12700" cap="flat" cmpd="sng" algn="ctr">
                          <a:no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3544524089"/>
                      </a:ext>
                    </a:extLst>
                  </a:tr>
                  <a:tr h="370840">
                    <a:tc vMerge="1">
                      <a:txBody>
                        <a:bodyPr/>
                        <a:lstStyle/>
                        <a:p>
                          <a:endParaRPr lang="it-IT" dirty="0"/>
                        </a:p>
                      </a:txBody>
                      <a:tcPr/>
                    </a:tc>
                    <a:tc>
                      <a:txBody>
                        <a:bodyPr/>
                        <a:lstStyle/>
                        <a:p>
                          <a:pPr algn="ctr"/>
                          <a14:m>
                            <m:oMathPara xmlns:m="http://schemas.openxmlformats.org/officeDocument/2006/math">
                              <m:oMath>
                                <m:r>
                                  <a:rPr lang="it-IT" sz="2400" i="1" dirty="0" smtClean="0">
                                    <a:latin typeface="Cambria Math" panose="02040503050406030204" pitchFamily="18" charset="0"/>
                                  </a:rPr>
                                  <m:t>8656</m:t>
                                </m:r>
                              </m:oMath>
                            </m:oMathPara>
                          </a14:m>
                          <a:endParaRPr lang="it-IT" sz="2400" dirty="0"/>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B w="12700" cap="flat" cmpd="sng" algn="ctr">
                          <a:noFill/>
                          <a:prstDash val="solid"/>
                          <a:round/>
                          <a:headEnd type="none" w="med" len="med"/>
                          <a:tailEnd type="none" w="med" len="med"/>
                        </a:lnB>
                      </a:tcPr>
                    </a:tc>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it-IT" sz="2400" b="0" i="0" u="none" strike="noStrike" kern="1200" cap="none" spc="0" normalizeH="0" baseline="0" noProof="0" dirty="0">
                            <a:ln>
                              <a:noFill/>
                            </a:ln>
                            <a:solidFill>
                              <a:prstClr val="black"/>
                            </a:solidFill>
                            <a:effectLst/>
                            <a:uLnTx/>
                            <a:uFillTx/>
                            <a:latin typeface="Aptos" panose="02110004020202020204"/>
                            <a:ea typeface="+mn-ea"/>
                            <a:cs typeface="+mn-cs"/>
                          </a:endParaRPr>
                        </a:p>
                      </a:txBody>
                      <a:tcPr anchor="ctr">
                        <a:lnL w="28575" cap="flat" cmpd="sng" algn="ctr">
                          <a:solidFill>
                            <a:schemeClr val="tx1"/>
                          </a:solidFill>
                          <a:prstDash val="solid"/>
                          <a:round/>
                          <a:headEnd type="none" w="med" len="med"/>
                          <a:tailEnd type="none" w="med" len="med"/>
                        </a:lnL>
                        <a:lnB w="12700" cap="flat" cmpd="sng" algn="ctr">
                          <a:noFill/>
                          <a:prstDash val="solid"/>
                          <a:round/>
                          <a:headEnd type="none" w="med" len="med"/>
                          <a:tailEnd type="none" w="med" len="med"/>
                        </a:lnB>
                      </a:tcPr>
                    </a:tc>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it-IT" sz="2400" b="0" i="0" u="none" strike="noStrike" kern="1200" cap="none" spc="0" normalizeH="0" baseline="0" noProof="0" dirty="0">
                            <a:ln>
                              <a:noFill/>
                            </a:ln>
                            <a:solidFill>
                              <a:prstClr val="black"/>
                            </a:solidFill>
                            <a:effectLst/>
                            <a:uLnTx/>
                            <a:uFillTx/>
                            <a:latin typeface="Aptos" panose="02110004020202020204"/>
                            <a:ea typeface="+mn-ea"/>
                            <a:cs typeface="+mn-cs"/>
                          </a:endParaRPr>
                        </a:p>
                      </a:txBody>
                      <a:tcPr anchor="ctr">
                        <a:lnB w="12700" cap="flat" cmpd="sng" algn="ctr">
                          <a:noFill/>
                          <a:prstDash val="solid"/>
                          <a:round/>
                          <a:headEnd type="none" w="med" len="med"/>
                          <a:tailEnd type="none" w="med" len="med"/>
                        </a:lnB>
                      </a:tcPr>
                    </a:tc>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it-IT" sz="2400" b="0" i="0" u="none" strike="noStrike" kern="1200" cap="none" spc="0" normalizeH="0" baseline="0" noProof="0" dirty="0">
                            <a:ln>
                              <a:noFill/>
                            </a:ln>
                            <a:solidFill>
                              <a:prstClr val="black"/>
                            </a:solidFill>
                            <a:effectLst/>
                            <a:uLnTx/>
                            <a:uFillTx/>
                            <a:latin typeface="Aptos" panose="02110004020202020204"/>
                            <a:ea typeface="+mn-ea"/>
                            <a:cs typeface="+mn-cs"/>
                          </a:endParaRPr>
                        </a:p>
                      </a:txBody>
                      <a:tcPr anchor="ctr">
                        <a:lnR w="12700" cap="flat" cmpd="sng" algn="ctr">
                          <a:noFill/>
                          <a:prstDash val="solid"/>
                          <a:round/>
                          <a:headEnd type="none" w="med" len="med"/>
                          <a:tailEnd type="none" w="med" len="med"/>
                        </a:lnR>
                        <a:lnB w="12700" cap="flat" cmpd="sng" algn="ctr">
                          <a:noFill/>
                          <a:prstDash val="solid"/>
                          <a:round/>
                          <a:headEnd type="none" w="med" len="med"/>
                          <a:tailEnd type="none" w="med" len="med"/>
                        </a:lnB>
                      </a:tcPr>
                    </a:tc>
                    <a:extLst>
                      <a:ext uri="{0D108BD9-81ED-4DB2-BD59-A6C34878D82A}">
                        <a16:rowId xmlns:a16="http://schemas.microsoft.com/office/drawing/2014/main" val="842738182"/>
                      </a:ext>
                    </a:extLst>
                  </a:tr>
                </a:tbl>
              </a:graphicData>
            </a:graphic>
          </p:graphicFrame>
        </mc:Choice>
        <mc:Fallback xmlns="">
          <p:graphicFrame>
            <p:nvGraphicFramePr>
              <p:cNvPr id="11" name="Segnaposto contenuto 10">
                <a:extLst>
                  <a:ext uri="{FF2B5EF4-FFF2-40B4-BE49-F238E27FC236}">
                    <a16:creationId xmlns:a16="http://schemas.microsoft.com/office/drawing/2014/main" id="{64ACAFC3-799E-8B06-CC81-4AD4B1D9346E}"/>
                  </a:ext>
                </a:extLst>
              </p:cNvPr>
              <p:cNvGraphicFramePr>
                <a:graphicFrameLocks noGrp="1"/>
              </p:cNvGraphicFramePr>
              <p:nvPr>
                <p:ph idx="1"/>
                <p:extLst>
                  <p:ext uri="{D42A27DB-BD31-4B8C-83A1-F6EECF244321}">
                    <p14:modId xmlns:p14="http://schemas.microsoft.com/office/powerpoint/2010/main" val="3219283717"/>
                  </p:ext>
                </p:extLst>
              </p:nvPr>
            </p:nvGraphicFramePr>
            <p:xfrm>
              <a:off x="838200" y="2059186"/>
              <a:ext cx="10515600" cy="2319528"/>
            </p:xfrm>
            <a:graphic>
              <a:graphicData uri="http://schemas.openxmlformats.org/drawingml/2006/table">
                <a:tbl>
                  <a:tblPr firstRow="1" bandRow="1">
                    <a:tableStyleId>{5940675A-B579-460E-94D1-54222C63F5DA}</a:tableStyleId>
                  </a:tblPr>
                  <a:tblGrid>
                    <a:gridCol w="2103120">
                      <a:extLst>
                        <a:ext uri="{9D8B030D-6E8A-4147-A177-3AD203B41FA5}">
                          <a16:colId xmlns:a16="http://schemas.microsoft.com/office/drawing/2014/main" val="3834650750"/>
                        </a:ext>
                      </a:extLst>
                    </a:gridCol>
                    <a:gridCol w="1642712">
                      <a:extLst>
                        <a:ext uri="{9D8B030D-6E8A-4147-A177-3AD203B41FA5}">
                          <a16:colId xmlns:a16="http://schemas.microsoft.com/office/drawing/2014/main" val="1666825536"/>
                        </a:ext>
                      </a:extLst>
                    </a:gridCol>
                    <a:gridCol w="2358189">
                      <a:extLst>
                        <a:ext uri="{9D8B030D-6E8A-4147-A177-3AD203B41FA5}">
                          <a16:colId xmlns:a16="http://schemas.microsoft.com/office/drawing/2014/main" val="1022820918"/>
                        </a:ext>
                      </a:extLst>
                    </a:gridCol>
                    <a:gridCol w="2159446">
                      <a:extLst>
                        <a:ext uri="{9D8B030D-6E8A-4147-A177-3AD203B41FA5}">
                          <a16:colId xmlns:a16="http://schemas.microsoft.com/office/drawing/2014/main" val="2020566626"/>
                        </a:ext>
                      </a:extLst>
                    </a:gridCol>
                    <a:gridCol w="2252133">
                      <a:extLst>
                        <a:ext uri="{9D8B030D-6E8A-4147-A177-3AD203B41FA5}">
                          <a16:colId xmlns:a16="http://schemas.microsoft.com/office/drawing/2014/main" val="199116097"/>
                        </a:ext>
                      </a:extLst>
                    </a:gridCol>
                  </a:tblGrid>
                  <a:tr h="490728">
                    <a:tc>
                      <a:txBody>
                        <a:bodyPr/>
                        <a:lstStyle/>
                        <a:p>
                          <a:pPr algn="ctr"/>
                          <a:endParaRPr lang="it-IT" sz="2400" dirty="0"/>
                        </a:p>
                      </a:txBody>
                      <a:tcPr anchor="ctr">
                        <a:lnL w="12700" cap="flat" cmpd="sng" algn="ctr">
                          <a:no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28575" cap="flat" cmpd="sng" algn="ctr">
                          <a:solidFill>
                            <a:schemeClr val="tx1"/>
                          </a:solidFill>
                          <a:prstDash val="solid"/>
                          <a:round/>
                          <a:headEnd type="none" w="med" len="med"/>
                          <a:tailEnd type="none" w="med" len="med"/>
                        </a:lnB>
                      </a:tcPr>
                    </a:tc>
                    <a:tc>
                      <a:txBody>
                        <a:bodyPr/>
                        <a:lstStyle/>
                        <a:p>
                          <a:pPr algn="ctr"/>
                          <a:r>
                            <a:rPr lang="it-IT" sz="2400" b="1" dirty="0" err="1"/>
                            <a:t>run</a:t>
                          </a:r>
                          <a:endParaRPr lang="it-IT" sz="2400" b="1" dirty="0"/>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28575" cap="flat" cmpd="sng" algn="ctr">
                          <a:solidFill>
                            <a:schemeClr val="tx1"/>
                          </a:solidFill>
                          <a:prstDash val="solid"/>
                          <a:round/>
                          <a:headEnd type="none" w="med" len="med"/>
                          <a:tailEnd type="none" w="med" len="med"/>
                        </a:lnB>
                      </a:tcPr>
                    </a:tc>
                    <a:tc>
                      <a:txBody>
                        <a:bodyPr/>
                        <a:lstStyle/>
                        <a:p>
                          <a:endParaRPr lang="it-IT"/>
                        </a:p>
                      </a:txBody>
                      <a:tcPr anchor="ctr">
                        <a:lnL w="28575" cap="flat" cmpd="sng" algn="ctr">
                          <a:solidFill>
                            <a:schemeClr val="tx1"/>
                          </a:solidFill>
                          <a:prstDash val="solid"/>
                          <a:round/>
                          <a:headEnd type="none" w="med" len="med"/>
                          <a:tailEnd type="none" w="med" len="med"/>
                        </a:lnL>
                        <a:lnT w="12700" cap="flat" cmpd="sng" algn="ctr">
                          <a:noFill/>
                          <a:prstDash val="solid"/>
                          <a:round/>
                          <a:headEnd type="none" w="med" len="med"/>
                          <a:tailEnd type="none" w="med" len="med"/>
                        </a:lnT>
                        <a:lnB w="28575" cap="flat" cmpd="sng" algn="ctr">
                          <a:solidFill>
                            <a:schemeClr val="tx1"/>
                          </a:solidFill>
                          <a:prstDash val="solid"/>
                          <a:round/>
                          <a:headEnd type="none" w="med" len="med"/>
                          <a:tailEnd type="none" w="med" len="med"/>
                        </a:lnB>
                        <a:blipFill>
                          <a:blip r:embed="rId3"/>
                          <a:stretch>
                            <a:fillRect l="-158915" t="-4938" r="-187597" b="-374074"/>
                          </a:stretch>
                        </a:blipFill>
                      </a:tcPr>
                    </a:tc>
                    <a:tc>
                      <a:txBody>
                        <a:bodyPr/>
                        <a:lstStyle/>
                        <a:p>
                          <a:endParaRPr lang="it-IT"/>
                        </a:p>
                      </a:txBody>
                      <a:tcPr anchor="ctr">
                        <a:lnT w="12700" cap="flat" cmpd="sng" algn="ctr">
                          <a:noFill/>
                          <a:prstDash val="solid"/>
                          <a:round/>
                          <a:headEnd type="none" w="med" len="med"/>
                          <a:tailEnd type="none" w="med" len="med"/>
                        </a:lnT>
                        <a:lnB w="28575" cap="flat" cmpd="sng" algn="ctr">
                          <a:solidFill>
                            <a:schemeClr val="tx1"/>
                          </a:solidFill>
                          <a:prstDash val="solid"/>
                          <a:round/>
                          <a:headEnd type="none" w="med" len="med"/>
                          <a:tailEnd type="none" w="med" len="med"/>
                        </a:lnB>
                        <a:blipFill>
                          <a:blip r:embed="rId3"/>
                          <a:stretch>
                            <a:fillRect l="-283051" t="-4938" r="-105085" b="-374074"/>
                          </a:stretch>
                        </a:blipFill>
                      </a:tcPr>
                    </a:tc>
                    <a:tc>
                      <a:txBody>
                        <a:bodyPr/>
                        <a:lstStyle/>
                        <a:p>
                          <a:endParaRPr lang="it-IT"/>
                        </a:p>
                      </a:txBody>
                      <a:tcPr anchor="ctr">
                        <a:lnR w="12700" cap="flat" cmpd="sng" algn="ctr">
                          <a:noFill/>
                          <a:prstDash val="solid"/>
                          <a:round/>
                          <a:headEnd type="none" w="med" len="med"/>
                          <a:tailEnd type="none" w="med" len="med"/>
                        </a:lnR>
                        <a:lnT w="12700" cap="flat" cmpd="sng" algn="ctr">
                          <a:noFill/>
                          <a:prstDash val="solid"/>
                          <a:round/>
                          <a:headEnd type="none" w="med" len="med"/>
                          <a:tailEnd type="none" w="med" len="med"/>
                        </a:lnT>
                        <a:lnB w="28575" cap="flat" cmpd="sng" algn="ctr">
                          <a:solidFill>
                            <a:schemeClr val="tx1"/>
                          </a:solidFill>
                          <a:prstDash val="solid"/>
                          <a:round/>
                          <a:headEnd type="none" w="med" len="med"/>
                          <a:tailEnd type="none" w="med" len="med"/>
                        </a:lnB>
                        <a:blipFill>
                          <a:blip r:embed="rId3"/>
                          <a:stretch>
                            <a:fillRect l="-366486" t="-4938" r="-541" b="-374074"/>
                          </a:stretch>
                        </a:blipFill>
                      </a:tcPr>
                    </a:tc>
                    <a:extLst>
                      <a:ext uri="{0D108BD9-81ED-4DB2-BD59-A6C34878D82A}">
                        <a16:rowId xmlns:a16="http://schemas.microsoft.com/office/drawing/2014/main" val="2436405646"/>
                      </a:ext>
                    </a:extLst>
                  </a:tr>
                  <a:tr h="457200">
                    <a:tc rowSpan="2">
                      <a:txBody>
                        <a:bodyPr/>
                        <a:lstStyle/>
                        <a:p>
                          <a:pPr algn="ctr"/>
                          <a:r>
                            <a:rPr lang="it-IT" sz="2400" dirty="0"/>
                            <a:t>Long </a:t>
                          </a:r>
                          <a:r>
                            <a:rPr lang="it-IT" sz="2400" dirty="0" err="1"/>
                            <a:t>crystal</a:t>
                          </a:r>
                          <a:r>
                            <a:rPr lang="it-IT" sz="2400" dirty="0"/>
                            <a:t> 1</a:t>
                          </a:r>
                        </a:p>
                      </a:txBody>
                      <a:tcPr anchor="ctr">
                        <a:lnL w="12700" cap="flat" cmpd="sng" algn="ctr">
                          <a:no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tcPr>
                    </a:tc>
                    <a:tc>
                      <a:txBody>
                        <a:bodyPr/>
                        <a:lstStyle/>
                        <a:p>
                          <a:endParaRPr lang="it-IT"/>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blipFill>
                          <a:blip r:embed="rId3"/>
                          <a:stretch>
                            <a:fillRect l="-127778" t="-113333" r="-412222" b="-304000"/>
                          </a:stretch>
                        </a:blipFill>
                      </a:tcPr>
                    </a:tc>
                    <a:tc rowSpan="2">
                      <a:txBody>
                        <a:bodyPr/>
                        <a:lstStyle/>
                        <a:p>
                          <a:endParaRPr lang="it-IT"/>
                        </a:p>
                      </a:txBody>
                      <a:tcPr anchor="ctr">
                        <a:lnL w="28575" cap="flat" cmpd="sng" algn="ctr">
                          <a:solidFill>
                            <a:schemeClr val="tx1"/>
                          </a:solidFill>
                          <a:prstDash val="solid"/>
                          <a:round/>
                          <a:headEnd type="none" w="med" len="med"/>
                          <a:tailEnd type="none" w="med" len="med"/>
                        </a:lnL>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blipFill>
                          <a:blip r:embed="rId3"/>
                          <a:stretch>
                            <a:fillRect l="-158915" t="-56667" r="-187597" b="-102000"/>
                          </a:stretch>
                        </a:blipFill>
                      </a:tcPr>
                    </a:tc>
                    <a:tc rowSpan="2">
                      <a:txBody>
                        <a:bodyPr/>
                        <a:lstStyle/>
                        <a:p>
                          <a:endParaRPr lang="it-IT"/>
                        </a:p>
                      </a:txBody>
                      <a:tcPr anchor="ct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blipFill>
                          <a:blip r:embed="rId3"/>
                          <a:stretch>
                            <a:fillRect l="-283051" t="-56667" r="-105085" b="-102000"/>
                          </a:stretch>
                        </a:blipFill>
                      </a:tcPr>
                    </a:tc>
                    <a:tc rowSpan="2">
                      <a:txBody>
                        <a:bodyPr/>
                        <a:lstStyle/>
                        <a:p>
                          <a:endParaRPr lang="it-IT"/>
                        </a:p>
                      </a:txBody>
                      <a:tcPr anchor="ctr">
                        <a:lnR w="12700" cap="flat" cmpd="sng" algn="ctr">
                          <a:no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blipFill>
                          <a:blip r:embed="rId3"/>
                          <a:stretch>
                            <a:fillRect l="-366486" t="-56667" r="-541" b="-102000"/>
                          </a:stretch>
                        </a:blipFill>
                      </a:tcPr>
                    </a:tc>
                    <a:extLst>
                      <a:ext uri="{0D108BD9-81ED-4DB2-BD59-A6C34878D82A}">
                        <a16:rowId xmlns:a16="http://schemas.microsoft.com/office/drawing/2014/main" val="1529356210"/>
                      </a:ext>
                    </a:extLst>
                  </a:tr>
                  <a:tr h="457200">
                    <a:tc vMerge="1">
                      <a:txBody>
                        <a:bodyPr/>
                        <a:lstStyle/>
                        <a:p>
                          <a:endParaRPr lang="it-IT" dirty="0"/>
                        </a:p>
                      </a:txBody>
                      <a:tcPr/>
                    </a:tc>
                    <a:tc>
                      <a:txBody>
                        <a:bodyPr/>
                        <a:lstStyle/>
                        <a:p>
                          <a:endParaRPr lang="it-IT"/>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blipFill>
                          <a:blip r:embed="rId3"/>
                          <a:stretch>
                            <a:fillRect l="-127778" t="-213333" r="-412222" b="-204000"/>
                          </a:stretch>
                        </a:blipFill>
                      </a:tcPr>
                    </a:tc>
                    <a:tc vMerge="1">
                      <a:txBody>
                        <a:bodyPr/>
                        <a:lstStyle/>
                        <a:p>
                          <a:pPr/>
                          <a:endParaRPr/>
                        </a:p>
                      </a:txBody>
                      <a:tcPr anchor="ctr">
                        <a:lnL w="28575" cap="flat" cmpd="sng" algn="ctr">
                          <a:solidFill>
                            <a:schemeClr val="tx1"/>
                          </a:solidFill>
                          <a:prstDash val="solid"/>
                          <a:round/>
                          <a:headEnd type="none" w="med" len="med"/>
                          <a:tailEnd type="none" w="med" len="med"/>
                        </a:lnL>
                      </a:tcPr>
                    </a:tc>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it-IT" sz="2400" b="0" i="0" u="none" strike="noStrike" kern="1200" cap="none" spc="0" normalizeH="0" baseline="0" noProof="0" dirty="0">
                            <a:ln>
                              <a:noFill/>
                            </a:ln>
                            <a:solidFill>
                              <a:prstClr val="black"/>
                            </a:solidFill>
                            <a:effectLst/>
                            <a:uLnTx/>
                            <a:uFillTx/>
                            <a:latin typeface="Aptos" panose="02110004020202020204"/>
                            <a:ea typeface="+mn-ea"/>
                            <a:cs typeface="+mn-cs"/>
                          </a:endParaRPr>
                        </a:p>
                      </a:txBody>
                      <a:tcPr anchor="ctr"/>
                    </a:tc>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it-IT" sz="2400" dirty="0"/>
                        </a:p>
                      </a:txBody>
                      <a:tcPr anchor="ctr">
                        <a:lnR w="12700" cap="flat" cmpd="sng" algn="ctr">
                          <a:noFill/>
                          <a:prstDash val="solid"/>
                          <a:round/>
                          <a:headEnd type="none" w="med" len="med"/>
                          <a:tailEnd type="none" w="med" len="med"/>
                        </a:lnR>
                      </a:tcPr>
                    </a:tc>
                    <a:extLst>
                      <a:ext uri="{0D108BD9-81ED-4DB2-BD59-A6C34878D82A}">
                        <a16:rowId xmlns:a16="http://schemas.microsoft.com/office/drawing/2014/main" val="348010959"/>
                      </a:ext>
                    </a:extLst>
                  </a:tr>
                  <a:tr h="457200">
                    <a:tc rowSpan="2">
                      <a:txBody>
                        <a:bodyPr/>
                        <a:lstStyle/>
                        <a:p>
                          <a:pPr algn="ctr"/>
                          <a:r>
                            <a:rPr lang="it-IT" sz="2400" dirty="0"/>
                            <a:t>Long </a:t>
                          </a:r>
                          <a:r>
                            <a:rPr lang="it-IT" sz="2400" dirty="0" err="1"/>
                            <a:t>crystal</a:t>
                          </a:r>
                          <a:r>
                            <a:rPr lang="it-IT" sz="2400" dirty="0"/>
                            <a:t> 2</a:t>
                          </a:r>
                        </a:p>
                      </a:txBody>
                      <a:tcPr anchor="ctr">
                        <a:lnL w="12700" cap="flat" cmpd="sng" algn="ctr">
                          <a:no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endParaRPr lang="it-IT"/>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blipFill>
                          <a:blip r:embed="rId3"/>
                          <a:stretch>
                            <a:fillRect l="-127778" t="-309211" r="-412222" b="-101316"/>
                          </a:stretch>
                        </a:blipFill>
                      </a:tcPr>
                    </a:tc>
                    <a:tc rowSpan="2">
                      <a:txBody>
                        <a:bodyPr/>
                        <a:lstStyle/>
                        <a:p>
                          <a:endParaRPr lang="it-IT"/>
                        </a:p>
                      </a:txBody>
                      <a:tcPr anchor="ctr">
                        <a:lnL w="28575" cap="flat" cmpd="sng" algn="ctr">
                          <a:solidFill>
                            <a:schemeClr val="tx1"/>
                          </a:solidFill>
                          <a:prstDash val="solid"/>
                          <a:round/>
                          <a:headEnd type="none" w="med" len="med"/>
                          <a:tailEnd type="none" w="med" len="med"/>
                        </a:lnL>
                        <a:lnT w="28575"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blipFill>
                          <a:blip r:embed="rId3"/>
                          <a:stretch>
                            <a:fillRect l="-158915" t="-155629" r="-187597" b="-1325"/>
                          </a:stretch>
                        </a:blipFill>
                      </a:tcPr>
                    </a:tc>
                    <a:tc rowSpan="2">
                      <a:txBody>
                        <a:bodyPr/>
                        <a:lstStyle/>
                        <a:p>
                          <a:endParaRPr lang="it-IT"/>
                        </a:p>
                      </a:txBody>
                      <a:tcPr anchor="ctr">
                        <a:lnT w="28575"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blipFill>
                          <a:blip r:embed="rId3"/>
                          <a:stretch>
                            <a:fillRect l="-283051" t="-155629" r="-105085" b="-1325"/>
                          </a:stretch>
                        </a:blipFill>
                      </a:tcPr>
                    </a:tc>
                    <a:tc rowSpan="2">
                      <a:txBody>
                        <a:bodyPr/>
                        <a:lstStyle/>
                        <a:p>
                          <a:endParaRPr lang="it-IT"/>
                        </a:p>
                      </a:txBody>
                      <a:tcPr anchor="ctr">
                        <a:lnR w="12700" cap="flat" cmpd="sng" algn="ctr">
                          <a:no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blipFill>
                          <a:blip r:embed="rId3"/>
                          <a:stretch>
                            <a:fillRect l="-366486" t="-155629" r="-541" b="-1325"/>
                          </a:stretch>
                        </a:blipFill>
                      </a:tcPr>
                    </a:tc>
                    <a:extLst>
                      <a:ext uri="{0D108BD9-81ED-4DB2-BD59-A6C34878D82A}">
                        <a16:rowId xmlns:a16="http://schemas.microsoft.com/office/drawing/2014/main" val="3544524089"/>
                      </a:ext>
                    </a:extLst>
                  </a:tr>
                  <a:tr h="457200">
                    <a:tc vMerge="1">
                      <a:txBody>
                        <a:bodyPr/>
                        <a:lstStyle/>
                        <a:p>
                          <a:endParaRPr lang="it-IT" dirty="0"/>
                        </a:p>
                      </a:txBody>
                      <a:tcPr/>
                    </a:tc>
                    <a:tc>
                      <a:txBody>
                        <a:bodyPr/>
                        <a:lstStyle/>
                        <a:p>
                          <a:endParaRPr lang="it-IT"/>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B w="12700" cap="flat" cmpd="sng" algn="ctr">
                          <a:noFill/>
                          <a:prstDash val="solid"/>
                          <a:round/>
                          <a:headEnd type="none" w="med" len="med"/>
                          <a:tailEnd type="none" w="med" len="med"/>
                        </a:lnB>
                        <a:blipFill>
                          <a:blip r:embed="rId3"/>
                          <a:stretch>
                            <a:fillRect l="-127778" t="-414667" r="-412222" b="-2667"/>
                          </a:stretch>
                        </a:blipFill>
                      </a:tcPr>
                    </a:tc>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it-IT" sz="2400" b="0" i="0" u="none" strike="noStrike" kern="1200" cap="none" spc="0" normalizeH="0" baseline="0" noProof="0" dirty="0">
                            <a:ln>
                              <a:noFill/>
                            </a:ln>
                            <a:solidFill>
                              <a:prstClr val="black"/>
                            </a:solidFill>
                            <a:effectLst/>
                            <a:uLnTx/>
                            <a:uFillTx/>
                            <a:latin typeface="Aptos" panose="02110004020202020204"/>
                            <a:ea typeface="+mn-ea"/>
                            <a:cs typeface="+mn-cs"/>
                          </a:endParaRPr>
                        </a:p>
                      </a:txBody>
                      <a:tcPr anchor="ctr">
                        <a:lnL w="28575" cap="flat" cmpd="sng" algn="ctr">
                          <a:solidFill>
                            <a:schemeClr val="tx1"/>
                          </a:solidFill>
                          <a:prstDash val="solid"/>
                          <a:round/>
                          <a:headEnd type="none" w="med" len="med"/>
                          <a:tailEnd type="none" w="med" len="med"/>
                        </a:lnL>
                        <a:lnB w="12700" cap="flat" cmpd="sng" algn="ctr">
                          <a:noFill/>
                          <a:prstDash val="solid"/>
                          <a:round/>
                          <a:headEnd type="none" w="med" len="med"/>
                          <a:tailEnd type="none" w="med" len="med"/>
                        </a:lnB>
                      </a:tcPr>
                    </a:tc>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it-IT" sz="2400" b="0" i="0" u="none" strike="noStrike" kern="1200" cap="none" spc="0" normalizeH="0" baseline="0" noProof="0" dirty="0">
                            <a:ln>
                              <a:noFill/>
                            </a:ln>
                            <a:solidFill>
                              <a:prstClr val="black"/>
                            </a:solidFill>
                            <a:effectLst/>
                            <a:uLnTx/>
                            <a:uFillTx/>
                            <a:latin typeface="Aptos" panose="02110004020202020204"/>
                            <a:ea typeface="+mn-ea"/>
                            <a:cs typeface="+mn-cs"/>
                          </a:endParaRPr>
                        </a:p>
                      </a:txBody>
                      <a:tcPr anchor="ctr">
                        <a:lnB w="12700" cap="flat" cmpd="sng" algn="ctr">
                          <a:noFill/>
                          <a:prstDash val="solid"/>
                          <a:round/>
                          <a:headEnd type="none" w="med" len="med"/>
                          <a:tailEnd type="none" w="med" len="med"/>
                        </a:lnB>
                      </a:tcPr>
                    </a:tc>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it-IT" sz="2400" b="0" i="0" u="none" strike="noStrike" kern="1200" cap="none" spc="0" normalizeH="0" baseline="0" noProof="0" dirty="0">
                            <a:ln>
                              <a:noFill/>
                            </a:ln>
                            <a:solidFill>
                              <a:prstClr val="black"/>
                            </a:solidFill>
                            <a:effectLst/>
                            <a:uLnTx/>
                            <a:uFillTx/>
                            <a:latin typeface="Aptos" panose="02110004020202020204"/>
                            <a:ea typeface="+mn-ea"/>
                            <a:cs typeface="+mn-cs"/>
                          </a:endParaRPr>
                        </a:p>
                      </a:txBody>
                      <a:tcPr anchor="ctr">
                        <a:lnR w="12700" cap="flat" cmpd="sng" algn="ctr">
                          <a:noFill/>
                          <a:prstDash val="solid"/>
                          <a:round/>
                          <a:headEnd type="none" w="med" len="med"/>
                          <a:tailEnd type="none" w="med" len="med"/>
                        </a:lnR>
                        <a:lnB w="12700" cap="flat" cmpd="sng" algn="ctr">
                          <a:noFill/>
                          <a:prstDash val="solid"/>
                          <a:round/>
                          <a:headEnd type="none" w="med" len="med"/>
                          <a:tailEnd type="none" w="med" len="med"/>
                        </a:lnB>
                      </a:tcPr>
                    </a:tc>
                    <a:extLst>
                      <a:ext uri="{0D108BD9-81ED-4DB2-BD59-A6C34878D82A}">
                        <a16:rowId xmlns:a16="http://schemas.microsoft.com/office/drawing/2014/main" val="842738182"/>
                      </a:ext>
                    </a:extLst>
                  </a:tr>
                </a:tbl>
              </a:graphicData>
            </a:graphic>
          </p:graphicFrame>
        </mc:Fallback>
      </mc:AlternateContent>
    </p:spTree>
    <p:extLst>
      <p:ext uri="{BB962C8B-B14F-4D97-AF65-F5344CB8AC3E}">
        <p14:creationId xmlns:p14="http://schemas.microsoft.com/office/powerpoint/2010/main" val="319358022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81969C-555A-9CE3-366A-93E47451536E}"/>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59862AA0-1034-A96A-11F8-4B9F4F626EC0}"/>
              </a:ext>
            </a:extLst>
          </p:cNvPr>
          <p:cNvSpPr>
            <a:spLocks noGrp="1"/>
          </p:cNvSpPr>
          <p:nvPr>
            <p:ph type="title"/>
          </p:nvPr>
        </p:nvSpPr>
        <p:spPr>
          <a:xfrm>
            <a:off x="38100" y="69651"/>
            <a:ext cx="12114000" cy="1153094"/>
          </a:xfrm>
          <a:prstGeom prst="roundRect">
            <a:avLst>
              <a:gd name="adj" fmla="val 36459"/>
            </a:avLst>
          </a:prstGeom>
          <a:noFill/>
        </p:spPr>
        <p:txBody>
          <a:bodyPr>
            <a:normAutofit/>
          </a:bodyPr>
          <a:lstStyle/>
          <a:p>
            <a:r>
              <a:rPr lang="it-IT" b="1" dirty="0">
                <a:solidFill>
                  <a:srgbClr val="002060"/>
                </a:solidFill>
              </a:rPr>
              <a:t>	4. FINAL RESULTS</a:t>
            </a:r>
          </a:p>
        </p:txBody>
      </p:sp>
      <p:sp>
        <p:nvSpPr>
          <p:cNvPr id="4" name="Segnaposto data 3">
            <a:extLst>
              <a:ext uri="{FF2B5EF4-FFF2-40B4-BE49-F238E27FC236}">
                <a16:creationId xmlns:a16="http://schemas.microsoft.com/office/drawing/2014/main" id="{B4D952E5-EAD7-C566-D07F-BCF009E6CF00}"/>
              </a:ext>
            </a:extLst>
          </p:cNvPr>
          <p:cNvSpPr>
            <a:spLocks noGrp="1"/>
          </p:cNvSpPr>
          <p:nvPr>
            <p:ph type="dt" sz="half" idx="10"/>
          </p:nvPr>
        </p:nvSpPr>
        <p:spPr>
          <a:xfrm>
            <a:off x="838200" y="6356349"/>
            <a:ext cx="2743200" cy="432000"/>
          </a:xfrm>
        </p:spPr>
        <p:txBody>
          <a:bodyPr/>
          <a:lstStyle/>
          <a:p>
            <a:r>
              <a:rPr lang="it-IT" sz="1500" b="1" dirty="0">
                <a:solidFill>
                  <a:srgbClr val="002060"/>
                </a:solidFill>
              </a:rPr>
              <a:t>24.08.2026</a:t>
            </a:r>
          </a:p>
        </p:txBody>
      </p:sp>
      <p:sp>
        <p:nvSpPr>
          <p:cNvPr id="5" name="Segnaposto piè di pagina 4">
            <a:extLst>
              <a:ext uri="{FF2B5EF4-FFF2-40B4-BE49-F238E27FC236}">
                <a16:creationId xmlns:a16="http://schemas.microsoft.com/office/drawing/2014/main" id="{41E82E26-A18F-E4B2-16DC-4F15DFA1D99D}"/>
              </a:ext>
            </a:extLst>
          </p:cNvPr>
          <p:cNvSpPr>
            <a:spLocks noGrp="1"/>
          </p:cNvSpPr>
          <p:nvPr>
            <p:ph type="ftr" sz="quarter" idx="11"/>
          </p:nvPr>
        </p:nvSpPr>
        <p:spPr>
          <a:xfrm>
            <a:off x="0" y="6356349"/>
            <a:ext cx="12192000" cy="432000"/>
          </a:xfrm>
        </p:spPr>
        <p:txBody>
          <a:bodyPr/>
          <a:lstStyle/>
          <a:p>
            <a:r>
              <a:rPr lang="it-IT" sz="1500" b="1" dirty="0">
                <a:solidFill>
                  <a:srgbClr val="002060"/>
                </a:solidFill>
              </a:rPr>
              <a:t>Anna Sofia Moro</a:t>
            </a:r>
          </a:p>
        </p:txBody>
      </p:sp>
      <p:sp>
        <p:nvSpPr>
          <p:cNvPr id="6" name="Segnaposto numero diapositiva 5">
            <a:extLst>
              <a:ext uri="{FF2B5EF4-FFF2-40B4-BE49-F238E27FC236}">
                <a16:creationId xmlns:a16="http://schemas.microsoft.com/office/drawing/2014/main" id="{8C954C07-8E44-B103-9820-F6FC940E788A}"/>
              </a:ext>
            </a:extLst>
          </p:cNvPr>
          <p:cNvSpPr>
            <a:spLocks noGrp="1"/>
          </p:cNvSpPr>
          <p:nvPr>
            <p:ph type="sldNum" sz="quarter" idx="12"/>
          </p:nvPr>
        </p:nvSpPr>
        <p:spPr>
          <a:xfrm>
            <a:off x="8610600" y="6356349"/>
            <a:ext cx="2743200" cy="432000"/>
          </a:xfrm>
        </p:spPr>
        <p:txBody>
          <a:bodyPr/>
          <a:lstStyle/>
          <a:p>
            <a:fld id="{0A318BD9-CA14-4A83-ACF0-03D5918EB402}" type="slidenum">
              <a:rPr lang="it-IT" sz="1500" b="1" smtClean="0">
                <a:solidFill>
                  <a:srgbClr val="002060"/>
                </a:solidFill>
              </a:rPr>
              <a:t>25</a:t>
            </a:fld>
            <a:endParaRPr lang="it-IT" sz="1500" b="1" dirty="0">
              <a:solidFill>
                <a:srgbClr val="002060"/>
              </a:solidFill>
            </a:endParaRPr>
          </a:p>
        </p:txBody>
      </p:sp>
      <p:cxnSp>
        <p:nvCxnSpPr>
          <p:cNvPr id="10" name="Connettore diritto 9">
            <a:extLst>
              <a:ext uri="{FF2B5EF4-FFF2-40B4-BE49-F238E27FC236}">
                <a16:creationId xmlns:a16="http://schemas.microsoft.com/office/drawing/2014/main" id="{B844E650-12D4-EFF3-7840-141428F50368}"/>
              </a:ext>
            </a:extLst>
          </p:cNvPr>
          <p:cNvCxnSpPr>
            <a:cxnSpLocks/>
          </p:cNvCxnSpPr>
          <p:nvPr/>
        </p:nvCxnSpPr>
        <p:spPr>
          <a:xfrm>
            <a:off x="696000" y="1155368"/>
            <a:ext cx="10800000" cy="0"/>
          </a:xfrm>
          <a:prstGeom prst="line">
            <a:avLst/>
          </a:prstGeom>
          <a:ln w="38100">
            <a:solidFill>
              <a:srgbClr val="002060"/>
            </a:solidFill>
          </a:ln>
        </p:spPr>
        <p:style>
          <a:lnRef idx="2">
            <a:schemeClr val="accent1"/>
          </a:lnRef>
          <a:fillRef idx="0">
            <a:schemeClr val="accent1"/>
          </a:fillRef>
          <a:effectRef idx="1">
            <a:schemeClr val="accent1"/>
          </a:effectRef>
          <a:fontRef idx="minor">
            <a:schemeClr val="tx1"/>
          </a:fontRef>
        </p:style>
      </p:cxnSp>
      <p:sp>
        <p:nvSpPr>
          <p:cNvPr id="13" name="CasellaDiTesto 12">
            <a:extLst>
              <a:ext uri="{FF2B5EF4-FFF2-40B4-BE49-F238E27FC236}">
                <a16:creationId xmlns:a16="http://schemas.microsoft.com/office/drawing/2014/main" id="{09E15CB5-7181-A2A3-5662-F06C5C13F146}"/>
              </a:ext>
            </a:extLst>
          </p:cNvPr>
          <p:cNvSpPr txBox="1"/>
          <p:nvPr/>
        </p:nvSpPr>
        <p:spPr>
          <a:xfrm>
            <a:off x="3048886" y="3244334"/>
            <a:ext cx="6097772" cy="369332"/>
          </a:xfrm>
          <a:prstGeom prst="rect">
            <a:avLst/>
          </a:prstGeom>
          <a:noFill/>
        </p:spPr>
        <p:txBody>
          <a:bodyPr wrap="square">
            <a:spAutoFit/>
          </a:bodyPr>
          <a:lstStyle/>
          <a:p>
            <a:endParaRPr lang="it-IT" dirty="0"/>
          </a:p>
        </p:txBody>
      </p:sp>
      <p:sp>
        <p:nvSpPr>
          <p:cNvPr id="15" name="CasellaDiTesto 14">
            <a:extLst>
              <a:ext uri="{FF2B5EF4-FFF2-40B4-BE49-F238E27FC236}">
                <a16:creationId xmlns:a16="http://schemas.microsoft.com/office/drawing/2014/main" id="{F65F5B79-6256-2B6D-4DA3-A35E035B5C8D}"/>
              </a:ext>
            </a:extLst>
          </p:cNvPr>
          <p:cNvSpPr txBox="1"/>
          <p:nvPr/>
        </p:nvSpPr>
        <p:spPr>
          <a:xfrm>
            <a:off x="3048886" y="3244334"/>
            <a:ext cx="6097772" cy="369332"/>
          </a:xfrm>
          <a:prstGeom prst="rect">
            <a:avLst/>
          </a:prstGeom>
          <a:noFill/>
        </p:spPr>
        <p:txBody>
          <a:bodyPr wrap="square">
            <a:spAutoFit/>
          </a:bodyPr>
          <a:lstStyle/>
          <a:p>
            <a:endParaRPr lang="it-IT" dirty="0"/>
          </a:p>
        </p:txBody>
      </p:sp>
      <mc:AlternateContent xmlns:mc="http://schemas.openxmlformats.org/markup-compatibility/2006" xmlns:a14="http://schemas.microsoft.com/office/drawing/2010/main">
        <mc:Choice Requires="a14">
          <p:sp>
            <p:nvSpPr>
              <p:cNvPr id="7" name="Segnaposto contenuto 6">
                <a:extLst>
                  <a:ext uri="{FF2B5EF4-FFF2-40B4-BE49-F238E27FC236}">
                    <a16:creationId xmlns:a16="http://schemas.microsoft.com/office/drawing/2014/main" id="{63E1780A-3EA9-670E-66EE-AD225EA2348C}"/>
                  </a:ext>
                </a:extLst>
              </p:cNvPr>
              <p:cNvSpPr>
                <a:spLocks noGrp="1"/>
              </p:cNvSpPr>
              <p:nvPr>
                <p:ph idx="1"/>
              </p:nvPr>
            </p:nvSpPr>
            <p:spPr>
              <a:xfrm>
                <a:off x="838200" y="1528011"/>
                <a:ext cx="10515600" cy="4648952"/>
              </a:xfrm>
            </p:spPr>
            <p:txBody>
              <a:bodyPr>
                <a:normAutofit/>
              </a:bodyPr>
              <a:lstStyle/>
              <a:p>
                <a:endParaRPr lang="it-IT" sz="2600" dirty="0"/>
              </a:p>
              <a:p>
                <a:r>
                  <a:rPr lang="it-IT" sz="2600" dirty="0"/>
                  <a:t>Crystal 1 </a:t>
                </a:r>
                <a:r>
                  <a:rPr lang="it-IT" sz="2600" dirty="0" err="1"/>
                  <a:t>does</a:t>
                </a:r>
                <a:r>
                  <a:rPr lang="it-IT" sz="2600" dirty="0"/>
                  <a:t> show </a:t>
                </a:r>
                <a:r>
                  <a:rPr lang="it-IT" sz="2600" dirty="0" err="1"/>
                  <a:t>inconsistencies</a:t>
                </a:r>
                <a:r>
                  <a:rPr lang="it-IT" sz="2600" dirty="0"/>
                  <a:t> in </a:t>
                </a:r>
                <a:r>
                  <a:rPr lang="it-IT" sz="2600" dirty="0" err="1"/>
                  <a:t>different</a:t>
                </a:r>
                <a:r>
                  <a:rPr lang="it-IT" sz="2600" dirty="0"/>
                  <a:t> </a:t>
                </a:r>
                <a:r>
                  <a:rPr lang="it-IT" sz="2600" dirty="0" err="1"/>
                  <a:t>runs</a:t>
                </a:r>
                <a:r>
                  <a:rPr lang="it-IT" sz="2600" dirty="0"/>
                  <a:t> (8430 and 8650 </a:t>
                </a:r>
                <a:r>
                  <a:rPr lang="it-IT" sz="2600" dirty="0" err="1"/>
                  <a:t>have</a:t>
                </a:r>
                <a:r>
                  <a:rPr lang="it-IT" sz="2600" dirty="0"/>
                  <a:t> </a:t>
                </a:r>
                <a:r>
                  <a:rPr lang="it-IT" sz="2600" dirty="0" err="1"/>
                  <a:t>different</a:t>
                </a:r>
                <a:r>
                  <a:rPr lang="it-IT" sz="2600" dirty="0"/>
                  <a:t> energies)</a:t>
                </a:r>
              </a:p>
              <a:p>
                <a:endParaRPr lang="it-IT" sz="2600" dirty="0"/>
              </a:p>
              <a:p>
                <a:r>
                  <a:rPr lang="it-IT" sz="2600" dirty="0"/>
                  <a:t>Crystal 1 shows a maximum </a:t>
                </a:r>
                <a:r>
                  <a:rPr lang="it-IT" sz="2600" dirty="0" err="1"/>
                  <a:t>efficiency</a:t>
                </a:r>
                <a:r>
                  <a:rPr lang="it-IT" sz="2600" dirty="0"/>
                  <a:t> of </a:t>
                </a:r>
                <a14:m>
                  <m:oMath xmlns:m="http://schemas.openxmlformats.org/officeDocument/2006/math">
                    <m:r>
                      <a:rPr lang="it-IT" sz="2600" b="0" i="1" smtClean="0">
                        <a:latin typeface="Cambria Math" panose="02040503050406030204" pitchFamily="18" charset="0"/>
                      </a:rPr>
                      <m:t>∼25.4%</m:t>
                    </m:r>
                  </m:oMath>
                </a14:m>
                <a:r>
                  <a:rPr lang="it-IT" sz="2600" dirty="0"/>
                  <a:t> </a:t>
                </a:r>
              </a:p>
              <a:p>
                <a:r>
                  <a:rPr lang="it-IT" sz="2600" dirty="0"/>
                  <a:t>Crystal 2 shows a maximum </a:t>
                </a:r>
                <a:r>
                  <a:rPr lang="it-IT" sz="2600" dirty="0" err="1"/>
                  <a:t>efficiency</a:t>
                </a:r>
                <a:r>
                  <a:rPr lang="it-IT" sz="2600" dirty="0"/>
                  <a:t> of </a:t>
                </a:r>
                <a14:m>
                  <m:oMath xmlns:m="http://schemas.openxmlformats.org/officeDocument/2006/math">
                    <m:r>
                      <a:rPr lang="it-IT" sz="2600" i="1">
                        <a:latin typeface="Cambria Math" panose="02040503050406030204" pitchFamily="18" charset="0"/>
                      </a:rPr>
                      <m:t>∼2</m:t>
                    </m:r>
                    <m:r>
                      <a:rPr lang="it-IT" sz="2600" b="0" i="1" smtClean="0">
                        <a:latin typeface="Cambria Math" panose="02040503050406030204" pitchFamily="18" charset="0"/>
                      </a:rPr>
                      <m:t>3.1</m:t>
                    </m:r>
                    <m:r>
                      <a:rPr lang="it-IT" sz="2600" i="1">
                        <a:latin typeface="Cambria Math" panose="02040503050406030204" pitchFamily="18" charset="0"/>
                      </a:rPr>
                      <m:t>%</m:t>
                    </m:r>
                  </m:oMath>
                </a14:m>
                <a:endParaRPr lang="it-IT" sz="2600" dirty="0"/>
              </a:p>
              <a:p>
                <a:endParaRPr lang="it-IT" sz="2600" dirty="0"/>
              </a:p>
            </p:txBody>
          </p:sp>
        </mc:Choice>
        <mc:Fallback xmlns="">
          <p:sp>
            <p:nvSpPr>
              <p:cNvPr id="7" name="Segnaposto contenuto 6">
                <a:extLst>
                  <a:ext uri="{FF2B5EF4-FFF2-40B4-BE49-F238E27FC236}">
                    <a16:creationId xmlns:a16="http://schemas.microsoft.com/office/drawing/2014/main" id="{63E1780A-3EA9-670E-66EE-AD225EA2348C}"/>
                  </a:ext>
                </a:extLst>
              </p:cNvPr>
              <p:cNvSpPr>
                <a:spLocks noGrp="1" noRot="1" noChangeAspect="1" noMove="1" noResize="1" noEditPoints="1" noAdjustHandles="1" noChangeArrowheads="1" noChangeShapeType="1" noTextEdit="1"/>
              </p:cNvSpPr>
              <p:nvPr>
                <p:ph idx="1"/>
              </p:nvPr>
            </p:nvSpPr>
            <p:spPr>
              <a:xfrm>
                <a:off x="838200" y="1528011"/>
                <a:ext cx="10515600" cy="4648952"/>
              </a:xfrm>
              <a:blipFill>
                <a:blip r:embed="rId3"/>
                <a:stretch>
                  <a:fillRect l="-928"/>
                </a:stretch>
              </a:blipFill>
            </p:spPr>
            <p:txBody>
              <a:bodyPr/>
              <a:lstStyle/>
              <a:p>
                <a:r>
                  <a:rPr lang="it-IT">
                    <a:noFill/>
                  </a:rPr>
                  <a:t> </a:t>
                </a:r>
              </a:p>
            </p:txBody>
          </p:sp>
        </mc:Fallback>
      </mc:AlternateContent>
    </p:spTree>
    <p:extLst>
      <p:ext uri="{BB962C8B-B14F-4D97-AF65-F5344CB8AC3E}">
        <p14:creationId xmlns:p14="http://schemas.microsoft.com/office/powerpoint/2010/main" val="346907182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B918F9-20BA-7D9D-5E18-95A4ACCDAE61}"/>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99C2B6A7-5B88-7985-2BEA-87C6545392F8}"/>
              </a:ext>
            </a:extLst>
          </p:cNvPr>
          <p:cNvSpPr>
            <a:spLocks noGrp="1"/>
          </p:cNvSpPr>
          <p:nvPr>
            <p:ph type="title"/>
          </p:nvPr>
        </p:nvSpPr>
        <p:spPr>
          <a:xfrm>
            <a:off x="38100" y="69651"/>
            <a:ext cx="12114000" cy="1153094"/>
          </a:xfrm>
          <a:prstGeom prst="roundRect">
            <a:avLst>
              <a:gd name="adj" fmla="val 36459"/>
            </a:avLst>
          </a:prstGeom>
          <a:noFill/>
        </p:spPr>
        <p:txBody>
          <a:bodyPr>
            <a:normAutofit/>
          </a:bodyPr>
          <a:lstStyle/>
          <a:p>
            <a:r>
              <a:rPr lang="it-IT" b="1" dirty="0">
                <a:solidFill>
                  <a:srgbClr val="002060"/>
                </a:solidFill>
              </a:rPr>
              <a:t>	4. NEXT STEPS</a:t>
            </a:r>
          </a:p>
        </p:txBody>
      </p:sp>
      <p:sp>
        <p:nvSpPr>
          <p:cNvPr id="4" name="Segnaposto data 3">
            <a:extLst>
              <a:ext uri="{FF2B5EF4-FFF2-40B4-BE49-F238E27FC236}">
                <a16:creationId xmlns:a16="http://schemas.microsoft.com/office/drawing/2014/main" id="{6B72C9FB-F02B-0FD3-BD32-CEA5EF315E5A}"/>
              </a:ext>
            </a:extLst>
          </p:cNvPr>
          <p:cNvSpPr>
            <a:spLocks noGrp="1"/>
          </p:cNvSpPr>
          <p:nvPr>
            <p:ph type="dt" sz="half" idx="10"/>
          </p:nvPr>
        </p:nvSpPr>
        <p:spPr>
          <a:xfrm>
            <a:off x="838200" y="6356349"/>
            <a:ext cx="2743200" cy="432000"/>
          </a:xfrm>
        </p:spPr>
        <p:txBody>
          <a:bodyPr/>
          <a:lstStyle/>
          <a:p>
            <a:r>
              <a:rPr lang="it-IT" sz="1500" b="1" dirty="0">
                <a:solidFill>
                  <a:srgbClr val="002060"/>
                </a:solidFill>
              </a:rPr>
              <a:t>24.08.2026</a:t>
            </a:r>
          </a:p>
        </p:txBody>
      </p:sp>
      <p:sp>
        <p:nvSpPr>
          <p:cNvPr id="5" name="Segnaposto piè di pagina 4">
            <a:extLst>
              <a:ext uri="{FF2B5EF4-FFF2-40B4-BE49-F238E27FC236}">
                <a16:creationId xmlns:a16="http://schemas.microsoft.com/office/drawing/2014/main" id="{776B9A53-D0F8-EEB0-DAA4-E86ED39F883E}"/>
              </a:ext>
            </a:extLst>
          </p:cNvPr>
          <p:cNvSpPr>
            <a:spLocks noGrp="1"/>
          </p:cNvSpPr>
          <p:nvPr>
            <p:ph type="ftr" sz="quarter" idx="11"/>
          </p:nvPr>
        </p:nvSpPr>
        <p:spPr>
          <a:xfrm>
            <a:off x="0" y="6356349"/>
            <a:ext cx="12192000" cy="432000"/>
          </a:xfrm>
        </p:spPr>
        <p:txBody>
          <a:bodyPr/>
          <a:lstStyle/>
          <a:p>
            <a:r>
              <a:rPr lang="it-IT" sz="1500" b="1" dirty="0">
                <a:solidFill>
                  <a:srgbClr val="002060"/>
                </a:solidFill>
              </a:rPr>
              <a:t>Anna Sofia Moro</a:t>
            </a:r>
          </a:p>
        </p:txBody>
      </p:sp>
      <p:sp>
        <p:nvSpPr>
          <p:cNvPr id="6" name="Segnaposto numero diapositiva 5">
            <a:extLst>
              <a:ext uri="{FF2B5EF4-FFF2-40B4-BE49-F238E27FC236}">
                <a16:creationId xmlns:a16="http://schemas.microsoft.com/office/drawing/2014/main" id="{EB89205E-8934-3BED-AA1E-58FEF0E9F045}"/>
              </a:ext>
            </a:extLst>
          </p:cNvPr>
          <p:cNvSpPr>
            <a:spLocks noGrp="1"/>
          </p:cNvSpPr>
          <p:nvPr>
            <p:ph type="sldNum" sz="quarter" idx="12"/>
          </p:nvPr>
        </p:nvSpPr>
        <p:spPr>
          <a:xfrm>
            <a:off x="8610600" y="6356349"/>
            <a:ext cx="2743200" cy="432000"/>
          </a:xfrm>
        </p:spPr>
        <p:txBody>
          <a:bodyPr/>
          <a:lstStyle/>
          <a:p>
            <a:fld id="{0A318BD9-CA14-4A83-ACF0-03D5918EB402}" type="slidenum">
              <a:rPr lang="it-IT" sz="1500" b="1" smtClean="0">
                <a:solidFill>
                  <a:srgbClr val="002060"/>
                </a:solidFill>
              </a:rPr>
              <a:t>26</a:t>
            </a:fld>
            <a:endParaRPr lang="it-IT" sz="1500" b="1" dirty="0">
              <a:solidFill>
                <a:srgbClr val="002060"/>
              </a:solidFill>
            </a:endParaRPr>
          </a:p>
        </p:txBody>
      </p:sp>
      <p:cxnSp>
        <p:nvCxnSpPr>
          <p:cNvPr id="10" name="Connettore diritto 9">
            <a:extLst>
              <a:ext uri="{FF2B5EF4-FFF2-40B4-BE49-F238E27FC236}">
                <a16:creationId xmlns:a16="http://schemas.microsoft.com/office/drawing/2014/main" id="{E1514724-120A-654B-3739-07F2ED8192E3}"/>
              </a:ext>
            </a:extLst>
          </p:cNvPr>
          <p:cNvCxnSpPr>
            <a:cxnSpLocks/>
          </p:cNvCxnSpPr>
          <p:nvPr/>
        </p:nvCxnSpPr>
        <p:spPr>
          <a:xfrm>
            <a:off x="696000" y="1155368"/>
            <a:ext cx="10800000" cy="0"/>
          </a:xfrm>
          <a:prstGeom prst="line">
            <a:avLst/>
          </a:prstGeom>
          <a:ln w="38100">
            <a:solidFill>
              <a:srgbClr val="002060"/>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7" name="Rettangolo con angoli arrotondati 6">
                <a:extLst>
                  <a:ext uri="{FF2B5EF4-FFF2-40B4-BE49-F238E27FC236}">
                    <a16:creationId xmlns:a16="http://schemas.microsoft.com/office/drawing/2014/main" id="{4FAE4BBF-9B14-E627-BE4A-5F711FF700E2}"/>
                  </a:ext>
                </a:extLst>
              </p:cNvPr>
              <p:cNvSpPr/>
              <p:nvPr/>
            </p:nvSpPr>
            <p:spPr>
              <a:xfrm>
                <a:off x="696000" y="1497271"/>
                <a:ext cx="3535758" cy="4791701"/>
              </a:xfrm>
              <a:prstGeom prst="roundRect">
                <a:avLst/>
              </a:prstGeom>
              <a:noFill/>
              <a:ln w="38100">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endParaRPr lang="it-IT" sz="2000" b="1" dirty="0">
                  <a:solidFill>
                    <a:srgbClr val="002060"/>
                  </a:solidFill>
                </a:endParaRPr>
              </a:p>
              <a:p>
                <a:pPr algn="ctr"/>
                <a:endParaRPr lang="it-IT" sz="2000" b="1" dirty="0">
                  <a:solidFill>
                    <a:srgbClr val="002060"/>
                  </a:solidFill>
                </a:endParaRPr>
              </a:p>
              <a:p>
                <a:pPr algn="ctr"/>
                <a:r>
                  <a:rPr lang="it-IT" sz="2000" b="1" dirty="0">
                    <a:solidFill>
                      <a:srgbClr val="002060"/>
                    </a:solidFill>
                  </a:rPr>
                  <a:t>ERRORS</a:t>
                </a:r>
              </a:p>
              <a:p>
                <a:pPr algn="ctr"/>
                <a:endParaRPr lang="it-IT" sz="2000" dirty="0">
                  <a:solidFill>
                    <a:schemeClr val="tx1"/>
                  </a:solidFill>
                </a:endParaRPr>
              </a:p>
              <a:p>
                <a:pPr algn="ctr"/>
                <a:r>
                  <a:rPr lang="it-IT" sz="2000" dirty="0">
                    <a:solidFill>
                      <a:schemeClr val="tx1"/>
                    </a:solidFill>
                  </a:rPr>
                  <a:t>Quantify </a:t>
                </a:r>
                <a:r>
                  <a:rPr lang="it-IT" sz="2000" dirty="0" err="1">
                    <a:solidFill>
                      <a:schemeClr val="tx1"/>
                    </a:solidFill>
                  </a:rPr>
                  <a:t>statistical</a:t>
                </a:r>
                <a:r>
                  <a:rPr lang="it-IT" sz="2000" dirty="0">
                    <a:solidFill>
                      <a:schemeClr val="tx1"/>
                    </a:solidFill>
                  </a:rPr>
                  <a:t> and </a:t>
                </a:r>
                <a:r>
                  <a:rPr lang="it-IT" sz="2000" dirty="0" err="1">
                    <a:solidFill>
                      <a:schemeClr val="tx1"/>
                    </a:solidFill>
                  </a:rPr>
                  <a:t>systematic</a:t>
                </a:r>
                <a:r>
                  <a:rPr lang="it-IT" sz="2000" dirty="0">
                    <a:solidFill>
                      <a:schemeClr val="tx1"/>
                    </a:solidFill>
                  </a:rPr>
                  <a:t> </a:t>
                </a:r>
                <a:r>
                  <a:rPr lang="it-IT" sz="2000" dirty="0" err="1">
                    <a:solidFill>
                      <a:schemeClr val="tx1"/>
                    </a:solidFill>
                  </a:rPr>
                  <a:t>uncertainties</a:t>
                </a:r>
                <a:r>
                  <a:rPr lang="it-IT" sz="2000" dirty="0">
                    <a:solidFill>
                      <a:schemeClr val="tx1"/>
                    </a:solidFill>
                  </a:rPr>
                  <a:t> on the </a:t>
                </a:r>
                <a:r>
                  <a:rPr lang="it-IT" sz="2000" dirty="0" err="1">
                    <a:solidFill>
                      <a:schemeClr val="tx1"/>
                    </a:solidFill>
                  </a:rPr>
                  <a:t>channeling</a:t>
                </a:r>
                <a:r>
                  <a:rPr lang="it-IT" sz="2000" dirty="0">
                    <a:solidFill>
                      <a:schemeClr val="tx1"/>
                    </a:solidFill>
                  </a:rPr>
                  <a:t> </a:t>
                </a:r>
                <a:r>
                  <a:rPr lang="it-IT" sz="2000" dirty="0" err="1">
                    <a:solidFill>
                      <a:schemeClr val="tx1"/>
                    </a:solidFill>
                  </a:rPr>
                  <a:t>efficiency</a:t>
                </a:r>
                <a:r>
                  <a:rPr lang="it-IT" sz="2000" dirty="0">
                    <a:solidFill>
                      <a:schemeClr val="tx1"/>
                    </a:solidFill>
                  </a:rPr>
                  <a:t> (</a:t>
                </a:r>
                <a14:m>
                  <m:oMath xmlns:m="http://schemas.openxmlformats.org/officeDocument/2006/math">
                    <m:sSub>
                      <m:sSubPr>
                        <m:ctrlPr>
                          <a:rPr lang="it-IT" sz="2000" i="1" dirty="0">
                            <a:solidFill>
                              <a:schemeClr val="tx1"/>
                            </a:solidFill>
                            <a:latin typeface="Cambria Math" panose="02040503050406030204" pitchFamily="18" charset="0"/>
                          </a:rPr>
                        </m:ctrlPr>
                      </m:sSubPr>
                      <m:e>
                        <m:r>
                          <a:rPr lang="it-IT" sz="2000" i="1" dirty="0">
                            <a:solidFill>
                              <a:schemeClr val="tx1"/>
                            </a:solidFill>
                            <a:latin typeface="Cambria Math" panose="02040503050406030204" pitchFamily="18" charset="0"/>
                          </a:rPr>
                          <m:t>𝜖</m:t>
                        </m:r>
                      </m:e>
                      <m:sub>
                        <m:r>
                          <a:rPr lang="it-IT" sz="2000" i="1" dirty="0" err="1">
                            <a:solidFill>
                              <a:schemeClr val="tx1"/>
                            </a:solidFill>
                            <a:latin typeface="Cambria Math" panose="02040503050406030204" pitchFamily="18" charset="0"/>
                          </a:rPr>
                          <m:t>𝑐ℎ</m:t>
                        </m:r>
                      </m:sub>
                    </m:sSub>
                  </m:oMath>
                </a14:m>
                <a:r>
                  <a:rPr lang="it-IT" sz="2000" dirty="0">
                    <a:solidFill>
                      <a:schemeClr val="tx1"/>
                    </a:solidFill>
                  </a:rPr>
                  <a:t>) and </a:t>
                </a:r>
                <a:r>
                  <a:rPr lang="it-IT" sz="2000" dirty="0" err="1">
                    <a:solidFill>
                      <a:schemeClr val="tx1"/>
                    </a:solidFill>
                  </a:rPr>
                  <a:t>torsion</a:t>
                </a:r>
                <a:r>
                  <a:rPr lang="it-IT" sz="2000" dirty="0">
                    <a:solidFill>
                      <a:schemeClr val="tx1"/>
                    </a:solidFill>
                  </a:rPr>
                  <a:t> </a:t>
                </a:r>
                <a:r>
                  <a:rPr lang="it-IT" sz="2000" dirty="0" err="1">
                    <a:solidFill>
                      <a:schemeClr val="tx1"/>
                    </a:solidFill>
                  </a:rPr>
                  <a:t>parameters</a:t>
                </a:r>
                <a:r>
                  <a:rPr lang="it-IT" sz="2000" dirty="0">
                    <a:solidFill>
                      <a:schemeClr val="tx1"/>
                    </a:solidFill>
                  </a:rPr>
                  <a:t>.</a:t>
                </a:r>
              </a:p>
              <a:p>
                <a:pPr algn="ctr"/>
                <a:endParaRPr lang="it-IT" sz="2000" dirty="0">
                  <a:solidFill>
                    <a:schemeClr val="tx1"/>
                  </a:solidFill>
                </a:endParaRPr>
              </a:p>
            </p:txBody>
          </p:sp>
        </mc:Choice>
        <mc:Fallback xmlns="">
          <p:sp>
            <p:nvSpPr>
              <p:cNvPr id="7" name="Rettangolo con angoli arrotondati 6">
                <a:extLst>
                  <a:ext uri="{FF2B5EF4-FFF2-40B4-BE49-F238E27FC236}">
                    <a16:creationId xmlns:a16="http://schemas.microsoft.com/office/drawing/2014/main" id="{4FAE4BBF-9B14-E627-BE4A-5F711FF700E2}"/>
                  </a:ext>
                </a:extLst>
              </p:cNvPr>
              <p:cNvSpPr>
                <a:spLocks noRot="1" noChangeAspect="1" noMove="1" noResize="1" noEditPoints="1" noAdjustHandles="1" noChangeArrowheads="1" noChangeShapeType="1" noTextEdit="1"/>
              </p:cNvSpPr>
              <p:nvPr/>
            </p:nvSpPr>
            <p:spPr>
              <a:xfrm>
                <a:off x="696000" y="1497271"/>
                <a:ext cx="3535758" cy="4791701"/>
              </a:xfrm>
              <a:prstGeom prst="roundRect">
                <a:avLst/>
              </a:prstGeom>
              <a:blipFill>
                <a:blip r:embed="rId3"/>
                <a:stretch>
                  <a:fillRect/>
                </a:stretch>
              </a:blipFill>
              <a:ln w="38100">
                <a:solidFill>
                  <a:srgbClr val="002060"/>
                </a:solidFill>
              </a:ln>
            </p:spPr>
            <p:txBody>
              <a:bodyPr/>
              <a:lstStyle/>
              <a:p>
                <a:r>
                  <a:rPr lang="it-IT">
                    <a:noFill/>
                  </a:rPr>
                  <a:t> </a:t>
                </a:r>
              </a:p>
            </p:txBody>
          </p:sp>
        </mc:Fallback>
      </mc:AlternateContent>
      <p:sp>
        <p:nvSpPr>
          <p:cNvPr id="9" name="Rettangolo con angoli arrotondati 8">
            <a:extLst>
              <a:ext uri="{FF2B5EF4-FFF2-40B4-BE49-F238E27FC236}">
                <a16:creationId xmlns:a16="http://schemas.microsoft.com/office/drawing/2014/main" id="{C331D47E-6024-8ED6-1B52-08C575E065AE}"/>
              </a:ext>
            </a:extLst>
          </p:cNvPr>
          <p:cNvSpPr/>
          <p:nvPr/>
        </p:nvSpPr>
        <p:spPr>
          <a:xfrm>
            <a:off x="4328122" y="1497270"/>
            <a:ext cx="3535758" cy="4791701"/>
          </a:xfrm>
          <a:prstGeom prst="roundRect">
            <a:avLst/>
          </a:prstGeom>
          <a:noFill/>
          <a:ln w="38100">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endParaRPr lang="it-IT" sz="2000" b="1" dirty="0">
              <a:solidFill>
                <a:srgbClr val="002060"/>
              </a:solidFill>
            </a:endParaRPr>
          </a:p>
          <a:p>
            <a:pPr algn="ctr"/>
            <a:endParaRPr lang="it-IT" sz="2000" b="1" dirty="0">
              <a:solidFill>
                <a:srgbClr val="002060"/>
              </a:solidFill>
            </a:endParaRPr>
          </a:p>
          <a:p>
            <a:pPr algn="ctr"/>
            <a:r>
              <a:rPr lang="it-IT" sz="2000" b="1" dirty="0">
                <a:solidFill>
                  <a:srgbClr val="002060"/>
                </a:solidFill>
              </a:rPr>
              <a:t>SPIKES</a:t>
            </a:r>
          </a:p>
          <a:p>
            <a:pPr algn="ctr"/>
            <a:endParaRPr lang="it-IT" dirty="0">
              <a:solidFill>
                <a:schemeClr val="tx1"/>
              </a:solidFill>
            </a:endParaRPr>
          </a:p>
          <a:p>
            <a:pPr algn="ctr"/>
            <a:endParaRPr lang="en-US" dirty="0">
              <a:solidFill>
                <a:schemeClr val="tx1"/>
              </a:solidFill>
            </a:endParaRPr>
          </a:p>
          <a:p>
            <a:pPr algn="ctr"/>
            <a:r>
              <a:rPr lang="en-US" sz="2000" dirty="0">
                <a:solidFill>
                  <a:schemeClr val="tx1"/>
                </a:solidFill>
              </a:rPr>
              <a:t>Explore the spikes found in the histogram from the channeled particles</a:t>
            </a:r>
          </a:p>
          <a:p>
            <a:pPr algn="ctr"/>
            <a:endParaRPr lang="it-IT" sz="2000" dirty="0">
              <a:solidFill>
                <a:schemeClr val="tx1"/>
              </a:solidFill>
            </a:endParaRPr>
          </a:p>
        </p:txBody>
      </p:sp>
      <p:sp>
        <p:nvSpPr>
          <p:cNvPr id="12" name="Rettangolo con angoli arrotondati 11">
            <a:extLst>
              <a:ext uri="{FF2B5EF4-FFF2-40B4-BE49-F238E27FC236}">
                <a16:creationId xmlns:a16="http://schemas.microsoft.com/office/drawing/2014/main" id="{AE996907-1C92-5C32-265F-168B18C4415E}"/>
              </a:ext>
            </a:extLst>
          </p:cNvPr>
          <p:cNvSpPr/>
          <p:nvPr/>
        </p:nvSpPr>
        <p:spPr>
          <a:xfrm>
            <a:off x="7960244" y="1497270"/>
            <a:ext cx="3535758" cy="4791701"/>
          </a:xfrm>
          <a:prstGeom prst="roundRect">
            <a:avLst/>
          </a:prstGeom>
          <a:noFill/>
          <a:ln w="38100">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endParaRPr lang="it-IT" sz="2000" b="1" dirty="0">
              <a:solidFill>
                <a:srgbClr val="002060"/>
              </a:solidFill>
            </a:endParaRPr>
          </a:p>
          <a:p>
            <a:pPr algn="ctr"/>
            <a:endParaRPr lang="it-IT" sz="2000" b="1" dirty="0">
              <a:solidFill>
                <a:srgbClr val="002060"/>
              </a:solidFill>
            </a:endParaRPr>
          </a:p>
          <a:p>
            <a:pPr algn="ctr"/>
            <a:r>
              <a:rPr lang="it-IT" sz="2000" b="1" dirty="0">
                <a:solidFill>
                  <a:srgbClr val="002060"/>
                </a:solidFill>
              </a:rPr>
              <a:t>RUN 8650</a:t>
            </a:r>
          </a:p>
          <a:p>
            <a:pPr algn="ctr"/>
            <a:endParaRPr lang="it-IT" sz="2000" dirty="0">
              <a:solidFill>
                <a:schemeClr val="tx1"/>
              </a:solidFill>
            </a:endParaRPr>
          </a:p>
          <a:p>
            <a:pPr algn="ctr"/>
            <a:r>
              <a:rPr lang="en-US" sz="2000" dirty="0">
                <a:solidFill>
                  <a:schemeClr val="tx1"/>
                </a:solidFill>
              </a:rPr>
              <a:t>Understand why run 8650 shows an incompatible channeling peak.</a:t>
            </a:r>
            <a:endParaRPr lang="it-IT" sz="2000" dirty="0">
              <a:solidFill>
                <a:schemeClr val="tx1"/>
              </a:solidFill>
            </a:endParaRPr>
          </a:p>
        </p:txBody>
      </p:sp>
      <p:pic>
        <p:nvPicPr>
          <p:cNvPr id="8" name="Immagine 7">
            <a:extLst>
              <a:ext uri="{FF2B5EF4-FFF2-40B4-BE49-F238E27FC236}">
                <a16:creationId xmlns:a16="http://schemas.microsoft.com/office/drawing/2014/main" id="{0A7A72E2-5B8D-57F8-F8BE-67DBD8C8D551}"/>
              </a:ext>
            </a:extLst>
          </p:cNvPr>
          <p:cNvPicPr>
            <a:picLocks noChangeAspect="1"/>
          </p:cNvPicPr>
          <p:nvPr/>
        </p:nvPicPr>
        <p:blipFill>
          <a:blip r:embed="rId4">
            <a:extLst>
              <a:ext uri="{28A0092B-C50C-407E-A947-70E740481C1C}">
                <a14:useLocalDpi xmlns:a14="http://schemas.microsoft.com/office/drawing/2010/main" val="0"/>
              </a:ext>
            </a:extLst>
          </a:blip>
          <a:srcRect r="39231" b="61754"/>
          <a:stretch>
            <a:fillRect/>
          </a:stretch>
        </p:blipFill>
        <p:spPr>
          <a:xfrm>
            <a:off x="4586923" y="4403558"/>
            <a:ext cx="3018156" cy="1657785"/>
          </a:xfrm>
          <a:prstGeom prst="rect">
            <a:avLst/>
          </a:prstGeom>
        </p:spPr>
      </p:pic>
    </p:spTree>
    <p:extLst>
      <p:ext uri="{BB962C8B-B14F-4D97-AF65-F5344CB8AC3E}">
        <p14:creationId xmlns:p14="http://schemas.microsoft.com/office/powerpoint/2010/main" val="419821368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AC6EFF-B9B4-605B-23DF-EDC01FF419F6}"/>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B5797431-BBE5-CB25-093B-D04D3DF2F194}"/>
              </a:ext>
            </a:extLst>
          </p:cNvPr>
          <p:cNvSpPr>
            <a:spLocks noGrp="1"/>
          </p:cNvSpPr>
          <p:nvPr>
            <p:ph type="title"/>
          </p:nvPr>
        </p:nvSpPr>
        <p:spPr>
          <a:xfrm>
            <a:off x="38100" y="69651"/>
            <a:ext cx="12114000" cy="1153094"/>
          </a:xfrm>
          <a:prstGeom prst="roundRect">
            <a:avLst>
              <a:gd name="adj" fmla="val 36459"/>
            </a:avLst>
          </a:prstGeom>
          <a:noFill/>
        </p:spPr>
        <p:txBody>
          <a:bodyPr>
            <a:normAutofit/>
          </a:bodyPr>
          <a:lstStyle/>
          <a:p>
            <a:r>
              <a:rPr lang="it-IT" sz="4000" b="1" dirty="0">
                <a:solidFill>
                  <a:srgbClr val="002060"/>
                </a:solidFill>
              </a:rPr>
              <a:t>	BACKUP SLIDES</a:t>
            </a:r>
          </a:p>
        </p:txBody>
      </p:sp>
      <p:sp>
        <p:nvSpPr>
          <p:cNvPr id="4" name="Segnaposto data 3">
            <a:extLst>
              <a:ext uri="{FF2B5EF4-FFF2-40B4-BE49-F238E27FC236}">
                <a16:creationId xmlns:a16="http://schemas.microsoft.com/office/drawing/2014/main" id="{EB987156-1AA3-606D-F960-F5521BB0A14D}"/>
              </a:ext>
            </a:extLst>
          </p:cNvPr>
          <p:cNvSpPr>
            <a:spLocks noGrp="1"/>
          </p:cNvSpPr>
          <p:nvPr>
            <p:ph type="dt" sz="half" idx="10"/>
          </p:nvPr>
        </p:nvSpPr>
        <p:spPr>
          <a:xfrm>
            <a:off x="838200" y="6356349"/>
            <a:ext cx="2743200" cy="432000"/>
          </a:xfrm>
        </p:spPr>
        <p:txBody>
          <a:bodyPr/>
          <a:lstStyle/>
          <a:p>
            <a:r>
              <a:rPr lang="it-IT" sz="1500" b="1" dirty="0">
                <a:solidFill>
                  <a:srgbClr val="002060"/>
                </a:solidFill>
              </a:rPr>
              <a:t>24.08.2026</a:t>
            </a:r>
          </a:p>
        </p:txBody>
      </p:sp>
      <p:sp>
        <p:nvSpPr>
          <p:cNvPr id="5" name="Segnaposto piè di pagina 4">
            <a:extLst>
              <a:ext uri="{FF2B5EF4-FFF2-40B4-BE49-F238E27FC236}">
                <a16:creationId xmlns:a16="http://schemas.microsoft.com/office/drawing/2014/main" id="{789376CE-2672-8B5F-17F8-C7FABE69F6E5}"/>
              </a:ext>
            </a:extLst>
          </p:cNvPr>
          <p:cNvSpPr>
            <a:spLocks noGrp="1"/>
          </p:cNvSpPr>
          <p:nvPr>
            <p:ph type="ftr" sz="quarter" idx="11"/>
          </p:nvPr>
        </p:nvSpPr>
        <p:spPr>
          <a:xfrm>
            <a:off x="0" y="6356349"/>
            <a:ext cx="12192000" cy="432000"/>
          </a:xfrm>
        </p:spPr>
        <p:txBody>
          <a:bodyPr/>
          <a:lstStyle/>
          <a:p>
            <a:r>
              <a:rPr lang="it-IT" sz="1500" b="1" dirty="0">
                <a:solidFill>
                  <a:srgbClr val="002060"/>
                </a:solidFill>
              </a:rPr>
              <a:t>Anna Sofia Moro</a:t>
            </a:r>
          </a:p>
        </p:txBody>
      </p:sp>
      <p:sp>
        <p:nvSpPr>
          <p:cNvPr id="6" name="Segnaposto numero diapositiva 5">
            <a:extLst>
              <a:ext uri="{FF2B5EF4-FFF2-40B4-BE49-F238E27FC236}">
                <a16:creationId xmlns:a16="http://schemas.microsoft.com/office/drawing/2014/main" id="{F518D8F0-CFAD-5A22-0C45-35621E72D2EB}"/>
              </a:ext>
            </a:extLst>
          </p:cNvPr>
          <p:cNvSpPr>
            <a:spLocks noGrp="1"/>
          </p:cNvSpPr>
          <p:nvPr>
            <p:ph type="sldNum" sz="quarter" idx="12"/>
          </p:nvPr>
        </p:nvSpPr>
        <p:spPr>
          <a:xfrm>
            <a:off x="8610600" y="6356349"/>
            <a:ext cx="2743200" cy="432000"/>
          </a:xfrm>
        </p:spPr>
        <p:txBody>
          <a:bodyPr/>
          <a:lstStyle/>
          <a:p>
            <a:fld id="{0A318BD9-CA14-4A83-ACF0-03D5918EB402}" type="slidenum">
              <a:rPr lang="it-IT" sz="1500" b="1" smtClean="0">
                <a:solidFill>
                  <a:srgbClr val="002060"/>
                </a:solidFill>
              </a:rPr>
              <a:t>27</a:t>
            </a:fld>
            <a:endParaRPr lang="it-IT" sz="1500" b="1" dirty="0">
              <a:solidFill>
                <a:srgbClr val="002060"/>
              </a:solidFill>
            </a:endParaRPr>
          </a:p>
        </p:txBody>
      </p:sp>
      <p:cxnSp>
        <p:nvCxnSpPr>
          <p:cNvPr id="10" name="Connettore diritto 9">
            <a:extLst>
              <a:ext uri="{FF2B5EF4-FFF2-40B4-BE49-F238E27FC236}">
                <a16:creationId xmlns:a16="http://schemas.microsoft.com/office/drawing/2014/main" id="{19CCD89B-D23E-B601-CB0F-35F735A548A8}"/>
              </a:ext>
            </a:extLst>
          </p:cNvPr>
          <p:cNvCxnSpPr>
            <a:cxnSpLocks/>
          </p:cNvCxnSpPr>
          <p:nvPr/>
        </p:nvCxnSpPr>
        <p:spPr>
          <a:xfrm>
            <a:off x="696000" y="1155368"/>
            <a:ext cx="10800000" cy="0"/>
          </a:xfrm>
          <a:prstGeom prst="line">
            <a:avLst/>
          </a:prstGeom>
          <a:ln w="38100">
            <a:solidFill>
              <a:srgbClr val="002060"/>
            </a:solidFill>
          </a:ln>
        </p:spPr>
        <p:style>
          <a:lnRef idx="2">
            <a:schemeClr val="accent1"/>
          </a:lnRef>
          <a:fillRef idx="0">
            <a:schemeClr val="accent1"/>
          </a:fillRef>
          <a:effectRef idx="1">
            <a:schemeClr val="accent1"/>
          </a:effectRef>
          <a:fontRef idx="minor">
            <a:schemeClr val="tx1"/>
          </a:fontRef>
        </p:style>
      </p:cxnSp>
      <p:sp>
        <p:nvSpPr>
          <p:cNvPr id="13" name="CasellaDiTesto 12">
            <a:extLst>
              <a:ext uri="{FF2B5EF4-FFF2-40B4-BE49-F238E27FC236}">
                <a16:creationId xmlns:a16="http://schemas.microsoft.com/office/drawing/2014/main" id="{4868D235-E176-E7CA-EEBD-17788382E362}"/>
              </a:ext>
            </a:extLst>
          </p:cNvPr>
          <p:cNvSpPr txBox="1"/>
          <p:nvPr/>
        </p:nvSpPr>
        <p:spPr>
          <a:xfrm>
            <a:off x="3048886" y="3244334"/>
            <a:ext cx="6097772" cy="369332"/>
          </a:xfrm>
          <a:prstGeom prst="rect">
            <a:avLst/>
          </a:prstGeom>
          <a:noFill/>
        </p:spPr>
        <p:txBody>
          <a:bodyPr wrap="square">
            <a:spAutoFit/>
          </a:bodyPr>
          <a:lstStyle/>
          <a:p>
            <a:endParaRPr lang="it-IT" dirty="0"/>
          </a:p>
        </p:txBody>
      </p:sp>
      <p:sp>
        <p:nvSpPr>
          <p:cNvPr id="15" name="CasellaDiTesto 14">
            <a:extLst>
              <a:ext uri="{FF2B5EF4-FFF2-40B4-BE49-F238E27FC236}">
                <a16:creationId xmlns:a16="http://schemas.microsoft.com/office/drawing/2014/main" id="{BB2D0B5E-0AD3-1AC2-900A-351764AC43C1}"/>
              </a:ext>
            </a:extLst>
          </p:cNvPr>
          <p:cNvSpPr txBox="1"/>
          <p:nvPr/>
        </p:nvSpPr>
        <p:spPr>
          <a:xfrm>
            <a:off x="3048886" y="3244334"/>
            <a:ext cx="6097772" cy="369332"/>
          </a:xfrm>
          <a:prstGeom prst="rect">
            <a:avLst/>
          </a:prstGeom>
          <a:noFill/>
        </p:spPr>
        <p:txBody>
          <a:bodyPr wrap="square">
            <a:spAutoFit/>
          </a:bodyPr>
          <a:lstStyle/>
          <a:p>
            <a:endParaRPr lang="it-IT" dirty="0"/>
          </a:p>
        </p:txBody>
      </p:sp>
    </p:spTree>
    <p:extLst>
      <p:ext uri="{BB962C8B-B14F-4D97-AF65-F5344CB8AC3E}">
        <p14:creationId xmlns:p14="http://schemas.microsoft.com/office/powerpoint/2010/main" val="46347869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064030-A8AB-756E-7B6F-E15ADDA9E938}"/>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3059094B-98B8-79C6-D910-E49A6676953A}"/>
              </a:ext>
            </a:extLst>
          </p:cNvPr>
          <p:cNvSpPr>
            <a:spLocks noGrp="1"/>
          </p:cNvSpPr>
          <p:nvPr>
            <p:ph type="title"/>
          </p:nvPr>
        </p:nvSpPr>
        <p:spPr>
          <a:xfrm>
            <a:off x="38100" y="69651"/>
            <a:ext cx="12114000" cy="1153094"/>
          </a:xfrm>
          <a:prstGeom prst="roundRect">
            <a:avLst>
              <a:gd name="adj" fmla="val 36459"/>
            </a:avLst>
          </a:prstGeom>
          <a:noFill/>
        </p:spPr>
        <p:txBody>
          <a:bodyPr>
            <a:normAutofit/>
          </a:bodyPr>
          <a:lstStyle/>
          <a:p>
            <a:r>
              <a:rPr lang="it-IT" sz="4000" b="1" dirty="0">
                <a:solidFill>
                  <a:srgbClr val="002060"/>
                </a:solidFill>
              </a:rPr>
              <a:t>	SCHEMATIC LAYOUT</a:t>
            </a:r>
          </a:p>
        </p:txBody>
      </p:sp>
      <p:sp>
        <p:nvSpPr>
          <p:cNvPr id="4" name="Segnaposto data 3">
            <a:extLst>
              <a:ext uri="{FF2B5EF4-FFF2-40B4-BE49-F238E27FC236}">
                <a16:creationId xmlns:a16="http://schemas.microsoft.com/office/drawing/2014/main" id="{5FD001E6-BE12-0E1C-E34E-F8F3589F2108}"/>
              </a:ext>
            </a:extLst>
          </p:cNvPr>
          <p:cNvSpPr>
            <a:spLocks noGrp="1"/>
          </p:cNvSpPr>
          <p:nvPr>
            <p:ph type="dt" sz="half" idx="10"/>
          </p:nvPr>
        </p:nvSpPr>
        <p:spPr>
          <a:xfrm>
            <a:off x="838200" y="6356349"/>
            <a:ext cx="2743200" cy="432000"/>
          </a:xfrm>
        </p:spPr>
        <p:txBody>
          <a:bodyPr/>
          <a:lstStyle/>
          <a:p>
            <a:r>
              <a:rPr lang="it-IT" sz="1500" b="1" dirty="0">
                <a:solidFill>
                  <a:srgbClr val="002060"/>
                </a:solidFill>
              </a:rPr>
              <a:t>24.08.2026</a:t>
            </a:r>
          </a:p>
        </p:txBody>
      </p:sp>
      <p:sp>
        <p:nvSpPr>
          <p:cNvPr id="5" name="Segnaposto piè di pagina 4">
            <a:extLst>
              <a:ext uri="{FF2B5EF4-FFF2-40B4-BE49-F238E27FC236}">
                <a16:creationId xmlns:a16="http://schemas.microsoft.com/office/drawing/2014/main" id="{97936A48-A600-E3BE-4414-86FAF9CF8150}"/>
              </a:ext>
            </a:extLst>
          </p:cNvPr>
          <p:cNvSpPr>
            <a:spLocks noGrp="1"/>
          </p:cNvSpPr>
          <p:nvPr>
            <p:ph type="ftr" sz="quarter" idx="11"/>
          </p:nvPr>
        </p:nvSpPr>
        <p:spPr>
          <a:xfrm>
            <a:off x="0" y="6356349"/>
            <a:ext cx="12192000" cy="432000"/>
          </a:xfrm>
        </p:spPr>
        <p:txBody>
          <a:bodyPr/>
          <a:lstStyle/>
          <a:p>
            <a:r>
              <a:rPr lang="it-IT" sz="1500" b="1" dirty="0">
                <a:solidFill>
                  <a:srgbClr val="002060"/>
                </a:solidFill>
              </a:rPr>
              <a:t>Anna Sofia Moro</a:t>
            </a:r>
          </a:p>
        </p:txBody>
      </p:sp>
      <p:sp>
        <p:nvSpPr>
          <p:cNvPr id="6" name="Segnaposto numero diapositiva 5">
            <a:extLst>
              <a:ext uri="{FF2B5EF4-FFF2-40B4-BE49-F238E27FC236}">
                <a16:creationId xmlns:a16="http://schemas.microsoft.com/office/drawing/2014/main" id="{FBD475C3-3B66-B577-42F5-6585EDDD6309}"/>
              </a:ext>
            </a:extLst>
          </p:cNvPr>
          <p:cNvSpPr>
            <a:spLocks noGrp="1"/>
          </p:cNvSpPr>
          <p:nvPr>
            <p:ph type="sldNum" sz="quarter" idx="12"/>
          </p:nvPr>
        </p:nvSpPr>
        <p:spPr>
          <a:xfrm>
            <a:off x="8610600" y="6356349"/>
            <a:ext cx="2743200" cy="432000"/>
          </a:xfrm>
        </p:spPr>
        <p:txBody>
          <a:bodyPr/>
          <a:lstStyle/>
          <a:p>
            <a:fld id="{0A318BD9-CA14-4A83-ACF0-03D5918EB402}" type="slidenum">
              <a:rPr lang="it-IT" sz="1500" b="1" smtClean="0">
                <a:solidFill>
                  <a:srgbClr val="002060"/>
                </a:solidFill>
              </a:rPr>
              <a:t>28</a:t>
            </a:fld>
            <a:endParaRPr lang="it-IT" sz="1500" b="1" dirty="0">
              <a:solidFill>
                <a:srgbClr val="002060"/>
              </a:solidFill>
            </a:endParaRPr>
          </a:p>
        </p:txBody>
      </p:sp>
      <p:cxnSp>
        <p:nvCxnSpPr>
          <p:cNvPr id="10" name="Connettore diritto 9">
            <a:extLst>
              <a:ext uri="{FF2B5EF4-FFF2-40B4-BE49-F238E27FC236}">
                <a16:creationId xmlns:a16="http://schemas.microsoft.com/office/drawing/2014/main" id="{3B26D157-5346-067C-2B45-7F428AF580FB}"/>
              </a:ext>
            </a:extLst>
          </p:cNvPr>
          <p:cNvCxnSpPr>
            <a:cxnSpLocks/>
          </p:cNvCxnSpPr>
          <p:nvPr/>
        </p:nvCxnSpPr>
        <p:spPr>
          <a:xfrm>
            <a:off x="696000" y="1155368"/>
            <a:ext cx="10800000" cy="0"/>
          </a:xfrm>
          <a:prstGeom prst="line">
            <a:avLst/>
          </a:prstGeom>
          <a:ln w="38100">
            <a:solidFill>
              <a:srgbClr val="002060"/>
            </a:solidFill>
          </a:ln>
        </p:spPr>
        <p:style>
          <a:lnRef idx="2">
            <a:schemeClr val="accent1"/>
          </a:lnRef>
          <a:fillRef idx="0">
            <a:schemeClr val="accent1"/>
          </a:fillRef>
          <a:effectRef idx="1">
            <a:schemeClr val="accent1"/>
          </a:effectRef>
          <a:fontRef idx="minor">
            <a:schemeClr val="tx1"/>
          </a:fontRef>
        </p:style>
      </p:cxnSp>
      <p:sp>
        <p:nvSpPr>
          <p:cNvPr id="13" name="CasellaDiTesto 12">
            <a:extLst>
              <a:ext uri="{FF2B5EF4-FFF2-40B4-BE49-F238E27FC236}">
                <a16:creationId xmlns:a16="http://schemas.microsoft.com/office/drawing/2014/main" id="{4B1B2EDD-5C24-17A1-EC00-F4E9170F2D61}"/>
              </a:ext>
            </a:extLst>
          </p:cNvPr>
          <p:cNvSpPr txBox="1"/>
          <p:nvPr/>
        </p:nvSpPr>
        <p:spPr>
          <a:xfrm>
            <a:off x="3048886" y="3599934"/>
            <a:ext cx="6097772" cy="369332"/>
          </a:xfrm>
          <a:prstGeom prst="rect">
            <a:avLst/>
          </a:prstGeom>
          <a:noFill/>
        </p:spPr>
        <p:txBody>
          <a:bodyPr wrap="square">
            <a:spAutoFit/>
          </a:bodyPr>
          <a:lstStyle/>
          <a:p>
            <a:endParaRPr lang="it-IT" dirty="0"/>
          </a:p>
        </p:txBody>
      </p:sp>
      <p:sp>
        <p:nvSpPr>
          <p:cNvPr id="15" name="CasellaDiTesto 14">
            <a:extLst>
              <a:ext uri="{FF2B5EF4-FFF2-40B4-BE49-F238E27FC236}">
                <a16:creationId xmlns:a16="http://schemas.microsoft.com/office/drawing/2014/main" id="{50351722-4EA8-0597-4ABC-52AA3FC95A0A}"/>
              </a:ext>
            </a:extLst>
          </p:cNvPr>
          <p:cNvSpPr txBox="1"/>
          <p:nvPr/>
        </p:nvSpPr>
        <p:spPr>
          <a:xfrm>
            <a:off x="3048886" y="3599934"/>
            <a:ext cx="6097772" cy="369332"/>
          </a:xfrm>
          <a:prstGeom prst="rect">
            <a:avLst/>
          </a:prstGeom>
          <a:noFill/>
        </p:spPr>
        <p:txBody>
          <a:bodyPr wrap="square">
            <a:spAutoFit/>
          </a:bodyPr>
          <a:lstStyle/>
          <a:p>
            <a:endParaRPr lang="it-IT" dirty="0"/>
          </a:p>
        </p:txBody>
      </p:sp>
      <p:sp>
        <p:nvSpPr>
          <p:cNvPr id="3" name="Rectangle: Rounded Corners 2">
            <a:extLst>
              <a:ext uri="{FF2B5EF4-FFF2-40B4-BE49-F238E27FC236}">
                <a16:creationId xmlns:a16="http://schemas.microsoft.com/office/drawing/2014/main" id="{F750D853-3E25-ECC8-09EE-F01F4D7525D7}"/>
              </a:ext>
            </a:extLst>
          </p:cNvPr>
          <p:cNvSpPr/>
          <p:nvPr/>
        </p:nvSpPr>
        <p:spPr>
          <a:xfrm>
            <a:off x="696000" y="2809043"/>
            <a:ext cx="1785943" cy="772761"/>
          </a:xfrm>
          <a:prstGeom prst="roundRect">
            <a:avLst/>
          </a:prstGeom>
          <a:noFill/>
          <a:ln w="38100">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Station 1</a:t>
            </a:r>
          </a:p>
          <a:p>
            <a:pPr algn="ctr"/>
            <a:r>
              <a:rPr lang="it-IT" dirty="0">
                <a:solidFill>
                  <a:schemeClr val="tx1"/>
                </a:solidFill>
              </a:rPr>
              <a:t>z ~ -12.4 m</a:t>
            </a:r>
          </a:p>
        </p:txBody>
      </p:sp>
      <p:sp>
        <p:nvSpPr>
          <p:cNvPr id="21" name="Rectangle: Rounded Corners 20">
            <a:extLst>
              <a:ext uri="{FF2B5EF4-FFF2-40B4-BE49-F238E27FC236}">
                <a16:creationId xmlns:a16="http://schemas.microsoft.com/office/drawing/2014/main" id="{D25120B7-CD7D-1D69-0AB8-7C9C80459C75}"/>
              </a:ext>
            </a:extLst>
          </p:cNvPr>
          <p:cNvSpPr/>
          <p:nvPr/>
        </p:nvSpPr>
        <p:spPr>
          <a:xfrm>
            <a:off x="2955175" y="2809043"/>
            <a:ext cx="1785943" cy="772761"/>
          </a:xfrm>
          <a:prstGeom prst="roundRect">
            <a:avLst/>
          </a:prstGeom>
          <a:noFill/>
          <a:ln w="38100">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Station 2</a:t>
            </a:r>
          </a:p>
          <a:p>
            <a:pPr algn="ctr"/>
            <a:r>
              <a:rPr lang="it-IT" dirty="0">
                <a:solidFill>
                  <a:schemeClr val="tx1"/>
                </a:solidFill>
              </a:rPr>
              <a:t>z ~ -10.4 m</a:t>
            </a:r>
          </a:p>
        </p:txBody>
      </p:sp>
      <p:sp>
        <p:nvSpPr>
          <p:cNvPr id="24" name="Rectangle: Rounded Corners 23">
            <a:extLst>
              <a:ext uri="{FF2B5EF4-FFF2-40B4-BE49-F238E27FC236}">
                <a16:creationId xmlns:a16="http://schemas.microsoft.com/office/drawing/2014/main" id="{58E1A454-66A3-17B6-13E9-76F57C85B558}"/>
              </a:ext>
            </a:extLst>
          </p:cNvPr>
          <p:cNvSpPr/>
          <p:nvPr/>
        </p:nvSpPr>
        <p:spPr>
          <a:xfrm>
            <a:off x="5198795" y="2809043"/>
            <a:ext cx="1785943" cy="772761"/>
          </a:xfrm>
          <a:prstGeom prst="roundRect">
            <a:avLst/>
          </a:prstGeom>
          <a:noFill/>
          <a:ln w="38100">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crystal</a:t>
            </a:r>
          </a:p>
          <a:p>
            <a:pPr algn="ctr"/>
            <a:r>
              <a:rPr lang="it-IT" dirty="0">
                <a:solidFill>
                  <a:schemeClr val="tx1"/>
                </a:solidFill>
              </a:rPr>
              <a:t>z = 0 m</a:t>
            </a:r>
          </a:p>
        </p:txBody>
      </p:sp>
      <p:sp>
        <p:nvSpPr>
          <p:cNvPr id="26" name="Rectangle: Rounded Corners 25">
            <a:extLst>
              <a:ext uri="{FF2B5EF4-FFF2-40B4-BE49-F238E27FC236}">
                <a16:creationId xmlns:a16="http://schemas.microsoft.com/office/drawing/2014/main" id="{AF24E37D-C093-D1EC-F9D6-3260C33D719E}"/>
              </a:ext>
            </a:extLst>
          </p:cNvPr>
          <p:cNvSpPr/>
          <p:nvPr/>
        </p:nvSpPr>
        <p:spPr>
          <a:xfrm>
            <a:off x="7454426" y="2809043"/>
            <a:ext cx="1785943" cy="772761"/>
          </a:xfrm>
          <a:prstGeom prst="roundRect">
            <a:avLst/>
          </a:prstGeom>
          <a:noFill/>
          <a:ln w="38100">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Station 3</a:t>
            </a:r>
          </a:p>
          <a:p>
            <a:pPr algn="ctr"/>
            <a:r>
              <a:rPr lang="it-IT" dirty="0">
                <a:solidFill>
                  <a:schemeClr val="tx1"/>
                </a:solidFill>
              </a:rPr>
              <a:t>z ~ 0.5 m</a:t>
            </a:r>
          </a:p>
        </p:txBody>
      </p:sp>
      <p:sp>
        <p:nvSpPr>
          <p:cNvPr id="28" name="Rectangle: Rounded Corners 27">
            <a:extLst>
              <a:ext uri="{FF2B5EF4-FFF2-40B4-BE49-F238E27FC236}">
                <a16:creationId xmlns:a16="http://schemas.microsoft.com/office/drawing/2014/main" id="{41B532E1-DA99-182C-90E4-4DB41FC919F6}"/>
              </a:ext>
            </a:extLst>
          </p:cNvPr>
          <p:cNvSpPr/>
          <p:nvPr/>
        </p:nvSpPr>
        <p:spPr>
          <a:xfrm>
            <a:off x="9710057" y="2809043"/>
            <a:ext cx="1785943" cy="772761"/>
          </a:xfrm>
          <a:prstGeom prst="roundRect">
            <a:avLst/>
          </a:prstGeom>
          <a:noFill/>
          <a:ln w="38100">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Station 4</a:t>
            </a:r>
          </a:p>
          <a:p>
            <a:pPr algn="ctr"/>
            <a:r>
              <a:rPr lang="it-IT" dirty="0">
                <a:solidFill>
                  <a:schemeClr val="tx1"/>
                </a:solidFill>
              </a:rPr>
              <a:t>z ~ 4.7 m</a:t>
            </a:r>
          </a:p>
        </p:txBody>
      </p:sp>
      <p:sp>
        <p:nvSpPr>
          <p:cNvPr id="35" name="Rectangle: Rounded Corners 34">
            <a:extLst>
              <a:ext uri="{FF2B5EF4-FFF2-40B4-BE49-F238E27FC236}">
                <a16:creationId xmlns:a16="http://schemas.microsoft.com/office/drawing/2014/main" id="{1F85D0FE-C569-AA98-BFD2-570144BC2493}"/>
              </a:ext>
            </a:extLst>
          </p:cNvPr>
          <p:cNvSpPr/>
          <p:nvPr/>
        </p:nvSpPr>
        <p:spPr>
          <a:xfrm>
            <a:off x="2740837" y="5840855"/>
            <a:ext cx="3060934" cy="534218"/>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Incoming arm vacuum pipe</a:t>
            </a:r>
          </a:p>
        </p:txBody>
      </p:sp>
      <p:sp>
        <p:nvSpPr>
          <p:cNvPr id="37" name="Rectangle: Rounded Corners 36">
            <a:extLst>
              <a:ext uri="{FF2B5EF4-FFF2-40B4-BE49-F238E27FC236}">
                <a16:creationId xmlns:a16="http://schemas.microsoft.com/office/drawing/2014/main" id="{11F48CD1-0863-4C8F-C0AC-DCB07C53C10B}"/>
              </a:ext>
            </a:extLst>
          </p:cNvPr>
          <p:cNvSpPr/>
          <p:nvPr/>
        </p:nvSpPr>
        <p:spPr>
          <a:xfrm>
            <a:off x="6590985" y="5840855"/>
            <a:ext cx="3433300" cy="534216"/>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Downstream arm vacuum pipe</a:t>
            </a:r>
          </a:p>
        </p:txBody>
      </p:sp>
      <p:grpSp>
        <p:nvGrpSpPr>
          <p:cNvPr id="44" name="Group 43">
            <a:extLst>
              <a:ext uri="{FF2B5EF4-FFF2-40B4-BE49-F238E27FC236}">
                <a16:creationId xmlns:a16="http://schemas.microsoft.com/office/drawing/2014/main" id="{698D6E1D-B587-F8F6-07D7-328F0D43AA3D}"/>
              </a:ext>
            </a:extLst>
          </p:cNvPr>
          <p:cNvGrpSpPr/>
          <p:nvPr/>
        </p:nvGrpSpPr>
        <p:grpSpPr>
          <a:xfrm>
            <a:off x="401771" y="3784600"/>
            <a:ext cx="11379989" cy="1629275"/>
            <a:chOff x="658586" y="3936191"/>
            <a:chExt cx="11379989" cy="1629275"/>
          </a:xfrm>
        </p:grpSpPr>
        <p:cxnSp>
          <p:nvCxnSpPr>
            <p:cNvPr id="7" name="Straight Arrow Connector 6">
              <a:extLst>
                <a:ext uri="{FF2B5EF4-FFF2-40B4-BE49-F238E27FC236}">
                  <a16:creationId xmlns:a16="http://schemas.microsoft.com/office/drawing/2014/main" id="{F79BBDFA-E4CA-D3B2-4D78-E57706BA8F27}"/>
                </a:ext>
              </a:extLst>
            </p:cNvPr>
            <p:cNvCxnSpPr>
              <a:cxnSpLocks/>
            </p:cNvCxnSpPr>
            <p:nvPr/>
          </p:nvCxnSpPr>
          <p:spPr>
            <a:xfrm>
              <a:off x="658586" y="4973562"/>
              <a:ext cx="10800000" cy="0"/>
            </a:xfrm>
            <a:prstGeom prst="straightConnector1">
              <a:avLst/>
            </a:prstGeom>
            <a:ln w="38100">
              <a:solidFill>
                <a:srgbClr val="FF0000"/>
              </a:solidFill>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9" name="Rectangle: Rounded Corners 8">
              <a:extLst>
                <a:ext uri="{FF2B5EF4-FFF2-40B4-BE49-F238E27FC236}">
                  <a16:creationId xmlns:a16="http://schemas.microsoft.com/office/drawing/2014/main" id="{1E4228AB-141A-A392-8988-D12EAA0C03BE}"/>
                </a:ext>
              </a:extLst>
            </p:cNvPr>
            <p:cNvSpPr/>
            <p:nvPr/>
          </p:nvSpPr>
          <p:spPr>
            <a:xfrm>
              <a:off x="1426029" y="4434836"/>
              <a:ext cx="174171" cy="1130630"/>
            </a:xfrm>
            <a:prstGeom prst="roundRect">
              <a:avLst/>
            </a:prstGeom>
            <a:solidFill>
              <a:srgbClr val="FFC000"/>
            </a:solid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2" name="Rectangle: Rounded Corners 11">
              <a:extLst>
                <a:ext uri="{FF2B5EF4-FFF2-40B4-BE49-F238E27FC236}">
                  <a16:creationId xmlns:a16="http://schemas.microsoft.com/office/drawing/2014/main" id="{3333B110-1C10-5F2F-1244-95B57A49D9C7}"/>
                </a:ext>
              </a:extLst>
            </p:cNvPr>
            <p:cNvSpPr/>
            <p:nvPr/>
          </p:nvSpPr>
          <p:spPr>
            <a:xfrm>
              <a:off x="2367643" y="4434836"/>
              <a:ext cx="174171" cy="1130630"/>
            </a:xfrm>
            <a:prstGeom prst="roundRect">
              <a:avLst/>
            </a:prstGeom>
            <a:solidFill>
              <a:srgbClr val="FFC000"/>
            </a:solid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6" name="Rectangle: Rounded Corners 15">
              <a:extLst>
                <a:ext uri="{FF2B5EF4-FFF2-40B4-BE49-F238E27FC236}">
                  <a16:creationId xmlns:a16="http://schemas.microsoft.com/office/drawing/2014/main" id="{69175891-15C6-D445-D99D-79A521952D9A}"/>
                </a:ext>
              </a:extLst>
            </p:cNvPr>
            <p:cNvSpPr/>
            <p:nvPr/>
          </p:nvSpPr>
          <p:spPr>
            <a:xfrm>
              <a:off x="6673629" y="4434836"/>
              <a:ext cx="174171" cy="1130630"/>
            </a:xfrm>
            <a:prstGeom prst="roundRect">
              <a:avLst/>
            </a:prstGeom>
            <a:solidFill>
              <a:srgbClr val="FFC000"/>
            </a:solid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8" name="Rectangle: Rounded Corners 17">
              <a:extLst>
                <a:ext uri="{FF2B5EF4-FFF2-40B4-BE49-F238E27FC236}">
                  <a16:creationId xmlns:a16="http://schemas.microsoft.com/office/drawing/2014/main" id="{61493E57-5D00-058D-B38F-4AEE81470707}"/>
                </a:ext>
              </a:extLst>
            </p:cNvPr>
            <p:cNvSpPr/>
            <p:nvPr/>
          </p:nvSpPr>
          <p:spPr>
            <a:xfrm>
              <a:off x="8523514" y="4419238"/>
              <a:ext cx="174171" cy="1130630"/>
            </a:xfrm>
            <a:prstGeom prst="roundRect">
              <a:avLst/>
            </a:prstGeom>
            <a:solidFill>
              <a:srgbClr val="FFC000"/>
            </a:solid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23" name="Rectangle: Rounded Corners 22">
              <a:extLst>
                <a:ext uri="{FF2B5EF4-FFF2-40B4-BE49-F238E27FC236}">
                  <a16:creationId xmlns:a16="http://schemas.microsoft.com/office/drawing/2014/main" id="{D6370486-EF26-3AF2-4A68-075A7B3BC08B}"/>
                </a:ext>
              </a:extLst>
            </p:cNvPr>
            <p:cNvSpPr/>
            <p:nvPr/>
          </p:nvSpPr>
          <p:spPr>
            <a:xfrm>
              <a:off x="2693528" y="4660626"/>
              <a:ext cx="3419422" cy="625871"/>
            </a:xfrm>
            <a:prstGeom prst="roundRect">
              <a:avLst/>
            </a:prstGeom>
            <a:solidFill>
              <a:schemeClr val="accent1"/>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27" name="Rectangle: Rounded Corners 26">
              <a:extLst>
                <a:ext uri="{FF2B5EF4-FFF2-40B4-BE49-F238E27FC236}">
                  <a16:creationId xmlns:a16="http://schemas.microsoft.com/office/drawing/2014/main" id="{5F8ED58A-372D-827C-7F8B-F81AFE3615CA}"/>
                </a:ext>
              </a:extLst>
            </p:cNvPr>
            <p:cNvSpPr/>
            <p:nvPr/>
          </p:nvSpPr>
          <p:spPr>
            <a:xfrm>
              <a:off x="7002266" y="4660625"/>
              <a:ext cx="1366781" cy="625871"/>
            </a:xfrm>
            <a:prstGeom prst="roundRect">
              <a:avLst/>
            </a:prstGeom>
            <a:solidFill>
              <a:schemeClr val="accent1"/>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36" name="Rectangle: Rounded Corners 35">
              <a:extLst>
                <a:ext uri="{FF2B5EF4-FFF2-40B4-BE49-F238E27FC236}">
                  <a16:creationId xmlns:a16="http://schemas.microsoft.com/office/drawing/2014/main" id="{91CB113D-C53D-FB48-569B-9ED897091C42}"/>
                </a:ext>
              </a:extLst>
            </p:cNvPr>
            <p:cNvSpPr/>
            <p:nvPr/>
          </p:nvSpPr>
          <p:spPr>
            <a:xfrm>
              <a:off x="6306204" y="4604500"/>
              <a:ext cx="174171" cy="760103"/>
            </a:xfrm>
            <a:prstGeom prst="roundRect">
              <a:avLst/>
            </a:prstGeom>
            <a:solidFill>
              <a:schemeClr val="accent4"/>
            </a:solidFill>
            <a:ln>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5F3A5ED9-9156-7D0A-A69C-C5BC6E44CFAA}"/>
                    </a:ext>
                  </a:extLst>
                </p:cNvPr>
                <p:cNvSpPr txBox="1"/>
                <p:nvPr/>
              </p:nvSpPr>
              <p:spPr>
                <a:xfrm>
                  <a:off x="11118956" y="4475958"/>
                  <a:ext cx="469688" cy="369332"/>
                </a:xfrm>
                <a:prstGeom prst="rect">
                  <a:avLst/>
                </a:prstGeom>
                <a:noFill/>
              </p:spPr>
              <p:txBody>
                <a:bodyPr wrap="square" rtlCol="0">
                  <a:spAutoFit/>
                </a:bodyPr>
                <a:lstStyle/>
                <a:p>
                  <a:pPr/>
                  <a14:m>
                    <m:oMathPara xmlns:m="http://schemas.openxmlformats.org/officeDocument/2006/math">
                      <m:oMath>
                        <m:r>
                          <a:rPr lang="en-US" b="1" i="1" dirty="0" smtClean="0">
                            <a:latin typeface="Cambria Math" panose="02040503050406030204" pitchFamily="18" charset="0"/>
                          </a:rPr>
                          <m:t>𝒛</m:t>
                        </m:r>
                      </m:oMath>
                    </m:oMathPara>
                  </a14:m>
                  <a:endParaRPr lang="it-IT" b="1" dirty="0"/>
                </a:p>
              </p:txBody>
            </p:sp>
          </mc:Choice>
          <mc:Fallback xmlns="">
            <p:sp>
              <p:nvSpPr>
                <p:cNvPr id="41" name="TextBox 40">
                  <a:extLst>
                    <a:ext uri="{FF2B5EF4-FFF2-40B4-BE49-F238E27FC236}">
                      <a16:creationId xmlns:a16="http://schemas.microsoft.com/office/drawing/2014/main" id="{5F3A5ED9-9156-7D0A-A69C-C5BC6E44CFAA}"/>
                    </a:ext>
                  </a:extLst>
                </p:cNvPr>
                <p:cNvSpPr txBox="1">
                  <a:spLocks noRot="1" noChangeAspect="1" noMove="1" noResize="1" noEditPoints="1" noAdjustHandles="1" noChangeArrowheads="1" noChangeShapeType="1" noTextEdit="1"/>
                </p:cNvSpPr>
                <p:nvPr/>
              </p:nvSpPr>
              <p:spPr>
                <a:xfrm>
                  <a:off x="11118956" y="4475958"/>
                  <a:ext cx="469688" cy="369332"/>
                </a:xfrm>
                <a:prstGeom prst="rect">
                  <a:avLst/>
                </a:prstGeom>
                <a:blipFill>
                  <a:blip r:embed="rId2"/>
                  <a:stretch>
                    <a:fillRect/>
                  </a:stretch>
                </a:blipFill>
              </p:spPr>
              <p:txBody>
                <a:bodyPr/>
                <a:lstStyle/>
                <a:p>
                  <a:r>
                    <a:rPr lang="it-IT">
                      <a:noFill/>
                    </a:rPr>
                    <a:t> </a:t>
                  </a:r>
                </a:p>
              </p:txBody>
            </p:sp>
          </mc:Fallback>
        </mc:AlternateContent>
        <p:sp>
          <p:nvSpPr>
            <p:cNvPr id="43" name="TextBox 42">
              <a:extLst>
                <a:ext uri="{FF2B5EF4-FFF2-40B4-BE49-F238E27FC236}">
                  <a16:creationId xmlns:a16="http://schemas.microsoft.com/office/drawing/2014/main" id="{39685CF0-FAD7-F521-35BA-EFA05D5DB957}"/>
                </a:ext>
              </a:extLst>
            </p:cNvPr>
            <p:cNvSpPr txBox="1"/>
            <p:nvPr/>
          </p:nvSpPr>
          <p:spPr>
            <a:xfrm>
              <a:off x="10671794" y="3936191"/>
              <a:ext cx="1366781" cy="646331"/>
            </a:xfrm>
            <a:prstGeom prst="rect">
              <a:avLst/>
            </a:prstGeom>
            <a:noFill/>
          </p:spPr>
          <p:txBody>
            <a:bodyPr wrap="square" rtlCol="0">
              <a:spAutoFit/>
            </a:bodyPr>
            <a:lstStyle/>
            <a:p>
              <a:pPr algn="ctr"/>
              <a:r>
                <a:rPr lang="en-US" b="1" dirty="0"/>
                <a:t>Beam</a:t>
              </a:r>
            </a:p>
            <a:p>
              <a:pPr algn="ctr"/>
              <a:r>
                <a:rPr lang="en-US" b="1" dirty="0"/>
                <a:t>direction</a:t>
              </a:r>
              <a:endParaRPr lang="it-IT" b="1" dirty="0"/>
            </a:p>
          </p:txBody>
        </p:sp>
      </p:grpSp>
      <p:cxnSp>
        <p:nvCxnSpPr>
          <p:cNvPr id="45" name="Straight Arrow Connector 44">
            <a:extLst>
              <a:ext uri="{FF2B5EF4-FFF2-40B4-BE49-F238E27FC236}">
                <a16:creationId xmlns:a16="http://schemas.microsoft.com/office/drawing/2014/main" id="{C911A1F4-B289-588A-B70F-96D16C169526}"/>
              </a:ext>
            </a:extLst>
          </p:cNvPr>
          <p:cNvCxnSpPr>
            <a:cxnSpLocks/>
            <a:stCxn id="3" idx="2"/>
          </p:cNvCxnSpPr>
          <p:nvPr/>
        </p:nvCxnSpPr>
        <p:spPr>
          <a:xfrm flipH="1">
            <a:off x="1343385" y="3581804"/>
            <a:ext cx="245587" cy="648264"/>
          </a:xfrm>
          <a:prstGeom prst="straightConnector1">
            <a:avLst/>
          </a:prstGeom>
          <a:ln w="38100">
            <a:solidFill>
              <a:srgbClr val="FFC000"/>
            </a:solidFill>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48" name="Straight Arrow Connector 47">
            <a:extLst>
              <a:ext uri="{FF2B5EF4-FFF2-40B4-BE49-F238E27FC236}">
                <a16:creationId xmlns:a16="http://schemas.microsoft.com/office/drawing/2014/main" id="{3EFCAA7B-A105-9BD4-26F9-87F74BD84BA6}"/>
              </a:ext>
            </a:extLst>
          </p:cNvPr>
          <p:cNvCxnSpPr>
            <a:cxnSpLocks/>
            <a:stCxn id="21" idx="2"/>
          </p:cNvCxnSpPr>
          <p:nvPr/>
        </p:nvCxnSpPr>
        <p:spPr>
          <a:xfrm flipH="1">
            <a:off x="2304387" y="3581804"/>
            <a:ext cx="1543760" cy="682008"/>
          </a:xfrm>
          <a:prstGeom prst="straightConnector1">
            <a:avLst/>
          </a:prstGeom>
          <a:ln w="38100">
            <a:solidFill>
              <a:srgbClr val="FFC000"/>
            </a:solidFill>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53" name="Straight Arrow Connector 52">
            <a:extLst>
              <a:ext uri="{FF2B5EF4-FFF2-40B4-BE49-F238E27FC236}">
                <a16:creationId xmlns:a16="http://schemas.microsoft.com/office/drawing/2014/main" id="{74280D7C-DDF6-8D3E-F022-6E7B9DC26AAD}"/>
              </a:ext>
            </a:extLst>
          </p:cNvPr>
          <p:cNvCxnSpPr>
            <a:cxnSpLocks/>
            <a:stCxn id="26" idx="2"/>
          </p:cNvCxnSpPr>
          <p:nvPr/>
        </p:nvCxnSpPr>
        <p:spPr>
          <a:xfrm flipH="1">
            <a:off x="6641286" y="3581804"/>
            <a:ext cx="1706112" cy="682008"/>
          </a:xfrm>
          <a:prstGeom prst="straightConnector1">
            <a:avLst/>
          </a:prstGeom>
          <a:ln w="38100">
            <a:solidFill>
              <a:srgbClr val="FFC000"/>
            </a:solidFill>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56" name="Straight Arrow Connector 55">
            <a:extLst>
              <a:ext uri="{FF2B5EF4-FFF2-40B4-BE49-F238E27FC236}">
                <a16:creationId xmlns:a16="http://schemas.microsoft.com/office/drawing/2014/main" id="{13D2C29E-3B28-1C80-FF69-A3D86852808D}"/>
              </a:ext>
            </a:extLst>
          </p:cNvPr>
          <p:cNvCxnSpPr>
            <a:cxnSpLocks/>
            <a:stCxn id="28" idx="2"/>
          </p:cNvCxnSpPr>
          <p:nvPr/>
        </p:nvCxnSpPr>
        <p:spPr>
          <a:xfrm flipH="1">
            <a:off x="8501440" y="3581804"/>
            <a:ext cx="2101589" cy="668000"/>
          </a:xfrm>
          <a:prstGeom prst="straightConnector1">
            <a:avLst/>
          </a:prstGeom>
          <a:ln w="38100">
            <a:solidFill>
              <a:srgbClr val="FFC000"/>
            </a:solidFill>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58" name="Straight Arrow Connector 57">
            <a:extLst>
              <a:ext uri="{FF2B5EF4-FFF2-40B4-BE49-F238E27FC236}">
                <a16:creationId xmlns:a16="http://schemas.microsoft.com/office/drawing/2014/main" id="{32AA7C04-B2FD-28B1-8D71-C8503B04E3DF}"/>
              </a:ext>
            </a:extLst>
          </p:cNvPr>
          <p:cNvCxnSpPr>
            <a:cxnSpLocks/>
            <a:stCxn id="24" idx="2"/>
          </p:cNvCxnSpPr>
          <p:nvPr/>
        </p:nvCxnSpPr>
        <p:spPr>
          <a:xfrm>
            <a:off x="6091767" y="3581804"/>
            <a:ext cx="44707" cy="804116"/>
          </a:xfrm>
          <a:prstGeom prst="straightConnector1">
            <a:avLst/>
          </a:prstGeom>
          <a:ln w="38100">
            <a:solidFill>
              <a:schemeClr val="accent4"/>
            </a:solidFill>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62" name="Straight Arrow Connector 61">
            <a:extLst>
              <a:ext uri="{FF2B5EF4-FFF2-40B4-BE49-F238E27FC236}">
                <a16:creationId xmlns:a16="http://schemas.microsoft.com/office/drawing/2014/main" id="{B8004C26-DF47-9F1B-D130-5B1428BFD5FC}"/>
              </a:ext>
            </a:extLst>
          </p:cNvPr>
          <p:cNvCxnSpPr>
            <a:cxnSpLocks/>
            <a:stCxn id="35" idx="0"/>
          </p:cNvCxnSpPr>
          <p:nvPr/>
        </p:nvCxnSpPr>
        <p:spPr>
          <a:xfrm flipH="1" flipV="1">
            <a:off x="4215144" y="5233287"/>
            <a:ext cx="56160" cy="607568"/>
          </a:xfrm>
          <a:prstGeom prst="straightConnector1">
            <a:avLst/>
          </a:prstGeom>
          <a:ln w="38100">
            <a:solidFill>
              <a:schemeClr val="accent1"/>
            </a:solidFill>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65" name="Straight Arrow Connector 64">
            <a:extLst>
              <a:ext uri="{FF2B5EF4-FFF2-40B4-BE49-F238E27FC236}">
                <a16:creationId xmlns:a16="http://schemas.microsoft.com/office/drawing/2014/main" id="{B5C40DD8-C829-9CAC-EC85-0076DC92B1F1}"/>
              </a:ext>
            </a:extLst>
          </p:cNvPr>
          <p:cNvCxnSpPr>
            <a:cxnSpLocks/>
            <a:stCxn id="37" idx="0"/>
          </p:cNvCxnSpPr>
          <p:nvPr/>
        </p:nvCxnSpPr>
        <p:spPr>
          <a:xfrm flipH="1" flipV="1">
            <a:off x="7586432" y="5189361"/>
            <a:ext cx="721203" cy="651494"/>
          </a:xfrm>
          <a:prstGeom prst="straightConnector1">
            <a:avLst/>
          </a:prstGeom>
          <a:ln w="38100">
            <a:solidFill>
              <a:schemeClr val="accent1"/>
            </a:solidFill>
            <a:headEnd type="none" w="med" len="med"/>
            <a:tailEnd type="arrow" w="med" len="med"/>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25" name="Rectangle: Rounded Corners 24">
                <a:extLst>
                  <a:ext uri="{FF2B5EF4-FFF2-40B4-BE49-F238E27FC236}">
                    <a16:creationId xmlns:a16="http://schemas.microsoft.com/office/drawing/2014/main" id="{A55B34FE-23C4-AED1-BE05-138EC3BC9BFD}"/>
                  </a:ext>
                </a:extLst>
              </p:cNvPr>
              <p:cNvSpPr/>
              <p:nvPr/>
            </p:nvSpPr>
            <p:spPr>
              <a:xfrm>
                <a:off x="696000" y="1388018"/>
                <a:ext cx="5353389" cy="1251312"/>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chemeClr val="tx1"/>
                    </a:solidFill>
                  </a:rPr>
                  <a:t>Beam:</a:t>
                </a:r>
                <a:r>
                  <a:rPr lang="en-US" dirty="0">
                    <a:solidFill>
                      <a:schemeClr val="tx1"/>
                    </a:solidFill>
                  </a:rPr>
                  <a:t> H8 secondary beamline off the SPS, driven by 400 GeV protons</a:t>
                </a:r>
              </a:p>
              <a:p>
                <a:r>
                  <a:rPr lang="en-US" dirty="0">
                    <a:solidFill>
                      <a:schemeClr val="tx1"/>
                    </a:solidFill>
                  </a:rPr>
                  <a:t>Spectrometer selection 180 GeV hadrons (30% </a:t>
                </a:r>
                <a14:m>
                  <m:oMath xmlns:m="http://schemas.openxmlformats.org/officeDocument/2006/math">
                    <m:sSup>
                      <m:sSupPr>
                        <m:ctrlPr>
                          <a:rPr lang="en-US" i="1">
                            <a:solidFill>
                              <a:schemeClr val="tx1"/>
                            </a:solidFill>
                            <a:latin typeface="Cambria Math" panose="02040503050406030204" pitchFamily="18" charset="0"/>
                          </a:rPr>
                        </m:ctrlPr>
                      </m:sSupPr>
                      <m:e>
                        <m:r>
                          <a:rPr lang="en-US" i="1">
                            <a:solidFill>
                              <a:schemeClr val="tx1"/>
                            </a:solidFill>
                            <a:latin typeface="Cambria Math" panose="02040503050406030204" pitchFamily="18" charset="0"/>
                          </a:rPr>
                          <m:t>𝜋</m:t>
                        </m:r>
                      </m:e>
                      <m:sup>
                        <m:r>
                          <a:rPr lang="en-US" i="1">
                            <a:solidFill>
                              <a:schemeClr val="tx1"/>
                            </a:solidFill>
                            <a:latin typeface="Cambria Math" panose="02040503050406030204" pitchFamily="18" charset="0"/>
                          </a:rPr>
                          <m:t>+</m:t>
                        </m:r>
                      </m:sup>
                    </m:sSup>
                  </m:oMath>
                </a14:m>
                <a:r>
                  <a:rPr lang="en-US" dirty="0">
                    <a:solidFill>
                      <a:schemeClr val="tx1"/>
                    </a:solidFill>
                  </a:rPr>
                  <a:t> and 70% </a:t>
                </a:r>
                <a14:m>
                  <m:oMath xmlns:m="http://schemas.openxmlformats.org/officeDocument/2006/math">
                    <m:r>
                      <a:rPr lang="en-US" i="1" dirty="0">
                        <a:solidFill>
                          <a:schemeClr val="tx1"/>
                        </a:solidFill>
                        <a:latin typeface="Cambria Math" panose="02040503050406030204" pitchFamily="18" charset="0"/>
                      </a:rPr>
                      <m:t>𝑝</m:t>
                    </m:r>
                  </m:oMath>
                </a14:m>
                <a:r>
                  <a:rPr lang="en-US" dirty="0">
                    <a:solidFill>
                      <a:schemeClr val="tx1"/>
                    </a:solidFill>
                  </a:rPr>
                  <a:t>)</a:t>
                </a:r>
                <a:endParaRPr lang="it-IT" dirty="0">
                  <a:solidFill>
                    <a:schemeClr val="tx1"/>
                  </a:solidFill>
                </a:endParaRPr>
              </a:p>
            </p:txBody>
          </p:sp>
        </mc:Choice>
        <mc:Fallback>
          <p:sp>
            <p:nvSpPr>
              <p:cNvPr id="25" name="Rectangle: Rounded Corners 24">
                <a:extLst>
                  <a:ext uri="{FF2B5EF4-FFF2-40B4-BE49-F238E27FC236}">
                    <a16:creationId xmlns:a16="http://schemas.microsoft.com/office/drawing/2014/main" id="{A55B34FE-23C4-AED1-BE05-138EC3BC9BFD}"/>
                  </a:ext>
                </a:extLst>
              </p:cNvPr>
              <p:cNvSpPr>
                <a:spLocks noRot="1" noChangeAspect="1" noMove="1" noResize="1" noEditPoints="1" noAdjustHandles="1" noChangeArrowheads="1" noChangeShapeType="1" noTextEdit="1"/>
              </p:cNvSpPr>
              <p:nvPr/>
            </p:nvSpPr>
            <p:spPr>
              <a:xfrm>
                <a:off x="696000" y="1388018"/>
                <a:ext cx="5353389" cy="1251312"/>
              </a:xfrm>
              <a:prstGeom prst="roundRect">
                <a:avLst/>
              </a:prstGeom>
              <a:blipFill>
                <a:blip r:embed="rId3"/>
                <a:stretch>
                  <a:fillRect b="-4265"/>
                </a:stretch>
              </a:blipFill>
              <a:ln w="38100">
                <a:solidFill>
                  <a:srgbClr val="FF0000"/>
                </a:solidFill>
              </a:ln>
            </p:spPr>
            <p:txBody>
              <a:bodyPr/>
              <a:lstStyle/>
              <a:p>
                <a:r>
                  <a:rPr lang="it-IT">
                    <a:noFill/>
                  </a:rPr>
                  <a:t> </a:t>
                </a:r>
              </a:p>
            </p:txBody>
          </p:sp>
        </mc:Fallback>
      </mc:AlternateContent>
      <p:sp>
        <p:nvSpPr>
          <p:cNvPr id="40" name="Rectangle: Rounded Corners 39">
            <a:extLst>
              <a:ext uri="{FF2B5EF4-FFF2-40B4-BE49-F238E27FC236}">
                <a16:creationId xmlns:a16="http://schemas.microsoft.com/office/drawing/2014/main" id="{FB9ECF49-E6F7-0C3B-48A8-BA01944FCE43}"/>
              </a:ext>
            </a:extLst>
          </p:cNvPr>
          <p:cNvSpPr/>
          <p:nvPr/>
        </p:nvSpPr>
        <p:spPr>
          <a:xfrm>
            <a:off x="6136474" y="1388018"/>
            <a:ext cx="5359528" cy="1251312"/>
          </a:xfrm>
          <a:prstGeom prst="roundRect">
            <a:avLst/>
          </a:prstGeom>
          <a:noFill/>
          <a:ln w="38100">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chemeClr val="tx1"/>
                </a:solidFill>
              </a:rPr>
              <a:t>Trackers:</a:t>
            </a:r>
          </a:p>
          <a:p>
            <a:r>
              <a:rPr lang="en-US" dirty="0">
                <a:solidFill>
                  <a:schemeClr val="tx1"/>
                </a:solidFill>
              </a:rPr>
              <a:t>2 silicon microstrip sensors</a:t>
            </a:r>
          </a:p>
          <a:p>
            <a:r>
              <a:rPr lang="en-US" dirty="0">
                <a:solidFill>
                  <a:schemeClr val="tx1"/>
                </a:solidFill>
              </a:rPr>
              <a:t>639 strips, 98 mm length</a:t>
            </a:r>
          </a:p>
          <a:p>
            <a:r>
              <a:rPr lang="en-US" dirty="0">
                <a:solidFill>
                  <a:schemeClr val="tx1"/>
                </a:solidFill>
              </a:rPr>
              <a:t>with a </a:t>
            </a:r>
            <a:r>
              <a:rPr lang="it-IT" dirty="0">
                <a:solidFill>
                  <a:schemeClr val="tx1"/>
                </a:solidFill>
              </a:rPr>
              <a:t>~ 7 um resolution</a:t>
            </a:r>
          </a:p>
        </p:txBody>
      </p:sp>
      <p:pic>
        <p:nvPicPr>
          <p:cNvPr id="46" name="Picture 45">
            <a:extLst>
              <a:ext uri="{FF2B5EF4-FFF2-40B4-BE49-F238E27FC236}">
                <a16:creationId xmlns:a16="http://schemas.microsoft.com/office/drawing/2014/main" id="{CFA8C621-CD68-D14A-26FC-0ADE40F4B7BD}"/>
              </a:ext>
            </a:extLst>
          </p:cNvPr>
          <p:cNvPicPr>
            <a:picLocks noChangeAspect="1"/>
          </p:cNvPicPr>
          <p:nvPr/>
        </p:nvPicPr>
        <p:blipFill>
          <a:blip r:embed="rId4"/>
          <a:stretch>
            <a:fillRect/>
          </a:stretch>
        </p:blipFill>
        <p:spPr>
          <a:xfrm>
            <a:off x="9096348" y="1561396"/>
            <a:ext cx="2105423" cy="893356"/>
          </a:xfrm>
          <a:prstGeom prst="rect">
            <a:avLst/>
          </a:prstGeom>
        </p:spPr>
      </p:pic>
    </p:spTree>
    <p:extLst>
      <p:ext uri="{BB962C8B-B14F-4D97-AF65-F5344CB8AC3E}">
        <p14:creationId xmlns:p14="http://schemas.microsoft.com/office/powerpoint/2010/main" val="159073907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C1A478-2C97-10B4-34B5-10A734949A4E}"/>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A0AC2323-4074-7D2D-42E4-448B5D17288B}"/>
              </a:ext>
            </a:extLst>
          </p:cNvPr>
          <p:cNvSpPr>
            <a:spLocks noGrp="1"/>
          </p:cNvSpPr>
          <p:nvPr>
            <p:ph type="title"/>
          </p:nvPr>
        </p:nvSpPr>
        <p:spPr>
          <a:xfrm>
            <a:off x="38100" y="69651"/>
            <a:ext cx="12114000" cy="1153094"/>
          </a:xfrm>
          <a:prstGeom prst="roundRect">
            <a:avLst>
              <a:gd name="adj" fmla="val 36459"/>
            </a:avLst>
          </a:prstGeom>
          <a:noFill/>
        </p:spPr>
        <p:txBody>
          <a:bodyPr>
            <a:normAutofit/>
          </a:bodyPr>
          <a:lstStyle/>
          <a:p>
            <a:r>
              <a:rPr lang="it-IT" sz="4000" b="1" dirty="0">
                <a:solidFill>
                  <a:srgbClr val="002060"/>
                </a:solidFill>
              </a:rPr>
              <a:t>	SCHEMATIC LAYOUT</a:t>
            </a:r>
          </a:p>
        </p:txBody>
      </p:sp>
      <p:sp>
        <p:nvSpPr>
          <p:cNvPr id="4" name="Segnaposto data 3">
            <a:extLst>
              <a:ext uri="{FF2B5EF4-FFF2-40B4-BE49-F238E27FC236}">
                <a16:creationId xmlns:a16="http://schemas.microsoft.com/office/drawing/2014/main" id="{C8305303-D450-DE41-FD4D-E965DB4B9962}"/>
              </a:ext>
            </a:extLst>
          </p:cNvPr>
          <p:cNvSpPr>
            <a:spLocks noGrp="1"/>
          </p:cNvSpPr>
          <p:nvPr>
            <p:ph type="dt" sz="half" idx="10"/>
          </p:nvPr>
        </p:nvSpPr>
        <p:spPr>
          <a:xfrm>
            <a:off x="838200" y="6356349"/>
            <a:ext cx="2743200" cy="432000"/>
          </a:xfrm>
        </p:spPr>
        <p:txBody>
          <a:bodyPr/>
          <a:lstStyle/>
          <a:p>
            <a:r>
              <a:rPr lang="it-IT" sz="1500" b="1" dirty="0">
                <a:solidFill>
                  <a:srgbClr val="002060"/>
                </a:solidFill>
              </a:rPr>
              <a:t>24.08.2026</a:t>
            </a:r>
          </a:p>
        </p:txBody>
      </p:sp>
      <p:sp>
        <p:nvSpPr>
          <p:cNvPr id="5" name="Segnaposto piè di pagina 4">
            <a:extLst>
              <a:ext uri="{FF2B5EF4-FFF2-40B4-BE49-F238E27FC236}">
                <a16:creationId xmlns:a16="http://schemas.microsoft.com/office/drawing/2014/main" id="{B932D726-6862-785A-B00C-19309D53BB9C}"/>
              </a:ext>
            </a:extLst>
          </p:cNvPr>
          <p:cNvSpPr>
            <a:spLocks noGrp="1"/>
          </p:cNvSpPr>
          <p:nvPr>
            <p:ph type="ftr" sz="quarter" idx="11"/>
          </p:nvPr>
        </p:nvSpPr>
        <p:spPr>
          <a:xfrm>
            <a:off x="0" y="6356349"/>
            <a:ext cx="12192000" cy="432000"/>
          </a:xfrm>
        </p:spPr>
        <p:txBody>
          <a:bodyPr/>
          <a:lstStyle/>
          <a:p>
            <a:r>
              <a:rPr lang="it-IT" sz="1500" b="1" dirty="0">
                <a:solidFill>
                  <a:srgbClr val="002060"/>
                </a:solidFill>
              </a:rPr>
              <a:t>Anna Sofia Moro</a:t>
            </a:r>
          </a:p>
        </p:txBody>
      </p:sp>
      <p:sp>
        <p:nvSpPr>
          <p:cNvPr id="6" name="Segnaposto numero diapositiva 5">
            <a:extLst>
              <a:ext uri="{FF2B5EF4-FFF2-40B4-BE49-F238E27FC236}">
                <a16:creationId xmlns:a16="http://schemas.microsoft.com/office/drawing/2014/main" id="{1318A926-43E2-8B1A-948C-DD69E1680453}"/>
              </a:ext>
            </a:extLst>
          </p:cNvPr>
          <p:cNvSpPr>
            <a:spLocks noGrp="1"/>
          </p:cNvSpPr>
          <p:nvPr>
            <p:ph type="sldNum" sz="quarter" idx="12"/>
          </p:nvPr>
        </p:nvSpPr>
        <p:spPr>
          <a:xfrm>
            <a:off x="8610600" y="6356349"/>
            <a:ext cx="2743200" cy="432000"/>
          </a:xfrm>
        </p:spPr>
        <p:txBody>
          <a:bodyPr/>
          <a:lstStyle/>
          <a:p>
            <a:fld id="{0A318BD9-CA14-4A83-ACF0-03D5918EB402}" type="slidenum">
              <a:rPr lang="it-IT" sz="1500" b="1" smtClean="0">
                <a:solidFill>
                  <a:srgbClr val="002060"/>
                </a:solidFill>
              </a:rPr>
              <a:t>29</a:t>
            </a:fld>
            <a:endParaRPr lang="it-IT" sz="1500" b="1" dirty="0">
              <a:solidFill>
                <a:srgbClr val="002060"/>
              </a:solidFill>
            </a:endParaRPr>
          </a:p>
        </p:txBody>
      </p:sp>
      <p:cxnSp>
        <p:nvCxnSpPr>
          <p:cNvPr id="10" name="Connettore diritto 9">
            <a:extLst>
              <a:ext uri="{FF2B5EF4-FFF2-40B4-BE49-F238E27FC236}">
                <a16:creationId xmlns:a16="http://schemas.microsoft.com/office/drawing/2014/main" id="{2EB45A51-E901-915B-0293-EC5A0957C2FE}"/>
              </a:ext>
            </a:extLst>
          </p:cNvPr>
          <p:cNvCxnSpPr>
            <a:cxnSpLocks/>
          </p:cNvCxnSpPr>
          <p:nvPr/>
        </p:nvCxnSpPr>
        <p:spPr>
          <a:xfrm>
            <a:off x="696000" y="1155368"/>
            <a:ext cx="10800000" cy="0"/>
          </a:xfrm>
          <a:prstGeom prst="line">
            <a:avLst/>
          </a:prstGeom>
          <a:ln w="38100">
            <a:solidFill>
              <a:srgbClr val="002060"/>
            </a:solidFill>
          </a:ln>
        </p:spPr>
        <p:style>
          <a:lnRef idx="2">
            <a:schemeClr val="accent1"/>
          </a:lnRef>
          <a:fillRef idx="0">
            <a:schemeClr val="accent1"/>
          </a:fillRef>
          <a:effectRef idx="1">
            <a:schemeClr val="accent1"/>
          </a:effectRef>
          <a:fontRef idx="minor">
            <a:schemeClr val="tx1"/>
          </a:fontRef>
        </p:style>
      </p:cxnSp>
      <p:sp>
        <p:nvSpPr>
          <p:cNvPr id="13" name="CasellaDiTesto 12">
            <a:extLst>
              <a:ext uri="{FF2B5EF4-FFF2-40B4-BE49-F238E27FC236}">
                <a16:creationId xmlns:a16="http://schemas.microsoft.com/office/drawing/2014/main" id="{523A421A-CF34-DE89-C38E-406198ECC43D}"/>
              </a:ext>
            </a:extLst>
          </p:cNvPr>
          <p:cNvSpPr txBox="1"/>
          <p:nvPr/>
        </p:nvSpPr>
        <p:spPr>
          <a:xfrm>
            <a:off x="3048886" y="3244334"/>
            <a:ext cx="6097772" cy="369332"/>
          </a:xfrm>
          <a:prstGeom prst="rect">
            <a:avLst/>
          </a:prstGeom>
          <a:noFill/>
        </p:spPr>
        <p:txBody>
          <a:bodyPr wrap="square">
            <a:spAutoFit/>
          </a:bodyPr>
          <a:lstStyle/>
          <a:p>
            <a:endParaRPr lang="it-IT" dirty="0"/>
          </a:p>
        </p:txBody>
      </p:sp>
      <p:sp>
        <p:nvSpPr>
          <p:cNvPr id="15" name="CasellaDiTesto 14">
            <a:extLst>
              <a:ext uri="{FF2B5EF4-FFF2-40B4-BE49-F238E27FC236}">
                <a16:creationId xmlns:a16="http://schemas.microsoft.com/office/drawing/2014/main" id="{5A3A2D6F-A325-D7E7-DEFD-6EE799EFE079}"/>
              </a:ext>
            </a:extLst>
          </p:cNvPr>
          <p:cNvSpPr txBox="1"/>
          <p:nvPr/>
        </p:nvSpPr>
        <p:spPr>
          <a:xfrm>
            <a:off x="3048886" y="3244334"/>
            <a:ext cx="6097772" cy="369332"/>
          </a:xfrm>
          <a:prstGeom prst="rect">
            <a:avLst/>
          </a:prstGeom>
          <a:noFill/>
        </p:spPr>
        <p:txBody>
          <a:bodyPr wrap="square">
            <a:spAutoFit/>
          </a:bodyPr>
          <a:lstStyle/>
          <a:p>
            <a:endParaRPr lang="it-IT" dirty="0"/>
          </a:p>
        </p:txBody>
      </p:sp>
      <p:pic>
        <p:nvPicPr>
          <p:cNvPr id="8" name="Immagine 7">
            <a:extLst>
              <a:ext uri="{FF2B5EF4-FFF2-40B4-BE49-F238E27FC236}">
                <a16:creationId xmlns:a16="http://schemas.microsoft.com/office/drawing/2014/main" id="{8C19DACC-8BF8-944F-AFBE-0BF9ECAB579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95100" y="1486933"/>
            <a:ext cx="9000000" cy="4605228"/>
          </a:xfrm>
          <a:prstGeom prst="rect">
            <a:avLst/>
          </a:prstGeom>
          <a:solidFill>
            <a:srgbClr val="FFFFFF">
              <a:shade val="85000"/>
            </a:srgbClr>
          </a:solidFill>
          <a:ln w="88900" cap="sq">
            <a:noFill/>
            <a:miter lim="800000"/>
          </a:ln>
          <a:effectLst/>
        </p:spPr>
      </p:pic>
    </p:spTree>
    <p:extLst>
      <p:ext uri="{BB962C8B-B14F-4D97-AF65-F5344CB8AC3E}">
        <p14:creationId xmlns:p14="http://schemas.microsoft.com/office/powerpoint/2010/main" val="187936523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70868C-48AA-624D-FC8E-B8A0F7FD8BAC}"/>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BE81BE3F-761B-C031-718C-B937798DE753}"/>
              </a:ext>
            </a:extLst>
          </p:cNvPr>
          <p:cNvSpPr>
            <a:spLocks noGrp="1"/>
          </p:cNvSpPr>
          <p:nvPr>
            <p:ph type="title"/>
          </p:nvPr>
        </p:nvSpPr>
        <p:spPr>
          <a:xfrm>
            <a:off x="38100" y="69651"/>
            <a:ext cx="12114000" cy="1153094"/>
          </a:xfrm>
          <a:prstGeom prst="roundRect">
            <a:avLst>
              <a:gd name="adj" fmla="val 36459"/>
            </a:avLst>
          </a:prstGeom>
          <a:noFill/>
        </p:spPr>
        <p:txBody>
          <a:bodyPr>
            <a:normAutofit/>
          </a:bodyPr>
          <a:lstStyle/>
          <a:p>
            <a:r>
              <a:rPr lang="it-IT" b="1" dirty="0">
                <a:solidFill>
                  <a:srgbClr val="002060"/>
                </a:solidFill>
              </a:rPr>
              <a:t>	BACKUP SLIDES: SPATIAL CUT</a:t>
            </a:r>
          </a:p>
        </p:txBody>
      </p:sp>
      <p:sp>
        <p:nvSpPr>
          <p:cNvPr id="4" name="Segnaposto data 3">
            <a:extLst>
              <a:ext uri="{FF2B5EF4-FFF2-40B4-BE49-F238E27FC236}">
                <a16:creationId xmlns:a16="http://schemas.microsoft.com/office/drawing/2014/main" id="{E83A6044-8191-1821-ADA3-B644EAE134EC}"/>
              </a:ext>
            </a:extLst>
          </p:cNvPr>
          <p:cNvSpPr>
            <a:spLocks noGrp="1"/>
          </p:cNvSpPr>
          <p:nvPr>
            <p:ph type="dt" sz="half" idx="10"/>
          </p:nvPr>
        </p:nvSpPr>
        <p:spPr>
          <a:xfrm>
            <a:off x="838200" y="6356349"/>
            <a:ext cx="2743200" cy="432000"/>
          </a:xfrm>
        </p:spPr>
        <p:txBody>
          <a:bodyPr/>
          <a:lstStyle/>
          <a:p>
            <a:r>
              <a:rPr lang="it-IT" sz="1500" b="1" dirty="0">
                <a:solidFill>
                  <a:srgbClr val="002060"/>
                </a:solidFill>
              </a:rPr>
              <a:t>24.08.2026</a:t>
            </a:r>
          </a:p>
        </p:txBody>
      </p:sp>
      <p:sp>
        <p:nvSpPr>
          <p:cNvPr id="5" name="Segnaposto piè di pagina 4">
            <a:extLst>
              <a:ext uri="{FF2B5EF4-FFF2-40B4-BE49-F238E27FC236}">
                <a16:creationId xmlns:a16="http://schemas.microsoft.com/office/drawing/2014/main" id="{BA0F2C72-5ABE-0EBA-2479-43E5859BBA63}"/>
              </a:ext>
            </a:extLst>
          </p:cNvPr>
          <p:cNvSpPr>
            <a:spLocks noGrp="1"/>
          </p:cNvSpPr>
          <p:nvPr>
            <p:ph type="ftr" sz="quarter" idx="11"/>
          </p:nvPr>
        </p:nvSpPr>
        <p:spPr>
          <a:xfrm>
            <a:off x="0" y="6356349"/>
            <a:ext cx="12192000" cy="432000"/>
          </a:xfrm>
        </p:spPr>
        <p:txBody>
          <a:bodyPr/>
          <a:lstStyle/>
          <a:p>
            <a:r>
              <a:rPr lang="it-IT" sz="1500" b="1" dirty="0">
                <a:solidFill>
                  <a:srgbClr val="002060"/>
                </a:solidFill>
              </a:rPr>
              <a:t>Anna Sofia Moro</a:t>
            </a:r>
          </a:p>
        </p:txBody>
      </p:sp>
      <p:sp>
        <p:nvSpPr>
          <p:cNvPr id="6" name="Segnaposto numero diapositiva 5">
            <a:extLst>
              <a:ext uri="{FF2B5EF4-FFF2-40B4-BE49-F238E27FC236}">
                <a16:creationId xmlns:a16="http://schemas.microsoft.com/office/drawing/2014/main" id="{2506C0F3-F1DF-3C2C-B4EF-0115636BFC95}"/>
              </a:ext>
            </a:extLst>
          </p:cNvPr>
          <p:cNvSpPr>
            <a:spLocks noGrp="1"/>
          </p:cNvSpPr>
          <p:nvPr>
            <p:ph type="sldNum" sz="quarter" idx="12"/>
          </p:nvPr>
        </p:nvSpPr>
        <p:spPr>
          <a:xfrm>
            <a:off x="8610600" y="6356349"/>
            <a:ext cx="2743200" cy="432000"/>
          </a:xfrm>
        </p:spPr>
        <p:txBody>
          <a:bodyPr/>
          <a:lstStyle/>
          <a:p>
            <a:fld id="{0A318BD9-CA14-4A83-ACF0-03D5918EB402}" type="slidenum">
              <a:rPr lang="it-IT" sz="1500" b="1" smtClean="0">
                <a:solidFill>
                  <a:srgbClr val="002060"/>
                </a:solidFill>
              </a:rPr>
              <a:t>30</a:t>
            </a:fld>
            <a:endParaRPr lang="it-IT" sz="1500" b="1" dirty="0">
              <a:solidFill>
                <a:srgbClr val="002060"/>
              </a:solidFill>
            </a:endParaRPr>
          </a:p>
        </p:txBody>
      </p:sp>
      <p:cxnSp>
        <p:nvCxnSpPr>
          <p:cNvPr id="10" name="Connettore diritto 9">
            <a:extLst>
              <a:ext uri="{FF2B5EF4-FFF2-40B4-BE49-F238E27FC236}">
                <a16:creationId xmlns:a16="http://schemas.microsoft.com/office/drawing/2014/main" id="{B9F4022D-EA7D-42B8-B590-F13E113B4373}"/>
              </a:ext>
            </a:extLst>
          </p:cNvPr>
          <p:cNvCxnSpPr>
            <a:cxnSpLocks/>
          </p:cNvCxnSpPr>
          <p:nvPr/>
        </p:nvCxnSpPr>
        <p:spPr>
          <a:xfrm>
            <a:off x="696000" y="1155368"/>
            <a:ext cx="10800000" cy="0"/>
          </a:xfrm>
          <a:prstGeom prst="line">
            <a:avLst/>
          </a:prstGeom>
          <a:ln w="38100">
            <a:solidFill>
              <a:srgbClr val="002060"/>
            </a:solidFill>
          </a:ln>
        </p:spPr>
        <p:style>
          <a:lnRef idx="2">
            <a:schemeClr val="accent1"/>
          </a:lnRef>
          <a:fillRef idx="0">
            <a:schemeClr val="accent1"/>
          </a:fillRef>
          <a:effectRef idx="1">
            <a:schemeClr val="accent1"/>
          </a:effectRef>
          <a:fontRef idx="minor">
            <a:schemeClr val="tx1"/>
          </a:fontRef>
        </p:style>
      </p:cxnSp>
      <p:sp>
        <p:nvSpPr>
          <p:cNvPr id="13" name="CasellaDiTesto 12">
            <a:extLst>
              <a:ext uri="{FF2B5EF4-FFF2-40B4-BE49-F238E27FC236}">
                <a16:creationId xmlns:a16="http://schemas.microsoft.com/office/drawing/2014/main" id="{C9037BDD-8530-1C71-AC3D-B5E42866C854}"/>
              </a:ext>
            </a:extLst>
          </p:cNvPr>
          <p:cNvSpPr txBox="1"/>
          <p:nvPr/>
        </p:nvSpPr>
        <p:spPr>
          <a:xfrm>
            <a:off x="3048886" y="3244334"/>
            <a:ext cx="6097772" cy="369332"/>
          </a:xfrm>
          <a:prstGeom prst="rect">
            <a:avLst/>
          </a:prstGeom>
          <a:noFill/>
        </p:spPr>
        <p:txBody>
          <a:bodyPr wrap="square">
            <a:spAutoFit/>
          </a:bodyPr>
          <a:lstStyle/>
          <a:p>
            <a:endParaRPr lang="it-IT" dirty="0"/>
          </a:p>
        </p:txBody>
      </p:sp>
      <p:sp>
        <p:nvSpPr>
          <p:cNvPr id="15" name="CasellaDiTesto 14">
            <a:extLst>
              <a:ext uri="{FF2B5EF4-FFF2-40B4-BE49-F238E27FC236}">
                <a16:creationId xmlns:a16="http://schemas.microsoft.com/office/drawing/2014/main" id="{D6BFC361-AD21-8A45-4798-C3D7486AEAE4}"/>
              </a:ext>
            </a:extLst>
          </p:cNvPr>
          <p:cNvSpPr txBox="1"/>
          <p:nvPr/>
        </p:nvSpPr>
        <p:spPr>
          <a:xfrm>
            <a:off x="3048886" y="3244334"/>
            <a:ext cx="6097772" cy="369332"/>
          </a:xfrm>
          <a:prstGeom prst="rect">
            <a:avLst/>
          </a:prstGeom>
          <a:noFill/>
        </p:spPr>
        <p:txBody>
          <a:bodyPr wrap="square">
            <a:spAutoFit/>
          </a:bodyPr>
          <a:lstStyle/>
          <a:p>
            <a:endParaRPr lang="it-IT" dirty="0"/>
          </a:p>
        </p:txBody>
      </p:sp>
      <p:grpSp>
        <p:nvGrpSpPr>
          <p:cNvPr id="7" name="Gruppo 6">
            <a:extLst>
              <a:ext uri="{FF2B5EF4-FFF2-40B4-BE49-F238E27FC236}">
                <a16:creationId xmlns:a16="http://schemas.microsoft.com/office/drawing/2014/main" id="{8D788910-F3D0-9CC6-0AAB-A1C89CE3D485}"/>
              </a:ext>
            </a:extLst>
          </p:cNvPr>
          <p:cNvGrpSpPr/>
          <p:nvPr/>
        </p:nvGrpSpPr>
        <p:grpSpPr>
          <a:xfrm>
            <a:off x="2629724" y="1358900"/>
            <a:ext cx="6932552" cy="4818615"/>
            <a:chOff x="3357897" y="2667753"/>
            <a:chExt cx="5476207" cy="3688596"/>
          </a:xfrm>
        </p:grpSpPr>
        <p:pic>
          <p:nvPicPr>
            <p:cNvPr id="8" name="Immagine 7">
              <a:extLst>
                <a:ext uri="{FF2B5EF4-FFF2-40B4-BE49-F238E27FC236}">
                  <a16:creationId xmlns:a16="http://schemas.microsoft.com/office/drawing/2014/main" id="{3B885F0C-3A52-E818-1FFE-79CA8492B8D7}"/>
                </a:ext>
              </a:extLst>
            </p:cNvPr>
            <p:cNvPicPr>
              <a:picLocks noChangeAspect="1"/>
            </p:cNvPicPr>
            <p:nvPr/>
          </p:nvPicPr>
          <p:blipFill>
            <a:blip r:embed="rId2">
              <a:extLst>
                <a:ext uri="{28A0092B-C50C-407E-A947-70E740481C1C}">
                  <a14:useLocalDpi xmlns:a14="http://schemas.microsoft.com/office/drawing/2010/main" val="0"/>
                </a:ext>
              </a:extLst>
            </a:blip>
            <a:srcRect t="2210" b="2210"/>
            <a:stretch/>
          </p:blipFill>
          <p:spPr>
            <a:xfrm>
              <a:off x="3357897" y="2667753"/>
              <a:ext cx="5476207" cy="3688596"/>
            </a:xfrm>
            <a:prstGeom prst="rect">
              <a:avLst/>
            </a:prstGeom>
          </p:spPr>
        </p:pic>
        <p:sp>
          <p:nvSpPr>
            <p:cNvPr id="9" name="Rettangolo 8">
              <a:extLst>
                <a:ext uri="{FF2B5EF4-FFF2-40B4-BE49-F238E27FC236}">
                  <a16:creationId xmlns:a16="http://schemas.microsoft.com/office/drawing/2014/main" id="{171A131D-410B-0265-ADB7-86EA3B4EFF2F}"/>
                </a:ext>
              </a:extLst>
            </p:cNvPr>
            <p:cNvSpPr/>
            <p:nvPr/>
          </p:nvSpPr>
          <p:spPr>
            <a:xfrm>
              <a:off x="5196417" y="3907271"/>
              <a:ext cx="302683" cy="991614"/>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grpSp>
      <p:sp>
        <p:nvSpPr>
          <p:cNvPr id="12" name="CasellaDiTesto 11">
            <a:extLst>
              <a:ext uri="{FF2B5EF4-FFF2-40B4-BE49-F238E27FC236}">
                <a16:creationId xmlns:a16="http://schemas.microsoft.com/office/drawing/2014/main" id="{2F82BAFF-9135-53DE-9837-BE4B01F3EB56}"/>
              </a:ext>
            </a:extLst>
          </p:cNvPr>
          <p:cNvSpPr txBox="1"/>
          <p:nvPr/>
        </p:nvSpPr>
        <p:spPr>
          <a:xfrm>
            <a:off x="4694745" y="4341592"/>
            <a:ext cx="908050" cy="369332"/>
          </a:xfrm>
          <a:prstGeom prst="rect">
            <a:avLst/>
          </a:prstGeom>
          <a:noFill/>
        </p:spPr>
        <p:txBody>
          <a:bodyPr wrap="square" rtlCol="0">
            <a:spAutoFit/>
          </a:bodyPr>
          <a:lstStyle/>
          <a:p>
            <a:pPr algn="ctr"/>
            <a:r>
              <a:rPr lang="it-IT" b="1" dirty="0">
                <a:solidFill>
                  <a:schemeClr val="bg1"/>
                </a:solidFill>
              </a:rPr>
              <a:t>2 mm</a:t>
            </a:r>
          </a:p>
        </p:txBody>
      </p:sp>
      <p:sp>
        <p:nvSpPr>
          <p:cNvPr id="16" name="CasellaDiTesto 15">
            <a:extLst>
              <a:ext uri="{FF2B5EF4-FFF2-40B4-BE49-F238E27FC236}">
                <a16:creationId xmlns:a16="http://schemas.microsoft.com/office/drawing/2014/main" id="{70D2CBEF-B1E0-9EA7-A712-FF2A323B86DA}"/>
              </a:ext>
            </a:extLst>
          </p:cNvPr>
          <p:cNvSpPr txBox="1"/>
          <p:nvPr/>
        </p:nvSpPr>
        <p:spPr>
          <a:xfrm>
            <a:off x="5305496" y="3398875"/>
            <a:ext cx="1158803" cy="369332"/>
          </a:xfrm>
          <a:prstGeom prst="rect">
            <a:avLst/>
          </a:prstGeom>
          <a:noFill/>
        </p:spPr>
        <p:txBody>
          <a:bodyPr wrap="square" rtlCol="0">
            <a:spAutoFit/>
          </a:bodyPr>
          <a:lstStyle/>
          <a:p>
            <a:pPr algn="ctr"/>
            <a:r>
              <a:rPr lang="it-IT" b="1" dirty="0">
                <a:solidFill>
                  <a:schemeClr val="bg1"/>
                </a:solidFill>
              </a:rPr>
              <a:t>12.8 mm</a:t>
            </a:r>
          </a:p>
        </p:txBody>
      </p:sp>
    </p:spTree>
    <p:extLst>
      <p:ext uri="{BB962C8B-B14F-4D97-AF65-F5344CB8AC3E}">
        <p14:creationId xmlns:p14="http://schemas.microsoft.com/office/powerpoint/2010/main" val="154434004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939A26-B793-2D85-3CAD-E2D79658EF2F}"/>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0DF88687-BF13-F647-4364-E442CA10987C}"/>
              </a:ext>
            </a:extLst>
          </p:cNvPr>
          <p:cNvSpPr>
            <a:spLocks noGrp="1"/>
          </p:cNvSpPr>
          <p:nvPr>
            <p:ph type="title"/>
          </p:nvPr>
        </p:nvSpPr>
        <p:spPr>
          <a:xfrm>
            <a:off x="38100" y="69651"/>
            <a:ext cx="12114000" cy="1153094"/>
          </a:xfrm>
          <a:prstGeom prst="roundRect">
            <a:avLst>
              <a:gd name="adj" fmla="val 36459"/>
            </a:avLst>
          </a:prstGeom>
          <a:noFill/>
        </p:spPr>
        <p:txBody>
          <a:bodyPr>
            <a:normAutofit/>
          </a:bodyPr>
          <a:lstStyle/>
          <a:p>
            <a:r>
              <a:rPr lang="it-IT" b="1" dirty="0">
                <a:solidFill>
                  <a:srgbClr val="002060"/>
                </a:solidFill>
              </a:rPr>
              <a:t>	BACKUP SLIDES: ANGLE SELECTION</a:t>
            </a:r>
          </a:p>
        </p:txBody>
      </p:sp>
      <p:sp>
        <p:nvSpPr>
          <p:cNvPr id="4" name="Segnaposto data 3">
            <a:extLst>
              <a:ext uri="{FF2B5EF4-FFF2-40B4-BE49-F238E27FC236}">
                <a16:creationId xmlns:a16="http://schemas.microsoft.com/office/drawing/2014/main" id="{A2385FB3-6561-5C04-3B4A-79D0186CC22A}"/>
              </a:ext>
            </a:extLst>
          </p:cNvPr>
          <p:cNvSpPr>
            <a:spLocks noGrp="1"/>
          </p:cNvSpPr>
          <p:nvPr>
            <p:ph type="dt" sz="half" idx="10"/>
          </p:nvPr>
        </p:nvSpPr>
        <p:spPr>
          <a:xfrm>
            <a:off x="838200" y="6356349"/>
            <a:ext cx="2743200" cy="432000"/>
          </a:xfrm>
        </p:spPr>
        <p:txBody>
          <a:bodyPr/>
          <a:lstStyle/>
          <a:p>
            <a:r>
              <a:rPr lang="it-IT" sz="1500" b="1" dirty="0">
                <a:solidFill>
                  <a:srgbClr val="002060"/>
                </a:solidFill>
              </a:rPr>
              <a:t>24.08.2026</a:t>
            </a:r>
          </a:p>
        </p:txBody>
      </p:sp>
      <p:sp>
        <p:nvSpPr>
          <p:cNvPr id="5" name="Segnaposto piè di pagina 4">
            <a:extLst>
              <a:ext uri="{FF2B5EF4-FFF2-40B4-BE49-F238E27FC236}">
                <a16:creationId xmlns:a16="http://schemas.microsoft.com/office/drawing/2014/main" id="{C1AACA59-250E-7219-30FF-8FCF7919E8F3}"/>
              </a:ext>
            </a:extLst>
          </p:cNvPr>
          <p:cNvSpPr>
            <a:spLocks noGrp="1"/>
          </p:cNvSpPr>
          <p:nvPr>
            <p:ph type="ftr" sz="quarter" idx="11"/>
          </p:nvPr>
        </p:nvSpPr>
        <p:spPr>
          <a:xfrm>
            <a:off x="0" y="6356349"/>
            <a:ext cx="12192000" cy="432000"/>
          </a:xfrm>
        </p:spPr>
        <p:txBody>
          <a:bodyPr/>
          <a:lstStyle/>
          <a:p>
            <a:r>
              <a:rPr lang="it-IT" sz="1500" b="1" dirty="0">
                <a:solidFill>
                  <a:srgbClr val="002060"/>
                </a:solidFill>
              </a:rPr>
              <a:t>Anna Sofia Moro</a:t>
            </a:r>
          </a:p>
        </p:txBody>
      </p:sp>
      <p:sp>
        <p:nvSpPr>
          <p:cNvPr id="6" name="Segnaposto numero diapositiva 5">
            <a:extLst>
              <a:ext uri="{FF2B5EF4-FFF2-40B4-BE49-F238E27FC236}">
                <a16:creationId xmlns:a16="http://schemas.microsoft.com/office/drawing/2014/main" id="{6550E125-E034-E05A-7A7B-63CD2B3E507A}"/>
              </a:ext>
            </a:extLst>
          </p:cNvPr>
          <p:cNvSpPr>
            <a:spLocks noGrp="1"/>
          </p:cNvSpPr>
          <p:nvPr>
            <p:ph type="sldNum" sz="quarter" idx="12"/>
          </p:nvPr>
        </p:nvSpPr>
        <p:spPr>
          <a:xfrm>
            <a:off x="8610600" y="6356349"/>
            <a:ext cx="2743200" cy="432000"/>
          </a:xfrm>
        </p:spPr>
        <p:txBody>
          <a:bodyPr/>
          <a:lstStyle/>
          <a:p>
            <a:fld id="{0A318BD9-CA14-4A83-ACF0-03D5918EB402}" type="slidenum">
              <a:rPr lang="it-IT" sz="1500" b="1" smtClean="0">
                <a:solidFill>
                  <a:srgbClr val="002060"/>
                </a:solidFill>
              </a:rPr>
              <a:t>31</a:t>
            </a:fld>
            <a:endParaRPr lang="it-IT" sz="1500" b="1" dirty="0">
              <a:solidFill>
                <a:srgbClr val="002060"/>
              </a:solidFill>
            </a:endParaRPr>
          </a:p>
        </p:txBody>
      </p:sp>
      <p:cxnSp>
        <p:nvCxnSpPr>
          <p:cNvPr id="10" name="Connettore diritto 9">
            <a:extLst>
              <a:ext uri="{FF2B5EF4-FFF2-40B4-BE49-F238E27FC236}">
                <a16:creationId xmlns:a16="http://schemas.microsoft.com/office/drawing/2014/main" id="{CDCFE4DC-AED6-5073-176B-DAA7D9E6B258}"/>
              </a:ext>
            </a:extLst>
          </p:cNvPr>
          <p:cNvCxnSpPr>
            <a:cxnSpLocks/>
          </p:cNvCxnSpPr>
          <p:nvPr/>
        </p:nvCxnSpPr>
        <p:spPr>
          <a:xfrm>
            <a:off x="696000" y="1155368"/>
            <a:ext cx="10800000" cy="0"/>
          </a:xfrm>
          <a:prstGeom prst="line">
            <a:avLst/>
          </a:prstGeom>
          <a:ln w="38100">
            <a:solidFill>
              <a:srgbClr val="002060"/>
            </a:solidFill>
          </a:ln>
        </p:spPr>
        <p:style>
          <a:lnRef idx="2">
            <a:schemeClr val="accent1"/>
          </a:lnRef>
          <a:fillRef idx="0">
            <a:schemeClr val="accent1"/>
          </a:fillRef>
          <a:effectRef idx="1">
            <a:schemeClr val="accent1"/>
          </a:effectRef>
          <a:fontRef idx="minor">
            <a:schemeClr val="tx1"/>
          </a:fontRef>
        </p:style>
      </p:cxnSp>
      <p:sp>
        <p:nvSpPr>
          <p:cNvPr id="13" name="CasellaDiTesto 12">
            <a:extLst>
              <a:ext uri="{FF2B5EF4-FFF2-40B4-BE49-F238E27FC236}">
                <a16:creationId xmlns:a16="http://schemas.microsoft.com/office/drawing/2014/main" id="{3766DD3B-A09B-2B03-760F-4FD2350D7465}"/>
              </a:ext>
            </a:extLst>
          </p:cNvPr>
          <p:cNvSpPr txBox="1"/>
          <p:nvPr/>
        </p:nvSpPr>
        <p:spPr>
          <a:xfrm>
            <a:off x="3048886" y="3244334"/>
            <a:ext cx="6097772" cy="369332"/>
          </a:xfrm>
          <a:prstGeom prst="rect">
            <a:avLst/>
          </a:prstGeom>
          <a:noFill/>
        </p:spPr>
        <p:txBody>
          <a:bodyPr wrap="square">
            <a:spAutoFit/>
          </a:bodyPr>
          <a:lstStyle/>
          <a:p>
            <a:endParaRPr lang="it-IT" dirty="0"/>
          </a:p>
        </p:txBody>
      </p:sp>
      <p:sp>
        <p:nvSpPr>
          <p:cNvPr id="15" name="CasellaDiTesto 14">
            <a:extLst>
              <a:ext uri="{FF2B5EF4-FFF2-40B4-BE49-F238E27FC236}">
                <a16:creationId xmlns:a16="http://schemas.microsoft.com/office/drawing/2014/main" id="{CCB820BB-33C0-FD49-8310-C67C15646B1F}"/>
              </a:ext>
            </a:extLst>
          </p:cNvPr>
          <p:cNvSpPr txBox="1"/>
          <p:nvPr/>
        </p:nvSpPr>
        <p:spPr>
          <a:xfrm>
            <a:off x="3048886" y="3244334"/>
            <a:ext cx="6097772" cy="369332"/>
          </a:xfrm>
          <a:prstGeom prst="rect">
            <a:avLst/>
          </a:prstGeom>
          <a:noFill/>
        </p:spPr>
        <p:txBody>
          <a:bodyPr wrap="square">
            <a:spAutoFit/>
          </a:bodyPr>
          <a:lstStyle/>
          <a:p>
            <a:endParaRPr lang="it-IT" dirty="0"/>
          </a:p>
        </p:txBody>
      </p:sp>
      <p:pic>
        <p:nvPicPr>
          <p:cNvPr id="7" name="Immagine 6">
            <a:extLst>
              <a:ext uri="{FF2B5EF4-FFF2-40B4-BE49-F238E27FC236}">
                <a16:creationId xmlns:a16="http://schemas.microsoft.com/office/drawing/2014/main" id="{1BBF9FFD-F79D-AA1B-DF5A-87466EEE68B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188750" y="1222745"/>
            <a:ext cx="8432572" cy="5253769"/>
          </a:xfrm>
          <a:prstGeom prst="rect">
            <a:avLst/>
          </a:prstGeom>
        </p:spPr>
      </p:pic>
      <p:grpSp>
        <p:nvGrpSpPr>
          <p:cNvPr id="8" name="Gruppo 7">
            <a:extLst>
              <a:ext uri="{FF2B5EF4-FFF2-40B4-BE49-F238E27FC236}">
                <a16:creationId xmlns:a16="http://schemas.microsoft.com/office/drawing/2014/main" id="{33CB32C7-0FCA-E3A2-3F6E-CA232C9F465D}"/>
              </a:ext>
            </a:extLst>
          </p:cNvPr>
          <p:cNvGrpSpPr/>
          <p:nvPr/>
        </p:nvGrpSpPr>
        <p:grpSpPr>
          <a:xfrm>
            <a:off x="5650030" y="1568918"/>
            <a:ext cx="1822739" cy="567891"/>
            <a:chOff x="4340994" y="1588168"/>
            <a:chExt cx="1822739" cy="567891"/>
          </a:xfrm>
        </p:grpSpPr>
        <p:cxnSp>
          <p:nvCxnSpPr>
            <p:cNvPr id="9" name="Connettore 2 8">
              <a:extLst>
                <a:ext uri="{FF2B5EF4-FFF2-40B4-BE49-F238E27FC236}">
                  <a16:creationId xmlns:a16="http://schemas.microsoft.com/office/drawing/2014/main" id="{D8CF927E-5FAC-04F9-9C12-62E9DAC2A3CC}"/>
                </a:ext>
              </a:extLst>
            </p:cNvPr>
            <p:cNvCxnSpPr/>
            <p:nvPr/>
          </p:nvCxnSpPr>
          <p:spPr>
            <a:xfrm flipH="1">
              <a:off x="4340994" y="1876926"/>
              <a:ext cx="625642" cy="192506"/>
            </a:xfrm>
            <a:prstGeom prst="straightConnector1">
              <a:avLst/>
            </a:prstGeom>
            <a:ln w="38100">
              <a:solidFill>
                <a:srgbClr val="FF0000"/>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1" name="Rettangolo con angoli arrotondati 10">
                  <a:extLst>
                    <a:ext uri="{FF2B5EF4-FFF2-40B4-BE49-F238E27FC236}">
                      <a16:creationId xmlns:a16="http://schemas.microsoft.com/office/drawing/2014/main" id="{BB4D091A-960D-5AFF-1B6D-37F1F84E8EA1}"/>
                    </a:ext>
                  </a:extLst>
                </p:cNvPr>
                <p:cNvSpPr/>
                <p:nvPr/>
              </p:nvSpPr>
              <p:spPr>
                <a:xfrm>
                  <a:off x="4966636" y="1588168"/>
                  <a:ext cx="1197097" cy="567891"/>
                </a:xfrm>
                <a:prstGeom prst="roundRect">
                  <a:avLst/>
                </a:prstGeom>
                <a:solidFill>
                  <a:schemeClr val="bg1"/>
                </a:solid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 xmlns:m="http://schemas.openxmlformats.org/officeDocument/2006/math">
                      <m:r>
                        <a:rPr lang="it-IT" b="0" i="1" smtClean="0">
                          <a:solidFill>
                            <a:schemeClr val="tx1"/>
                          </a:solidFill>
                          <a:latin typeface="Cambria Math" panose="02040503050406030204" pitchFamily="18" charset="0"/>
                        </a:rPr>
                        <m:t>±</m:t>
                      </m:r>
                      <m:f>
                        <m:fPr>
                          <m:ctrlPr>
                            <a:rPr lang="it-IT" b="0" i="1" smtClean="0">
                              <a:solidFill>
                                <a:schemeClr val="tx1"/>
                              </a:solidFill>
                              <a:latin typeface="Cambria Math" panose="02040503050406030204" pitchFamily="18" charset="0"/>
                            </a:rPr>
                          </m:ctrlPr>
                        </m:fPr>
                        <m:num>
                          <m:r>
                            <a:rPr lang="it-IT" b="0" i="1" smtClean="0">
                              <a:solidFill>
                                <a:schemeClr val="tx1"/>
                              </a:solidFill>
                              <a:latin typeface="Cambria Math" panose="02040503050406030204" pitchFamily="18" charset="0"/>
                            </a:rPr>
                            <m:t>1</m:t>
                          </m:r>
                        </m:num>
                        <m:den>
                          <m:r>
                            <a:rPr lang="it-IT" b="0" i="1" smtClean="0">
                              <a:solidFill>
                                <a:schemeClr val="tx1"/>
                              </a:solidFill>
                              <a:latin typeface="Cambria Math" panose="02040503050406030204" pitchFamily="18" charset="0"/>
                            </a:rPr>
                            <m:t>2</m:t>
                          </m:r>
                        </m:den>
                      </m:f>
                      <m:sSub>
                        <m:sSubPr>
                          <m:ctrlPr>
                            <a:rPr lang="it-IT" b="0" i="1" smtClean="0">
                              <a:solidFill>
                                <a:schemeClr val="tx1"/>
                              </a:solidFill>
                              <a:latin typeface="Cambria Math" panose="02040503050406030204" pitchFamily="18" charset="0"/>
                            </a:rPr>
                          </m:ctrlPr>
                        </m:sSubPr>
                        <m:e>
                          <m:r>
                            <a:rPr lang="it-IT" b="0" i="1" smtClean="0">
                              <a:solidFill>
                                <a:schemeClr val="tx1"/>
                              </a:solidFill>
                              <a:latin typeface="Cambria Math" panose="02040503050406030204" pitchFamily="18" charset="0"/>
                            </a:rPr>
                            <m:t>𝜃</m:t>
                          </m:r>
                        </m:e>
                        <m:sub>
                          <m:r>
                            <a:rPr lang="it-IT" b="0" i="1" smtClean="0">
                              <a:solidFill>
                                <a:schemeClr val="tx1"/>
                              </a:solidFill>
                              <a:latin typeface="Cambria Math" panose="02040503050406030204" pitchFamily="18" charset="0"/>
                            </a:rPr>
                            <m:t>𝐿</m:t>
                          </m:r>
                        </m:sub>
                      </m:sSub>
                    </m:oMath>
                  </a14:m>
                  <a:r>
                    <a:rPr lang="it-IT" dirty="0">
                      <a:solidFill>
                        <a:schemeClr val="tx1"/>
                      </a:solidFill>
                    </a:rPr>
                    <a:t> cut</a:t>
                  </a:r>
                </a:p>
              </p:txBody>
            </p:sp>
          </mc:Choice>
          <mc:Fallback xmlns="">
            <p:sp>
              <p:nvSpPr>
                <p:cNvPr id="11" name="Rettangolo con angoli arrotondati 10">
                  <a:extLst>
                    <a:ext uri="{FF2B5EF4-FFF2-40B4-BE49-F238E27FC236}">
                      <a16:creationId xmlns:a16="http://schemas.microsoft.com/office/drawing/2014/main" id="{BB4D091A-960D-5AFF-1B6D-37F1F84E8EA1}"/>
                    </a:ext>
                  </a:extLst>
                </p:cNvPr>
                <p:cNvSpPr>
                  <a:spLocks noRot="1" noChangeAspect="1" noMove="1" noResize="1" noEditPoints="1" noAdjustHandles="1" noChangeArrowheads="1" noChangeShapeType="1" noTextEdit="1"/>
                </p:cNvSpPr>
                <p:nvPr/>
              </p:nvSpPr>
              <p:spPr>
                <a:xfrm>
                  <a:off x="4966636" y="1588168"/>
                  <a:ext cx="1197097" cy="567891"/>
                </a:xfrm>
                <a:prstGeom prst="roundRect">
                  <a:avLst/>
                </a:prstGeom>
                <a:blipFill>
                  <a:blip r:embed="rId4"/>
                  <a:stretch>
                    <a:fillRect/>
                  </a:stretch>
                </a:blipFill>
                <a:ln w="38100">
                  <a:solidFill>
                    <a:srgbClr val="FF0000"/>
                  </a:solidFill>
                </a:ln>
              </p:spPr>
              <p:txBody>
                <a:bodyPr/>
                <a:lstStyle/>
                <a:p>
                  <a:r>
                    <a:rPr lang="it-IT">
                      <a:noFill/>
                    </a:rPr>
                    <a:t> </a:t>
                  </a:r>
                </a:p>
              </p:txBody>
            </p:sp>
          </mc:Fallback>
        </mc:AlternateContent>
      </p:grpSp>
      <mc:AlternateContent xmlns:mc="http://schemas.openxmlformats.org/markup-compatibility/2006" xmlns:a14="http://schemas.microsoft.com/office/drawing/2010/main">
        <mc:Choice Requires="a14">
          <p:sp>
            <p:nvSpPr>
              <p:cNvPr id="12" name="CasellaDiTesto 11">
                <a:extLst>
                  <a:ext uri="{FF2B5EF4-FFF2-40B4-BE49-F238E27FC236}">
                    <a16:creationId xmlns:a16="http://schemas.microsoft.com/office/drawing/2014/main" id="{A8798A75-C305-1750-5F2B-933C372D6414}"/>
                  </a:ext>
                </a:extLst>
              </p:cNvPr>
              <p:cNvSpPr txBox="1"/>
              <p:nvPr/>
            </p:nvSpPr>
            <p:spPr>
              <a:xfrm>
                <a:off x="696000" y="2269944"/>
                <a:ext cx="2601609" cy="3296928"/>
              </a:xfrm>
              <a:prstGeom prst="rect">
                <a:avLst/>
              </a:prstGeom>
              <a:noFill/>
            </p:spPr>
            <p:txBody>
              <a:bodyPr wrap="square" rtlCol="0">
                <a:spAutoFit/>
              </a:bodyPr>
              <a:lstStyle/>
              <a:p>
                <a:r>
                  <a:rPr lang="it-IT" sz="2000" dirty="0"/>
                  <a:t>For </a:t>
                </a:r>
                <a:r>
                  <a:rPr lang="it-IT" sz="2000" dirty="0" err="1"/>
                  <a:t>each</a:t>
                </a:r>
                <a:r>
                  <a:rPr lang="it-IT" sz="2000" dirty="0"/>
                  <a:t> </a:t>
                </a:r>
                <a:r>
                  <a:rPr lang="it-IT" sz="2000" dirty="0" err="1"/>
                  <a:t>square</a:t>
                </a:r>
                <a:r>
                  <a:rPr lang="it-IT" sz="2000" dirty="0"/>
                  <a:t> bin:</a:t>
                </a:r>
              </a:p>
              <a:p>
                <a:endParaRPr lang="it-IT" sz="2000" dirty="0"/>
              </a:p>
              <a:p>
                <a:pPr marL="342900" indent="-342900">
                  <a:buFont typeface="Arial" panose="020B0604020202020204" pitchFamily="34" charset="0"/>
                  <a:buChar char="•"/>
                </a:pPr>
                <a:r>
                  <a:rPr lang="it-IT" sz="2000" dirty="0"/>
                  <a:t>variation of </a:t>
                </a:r>
                <a14:m>
                  <m:oMath xmlns:m="http://schemas.openxmlformats.org/officeDocument/2006/math">
                    <m:sSub>
                      <m:sSubPr>
                        <m:ctrlPr>
                          <a:rPr lang="it-IT" sz="2000" i="1">
                            <a:latin typeface="Cambria Math" panose="02040503050406030204" pitchFamily="18" charset="0"/>
                          </a:rPr>
                        </m:ctrlPr>
                      </m:sSubPr>
                      <m:e>
                        <m:r>
                          <a:rPr lang="it-IT" sz="2000" i="1">
                            <a:latin typeface="Cambria Math" panose="02040503050406030204" pitchFamily="18" charset="0"/>
                          </a:rPr>
                          <m:t>𝜃</m:t>
                        </m:r>
                      </m:e>
                      <m:sub>
                        <m:r>
                          <a:rPr lang="it-IT" sz="2000" i="1">
                            <a:latin typeface="Cambria Math" panose="02040503050406030204" pitchFamily="18" charset="0"/>
                          </a:rPr>
                          <m:t>0</m:t>
                        </m:r>
                      </m:sub>
                    </m:sSub>
                  </m:oMath>
                </a14:m>
                <a:endParaRPr lang="it-IT" sz="2000" dirty="0"/>
              </a:p>
              <a:p>
                <a:pPr marL="342900" indent="-342900">
                  <a:buFont typeface="Arial" panose="020B0604020202020204" pitchFamily="34" charset="0"/>
                  <a:buChar char="•"/>
                </a:pPr>
                <a:r>
                  <a:rPr lang="it-IT" sz="2000" dirty="0" err="1"/>
                  <a:t>select</a:t>
                </a:r>
                <a:r>
                  <a:rPr lang="it-IT" sz="2000" dirty="0"/>
                  <a:t> </a:t>
                </a:r>
                <a:r>
                  <a:rPr lang="it-IT" sz="2000" dirty="0" err="1"/>
                  <a:t>particles</a:t>
                </a:r>
                <a:r>
                  <a:rPr lang="it-IT" sz="2000" dirty="0"/>
                  <a:t> </a:t>
                </a:r>
                <a14:m>
                  <m:oMath xmlns:m="http://schemas.openxmlformats.org/officeDocument/2006/math">
                    <m:d>
                      <m:dPr>
                        <m:begChr m:val="|"/>
                        <m:endChr m:val="|"/>
                        <m:ctrlPr>
                          <a:rPr lang="it-IT" sz="2000" i="1">
                            <a:latin typeface="Cambria Math" panose="02040503050406030204" pitchFamily="18" charset="0"/>
                          </a:rPr>
                        </m:ctrlPr>
                      </m:dPr>
                      <m:e>
                        <m:sSub>
                          <m:sSubPr>
                            <m:ctrlPr>
                              <a:rPr lang="it-IT" sz="2000" i="1">
                                <a:latin typeface="Cambria Math" panose="02040503050406030204" pitchFamily="18" charset="0"/>
                              </a:rPr>
                            </m:ctrlPr>
                          </m:sSubPr>
                          <m:e>
                            <m:r>
                              <a:rPr lang="it-IT" sz="2000" i="1">
                                <a:latin typeface="Cambria Math" panose="02040503050406030204" pitchFamily="18" charset="0"/>
                              </a:rPr>
                              <m:t>𝜃</m:t>
                            </m:r>
                          </m:e>
                          <m:sub>
                            <m:r>
                              <a:rPr lang="it-IT" sz="2000" i="1">
                                <a:latin typeface="Cambria Math" panose="02040503050406030204" pitchFamily="18" charset="0"/>
                              </a:rPr>
                              <m:t>𝑖𝑛</m:t>
                            </m:r>
                          </m:sub>
                        </m:sSub>
                        <m:r>
                          <a:rPr lang="it-IT" sz="2000" i="1">
                            <a:latin typeface="Cambria Math" panose="02040503050406030204" pitchFamily="18" charset="0"/>
                          </a:rPr>
                          <m:t>−</m:t>
                        </m:r>
                        <m:sSub>
                          <m:sSubPr>
                            <m:ctrlPr>
                              <a:rPr lang="it-IT" sz="2000" i="1">
                                <a:latin typeface="Cambria Math" panose="02040503050406030204" pitchFamily="18" charset="0"/>
                              </a:rPr>
                            </m:ctrlPr>
                          </m:sSubPr>
                          <m:e>
                            <m:r>
                              <a:rPr lang="it-IT" sz="2000" i="1">
                                <a:latin typeface="Cambria Math" panose="02040503050406030204" pitchFamily="18" charset="0"/>
                              </a:rPr>
                              <m:t>𝜃</m:t>
                            </m:r>
                          </m:e>
                          <m:sub>
                            <m:r>
                              <a:rPr lang="it-IT" sz="2000" i="1">
                                <a:latin typeface="Cambria Math" panose="02040503050406030204" pitchFamily="18" charset="0"/>
                              </a:rPr>
                              <m:t>0</m:t>
                            </m:r>
                          </m:sub>
                        </m:sSub>
                      </m:e>
                    </m:d>
                    <m:r>
                      <a:rPr lang="it-IT" sz="2000" i="1">
                        <a:latin typeface="Cambria Math" panose="02040503050406030204" pitchFamily="18" charset="0"/>
                      </a:rPr>
                      <m:t>≤</m:t>
                    </m:r>
                    <m:f>
                      <m:fPr>
                        <m:ctrlPr>
                          <a:rPr lang="it-IT" sz="2000" i="1">
                            <a:latin typeface="Cambria Math" panose="02040503050406030204" pitchFamily="18" charset="0"/>
                          </a:rPr>
                        </m:ctrlPr>
                      </m:fPr>
                      <m:num>
                        <m:r>
                          <a:rPr lang="it-IT" sz="2000" i="1">
                            <a:latin typeface="Cambria Math" panose="02040503050406030204" pitchFamily="18" charset="0"/>
                          </a:rPr>
                          <m:t>1</m:t>
                        </m:r>
                      </m:num>
                      <m:den>
                        <m:r>
                          <a:rPr lang="it-IT" sz="2000" i="1">
                            <a:latin typeface="Cambria Math" panose="02040503050406030204" pitchFamily="18" charset="0"/>
                          </a:rPr>
                          <m:t>2</m:t>
                        </m:r>
                      </m:den>
                    </m:f>
                    <m:sSub>
                      <m:sSubPr>
                        <m:ctrlPr>
                          <a:rPr lang="it-IT" sz="2000" i="1">
                            <a:latin typeface="Cambria Math" panose="02040503050406030204" pitchFamily="18" charset="0"/>
                          </a:rPr>
                        </m:ctrlPr>
                      </m:sSubPr>
                      <m:e>
                        <m:r>
                          <a:rPr lang="it-IT" sz="2000" i="1">
                            <a:latin typeface="Cambria Math" panose="02040503050406030204" pitchFamily="18" charset="0"/>
                          </a:rPr>
                          <m:t>𝜃</m:t>
                        </m:r>
                      </m:e>
                      <m:sub>
                        <m:r>
                          <a:rPr lang="it-IT" sz="2000" i="1">
                            <a:latin typeface="Cambria Math" panose="02040503050406030204" pitchFamily="18" charset="0"/>
                          </a:rPr>
                          <m:t>𝐿</m:t>
                        </m:r>
                      </m:sub>
                    </m:sSub>
                  </m:oMath>
                </a14:m>
                <a:endParaRPr lang="it-IT" sz="2000" dirty="0"/>
              </a:p>
              <a:p>
                <a:pPr marL="342900" indent="-342900">
                  <a:buFont typeface="Arial" panose="020B0604020202020204" pitchFamily="34" charset="0"/>
                  <a:buChar char="•"/>
                </a:pPr>
                <a:r>
                  <a:rPr lang="it-IT" sz="2000" dirty="0"/>
                  <a:t>compute </a:t>
                </a:r>
                <a14:m>
                  <m:oMath xmlns:m="http://schemas.openxmlformats.org/officeDocument/2006/math">
                    <m:sSub>
                      <m:sSubPr>
                        <m:ctrlPr>
                          <a:rPr lang="it-IT" sz="2000" i="1">
                            <a:latin typeface="Cambria Math" panose="02040503050406030204" pitchFamily="18" charset="0"/>
                          </a:rPr>
                        </m:ctrlPr>
                      </m:sSubPr>
                      <m:e>
                        <m:r>
                          <a:rPr lang="it-IT" sz="2000" i="1">
                            <a:latin typeface="Cambria Math" panose="02040503050406030204" pitchFamily="18" charset="0"/>
                          </a:rPr>
                          <m:t>𝜖</m:t>
                        </m:r>
                      </m:e>
                      <m:sub>
                        <m:r>
                          <a:rPr lang="it-IT" sz="2000" i="1">
                            <a:latin typeface="Cambria Math" panose="02040503050406030204" pitchFamily="18" charset="0"/>
                          </a:rPr>
                          <m:t>𝑐ℎ</m:t>
                        </m:r>
                      </m:sub>
                    </m:sSub>
                  </m:oMath>
                </a14:m>
                <a:endParaRPr lang="it-IT" sz="2000" dirty="0"/>
              </a:p>
              <a:p>
                <a:pPr marL="342900" indent="-342900">
                  <a:buFont typeface="Arial" panose="020B0604020202020204" pitchFamily="34" charset="0"/>
                  <a:buChar char="•"/>
                </a:pPr>
                <a:r>
                  <a:rPr lang="it-IT" sz="2000" dirty="0"/>
                  <a:t>select </a:t>
                </a:r>
                <a14:m>
                  <m:oMath xmlns:m="http://schemas.openxmlformats.org/officeDocument/2006/math">
                    <m:sSub>
                      <m:sSubPr>
                        <m:ctrlPr>
                          <a:rPr lang="it-IT" sz="2000" i="1">
                            <a:latin typeface="Cambria Math" panose="02040503050406030204" pitchFamily="18" charset="0"/>
                          </a:rPr>
                        </m:ctrlPr>
                      </m:sSubPr>
                      <m:e>
                        <m:r>
                          <a:rPr lang="it-IT" sz="2000" i="1">
                            <a:latin typeface="Cambria Math" panose="02040503050406030204" pitchFamily="18" charset="0"/>
                          </a:rPr>
                          <m:t>𝜃</m:t>
                        </m:r>
                      </m:e>
                      <m:sub>
                        <m:r>
                          <a:rPr lang="it-IT" sz="2000" i="1">
                            <a:latin typeface="Cambria Math" panose="02040503050406030204" pitchFamily="18" charset="0"/>
                          </a:rPr>
                          <m:t>0</m:t>
                        </m:r>
                      </m:sub>
                    </m:sSub>
                  </m:oMath>
                </a14:m>
                <a:r>
                  <a:rPr lang="it-IT" sz="2000" dirty="0"/>
                  <a:t> that </a:t>
                </a:r>
                <a:r>
                  <a:rPr lang="it-IT" sz="2000" dirty="0" err="1"/>
                  <a:t>maximizes</a:t>
                </a:r>
                <a:r>
                  <a:rPr lang="it-IT" sz="2000" dirty="0"/>
                  <a:t> </a:t>
                </a:r>
                <a14:m>
                  <m:oMath xmlns:m="http://schemas.openxmlformats.org/officeDocument/2006/math">
                    <m:sSub>
                      <m:sSubPr>
                        <m:ctrlPr>
                          <a:rPr lang="it-IT" sz="2000" i="1">
                            <a:latin typeface="Cambria Math" panose="02040503050406030204" pitchFamily="18" charset="0"/>
                          </a:rPr>
                        </m:ctrlPr>
                      </m:sSubPr>
                      <m:e>
                        <m:r>
                          <a:rPr lang="it-IT" sz="2000" i="1">
                            <a:latin typeface="Cambria Math" panose="02040503050406030204" pitchFamily="18" charset="0"/>
                          </a:rPr>
                          <m:t>𝜖</m:t>
                        </m:r>
                      </m:e>
                      <m:sub>
                        <m:r>
                          <a:rPr lang="it-IT" sz="2000" i="1">
                            <a:latin typeface="Cambria Math" panose="02040503050406030204" pitchFamily="18" charset="0"/>
                          </a:rPr>
                          <m:t>𝑐ℎ</m:t>
                        </m:r>
                      </m:sub>
                    </m:sSub>
                  </m:oMath>
                </a14:m>
                <a:r>
                  <a:rPr lang="it-IT" sz="2000" dirty="0"/>
                  <a:t> (through </a:t>
                </a:r>
                <a:r>
                  <a:rPr lang="it-IT" sz="2000" dirty="0" err="1"/>
                  <a:t>gaussian</a:t>
                </a:r>
                <a:r>
                  <a:rPr lang="it-IT" sz="2000" dirty="0"/>
                  <a:t> </a:t>
                </a:r>
                <a:r>
                  <a:rPr lang="it-IT" sz="2000" dirty="0" err="1"/>
                  <a:t>fit</a:t>
                </a:r>
                <a:r>
                  <a:rPr lang="it-IT" sz="2000" dirty="0"/>
                  <a:t>)</a:t>
                </a:r>
              </a:p>
            </p:txBody>
          </p:sp>
        </mc:Choice>
        <mc:Fallback xmlns="">
          <p:sp>
            <p:nvSpPr>
              <p:cNvPr id="12" name="CasellaDiTesto 11">
                <a:extLst>
                  <a:ext uri="{FF2B5EF4-FFF2-40B4-BE49-F238E27FC236}">
                    <a16:creationId xmlns:a16="http://schemas.microsoft.com/office/drawing/2014/main" id="{A8798A75-C305-1750-5F2B-933C372D6414}"/>
                  </a:ext>
                </a:extLst>
              </p:cNvPr>
              <p:cNvSpPr txBox="1">
                <a:spLocks noRot="1" noChangeAspect="1" noMove="1" noResize="1" noEditPoints="1" noAdjustHandles="1" noChangeArrowheads="1" noChangeShapeType="1" noTextEdit="1"/>
              </p:cNvSpPr>
              <p:nvPr/>
            </p:nvSpPr>
            <p:spPr>
              <a:xfrm>
                <a:off x="696000" y="2269944"/>
                <a:ext cx="2601609" cy="3296928"/>
              </a:xfrm>
              <a:prstGeom prst="rect">
                <a:avLst/>
              </a:prstGeom>
              <a:blipFill>
                <a:blip r:embed="rId5"/>
                <a:stretch>
                  <a:fillRect l="-2342" t="-924" b="-2403"/>
                </a:stretch>
              </a:blipFill>
            </p:spPr>
            <p:txBody>
              <a:bodyPr/>
              <a:lstStyle/>
              <a:p>
                <a:r>
                  <a:rPr lang="it-IT">
                    <a:noFill/>
                  </a:rPr>
                  <a:t> </a:t>
                </a:r>
              </a:p>
            </p:txBody>
          </p:sp>
        </mc:Fallback>
      </mc:AlternateContent>
      <p:cxnSp>
        <p:nvCxnSpPr>
          <p:cNvPr id="16" name="Connettore diritto 15">
            <a:extLst>
              <a:ext uri="{FF2B5EF4-FFF2-40B4-BE49-F238E27FC236}">
                <a16:creationId xmlns:a16="http://schemas.microsoft.com/office/drawing/2014/main" id="{ABD559CF-BD2C-1502-6F8B-FB36F8027603}"/>
              </a:ext>
            </a:extLst>
          </p:cNvPr>
          <p:cNvCxnSpPr>
            <a:cxnSpLocks/>
          </p:cNvCxnSpPr>
          <p:nvPr/>
        </p:nvCxnSpPr>
        <p:spPr>
          <a:xfrm>
            <a:off x="5393267" y="1764543"/>
            <a:ext cx="0" cy="4179057"/>
          </a:xfrm>
          <a:prstGeom prst="line">
            <a:avLst/>
          </a:prstGeom>
          <a:ln>
            <a:solidFill>
              <a:srgbClr val="FF0000"/>
            </a:solidFill>
            <a:prstDash val="dash"/>
          </a:ln>
        </p:spPr>
        <p:style>
          <a:lnRef idx="2">
            <a:schemeClr val="accent1"/>
          </a:lnRef>
          <a:fillRef idx="0">
            <a:schemeClr val="accent1"/>
          </a:fillRef>
          <a:effectRef idx="1">
            <a:schemeClr val="accent1"/>
          </a:effectRef>
          <a:fontRef idx="minor">
            <a:schemeClr val="tx1"/>
          </a:fontRef>
        </p:style>
      </p:cxnSp>
      <p:cxnSp>
        <p:nvCxnSpPr>
          <p:cNvPr id="18" name="Connettore diritto 17">
            <a:extLst>
              <a:ext uri="{FF2B5EF4-FFF2-40B4-BE49-F238E27FC236}">
                <a16:creationId xmlns:a16="http://schemas.microsoft.com/office/drawing/2014/main" id="{643DCC27-ABDA-24AC-98A5-A793CC17F949}"/>
              </a:ext>
            </a:extLst>
          </p:cNvPr>
          <p:cNvCxnSpPr>
            <a:cxnSpLocks/>
          </p:cNvCxnSpPr>
          <p:nvPr/>
        </p:nvCxnSpPr>
        <p:spPr>
          <a:xfrm>
            <a:off x="5590762" y="1764543"/>
            <a:ext cx="0" cy="4179057"/>
          </a:xfrm>
          <a:prstGeom prst="line">
            <a:avLst/>
          </a:prstGeom>
          <a:ln>
            <a:solidFill>
              <a:srgbClr val="FF0000"/>
            </a:solidFill>
            <a:prstDash val="dash"/>
          </a:ln>
        </p:spPr>
        <p:style>
          <a:lnRef idx="2">
            <a:schemeClr val="accent1"/>
          </a:lnRef>
          <a:fillRef idx="0">
            <a:schemeClr val="accent1"/>
          </a:fillRef>
          <a:effectRef idx="1">
            <a:schemeClr val="accent1"/>
          </a:effectRef>
          <a:fontRef idx="minor">
            <a:schemeClr val="tx1"/>
          </a:fontRef>
        </p:style>
      </p:cxnSp>
      <p:cxnSp>
        <p:nvCxnSpPr>
          <p:cNvPr id="19" name="Connettore 2 18">
            <a:extLst>
              <a:ext uri="{FF2B5EF4-FFF2-40B4-BE49-F238E27FC236}">
                <a16:creationId xmlns:a16="http://schemas.microsoft.com/office/drawing/2014/main" id="{B1A2FFA3-AE10-BF56-E55F-8018EA1DA0E5}"/>
              </a:ext>
            </a:extLst>
          </p:cNvPr>
          <p:cNvCxnSpPr>
            <a:cxnSpLocks/>
          </p:cNvCxnSpPr>
          <p:nvPr/>
        </p:nvCxnSpPr>
        <p:spPr>
          <a:xfrm>
            <a:off x="5590762" y="3660685"/>
            <a:ext cx="465021" cy="0"/>
          </a:xfrm>
          <a:prstGeom prst="straightConnector1">
            <a:avLst/>
          </a:prstGeom>
          <a:ln w="28575">
            <a:solidFill>
              <a:srgbClr val="FF000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47328436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72EFCC-47DC-1162-54F2-1B8DF6575307}"/>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B196BC2B-5C4B-CD38-A1A5-363F4108DE15}"/>
              </a:ext>
            </a:extLst>
          </p:cNvPr>
          <p:cNvSpPr>
            <a:spLocks noGrp="1"/>
          </p:cNvSpPr>
          <p:nvPr>
            <p:ph type="title"/>
          </p:nvPr>
        </p:nvSpPr>
        <p:spPr>
          <a:xfrm>
            <a:off x="38100" y="69651"/>
            <a:ext cx="12114000" cy="1153094"/>
          </a:xfrm>
          <a:prstGeom prst="roundRect">
            <a:avLst>
              <a:gd name="adj" fmla="val 36459"/>
            </a:avLst>
          </a:prstGeom>
          <a:noFill/>
        </p:spPr>
        <p:txBody>
          <a:bodyPr>
            <a:normAutofit/>
          </a:bodyPr>
          <a:lstStyle/>
          <a:p>
            <a:r>
              <a:rPr lang="it-IT" b="1" dirty="0">
                <a:solidFill>
                  <a:srgbClr val="002060"/>
                </a:solidFill>
              </a:rPr>
              <a:t>	BACKUP SLIDES: ANGLE SELECTION</a:t>
            </a:r>
          </a:p>
        </p:txBody>
      </p:sp>
      <p:sp>
        <p:nvSpPr>
          <p:cNvPr id="4" name="Segnaposto data 3">
            <a:extLst>
              <a:ext uri="{FF2B5EF4-FFF2-40B4-BE49-F238E27FC236}">
                <a16:creationId xmlns:a16="http://schemas.microsoft.com/office/drawing/2014/main" id="{414AF170-F176-9150-4073-056685596409}"/>
              </a:ext>
            </a:extLst>
          </p:cNvPr>
          <p:cNvSpPr>
            <a:spLocks noGrp="1"/>
          </p:cNvSpPr>
          <p:nvPr>
            <p:ph type="dt" sz="half" idx="10"/>
          </p:nvPr>
        </p:nvSpPr>
        <p:spPr>
          <a:xfrm>
            <a:off x="838200" y="6356349"/>
            <a:ext cx="2743200" cy="432000"/>
          </a:xfrm>
        </p:spPr>
        <p:txBody>
          <a:bodyPr/>
          <a:lstStyle/>
          <a:p>
            <a:r>
              <a:rPr lang="it-IT" sz="1500" b="1" dirty="0">
                <a:solidFill>
                  <a:srgbClr val="002060"/>
                </a:solidFill>
              </a:rPr>
              <a:t>24.08.2026</a:t>
            </a:r>
          </a:p>
        </p:txBody>
      </p:sp>
      <p:sp>
        <p:nvSpPr>
          <p:cNvPr id="5" name="Segnaposto piè di pagina 4">
            <a:extLst>
              <a:ext uri="{FF2B5EF4-FFF2-40B4-BE49-F238E27FC236}">
                <a16:creationId xmlns:a16="http://schemas.microsoft.com/office/drawing/2014/main" id="{E49DEB46-A533-2AC7-392E-2F4478CBBF24}"/>
              </a:ext>
            </a:extLst>
          </p:cNvPr>
          <p:cNvSpPr>
            <a:spLocks noGrp="1"/>
          </p:cNvSpPr>
          <p:nvPr>
            <p:ph type="ftr" sz="quarter" idx="11"/>
          </p:nvPr>
        </p:nvSpPr>
        <p:spPr>
          <a:xfrm>
            <a:off x="0" y="6356349"/>
            <a:ext cx="12192000" cy="432000"/>
          </a:xfrm>
        </p:spPr>
        <p:txBody>
          <a:bodyPr/>
          <a:lstStyle/>
          <a:p>
            <a:r>
              <a:rPr lang="it-IT" sz="1500" b="1" dirty="0">
                <a:solidFill>
                  <a:srgbClr val="002060"/>
                </a:solidFill>
              </a:rPr>
              <a:t>Anna Sofia Moro</a:t>
            </a:r>
          </a:p>
        </p:txBody>
      </p:sp>
      <p:sp>
        <p:nvSpPr>
          <p:cNvPr id="6" name="Segnaposto numero diapositiva 5">
            <a:extLst>
              <a:ext uri="{FF2B5EF4-FFF2-40B4-BE49-F238E27FC236}">
                <a16:creationId xmlns:a16="http://schemas.microsoft.com/office/drawing/2014/main" id="{D227A459-8A5B-60AF-EF50-B5495304981F}"/>
              </a:ext>
            </a:extLst>
          </p:cNvPr>
          <p:cNvSpPr>
            <a:spLocks noGrp="1"/>
          </p:cNvSpPr>
          <p:nvPr>
            <p:ph type="sldNum" sz="quarter" idx="12"/>
          </p:nvPr>
        </p:nvSpPr>
        <p:spPr>
          <a:xfrm>
            <a:off x="8610600" y="6356349"/>
            <a:ext cx="2743200" cy="432000"/>
          </a:xfrm>
        </p:spPr>
        <p:txBody>
          <a:bodyPr/>
          <a:lstStyle/>
          <a:p>
            <a:fld id="{0A318BD9-CA14-4A83-ACF0-03D5918EB402}" type="slidenum">
              <a:rPr lang="it-IT" sz="1500" b="1" smtClean="0">
                <a:solidFill>
                  <a:srgbClr val="002060"/>
                </a:solidFill>
              </a:rPr>
              <a:t>32</a:t>
            </a:fld>
            <a:endParaRPr lang="it-IT" sz="1500" b="1" dirty="0">
              <a:solidFill>
                <a:srgbClr val="002060"/>
              </a:solidFill>
            </a:endParaRPr>
          </a:p>
        </p:txBody>
      </p:sp>
      <p:cxnSp>
        <p:nvCxnSpPr>
          <p:cNvPr id="10" name="Connettore diritto 9">
            <a:extLst>
              <a:ext uri="{FF2B5EF4-FFF2-40B4-BE49-F238E27FC236}">
                <a16:creationId xmlns:a16="http://schemas.microsoft.com/office/drawing/2014/main" id="{57D3CE6C-5AA2-896F-F7AB-61E7C827AFDC}"/>
              </a:ext>
            </a:extLst>
          </p:cNvPr>
          <p:cNvCxnSpPr>
            <a:cxnSpLocks/>
          </p:cNvCxnSpPr>
          <p:nvPr/>
        </p:nvCxnSpPr>
        <p:spPr>
          <a:xfrm>
            <a:off x="696000" y="1155368"/>
            <a:ext cx="10800000" cy="0"/>
          </a:xfrm>
          <a:prstGeom prst="line">
            <a:avLst/>
          </a:prstGeom>
          <a:ln w="38100">
            <a:solidFill>
              <a:srgbClr val="002060"/>
            </a:solidFill>
          </a:ln>
        </p:spPr>
        <p:style>
          <a:lnRef idx="2">
            <a:schemeClr val="accent1"/>
          </a:lnRef>
          <a:fillRef idx="0">
            <a:schemeClr val="accent1"/>
          </a:fillRef>
          <a:effectRef idx="1">
            <a:schemeClr val="accent1"/>
          </a:effectRef>
          <a:fontRef idx="minor">
            <a:schemeClr val="tx1"/>
          </a:fontRef>
        </p:style>
      </p:cxnSp>
      <p:sp>
        <p:nvSpPr>
          <p:cNvPr id="13" name="CasellaDiTesto 12">
            <a:extLst>
              <a:ext uri="{FF2B5EF4-FFF2-40B4-BE49-F238E27FC236}">
                <a16:creationId xmlns:a16="http://schemas.microsoft.com/office/drawing/2014/main" id="{CBF332A9-23E4-43A9-2288-004948EB3BD1}"/>
              </a:ext>
            </a:extLst>
          </p:cNvPr>
          <p:cNvSpPr txBox="1"/>
          <p:nvPr/>
        </p:nvSpPr>
        <p:spPr>
          <a:xfrm>
            <a:off x="3048886" y="3244334"/>
            <a:ext cx="6097772" cy="369332"/>
          </a:xfrm>
          <a:prstGeom prst="rect">
            <a:avLst/>
          </a:prstGeom>
          <a:noFill/>
        </p:spPr>
        <p:txBody>
          <a:bodyPr wrap="square">
            <a:spAutoFit/>
          </a:bodyPr>
          <a:lstStyle/>
          <a:p>
            <a:endParaRPr lang="it-IT" dirty="0"/>
          </a:p>
        </p:txBody>
      </p:sp>
      <p:sp>
        <p:nvSpPr>
          <p:cNvPr id="15" name="CasellaDiTesto 14">
            <a:extLst>
              <a:ext uri="{FF2B5EF4-FFF2-40B4-BE49-F238E27FC236}">
                <a16:creationId xmlns:a16="http://schemas.microsoft.com/office/drawing/2014/main" id="{437B5CC6-6908-1CBA-19DF-AD28984B32C2}"/>
              </a:ext>
            </a:extLst>
          </p:cNvPr>
          <p:cNvSpPr txBox="1"/>
          <p:nvPr/>
        </p:nvSpPr>
        <p:spPr>
          <a:xfrm>
            <a:off x="3048886" y="3244334"/>
            <a:ext cx="6097772" cy="369332"/>
          </a:xfrm>
          <a:prstGeom prst="rect">
            <a:avLst/>
          </a:prstGeom>
          <a:noFill/>
        </p:spPr>
        <p:txBody>
          <a:bodyPr wrap="square">
            <a:spAutoFit/>
          </a:bodyPr>
          <a:lstStyle/>
          <a:p>
            <a:endParaRPr lang="it-IT" dirty="0"/>
          </a:p>
        </p:txBody>
      </p:sp>
      <p:pic>
        <p:nvPicPr>
          <p:cNvPr id="7" name="Immagine 6">
            <a:extLst>
              <a:ext uri="{FF2B5EF4-FFF2-40B4-BE49-F238E27FC236}">
                <a16:creationId xmlns:a16="http://schemas.microsoft.com/office/drawing/2014/main" id="{DC84D201-A301-E833-2DD3-94A7118EF9A4}"/>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3491809" y="1222745"/>
            <a:ext cx="7826453" cy="5253769"/>
          </a:xfrm>
          <a:prstGeom prst="rect">
            <a:avLst/>
          </a:prstGeom>
        </p:spPr>
      </p:pic>
      <mc:AlternateContent xmlns:mc="http://schemas.openxmlformats.org/markup-compatibility/2006" xmlns:a14="http://schemas.microsoft.com/office/drawing/2010/main">
        <mc:Choice Requires="a14">
          <p:sp>
            <p:nvSpPr>
              <p:cNvPr id="12" name="CasellaDiTesto 11">
                <a:extLst>
                  <a:ext uri="{FF2B5EF4-FFF2-40B4-BE49-F238E27FC236}">
                    <a16:creationId xmlns:a16="http://schemas.microsoft.com/office/drawing/2014/main" id="{284AF226-3491-ED5E-32BB-BC47BA62E462}"/>
                  </a:ext>
                </a:extLst>
              </p:cNvPr>
              <p:cNvSpPr txBox="1"/>
              <p:nvPr/>
            </p:nvSpPr>
            <p:spPr>
              <a:xfrm>
                <a:off x="696000" y="2269944"/>
                <a:ext cx="2601609" cy="3296928"/>
              </a:xfrm>
              <a:prstGeom prst="rect">
                <a:avLst/>
              </a:prstGeom>
              <a:noFill/>
            </p:spPr>
            <p:txBody>
              <a:bodyPr wrap="square" rtlCol="0">
                <a:spAutoFit/>
              </a:bodyPr>
              <a:lstStyle/>
              <a:p>
                <a:r>
                  <a:rPr lang="it-IT" sz="2000" dirty="0"/>
                  <a:t>For </a:t>
                </a:r>
                <a:r>
                  <a:rPr lang="it-IT" sz="2000" dirty="0" err="1"/>
                  <a:t>each</a:t>
                </a:r>
                <a:r>
                  <a:rPr lang="it-IT" sz="2000" dirty="0"/>
                  <a:t> </a:t>
                </a:r>
                <a:r>
                  <a:rPr lang="it-IT" sz="2000" dirty="0" err="1"/>
                  <a:t>square</a:t>
                </a:r>
                <a:r>
                  <a:rPr lang="it-IT" sz="2000" dirty="0"/>
                  <a:t> bin:</a:t>
                </a:r>
              </a:p>
              <a:p>
                <a:endParaRPr lang="it-IT" sz="2000" dirty="0"/>
              </a:p>
              <a:p>
                <a:pPr marL="342900" indent="-342900">
                  <a:buFont typeface="Arial" panose="020B0604020202020204" pitchFamily="34" charset="0"/>
                  <a:buChar char="•"/>
                </a:pPr>
                <a:r>
                  <a:rPr lang="it-IT" sz="2000" dirty="0"/>
                  <a:t>variation of </a:t>
                </a:r>
                <a14:m>
                  <m:oMath xmlns:m="http://schemas.openxmlformats.org/officeDocument/2006/math">
                    <m:sSub>
                      <m:sSubPr>
                        <m:ctrlPr>
                          <a:rPr lang="it-IT" sz="2000" i="1">
                            <a:latin typeface="Cambria Math" panose="02040503050406030204" pitchFamily="18" charset="0"/>
                          </a:rPr>
                        </m:ctrlPr>
                      </m:sSubPr>
                      <m:e>
                        <m:r>
                          <a:rPr lang="it-IT" sz="2000" i="1">
                            <a:latin typeface="Cambria Math" panose="02040503050406030204" pitchFamily="18" charset="0"/>
                          </a:rPr>
                          <m:t>𝜃</m:t>
                        </m:r>
                      </m:e>
                      <m:sub>
                        <m:r>
                          <a:rPr lang="it-IT" sz="2000" i="1">
                            <a:latin typeface="Cambria Math" panose="02040503050406030204" pitchFamily="18" charset="0"/>
                          </a:rPr>
                          <m:t>0</m:t>
                        </m:r>
                      </m:sub>
                    </m:sSub>
                  </m:oMath>
                </a14:m>
                <a:endParaRPr lang="it-IT" sz="2000" dirty="0"/>
              </a:p>
              <a:p>
                <a:pPr marL="342900" indent="-342900">
                  <a:buFont typeface="Arial" panose="020B0604020202020204" pitchFamily="34" charset="0"/>
                  <a:buChar char="•"/>
                </a:pPr>
                <a:r>
                  <a:rPr lang="it-IT" sz="2000" dirty="0" err="1"/>
                  <a:t>select</a:t>
                </a:r>
                <a:r>
                  <a:rPr lang="it-IT" sz="2000" dirty="0"/>
                  <a:t> </a:t>
                </a:r>
                <a:r>
                  <a:rPr lang="it-IT" sz="2000" dirty="0" err="1"/>
                  <a:t>particles</a:t>
                </a:r>
                <a:r>
                  <a:rPr lang="it-IT" sz="2000" dirty="0"/>
                  <a:t> </a:t>
                </a:r>
                <a14:m>
                  <m:oMath xmlns:m="http://schemas.openxmlformats.org/officeDocument/2006/math">
                    <m:d>
                      <m:dPr>
                        <m:begChr m:val="|"/>
                        <m:endChr m:val="|"/>
                        <m:ctrlPr>
                          <a:rPr lang="it-IT" sz="2000" i="1">
                            <a:latin typeface="Cambria Math" panose="02040503050406030204" pitchFamily="18" charset="0"/>
                          </a:rPr>
                        </m:ctrlPr>
                      </m:dPr>
                      <m:e>
                        <m:sSub>
                          <m:sSubPr>
                            <m:ctrlPr>
                              <a:rPr lang="it-IT" sz="2000" i="1">
                                <a:latin typeface="Cambria Math" panose="02040503050406030204" pitchFamily="18" charset="0"/>
                              </a:rPr>
                            </m:ctrlPr>
                          </m:sSubPr>
                          <m:e>
                            <m:r>
                              <a:rPr lang="it-IT" sz="2000" i="1">
                                <a:latin typeface="Cambria Math" panose="02040503050406030204" pitchFamily="18" charset="0"/>
                              </a:rPr>
                              <m:t>𝜃</m:t>
                            </m:r>
                          </m:e>
                          <m:sub>
                            <m:r>
                              <a:rPr lang="it-IT" sz="2000" i="1">
                                <a:latin typeface="Cambria Math" panose="02040503050406030204" pitchFamily="18" charset="0"/>
                              </a:rPr>
                              <m:t>𝑖𝑛</m:t>
                            </m:r>
                          </m:sub>
                        </m:sSub>
                        <m:r>
                          <a:rPr lang="it-IT" sz="2000" i="1">
                            <a:latin typeface="Cambria Math" panose="02040503050406030204" pitchFamily="18" charset="0"/>
                          </a:rPr>
                          <m:t>−</m:t>
                        </m:r>
                        <m:sSub>
                          <m:sSubPr>
                            <m:ctrlPr>
                              <a:rPr lang="it-IT" sz="2000" i="1">
                                <a:latin typeface="Cambria Math" panose="02040503050406030204" pitchFamily="18" charset="0"/>
                              </a:rPr>
                            </m:ctrlPr>
                          </m:sSubPr>
                          <m:e>
                            <m:r>
                              <a:rPr lang="it-IT" sz="2000" i="1">
                                <a:latin typeface="Cambria Math" panose="02040503050406030204" pitchFamily="18" charset="0"/>
                              </a:rPr>
                              <m:t>𝜃</m:t>
                            </m:r>
                          </m:e>
                          <m:sub>
                            <m:r>
                              <a:rPr lang="it-IT" sz="2000" i="1">
                                <a:latin typeface="Cambria Math" panose="02040503050406030204" pitchFamily="18" charset="0"/>
                              </a:rPr>
                              <m:t>0</m:t>
                            </m:r>
                          </m:sub>
                        </m:sSub>
                      </m:e>
                    </m:d>
                    <m:r>
                      <a:rPr lang="it-IT" sz="2000" i="1">
                        <a:latin typeface="Cambria Math" panose="02040503050406030204" pitchFamily="18" charset="0"/>
                      </a:rPr>
                      <m:t>≤</m:t>
                    </m:r>
                    <m:f>
                      <m:fPr>
                        <m:ctrlPr>
                          <a:rPr lang="it-IT" sz="2000" i="1">
                            <a:latin typeface="Cambria Math" panose="02040503050406030204" pitchFamily="18" charset="0"/>
                          </a:rPr>
                        </m:ctrlPr>
                      </m:fPr>
                      <m:num>
                        <m:r>
                          <a:rPr lang="it-IT" sz="2000" i="1">
                            <a:latin typeface="Cambria Math" panose="02040503050406030204" pitchFamily="18" charset="0"/>
                          </a:rPr>
                          <m:t>1</m:t>
                        </m:r>
                      </m:num>
                      <m:den>
                        <m:r>
                          <a:rPr lang="it-IT" sz="2000" i="1">
                            <a:latin typeface="Cambria Math" panose="02040503050406030204" pitchFamily="18" charset="0"/>
                          </a:rPr>
                          <m:t>2</m:t>
                        </m:r>
                      </m:den>
                    </m:f>
                    <m:sSub>
                      <m:sSubPr>
                        <m:ctrlPr>
                          <a:rPr lang="it-IT" sz="2000" i="1">
                            <a:latin typeface="Cambria Math" panose="02040503050406030204" pitchFamily="18" charset="0"/>
                          </a:rPr>
                        </m:ctrlPr>
                      </m:sSubPr>
                      <m:e>
                        <m:r>
                          <a:rPr lang="it-IT" sz="2000" i="1">
                            <a:latin typeface="Cambria Math" panose="02040503050406030204" pitchFamily="18" charset="0"/>
                          </a:rPr>
                          <m:t>𝜃</m:t>
                        </m:r>
                      </m:e>
                      <m:sub>
                        <m:r>
                          <a:rPr lang="it-IT" sz="2000" i="1">
                            <a:latin typeface="Cambria Math" panose="02040503050406030204" pitchFamily="18" charset="0"/>
                          </a:rPr>
                          <m:t>𝐿</m:t>
                        </m:r>
                      </m:sub>
                    </m:sSub>
                  </m:oMath>
                </a14:m>
                <a:endParaRPr lang="it-IT" sz="2000" dirty="0"/>
              </a:p>
              <a:p>
                <a:pPr marL="342900" indent="-342900">
                  <a:buFont typeface="Arial" panose="020B0604020202020204" pitchFamily="34" charset="0"/>
                  <a:buChar char="•"/>
                </a:pPr>
                <a:r>
                  <a:rPr lang="it-IT" sz="2000" dirty="0"/>
                  <a:t>compute </a:t>
                </a:r>
                <a14:m>
                  <m:oMath xmlns:m="http://schemas.openxmlformats.org/officeDocument/2006/math">
                    <m:sSub>
                      <m:sSubPr>
                        <m:ctrlPr>
                          <a:rPr lang="it-IT" sz="2000" i="1">
                            <a:latin typeface="Cambria Math" panose="02040503050406030204" pitchFamily="18" charset="0"/>
                          </a:rPr>
                        </m:ctrlPr>
                      </m:sSubPr>
                      <m:e>
                        <m:r>
                          <a:rPr lang="it-IT" sz="2000" i="1">
                            <a:latin typeface="Cambria Math" panose="02040503050406030204" pitchFamily="18" charset="0"/>
                          </a:rPr>
                          <m:t>𝜖</m:t>
                        </m:r>
                      </m:e>
                      <m:sub>
                        <m:r>
                          <a:rPr lang="it-IT" sz="2000" i="1">
                            <a:latin typeface="Cambria Math" panose="02040503050406030204" pitchFamily="18" charset="0"/>
                          </a:rPr>
                          <m:t>𝑐ℎ</m:t>
                        </m:r>
                      </m:sub>
                    </m:sSub>
                  </m:oMath>
                </a14:m>
                <a:endParaRPr lang="it-IT" sz="2000" dirty="0"/>
              </a:p>
              <a:p>
                <a:pPr marL="342900" indent="-342900">
                  <a:buFont typeface="Arial" panose="020B0604020202020204" pitchFamily="34" charset="0"/>
                  <a:buChar char="•"/>
                </a:pPr>
                <a:r>
                  <a:rPr lang="it-IT" sz="2000" dirty="0"/>
                  <a:t>select </a:t>
                </a:r>
                <a14:m>
                  <m:oMath xmlns:m="http://schemas.openxmlformats.org/officeDocument/2006/math">
                    <m:sSub>
                      <m:sSubPr>
                        <m:ctrlPr>
                          <a:rPr lang="it-IT" sz="2000" i="1">
                            <a:latin typeface="Cambria Math" panose="02040503050406030204" pitchFamily="18" charset="0"/>
                          </a:rPr>
                        </m:ctrlPr>
                      </m:sSubPr>
                      <m:e>
                        <m:r>
                          <a:rPr lang="it-IT" sz="2000" i="1">
                            <a:latin typeface="Cambria Math" panose="02040503050406030204" pitchFamily="18" charset="0"/>
                          </a:rPr>
                          <m:t>𝜃</m:t>
                        </m:r>
                      </m:e>
                      <m:sub>
                        <m:r>
                          <a:rPr lang="it-IT" sz="2000" i="1">
                            <a:latin typeface="Cambria Math" panose="02040503050406030204" pitchFamily="18" charset="0"/>
                          </a:rPr>
                          <m:t>0</m:t>
                        </m:r>
                      </m:sub>
                    </m:sSub>
                  </m:oMath>
                </a14:m>
                <a:r>
                  <a:rPr lang="it-IT" sz="2000" dirty="0"/>
                  <a:t> that </a:t>
                </a:r>
                <a:r>
                  <a:rPr lang="it-IT" sz="2000" dirty="0" err="1"/>
                  <a:t>maximizes</a:t>
                </a:r>
                <a:r>
                  <a:rPr lang="it-IT" sz="2000" dirty="0"/>
                  <a:t> </a:t>
                </a:r>
                <a14:m>
                  <m:oMath xmlns:m="http://schemas.openxmlformats.org/officeDocument/2006/math">
                    <m:sSub>
                      <m:sSubPr>
                        <m:ctrlPr>
                          <a:rPr lang="it-IT" sz="2000" i="1">
                            <a:latin typeface="Cambria Math" panose="02040503050406030204" pitchFamily="18" charset="0"/>
                          </a:rPr>
                        </m:ctrlPr>
                      </m:sSubPr>
                      <m:e>
                        <m:r>
                          <a:rPr lang="it-IT" sz="2000" i="1">
                            <a:latin typeface="Cambria Math" panose="02040503050406030204" pitchFamily="18" charset="0"/>
                          </a:rPr>
                          <m:t>𝜖</m:t>
                        </m:r>
                      </m:e>
                      <m:sub>
                        <m:r>
                          <a:rPr lang="it-IT" sz="2000" i="1">
                            <a:latin typeface="Cambria Math" panose="02040503050406030204" pitchFamily="18" charset="0"/>
                          </a:rPr>
                          <m:t>𝑐ℎ</m:t>
                        </m:r>
                      </m:sub>
                    </m:sSub>
                  </m:oMath>
                </a14:m>
                <a:r>
                  <a:rPr lang="it-IT" sz="2000" dirty="0"/>
                  <a:t> (through </a:t>
                </a:r>
                <a:r>
                  <a:rPr lang="it-IT" sz="2000" dirty="0" err="1"/>
                  <a:t>gaussian</a:t>
                </a:r>
                <a:r>
                  <a:rPr lang="it-IT" sz="2000" dirty="0"/>
                  <a:t> </a:t>
                </a:r>
                <a:r>
                  <a:rPr lang="it-IT" sz="2000" dirty="0" err="1"/>
                  <a:t>fit</a:t>
                </a:r>
                <a:r>
                  <a:rPr lang="it-IT" sz="2000" dirty="0"/>
                  <a:t>)</a:t>
                </a:r>
              </a:p>
            </p:txBody>
          </p:sp>
        </mc:Choice>
        <mc:Fallback xmlns="">
          <p:sp>
            <p:nvSpPr>
              <p:cNvPr id="12" name="CasellaDiTesto 11">
                <a:extLst>
                  <a:ext uri="{FF2B5EF4-FFF2-40B4-BE49-F238E27FC236}">
                    <a16:creationId xmlns:a16="http://schemas.microsoft.com/office/drawing/2014/main" id="{284AF226-3491-ED5E-32BB-BC47BA62E462}"/>
                  </a:ext>
                </a:extLst>
              </p:cNvPr>
              <p:cNvSpPr txBox="1">
                <a:spLocks noRot="1" noChangeAspect="1" noMove="1" noResize="1" noEditPoints="1" noAdjustHandles="1" noChangeArrowheads="1" noChangeShapeType="1" noTextEdit="1"/>
              </p:cNvSpPr>
              <p:nvPr/>
            </p:nvSpPr>
            <p:spPr>
              <a:xfrm>
                <a:off x="696000" y="2269944"/>
                <a:ext cx="2601609" cy="3296928"/>
              </a:xfrm>
              <a:prstGeom prst="rect">
                <a:avLst/>
              </a:prstGeom>
              <a:blipFill>
                <a:blip r:embed="rId3"/>
                <a:stretch>
                  <a:fillRect l="-2342" t="-924" b="-2403"/>
                </a:stretch>
              </a:blipFill>
            </p:spPr>
            <p:txBody>
              <a:bodyPr/>
              <a:lstStyle/>
              <a:p>
                <a:r>
                  <a:rPr lang="it-IT">
                    <a:noFill/>
                  </a:rPr>
                  <a:t> </a:t>
                </a:r>
              </a:p>
            </p:txBody>
          </p:sp>
        </mc:Fallback>
      </mc:AlternateContent>
      <p:sp>
        <p:nvSpPr>
          <p:cNvPr id="3" name="Rettangolo 2">
            <a:extLst>
              <a:ext uri="{FF2B5EF4-FFF2-40B4-BE49-F238E27FC236}">
                <a16:creationId xmlns:a16="http://schemas.microsoft.com/office/drawing/2014/main" id="{125C8486-5386-1A71-D52D-81CFE52FC7BC}"/>
              </a:ext>
            </a:extLst>
          </p:cNvPr>
          <p:cNvSpPr/>
          <p:nvPr/>
        </p:nvSpPr>
        <p:spPr>
          <a:xfrm>
            <a:off x="7708477" y="1774499"/>
            <a:ext cx="2814320" cy="122936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Tree>
    <p:extLst>
      <p:ext uri="{BB962C8B-B14F-4D97-AF65-F5344CB8AC3E}">
        <p14:creationId xmlns:p14="http://schemas.microsoft.com/office/powerpoint/2010/main" val="44207000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447CD9-9B46-75B5-98FC-4741511B8FC6}"/>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BBF2EC4C-C175-8469-9876-DC6FE74EC7DA}"/>
              </a:ext>
            </a:extLst>
          </p:cNvPr>
          <p:cNvSpPr>
            <a:spLocks noGrp="1"/>
          </p:cNvSpPr>
          <p:nvPr>
            <p:ph type="title"/>
          </p:nvPr>
        </p:nvSpPr>
        <p:spPr>
          <a:xfrm>
            <a:off x="38100" y="69651"/>
            <a:ext cx="12114000" cy="1153094"/>
          </a:xfrm>
          <a:prstGeom prst="roundRect">
            <a:avLst>
              <a:gd name="adj" fmla="val 36459"/>
            </a:avLst>
          </a:prstGeom>
          <a:noFill/>
        </p:spPr>
        <p:txBody>
          <a:bodyPr>
            <a:normAutofit/>
          </a:bodyPr>
          <a:lstStyle/>
          <a:p>
            <a:r>
              <a:rPr lang="it-IT" b="1" dirty="0">
                <a:solidFill>
                  <a:srgbClr val="002060"/>
                </a:solidFill>
              </a:rPr>
              <a:t>	BACKUP SLIDES: TORSION FIT</a:t>
            </a:r>
          </a:p>
        </p:txBody>
      </p:sp>
      <p:sp>
        <p:nvSpPr>
          <p:cNvPr id="4" name="Segnaposto data 3">
            <a:extLst>
              <a:ext uri="{FF2B5EF4-FFF2-40B4-BE49-F238E27FC236}">
                <a16:creationId xmlns:a16="http://schemas.microsoft.com/office/drawing/2014/main" id="{E9214BAE-EEDC-8210-8550-44C6BB969E5A}"/>
              </a:ext>
            </a:extLst>
          </p:cNvPr>
          <p:cNvSpPr>
            <a:spLocks noGrp="1"/>
          </p:cNvSpPr>
          <p:nvPr>
            <p:ph type="dt" sz="half" idx="10"/>
          </p:nvPr>
        </p:nvSpPr>
        <p:spPr>
          <a:xfrm>
            <a:off x="838200" y="6356349"/>
            <a:ext cx="2743200" cy="432000"/>
          </a:xfrm>
        </p:spPr>
        <p:txBody>
          <a:bodyPr/>
          <a:lstStyle/>
          <a:p>
            <a:r>
              <a:rPr lang="it-IT" sz="1500" b="1" dirty="0">
                <a:solidFill>
                  <a:srgbClr val="002060"/>
                </a:solidFill>
              </a:rPr>
              <a:t>24.08.2026</a:t>
            </a:r>
          </a:p>
        </p:txBody>
      </p:sp>
      <p:sp>
        <p:nvSpPr>
          <p:cNvPr id="5" name="Segnaposto piè di pagina 4">
            <a:extLst>
              <a:ext uri="{FF2B5EF4-FFF2-40B4-BE49-F238E27FC236}">
                <a16:creationId xmlns:a16="http://schemas.microsoft.com/office/drawing/2014/main" id="{405B57DB-25E8-F6FC-7054-82768A960505}"/>
              </a:ext>
            </a:extLst>
          </p:cNvPr>
          <p:cNvSpPr>
            <a:spLocks noGrp="1"/>
          </p:cNvSpPr>
          <p:nvPr>
            <p:ph type="ftr" sz="quarter" idx="11"/>
          </p:nvPr>
        </p:nvSpPr>
        <p:spPr>
          <a:xfrm>
            <a:off x="0" y="6356349"/>
            <a:ext cx="12192000" cy="432000"/>
          </a:xfrm>
        </p:spPr>
        <p:txBody>
          <a:bodyPr/>
          <a:lstStyle/>
          <a:p>
            <a:r>
              <a:rPr lang="it-IT" sz="1500" b="1" dirty="0">
                <a:solidFill>
                  <a:srgbClr val="002060"/>
                </a:solidFill>
              </a:rPr>
              <a:t>Anna Sofia Moro</a:t>
            </a:r>
          </a:p>
        </p:txBody>
      </p:sp>
      <p:sp>
        <p:nvSpPr>
          <p:cNvPr id="6" name="Segnaposto numero diapositiva 5">
            <a:extLst>
              <a:ext uri="{FF2B5EF4-FFF2-40B4-BE49-F238E27FC236}">
                <a16:creationId xmlns:a16="http://schemas.microsoft.com/office/drawing/2014/main" id="{E36298A0-CBCB-D3B7-B119-DAC2939E1BC3}"/>
              </a:ext>
            </a:extLst>
          </p:cNvPr>
          <p:cNvSpPr>
            <a:spLocks noGrp="1"/>
          </p:cNvSpPr>
          <p:nvPr>
            <p:ph type="sldNum" sz="quarter" idx="12"/>
          </p:nvPr>
        </p:nvSpPr>
        <p:spPr>
          <a:xfrm>
            <a:off x="8610600" y="6356349"/>
            <a:ext cx="2743200" cy="432000"/>
          </a:xfrm>
        </p:spPr>
        <p:txBody>
          <a:bodyPr/>
          <a:lstStyle/>
          <a:p>
            <a:fld id="{0A318BD9-CA14-4A83-ACF0-03D5918EB402}" type="slidenum">
              <a:rPr lang="it-IT" sz="1500" b="1" smtClean="0">
                <a:solidFill>
                  <a:srgbClr val="002060"/>
                </a:solidFill>
              </a:rPr>
              <a:t>33</a:t>
            </a:fld>
            <a:endParaRPr lang="it-IT" sz="1500" b="1" dirty="0">
              <a:solidFill>
                <a:srgbClr val="002060"/>
              </a:solidFill>
            </a:endParaRPr>
          </a:p>
        </p:txBody>
      </p:sp>
      <p:cxnSp>
        <p:nvCxnSpPr>
          <p:cNvPr id="10" name="Connettore diritto 9">
            <a:extLst>
              <a:ext uri="{FF2B5EF4-FFF2-40B4-BE49-F238E27FC236}">
                <a16:creationId xmlns:a16="http://schemas.microsoft.com/office/drawing/2014/main" id="{C5BF20B3-79F2-AE6F-29E8-77BA43A3E80C}"/>
              </a:ext>
            </a:extLst>
          </p:cNvPr>
          <p:cNvCxnSpPr>
            <a:cxnSpLocks/>
          </p:cNvCxnSpPr>
          <p:nvPr/>
        </p:nvCxnSpPr>
        <p:spPr>
          <a:xfrm>
            <a:off x="696000" y="1155368"/>
            <a:ext cx="10800000" cy="0"/>
          </a:xfrm>
          <a:prstGeom prst="line">
            <a:avLst/>
          </a:prstGeom>
          <a:ln w="38100">
            <a:solidFill>
              <a:srgbClr val="002060"/>
            </a:solidFill>
          </a:ln>
        </p:spPr>
        <p:style>
          <a:lnRef idx="2">
            <a:schemeClr val="accent1"/>
          </a:lnRef>
          <a:fillRef idx="0">
            <a:schemeClr val="accent1"/>
          </a:fillRef>
          <a:effectRef idx="1">
            <a:schemeClr val="accent1"/>
          </a:effectRef>
          <a:fontRef idx="minor">
            <a:schemeClr val="tx1"/>
          </a:fontRef>
        </p:style>
      </p:cxnSp>
      <p:sp>
        <p:nvSpPr>
          <p:cNvPr id="13" name="CasellaDiTesto 12">
            <a:extLst>
              <a:ext uri="{FF2B5EF4-FFF2-40B4-BE49-F238E27FC236}">
                <a16:creationId xmlns:a16="http://schemas.microsoft.com/office/drawing/2014/main" id="{DC5DF32F-680C-15DC-0F15-FAACF6D85031}"/>
              </a:ext>
            </a:extLst>
          </p:cNvPr>
          <p:cNvSpPr txBox="1"/>
          <p:nvPr/>
        </p:nvSpPr>
        <p:spPr>
          <a:xfrm>
            <a:off x="3048886" y="3244334"/>
            <a:ext cx="6097772" cy="369332"/>
          </a:xfrm>
          <a:prstGeom prst="rect">
            <a:avLst/>
          </a:prstGeom>
          <a:noFill/>
        </p:spPr>
        <p:txBody>
          <a:bodyPr wrap="square">
            <a:spAutoFit/>
          </a:bodyPr>
          <a:lstStyle/>
          <a:p>
            <a:endParaRPr lang="it-IT" dirty="0"/>
          </a:p>
        </p:txBody>
      </p:sp>
      <p:sp>
        <p:nvSpPr>
          <p:cNvPr id="15" name="CasellaDiTesto 14">
            <a:extLst>
              <a:ext uri="{FF2B5EF4-FFF2-40B4-BE49-F238E27FC236}">
                <a16:creationId xmlns:a16="http://schemas.microsoft.com/office/drawing/2014/main" id="{7DC0AA42-0B63-417E-776A-C75234B5BB86}"/>
              </a:ext>
            </a:extLst>
          </p:cNvPr>
          <p:cNvSpPr txBox="1"/>
          <p:nvPr/>
        </p:nvSpPr>
        <p:spPr>
          <a:xfrm>
            <a:off x="3048886" y="3244334"/>
            <a:ext cx="6097772" cy="369332"/>
          </a:xfrm>
          <a:prstGeom prst="rect">
            <a:avLst/>
          </a:prstGeom>
          <a:noFill/>
        </p:spPr>
        <p:txBody>
          <a:bodyPr wrap="square">
            <a:spAutoFit/>
          </a:bodyPr>
          <a:lstStyle/>
          <a:p>
            <a:endParaRPr lang="it-IT" dirty="0"/>
          </a:p>
        </p:txBody>
      </p:sp>
      <p:sp>
        <p:nvSpPr>
          <p:cNvPr id="3" name="Rettangolo 2">
            <a:extLst>
              <a:ext uri="{FF2B5EF4-FFF2-40B4-BE49-F238E27FC236}">
                <a16:creationId xmlns:a16="http://schemas.microsoft.com/office/drawing/2014/main" id="{80EEC406-2634-D2D7-4C73-AF8B01A7272E}"/>
              </a:ext>
            </a:extLst>
          </p:cNvPr>
          <p:cNvSpPr/>
          <p:nvPr/>
        </p:nvSpPr>
        <p:spPr>
          <a:xfrm>
            <a:off x="7708477" y="1774499"/>
            <a:ext cx="2814320" cy="122936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pic>
        <p:nvPicPr>
          <p:cNvPr id="9" name="Immagine 8">
            <a:extLst>
              <a:ext uri="{FF2B5EF4-FFF2-40B4-BE49-F238E27FC236}">
                <a16:creationId xmlns:a16="http://schemas.microsoft.com/office/drawing/2014/main" id="{6577974F-522E-8494-1BB7-3C97ECD7F6E4}"/>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6096692" y="1814690"/>
            <a:ext cx="5576816" cy="4166724"/>
          </a:xfrm>
          <a:prstGeom prst="rect">
            <a:avLst/>
          </a:prstGeom>
        </p:spPr>
      </p:pic>
      <p:pic>
        <p:nvPicPr>
          <p:cNvPr id="14" name="Immagine 13">
            <a:extLst>
              <a:ext uri="{FF2B5EF4-FFF2-40B4-BE49-F238E27FC236}">
                <a16:creationId xmlns:a16="http://schemas.microsoft.com/office/drawing/2014/main" id="{85DEA55C-6BBD-BEDC-E7D4-9B39969B365E}"/>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696133" y="1777573"/>
            <a:ext cx="5577573" cy="4163316"/>
          </a:xfrm>
          <a:prstGeom prst="rect">
            <a:avLst/>
          </a:prstGeom>
        </p:spPr>
      </p:pic>
      <p:sp>
        <p:nvSpPr>
          <p:cNvPr id="11" name="Rettangolo 10">
            <a:extLst>
              <a:ext uri="{FF2B5EF4-FFF2-40B4-BE49-F238E27FC236}">
                <a16:creationId xmlns:a16="http://schemas.microsoft.com/office/drawing/2014/main" id="{CFC836DD-22A0-6D56-43BC-6EB9C2821EB2}"/>
              </a:ext>
            </a:extLst>
          </p:cNvPr>
          <p:cNvSpPr/>
          <p:nvPr/>
        </p:nvSpPr>
        <p:spPr>
          <a:xfrm>
            <a:off x="3344612" y="1513249"/>
            <a:ext cx="3097369" cy="60288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Tree>
    <p:extLst>
      <p:ext uri="{BB962C8B-B14F-4D97-AF65-F5344CB8AC3E}">
        <p14:creationId xmlns:p14="http://schemas.microsoft.com/office/powerpoint/2010/main" val="189981780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DE96DB-8D5D-03C7-3FA3-2580E7433EC0}"/>
            </a:ext>
          </a:extLst>
        </p:cNvPr>
        <p:cNvGrpSpPr/>
        <p:nvPr/>
      </p:nvGrpSpPr>
      <p:grpSpPr>
        <a:xfrm>
          <a:off x="0" y="0"/>
          <a:ext cx="0" cy="0"/>
          <a:chOff x="0" y="0"/>
          <a:chExt cx="0" cy="0"/>
        </a:xfrm>
      </p:grpSpPr>
      <p:sp>
        <p:nvSpPr>
          <p:cNvPr id="11" name="Segnaposto contenuto 2">
            <a:extLst>
              <a:ext uri="{FF2B5EF4-FFF2-40B4-BE49-F238E27FC236}">
                <a16:creationId xmlns:a16="http://schemas.microsoft.com/office/drawing/2014/main" id="{B6C1CD1E-43F2-2E63-AEC6-105AF05F8CA8}"/>
              </a:ext>
            </a:extLst>
          </p:cNvPr>
          <p:cNvSpPr>
            <a:spLocks noGrp="1"/>
          </p:cNvSpPr>
          <p:nvPr>
            <p:ph idx="1"/>
          </p:nvPr>
        </p:nvSpPr>
        <p:spPr>
          <a:xfrm>
            <a:off x="838200" y="1401288"/>
            <a:ext cx="10515600" cy="4776227"/>
          </a:xfrm>
        </p:spPr>
        <p:txBody>
          <a:bodyPr>
            <a:normAutofit/>
          </a:bodyPr>
          <a:lstStyle/>
          <a:p>
            <a:pPr marL="0" indent="0">
              <a:buNone/>
            </a:pPr>
            <a:r>
              <a:rPr lang="it-IT" sz="2400" dirty="0"/>
              <a:t>Crystal </a:t>
            </a:r>
            <a:r>
              <a:rPr lang="it-IT" sz="2400" dirty="0" err="1"/>
              <a:t>efficiency</a:t>
            </a:r>
            <a:r>
              <a:rPr lang="it-IT" sz="2400" dirty="0"/>
              <a:t> </a:t>
            </a:r>
            <a:r>
              <a:rPr lang="it-IT" sz="2400" dirty="0" err="1"/>
              <a:t>as</a:t>
            </a:r>
            <a:r>
              <a:rPr lang="it-IT" sz="2400" dirty="0"/>
              <a:t> a function of the incoming angle, after </a:t>
            </a:r>
            <a:r>
              <a:rPr lang="it-IT" sz="2400" dirty="0" err="1"/>
              <a:t>application</a:t>
            </a:r>
            <a:r>
              <a:rPr lang="it-IT" sz="2400" dirty="0"/>
              <a:t> of the </a:t>
            </a:r>
            <a:r>
              <a:rPr lang="it-IT" sz="2400" dirty="0" err="1"/>
              <a:t>torsion</a:t>
            </a:r>
            <a:r>
              <a:rPr lang="it-IT" sz="2400" dirty="0"/>
              <a:t> </a:t>
            </a:r>
            <a:r>
              <a:rPr lang="it-IT" sz="2400" dirty="0" err="1"/>
              <a:t>correction</a:t>
            </a:r>
            <a:r>
              <a:rPr lang="it-IT" sz="2400" dirty="0"/>
              <a:t>. The </a:t>
            </a:r>
            <a:r>
              <a:rPr lang="it-IT" sz="2400" dirty="0" err="1"/>
              <a:t>value</a:t>
            </a:r>
            <a:r>
              <a:rPr lang="it-IT" sz="2400" dirty="0"/>
              <a:t> of the </a:t>
            </a:r>
            <a:r>
              <a:rPr lang="it-IT" sz="2400" dirty="0" err="1"/>
              <a:t>peak</a:t>
            </a:r>
            <a:r>
              <a:rPr lang="it-IT" sz="2400" dirty="0"/>
              <a:t> </a:t>
            </a:r>
            <a:r>
              <a:rPr lang="it-IT" sz="2400" dirty="0" err="1"/>
              <a:t>is</a:t>
            </a:r>
            <a:r>
              <a:rPr lang="it-IT" sz="2400" dirty="0"/>
              <a:t> the </a:t>
            </a:r>
            <a:r>
              <a:rPr lang="it-IT" sz="2400" dirty="0" err="1"/>
              <a:t>efficiency</a:t>
            </a:r>
            <a:r>
              <a:rPr lang="it-IT" sz="2400" dirty="0"/>
              <a:t> of the </a:t>
            </a:r>
            <a:r>
              <a:rPr lang="it-IT" sz="2400" dirty="0" err="1"/>
              <a:t>crystal</a:t>
            </a:r>
            <a:r>
              <a:rPr lang="it-IT" sz="2400" dirty="0"/>
              <a:t> </a:t>
            </a:r>
            <a:r>
              <a:rPr lang="it-IT" sz="2400" dirty="0" err="1"/>
              <a:t>when</a:t>
            </a:r>
            <a:r>
              <a:rPr lang="it-IT" sz="2400" dirty="0"/>
              <a:t> it </a:t>
            </a:r>
            <a:r>
              <a:rPr lang="it-IT" sz="2400" dirty="0" err="1"/>
              <a:t>is</a:t>
            </a:r>
            <a:r>
              <a:rPr lang="it-IT" sz="2400" dirty="0"/>
              <a:t> </a:t>
            </a:r>
            <a:r>
              <a:rPr lang="it-IT" sz="2400" dirty="0" err="1"/>
              <a:t>perfectly</a:t>
            </a:r>
            <a:r>
              <a:rPr lang="it-IT" sz="2400" dirty="0"/>
              <a:t> </a:t>
            </a:r>
            <a:r>
              <a:rPr lang="it-IT" sz="2400" dirty="0" err="1"/>
              <a:t>aligned</a:t>
            </a:r>
            <a:r>
              <a:rPr lang="it-IT" sz="2400" dirty="0"/>
              <a:t> to the </a:t>
            </a:r>
            <a:r>
              <a:rPr lang="it-IT" sz="2400" dirty="0" err="1"/>
              <a:t>beam</a:t>
            </a:r>
            <a:r>
              <a:rPr lang="it-IT" sz="2400" dirty="0"/>
              <a:t>.</a:t>
            </a:r>
          </a:p>
        </p:txBody>
      </p:sp>
      <p:sp>
        <p:nvSpPr>
          <p:cNvPr id="2" name="Titolo 1">
            <a:extLst>
              <a:ext uri="{FF2B5EF4-FFF2-40B4-BE49-F238E27FC236}">
                <a16:creationId xmlns:a16="http://schemas.microsoft.com/office/drawing/2014/main" id="{4441F033-41FF-9EC2-CD18-6C1065E72A6E}"/>
              </a:ext>
            </a:extLst>
          </p:cNvPr>
          <p:cNvSpPr>
            <a:spLocks noGrp="1"/>
          </p:cNvSpPr>
          <p:nvPr>
            <p:ph type="title"/>
          </p:nvPr>
        </p:nvSpPr>
        <p:spPr>
          <a:xfrm>
            <a:off x="38100" y="69651"/>
            <a:ext cx="12114000" cy="1153094"/>
          </a:xfrm>
          <a:prstGeom prst="roundRect">
            <a:avLst>
              <a:gd name="adj" fmla="val 36459"/>
            </a:avLst>
          </a:prstGeom>
          <a:noFill/>
        </p:spPr>
        <p:txBody>
          <a:bodyPr>
            <a:normAutofit/>
          </a:bodyPr>
          <a:lstStyle/>
          <a:p>
            <a:r>
              <a:rPr lang="it-IT" b="1" dirty="0">
                <a:solidFill>
                  <a:srgbClr val="002060"/>
                </a:solidFill>
              </a:rPr>
              <a:t>	BACKUP SLIDES: EFFICIENCY CURVE</a:t>
            </a:r>
          </a:p>
        </p:txBody>
      </p:sp>
      <p:sp>
        <p:nvSpPr>
          <p:cNvPr id="4" name="Segnaposto data 3">
            <a:extLst>
              <a:ext uri="{FF2B5EF4-FFF2-40B4-BE49-F238E27FC236}">
                <a16:creationId xmlns:a16="http://schemas.microsoft.com/office/drawing/2014/main" id="{A005E3A4-151D-9A1F-8186-E743AE292FD1}"/>
              </a:ext>
            </a:extLst>
          </p:cNvPr>
          <p:cNvSpPr>
            <a:spLocks noGrp="1"/>
          </p:cNvSpPr>
          <p:nvPr>
            <p:ph type="dt" sz="half" idx="10"/>
          </p:nvPr>
        </p:nvSpPr>
        <p:spPr>
          <a:xfrm>
            <a:off x="838200" y="6356349"/>
            <a:ext cx="2743200" cy="432000"/>
          </a:xfrm>
        </p:spPr>
        <p:txBody>
          <a:bodyPr/>
          <a:lstStyle/>
          <a:p>
            <a:r>
              <a:rPr lang="it-IT" sz="1500" b="1" dirty="0">
                <a:solidFill>
                  <a:srgbClr val="002060"/>
                </a:solidFill>
              </a:rPr>
              <a:t>24.08.2026</a:t>
            </a:r>
          </a:p>
        </p:txBody>
      </p:sp>
      <p:sp>
        <p:nvSpPr>
          <p:cNvPr id="5" name="Segnaposto piè di pagina 4">
            <a:extLst>
              <a:ext uri="{FF2B5EF4-FFF2-40B4-BE49-F238E27FC236}">
                <a16:creationId xmlns:a16="http://schemas.microsoft.com/office/drawing/2014/main" id="{80ABE22A-648C-CB6A-CB96-BA0870020FE5}"/>
              </a:ext>
            </a:extLst>
          </p:cNvPr>
          <p:cNvSpPr>
            <a:spLocks noGrp="1"/>
          </p:cNvSpPr>
          <p:nvPr>
            <p:ph type="ftr" sz="quarter" idx="11"/>
          </p:nvPr>
        </p:nvSpPr>
        <p:spPr>
          <a:xfrm>
            <a:off x="0" y="6356349"/>
            <a:ext cx="12192000" cy="432000"/>
          </a:xfrm>
        </p:spPr>
        <p:txBody>
          <a:bodyPr/>
          <a:lstStyle/>
          <a:p>
            <a:r>
              <a:rPr lang="it-IT" sz="1500" b="1" dirty="0">
                <a:solidFill>
                  <a:srgbClr val="002060"/>
                </a:solidFill>
              </a:rPr>
              <a:t>Anna Sofia Moro</a:t>
            </a:r>
          </a:p>
        </p:txBody>
      </p:sp>
      <p:sp>
        <p:nvSpPr>
          <p:cNvPr id="6" name="Segnaposto numero diapositiva 5">
            <a:extLst>
              <a:ext uri="{FF2B5EF4-FFF2-40B4-BE49-F238E27FC236}">
                <a16:creationId xmlns:a16="http://schemas.microsoft.com/office/drawing/2014/main" id="{B6ED4E80-CE57-A7C6-53FF-A878B0C1F6FB}"/>
              </a:ext>
            </a:extLst>
          </p:cNvPr>
          <p:cNvSpPr>
            <a:spLocks noGrp="1"/>
          </p:cNvSpPr>
          <p:nvPr>
            <p:ph type="sldNum" sz="quarter" idx="12"/>
          </p:nvPr>
        </p:nvSpPr>
        <p:spPr>
          <a:xfrm>
            <a:off x="8610600" y="6356349"/>
            <a:ext cx="2743200" cy="432000"/>
          </a:xfrm>
        </p:spPr>
        <p:txBody>
          <a:bodyPr/>
          <a:lstStyle/>
          <a:p>
            <a:fld id="{0A318BD9-CA14-4A83-ACF0-03D5918EB402}" type="slidenum">
              <a:rPr lang="it-IT" sz="1500" b="1" smtClean="0">
                <a:solidFill>
                  <a:srgbClr val="002060"/>
                </a:solidFill>
              </a:rPr>
              <a:t>34</a:t>
            </a:fld>
            <a:endParaRPr lang="it-IT" sz="1500" b="1" dirty="0">
              <a:solidFill>
                <a:srgbClr val="002060"/>
              </a:solidFill>
            </a:endParaRPr>
          </a:p>
        </p:txBody>
      </p:sp>
      <p:cxnSp>
        <p:nvCxnSpPr>
          <p:cNvPr id="10" name="Connettore diritto 9">
            <a:extLst>
              <a:ext uri="{FF2B5EF4-FFF2-40B4-BE49-F238E27FC236}">
                <a16:creationId xmlns:a16="http://schemas.microsoft.com/office/drawing/2014/main" id="{A2604C5D-7C9A-C092-C1C1-6CF4E44DA8A3}"/>
              </a:ext>
            </a:extLst>
          </p:cNvPr>
          <p:cNvCxnSpPr>
            <a:cxnSpLocks/>
          </p:cNvCxnSpPr>
          <p:nvPr/>
        </p:nvCxnSpPr>
        <p:spPr>
          <a:xfrm>
            <a:off x="696000" y="1155368"/>
            <a:ext cx="10800000" cy="0"/>
          </a:xfrm>
          <a:prstGeom prst="line">
            <a:avLst/>
          </a:prstGeom>
          <a:ln w="38100">
            <a:solidFill>
              <a:srgbClr val="002060"/>
            </a:solidFill>
          </a:ln>
        </p:spPr>
        <p:style>
          <a:lnRef idx="2">
            <a:schemeClr val="accent1"/>
          </a:lnRef>
          <a:fillRef idx="0">
            <a:schemeClr val="accent1"/>
          </a:fillRef>
          <a:effectRef idx="1">
            <a:schemeClr val="accent1"/>
          </a:effectRef>
          <a:fontRef idx="minor">
            <a:schemeClr val="tx1"/>
          </a:fontRef>
        </p:style>
      </p:cxnSp>
      <p:sp>
        <p:nvSpPr>
          <p:cNvPr id="13" name="CasellaDiTesto 12">
            <a:extLst>
              <a:ext uri="{FF2B5EF4-FFF2-40B4-BE49-F238E27FC236}">
                <a16:creationId xmlns:a16="http://schemas.microsoft.com/office/drawing/2014/main" id="{25503126-5228-0AF4-215B-A7729A20AE8B}"/>
              </a:ext>
            </a:extLst>
          </p:cNvPr>
          <p:cNvSpPr txBox="1"/>
          <p:nvPr/>
        </p:nvSpPr>
        <p:spPr>
          <a:xfrm>
            <a:off x="3048886" y="3244334"/>
            <a:ext cx="6097772" cy="369332"/>
          </a:xfrm>
          <a:prstGeom prst="rect">
            <a:avLst/>
          </a:prstGeom>
          <a:noFill/>
        </p:spPr>
        <p:txBody>
          <a:bodyPr wrap="square">
            <a:spAutoFit/>
          </a:bodyPr>
          <a:lstStyle/>
          <a:p>
            <a:endParaRPr lang="it-IT" dirty="0"/>
          </a:p>
        </p:txBody>
      </p:sp>
      <p:sp>
        <p:nvSpPr>
          <p:cNvPr id="15" name="CasellaDiTesto 14">
            <a:extLst>
              <a:ext uri="{FF2B5EF4-FFF2-40B4-BE49-F238E27FC236}">
                <a16:creationId xmlns:a16="http://schemas.microsoft.com/office/drawing/2014/main" id="{062E0088-D7C6-1059-05D7-BD2076C40D27}"/>
              </a:ext>
            </a:extLst>
          </p:cNvPr>
          <p:cNvSpPr txBox="1"/>
          <p:nvPr/>
        </p:nvSpPr>
        <p:spPr>
          <a:xfrm>
            <a:off x="3048886" y="3244334"/>
            <a:ext cx="6097772" cy="369332"/>
          </a:xfrm>
          <a:prstGeom prst="rect">
            <a:avLst/>
          </a:prstGeom>
          <a:noFill/>
        </p:spPr>
        <p:txBody>
          <a:bodyPr wrap="square">
            <a:spAutoFit/>
          </a:bodyPr>
          <a:lstStyle/>
          <a:p>
            <a:endParaRPr lang="it-IT" dirty="0"/>
          </a:p>
        </p:txBody>
      </p:sp>
      <p:pic>
        <p:nvPicPr>
          <p:cNvPr id="8" name="Immagine 7">
            <a:extLst>
              <a:ext uri="{FF2B5EF4-FFF2-40B4-BE49-F238E27FC236}">
                <a16:creationId xmlns:a16="http://schemas.microsoft.com/office/drawing/2014/main" id="{013A8E72-F1F7-0929-4122-8EF64E4A4553}"/>
              </a:ext>
            </a:extLst>
          </p:cNvPr>
          <p:cNvPicPr>
            <a:picLocks noChangeAspect="1"/>
          </p:cNvPicPr>
          <p:nvPr/>
        </p:nvPicPr>
        <p:blipFill>
          <a:blip r:embed="rId3">
            <a:extLst>
              <a:ext uri="{28A0092B-C50C-407E-A947-70E740481C1C}">
                <a14:useLocalDpi xmlns:a14="http://schemas.microsoft.com/office/drawing/2010/main" val="0"/>
              </a:ext>
            </a:extLst>
          </a:blip>
          <a:srcRect t="8831"/>
          <a:stretch>
            <a:fillRect/>
          </a:stretch>
        </p:blipFill>
        <p:spPr>
          <a:xfrm>
            <a:off x="2992774" y="2452841"/>
            <a:ext cx="6204651" cy="4047596"/>
          </a:xfrm>
          <a:prstGeom prst="rect">
            <a:avLst/>
          </a:prstGeom>
        </p:spPr>
      </p:pic>
    </p:spTree>
    <p:extLst>
      <p:ext uri="{BB962C8B-B14F-4D97-AF65-F5344CB8AC3E}">
        <p14:creationId xmlns:p14="http://schemas.microsoft.com/office/powerpoint/2010/main" val="1733494900"/>
      </p:ext>
    </p:extLst>
  </p:cSld>
  <p:clrMapOvr>
    <a:masterClrMapping/>
  </p:clrMapOvr>
</p:sld>
</file>

<file path=ppt/theme/theme1.xml><?xml version="1.0" encoding="utf-8"?>
<a:theme xmlns:a="http://schemas.openxmlformats.org/drawingml/2006/main" name="Tema di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Tema di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4093</TotalTime>
  <Words>2397</Words>
  <Application>Microsoft Office PowerPoint</Application>
  <PresentationFormat>Widescreen</PresentationFormat>
  <Paragraphs>479</Paragraphs>
  <Slides>34</Slides>
  <Notes>24</Notes>
  <HiddenSlides>1</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34</vt:i4>
      </vt:variant>
    </vt:vector>
  </HeadingPairs>
  <TitlesOfParts>
    <vt:vector size="40" baseType="lpstr">
      <vt:lpstr>Aptos</vt:lpstr>
      <vt:lpstr>Aptos Display</vt:lpstr>
      <vt:lpstr>Arial</vt:lpstr>
      <vt:lpstr>Calibri</vt:lpstr>
      <vt:lpstr>Cambria Math</vt:lpstr>
      <vt:lpstr>Tema di Office</vt:lpstr>
      <vt:lpstr>PowerPoint Presentation</vt:lpstr>
      <vt:lpstr> WHAT IS ‘CHANNELING’ IN CRYSTALS?</vt:lpstr>
      <vt:lpstr> THE TWOCRYST EXPERIMENT</vt:lpstr>
      <vt:lpstr> MY ANALYSIS</vt:lpstr>
      <vt:lpstr> MY ANALYSIS</vt:lpstr>
      <vt:lpstr> THE ANALYSIS PIPELINE</vt:lpstr>
      <vt:lpstr> ANALYSIS: DETECTOR ALIGNMENT</vt:lpstr>
      <vt:lpstr> ANALYSIS: CRYSTAL EDGES</vt:lpstr>
      <vt:lpstr> ANALYSIS: CRYSTAL EDGES</vt:lpstr>
      <vt:lpstr> ANALYSIS: MAPPING THE TORSION</vt:lpstr>
      <vt:lpstr> 2. PREVIOUS ANALYSIS: CRYSTAL EDGES</vt:lpstr>
      <vt:lpstr> 2. PREVIOUS ANALYSIS: CRYSTAL EDGES</vt:lpstr>
      <vt:lpstr> 2. PREVIOUS ANALYSIS: CRYSTAL EDGES</vt:lpstr>
      <vt:lpstr> 2. PREVIOUS ANALYSIS: CRYSTAL EDGES</vt:lpstr>
      <vt:lpstr> 3. ANALYSIS: TORSION EFFECT</vt:lpstr>
      <vt:lpstr> 3. ANALYSIS: TORSION EFFECT</vt:lpstr>
      <vt:lpstr> 3. ANALYSIS: TORSION EFFECT</vt:lpstr>
      <vt:lpstr> 3. ANALYSIS: TORSION FIT</vt:lpstr>
      <vt:lpstr> 3. ANALYSIS: TORSION EFFECT</vt:lpstr>
      <vt:lpstr> 3. ANALYSIS</vt:lpstr>
      <vt:lpstr> 3. ANALYSIS</vt:lpstr>
      <vt:lpstr> 4. RESULTS</vt:lpstr>
      <vt:lpstr> 4. RESULTS</vt:lpstr>
      <vt:lpstr> 4. COMBINED RESULTS</vt:lpstr>
      <vt:lpstr> 4. FINAL RESULTS</vt:lpstr>
      <vt:lpstr> 4. NEXT STEPS</vt:lpstr>
      <vt:lpstr> BACKUP SLIDES</vt:lpstr>
      <vt:lpstr> SCHEMATIC LAYOUT</vt:lpstr>
      <vt:lpstr> SCHEMATIC LAYOUT</vt:lpstr>
      <vt:lpstr> BACKUP SLIDES: SPATIAL CUT</vt:lpstr>
      <vt:lpstr> BACKUP SLIDES: ANGLE SELECTION</vt:lpstr>
      <vt:lpstr> BACKUP SLIDES: ANGLE SELECTION</vt:lpstr>
      <vt:lpstr> BACKUP SLIDES: TORSION FIT</vt:lpstr>
      <vt:lpstr> BACKUP SLIDES: EFFICIENCY CURVE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Anna Sofia Moro</dc:creator>
  <cp:lastModifiedBy>Anna Sofia Moro</cp:lastModifiedBy>
  <cp:revision>41</cp:revision>
  <dcterms:created xsi:type="dcterms:W3CDTF">2026-07-09T15:21:04Z</dcterms:created>
  <dcterms:modified xsi:type="dcterms:W3CDTF">2026-08-19T17:55:54Z</dcterms:modified>
</cp:coreProperties>
</file>