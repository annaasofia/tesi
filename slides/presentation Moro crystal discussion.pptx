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32" r:id="rId3"/>
    <p:sldId id="336" r:id="rId4"/>
    <p:sldId id="337" r:id="rId5"/>
    <p:sldId id="338" r:id="rId6"/>
    <p:sldId id="347" r:id="rId7"/>
    <p:sldId id="339" r:id="rId8"/>
    <p:sldId id="341" r:id="rId9"/>
    <p:sldId id="342" r:id="rId10"/>
    <p:sldId id="344" r:id="rId11"/>
    <p:sldId id="343" r:id="rId12"/>
    <p:sldId id="346" r:id="rId13"/>
    <p:sldId id="305" r:id="rId14"/>
    <p:sldId id="335" r:id="rId15"/>
    <p:sldId id="319" r:id="rId16"/>
    <p:sldId id="303" r:id="rId17"/>
    <p:sldId id="345" r:id="rId18"/>
    <p:sldId id="306" r:id="rId19"/>
    <p:sldId id="315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2060"/>
    <a:srgbClr val="FFB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run 8430</c:v>
                </c:pt>
                <c:pt idx="1">
                  <c:v>run 8431</c:v>
                </c:pt>
                <c:pt idx="2">
                  <c:v>run 8650</c:v>
                </c:pt>
                <c:pt idx="3">
                  <c:v>run 8655</c:v>
                </c:pt>
                <c:pt idx="4">
                  <c:v>run 8656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19.399999999999999</c:v>
                </c:pt>
                <c:pt idx="2">
                  <c:v>17.3</c:v>
                </c:pt>
                <c:pt idx="3">
                  <c:v>18.2</c:v>
                </c:pt>
                <c:pt idx="4">
                  <c:v>18.2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55-4237-B053-069DE094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run 8430</c:v>
                </c:pt>
                <c:pt idx="1">
                  <c:v>run 8431</c:v>
                </c:pt>
                <c:pt idx="2">
                  <c:v>run 8650</c:v>
                </c:pt>
                <c:pt idx="3">
                  <c:v>run 8655</c:v>
                </c:pt>
                <c:pt idx="4">
                  <c:v>run 8656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19.399999999999999</c:v>
                </c:pt>
                <c:pt idx="1">
                  <c:v>19</c:v>
                </c:pt>
                <c:pt idx="2">
                  <c:v>16.899999999999999</c:v>
                </c:pt>
                <c:pt idx="3">
                  <c:v>17.8</c:v>
                </c:pt>
                <c:pt idx="4">
                  <c:v>17.8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55-4237-B053-069DE094C4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Close</c:v>
                </c:pt>
              </c:strCache>
            </c:strRef>
          </c:tx>
          <c:spPr>
            <a:ln w="38100" cap="rnd">
              <a:noFill/>
              <a:round/>
            </a:ln>
            <a:effectLst>
              <a:outerShdw dist="50800" sx="1000" sy="1000" algn="ctr" rotWithShape="0">
                <a:srgbClr val="000000"/>
              </a:outerShdw>
            </a:effectLst>
          </c:spPr>
          <c:marker>
            <c:symbol val="circle"/>
            <c:size val="15"/>
            <c:spPr>
              <a:solidFill>
                <a:srgbClr val="002060"/>
              </a:solidFill>
              <a:ln w="9525">
                <a:solidFill>
                  <a:srgbClr val="002060"/>
                </a:solidFill>
              </a:ln>
              <a:effectLst>
                <a:outerShdw dist="50800" sx="1000" sy="1000" algn="ctr" rotWithShape="0">
                  <a:srgbClr val="000000"/>
                </a:outerShdw>
              </a:effectLst>
            </c:spPr>
          </c:marker>
          <c:dPt>
            <c:idx val="0"/>
            <c:marker>
              <c:symbol val="circle"/>
              <c:size val="15"/>
              <c:spPr>
                <a:solidFill>
                  <a:srgbClr val="002060"/>
                </a:solidFill>
                <a:ln w="9525">
                  <a:solidFill>
                    <a:srgbClr val="002060"/>
                  </a:solidFill>
                </a:ln>
                <a:effectLst>
                  <a:outerShdw dist="50800" sx="1000" sy="1000" algn="ctr" rotWithShape="0">
                    <a:srgbClr val="000000"/>
                  </a:outerShdw>
                </a:effectLst>
              </c:spPr>
            </c:marker>
            <c:bubble3D val="0"/>
            <c:spPr>
              <a:ln w="38100" cap="rnd">
                <a:noFill/>
                <a:round/>
              </a:ln>
              <a:effectLst>
                <a:outerShdw dist="50800" sx="1000" sy="1000" algn="ctr" rotWithShape="0">
                  <a:srgbClr val="000000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8255-4237-B053-069DE094C4E8}"/>
              </c:ext>
            </c:extLst>
          </c:dPt>
          <c:cat>
            <c:strRef>
              <c:f>Sheet1!$A$2:$A$6</c:f>
              <c:strCache>
                <c:ptCount val="5"/>
                <c:pt idx="0">
                  <c:v>run 8430</c:v>
                </c:pt>
                <c:pt idx="1">
                  <c:v>run 8431</c:v>
                </c:pt>
                <c:pt idx="2">
                  <c:v>run 8650</c:v>
                </c:pt>
                <c:pt idx="3">
                  <c:v>run 8655</c:v>
                </c:pt>
                <c:pt idx="4">
                  <c:v>run 8656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19.600000000000001</c:v>
                </c:pt>
                <c:pt idx="1">
                  <c:v>19.2</c:v>
                </c:pt>
                <c:pt idx="2">
                  <c:v>17.100000000000001</c:v>
                </c:pt>
                <c:pt idx="3">
                  <c:v>18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5-4237-B053-069DE094C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38100" cap="flat" cmpd="sng" algn="ctr">
              <a:solidFill>
                <a:srgbClr val="002060"/>
              </a:solidFill>
              <a:round/>
            </a:ln>
            <a:effectLst>
              <a:outerShdw sx="1000" sy="1000" algn="ctr" rotWithShape="0">
                <a:srgbClr val="000000"/>
              </a:outerShdw>
            </a:effectLst>
          </c:spPr>
        </c:hiLowLines>
        <c:axId val="1563414319"/>
        <c:axId val="1581784111"/>
      </c:stockChart>
      <c:catAx>
        <c:axId val="15634143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81784111"/>
        <c:crosses val="autoZero"/>
        <c:auto val="1"/>
        <c:lblAlgn val="ctr"/>
        <c:lblOffset val="100"/>
        <c:noMultiLvlLbl val="0"/>
      </c:catAx>
      <c:valAx>
        <c:axId val="1581784111"/>
        <c:scaling>
          <c:orientation val="minMax"/>
          <c:min val="16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b="1" dirty="0">
                    <a:solidFill>
                      <a:srgbClr val="002060"/>
                    </a:solidFill>
                  </a:rPr>
                  <a:t>Channeling efficiency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63414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F183-8FB4-A481-12DD-D064142CC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25E31ED-EA35-1028-F14F-50117AAB7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DC09ABD-62A6-0180-C849-0D6D9416C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F503A9-8AF6-A7A9-DD99-6E890C368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674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3706-CCF1-F1BD-7FF5-37E9E136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FD50039-F4EC-91B6-2FEF-FAC16B0FD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C03E5C-A0B9-D650-2BC9-3D64A3600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F019EE-DF93-EF47-CE0E-F0B6177A4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606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2ECF2-F2F7-02D8-41B8-C5989399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31141CC-29EC-B25A-5A25-454EAAFF7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1A456D-EBE7-4B50-82A5-179690F49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FEA273-B27C-17EC-E01F-AB1F8C496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583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D496-77A0-606B-AC87-B3878B9C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76FAE5-6FA4-1578-CD47-EDDD3789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DC3D6FB-6C6D-3695-D9C3-1038FE3DA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the two methods agree on a width of 2 mm in x, in y the scattering method shows a narrower effective window due to the clamps, consistent with the torsion analysis, which already excludes the poorly-illuminated edges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B00306-1722-D589-8ADA-1F3C0AAAF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884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1E15-F745-FB34-4D2F-D8A72984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CCAB2C-A1A6-4A94-AD9A-2B6F5591F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5EB30D-4E8C-195A-B6DA-BE626A29B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the two methods agree on a width of 2 mm in x, in y the scattering method shows a narrower effective window due to the clamps, consistent with the torsion analysis, which already excludes the poorly-illuminated edges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203A5A-0E08-281C-8596-35D0BF1BE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82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9400-DEB2-5D10-7269-08DB51F9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7947CD2-8F23-B8DE-0F21-DF19D5868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>
                <a:extLst>
                  <a:ext uri="{FF2B5EF4-FFF2-40B4-BE49-F238E27FC236}">
                    <a16:creationId xmlns:a16="http://schemas.microsoft.com/office/drawing/2014/main" id="{E13C93F0-6750-8A3D-09A2-897DA29AD4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Influence the angular range in which particles enter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p>
                            </m:sSub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Segnaposto note 2">
                <a:extLst>
                  <a:ext uri="{FF2B5EF4-FFF2-40B4-BE49-F238E27FC236}">
                    <a16:creationId xmlns:a16="http://schemas.microsoft.com/office/drawing/2014/main" id="{E13C93F0-6750-8A3D-09A2-897DA29AD4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Influence the angular range in which particles enter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i="0">
                    <a:latin typeface="Cambria Math" panose="02040503050406030204" pitchFamily="18" charset="0"/>
                  </a:rPr>
                  <a:t>|𝜃_𝑥^𝑖𝑛−(𝜃_𝑥^𝑜𝑓𝑓+𝜏_𝑦⋅𝑑_𝑦</a:t>
                </a:r>
                <a:r>
                  <a:rPr lang="it-IT" i="0">
                    <a:solidFill>
                      <a:schemeClr val="bg1">
                        <a:lumMod val="65000"/>
                      </a:schemeClr>
                    </a:solidFill>
                    <a:latin typeface="Cambria Math" panose="02040503050406030204" pitchFamily="18" charset="0"/>
                  </a:rPr>
                  <a:t>+𝜏_𝑥⋅𝑑_𝑥 )|</a:t>
                </a:r>
                <a:r>
                  <a:rPr lang="it-IT" i="0">
                    <a:latin typeface="Cambria Math" panose="02040503050406030204" pitchFamily="18" charset="0"/>
                  </a:rPr>
                  <a:t>≤1/2 𝜃_𝐿</a:t>
                </a:r>
                <a:r>
                  <a:rPr lang="en-US" dirty="0"/>
                  <a:t> 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EFF5685-94FB-C0AE-9BF6-C06465664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111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69AC-C0F4-9DF5-3133-C070CBA7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48D768A-1A6D-DA22-7B99-12ECCF6EB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7300D3-5F27-C2F7-2B9F-C02C4ED2C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By fitting only the right side of the peak, we ensured the cleanest possible measurement by excluding any contribution from dechanneled particles.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120958-256A-04CF-E0E5-4E7AD313B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1211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FF38-6110-E691-E954-8CA2D6DF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D5CD043-3771-B268-CA45-A6B135CFF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BEFAFD-CAAF-A8A9-D347-1844E5943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760FF8-5C83-B626-0AF0-3DBC72BE7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04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F417-4B37-D8F8-73B5-51E79B60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C1CE670-076C-0E06-6FE9-19263C76E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BBA2E8-2F57-9C7D-D559-F8E04BEA1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13E2C5-B2E1-60B4-E470-18A17536E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397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33A4-9723-7E72-92F4-DE91094D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F22CB9-1126-ED59-F3F7-75DDF3EE0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E429418-7BC2-7E35-9974-48B4BDAE9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A32CC1B-B648-0473-81E9-D37C91484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778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5A5F-2DCA-FD80-A1A3-3EED1437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1DAC1A3-72A5-1E7A-8AD6-D7B44F149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541364-86EC-4689-C23C-2F63AA5E4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F01E55-F1DE-4E39-46DE-21171D7A6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3281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allowed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apply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. So, </a:t>
            </a:r>
            <a:r>
              <a:rPr lang="it-IT" dirty="0" err="1"/>
              <a:t>instead</a:t>
            </a:r>
            <a:r>
              <a:rPr lang="it-IT" dirty="0"/>
              <a:t> of using a standard Lindhard cut 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zero, we </a:t>
            </a:r>
            <a:r>
              <a:rPr lang="it-IT" dirty="0" err="1"/>
              <a:t>corrected</a:t>
            </a:r>
            <a:r>
              <a:rPr lang="it-IT" dirty="0"/>
              <a:t> the incoming angle using the </a:t>
            </a:r>
            <a:r>
              <a:rPr lang="it-IT" dirty="0" err="1"/>
              <a:t>fitted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bin.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119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FDFC-0F26-4E10-AEB0-B00203DF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ACB513-4EF1-C424-A186-EDD8DEFF2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7666235-1F35-8358-8CF3-F77866412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B478F53-4FE7-41EB-8DC5-CC2D701B7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5376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3840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Applying</a:t>
            </a:r>
            <a:r>
              <a:rPr lang="it-IT" dirty="0"/>
              <a:t> this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improves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. </a:t>
            </a:r>
            <a:r>
              <a:rPr lang="it-IT" dirty="0" err="1"/>
              <a:t>When</a:t>
            </a:r>
            <a:r>
              <a:rPr lang="it-IT" dirty="0"/>
              <a:t> we plot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function of the </a:t>
            </a:r>
            <a:r>
              <a:rPr lang="it-IT" dirty="0" err="1"/>
              <a:t>torsion-corrected</a:t>
            </a:r>
            <a:r>
              <a:rPr lang="it-IT" dirty="0"/>
              <a:t> incoming angle, the </a:t>
            </a:r>
            <a:r>
              <a:rPr lang="it-IT" dirty="0" err="1"/>
              <a:t>peak</a:t>
            </a:r>
            <a:r>
              <a:rPr lang="it-IT" dirty="0"/>
              <a:t> of this curve </a:t>
            </a:r>
            <a:r>
              <a:rPr lang="it-IT" dirty="0" err="1"/>
              <a:t>represents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it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perfectly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in this case </a:t>
            </a:r>
            <a:r>
              <a:rPr lang="it-IT" dirty="0" err="1"/>
              <a:t>reached</a:t>
            </a:r>
            <a:r>
              <a:rPr lang="it-IT" dirty="0"/>
              <a:t> 18.8%.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98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24/08/2026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19.png"/><Relationship Id="rId10" Type="http://schemas.openxmlformats.org/officeDocument/2006/relationships/image" Target="../media/image8.svg"/><Relationship Id="rId4" Type="http://schemas.openxmlformats.org/officeDocument/2006/relationships/image" Target="../media/image5.sv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6.svg"/><Relationship Id="rId10" Type="http://schemas.openxmlformats.org/officeDocument/2006/relationships/image" Target="../media/image44.png"/><Relationship Id="rId4" Type="http://schemas.openxmlformats.org/officeDocument/2006/relationships/image" Target="../media/image19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7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46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71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 dirty="0">
                <a:solidFill>
                  <a:schemeClr val="bg1"/>
                </a:solidFill>
              </a:rPr>
              <a:t>Analysis of H8 bent-crystal measurements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230832"/>
            <a:ext cx="12192000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139A6-E4C9-F3ED-EE31-ADD1B1D1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126BAB-7D8A-EB40-7773-8BAC8FAB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MY ANALYSIS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3D0158-4EC4-484C-A7B8-F2017BE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CFE77E-2206-22EF-B028-8DD60672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060BB2E-8C97-2CF5-4EBA-92D88E64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21D8737-CAC6-B92A-A0EE-D76F9BF2B82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0F37742B-3221-5A09-A269-E936CFE4176F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EXPERIMENTAL SETUP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magine 7">
            <a:extLst>
              <a:ext uri="{FF2B5EF4-FFF2-40B4-BE49-F238E27FC236}">
                <a16:creationId xmlns:a16="http://schemas.microsoft.com/office/drawing/2014/main" id="{69D27C45-16FF-92F8-A50F-EE48E137B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0479" y="2627558"/>
            <a:ext cx="7167600" cy="3142624"/>
          </a:xfrm>
          <a:prstGeom prst="rect">
            <a:avLst/>
          </a:prstGeom>
        </p:spPr>
      </p:pic>
      <p:sp>
        <p:nvSpPr>
          <p:cNvPr id="14" name="Rettangolo con angoli arrotondati 8">
            <a:extLst>
              <a:ext uri="{FF2B5EF4-FFF2-40B4-BE49-F238E27FC236}">
                <a16:creationId xmlns:a16="http://schemas.microsoft.com/office/drawing/2014/main" id="{6A1C3988-A69D-EB3E-D0D8-6B3C7B342021}"/>
              </a:ext>
            </a:extLst>
          </p:cNvPr>
          <p:cNvSpPr/>
          <p:nvPr/>
        </p:nvSpPr>
        <p:spPr>
          <a:xfrm>
            <a:off x="4328122" y="1424539"/>
            <a:ext cx="7167878" cy="474521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5" name="Immagine 7">
            <a:extLst>
              <a:ext uri="{FF2B5EF4-FFF2-40B4-BE49-F238E27FC236}">
                <a16:creationId xmlns:a16="http://schemas.microsoft.com/office/drawing/2014/main" id="{CFE86632-3435-EBF2-32B2-521470E90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717" y="1853650"/>
            <a:ext cx="2006227" cy="1026570"/>
          </a:xfrm>
          <a:prstGeom prst="roundRect">
            <a:avLst>
              <a:gd name="adj" fmla="val 16667"/>
            </a:avLst>
          </a:prstGeom>
          <a:ln w="38100">
            <a:solidFill>
              <a:srgbClr val="3366FF"/>
            </a:solidFill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C246015-16EC-AF83-42A5-59346AB6D581}"/>
              </a:ext>
            </a:extLst>
          </p:cNvPr>
          <p:cNvSpPr/>
          <p:nvPr/>
        </p:nvSpPr>
        <p:spPr>
          <a:xfrm>
            <a:off x="5393267" y="2201626"/>
            <a:ext cx="1744133" cy="7105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59B8D46-154C-00AA-6D90-B00E79F36A1F}"/>
              </a:ext>
            </a:extLst>
          </p:cNvPr>
          <p:cNvGrpSpPr/>
          <p:nvPr/>
        </p:nvGrpSpPr>
        <p:grpSpPr>
          <a:xfrm>
            <a:off x="2083711" y="1229485"/>
            <a:ext cx="6485517" cy="3080837"/>
            <a:chOff x="4185397" y="1839906"/>
            <a:chExt cx="6485517" cy="3080837"/>
          </a:xfrm>
        </p:grpSpPr>
        <p:pic>
          <p:nvPicPr>
            <p:cNvPr id="28" name="Immagine 7">
              <a:extLst>
                <a:ext uri="{FF2B5EF4-FFF2-40B4-BE49-F238E27FC236}">
                  <a16:creationId xmlns:a16="http://schemas.microsoft.com/office/drawing/2014/main" id="{26A976F9-1554-E382-7397-7D2A1E7D3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3" b="4303"/>
            <a:stretch/>
          </p:blipFill>
          <p:spPr>
            <a:xfrm>
              <a:off x="8664687" y="2462701"/>
              <a:ext cx="2006227" cy="1026570"/>
            </a:xfrm>
            <a:prstGeom prst="roundRect">
              <a:avLst>
                <a:gd name="adj" fmla="val 16667"/>
              </a:avLst>
            </a:prstGeom>
            <a:ln w="38100">
              <a:solidFill>
                <a:srgbClr val="FFB240"/>
              </a:solidFill>
            </a:ln>
            <a:effectLst/>
          </p:spPr>
        </p:pic>
        <p:sp>
          <p:nvSpPr>
            <p:cNvPr id="29" name="Arco 10">
              <a:extLst>
                <a:ext uri="{FF2B5EF4-FFF2-40B4-BE49-F238E27FC236}">
                  <a16:creationId xmlns:a16="http://schemas.microsoft.com/office/drawing/2014/main" id="{A9EE8A31-73B9-4BBF-050C-5D2500B7E49B}"/>
                </a:ext>
              </a:extLst>
            </p:cNvPr>
            <p:cNvSpPr/>
            <p:nvPr/>
          </p:nvSpPr>
          <p:spPr>
            <a:xfrm rot="5881670">
              <a:off x="5305856" y="719447"/>
              <a:ext cx="3080837" cy="5321755"/>
            </a:xfrm>
            <a:prstGeom prst="arc">
              <a:avLst>
                <a:gd name="adj1" fmla="val 15888772"/>
                <a:gd name="adj2" fmla="val 18335258"/>
              </a:avLst>
            </a:prstGeom>
            <a:ln w="38100">
              <a:solidFill>
                <a:srgbClr val="FFB24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31" name="Rettangolo con angoli arrotondati 6">
            <a:extLst>
              <a:ext uri="{FF2B5EF4-FFF2-40B4-BE49-F238E27FC236}">
                <a16:creationId xmlns:a16="http://schemas.microsoft.com/office/drawing/2014/main" id="{283D1DCB-6A56-75DE-2AB3-757D5CD1D203}"/>
              </a:ext>
            </a:extLst>
          </p:cNvPr>
          <p:cNvSpPr/>
          <p:nvPr/>
        </p:nvSpPr>
        <p:spPr>
          <a:xfrm>
            <a:off x="6563001" y="1594389"/>
            <a:ext cx="2006227" cy="23836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B2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silicon microstrip sensors</a:t>
            </a:r>
            <a:endParaRPr lang="it-IT" sz="1100" dirty="0">
              <a:solidFill>
                <a:schemeClr val="tx1"/>
              </a:solidFill>
            </a:endParaRPr>
          </a:p>
        </p:txBody>
      </p:sp>
      <p:sp>
        <p:nvSpPr>
          <p:cNvPr id="33" name="Rettangolo con angoli arrotondati 6">
            <a:extLst>
              <a:ext uri="{FF2B5EF4-FFF2-40B4-BE49-F238E27FC236}">
                <a16:creationId xmlns:a16="http://schemas.microsoft.com/office/drawing/2014/main" id="{A2984FF8-6FFA-74DB-5670-D0FE9DAC9B92}"/>
              </a:ext>
            </a:extLst>
          </p:cNvPr>
          <p:cNvSpPr/>
          <p:nvPr/>
        </p:nvSpPr>
        <p:spPr>
          <a:xfrm>
            <a:off x="9038717" y="1594195"/>
            <a:ext cx="2006227" cy="238368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33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long crystal</a:t>
            </a:r>
            <a:endParaRPr lang="it-IT" sz="1100" dirty="0">
              <a:solidFill>
                <a:schemeClr val="tx1"/>
              </a:solidFill>
            </a:endParaRPr>
          </a:p>
        </p:txBody>
      </p:sp>
      <p:sp>
        <p:nvSpPr>
          <p:cNvPr id="38" name="Rettangolo con angoli arrotondati 6">
            <a:extLst>
              <a:ext uri="{FF2B5EF4-FFF2-40B4-BE49-F238E27FC236}">
                <a16:creationId xmlns:a16="http://schemas.microsoft.com/office/drawing/2014/main" id="{032127AC-8F96-65B0-1ECD-5AA845B64459}"/>
              </a:ext>
            </a:extLst>
          </p:cNvPr>
          <p:cNvSpPr/>
          <p:nvPr/>
        </p:nvSpPr>
        <p:spPr>
          <a:xfrm>
            <a:off x="696000" y="1841774"/>
            <a:ext cx="3535758" cy="388839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DATA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2024 dataset for two long crystals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Taken at SPS-H8 test bench with 180 GeV beam (70% protons and 30% pions)</a:t>
            </a:r>
            <a:endParaRPr lang="it-IT" sz="2000" dirty="0">
              <a:solidFill>
                <a:schemeClr val="tx1"/>
              </a:solidFill>
            </a:endParaRP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40" name="Arco 10">
            <a:extLst>
              <a:ext uri="{FF2B5EF4-FFF2-40B4-BE49-F238E27FC236}">
                <a16:creationId xmlns:a16="http://schemas.microsoft.com/office/drawing/2014/main" id="{122029BB-78CA-ECED-9462-E247D45FC6DE}"/>
              </a:ext>
            </a:extLst>
          </p:cNvPr>
          <p:cNvSpPr/>
          <p:nvPr/>
        </p:nvSpPr>
        <p:spPr>
          <a:xfrm rot="5881670">
            <a:off x="5254354" y="109026"/>
            <a:ext cx="3080837" cy="5321755"/>
          </a:xfrm>
          <a:prstGeom prst="arc">
            <a:avLst>
              <a:gd name="adj1" fmla="val 15888772"/>
              <a:gd name="adj2" fmla="val 18335258"/>
            </a:avLst>
          </a:prstGeom>
          <a:ln w="38100">
            <a:solidFill>
              <a:srgbClr val="3366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5966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BB00-8BD0-484D-5534-7A387AFD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304838-A0F4-7B3D-1685-4747E09FE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THE ANALYSIS PIPELINE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7177AF-50F4-DF68-59CE-552F0F1B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DDF6E1-63CF-6445-34AD-4120EA01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C64F4F-6C60-1613-05E3-5DE2201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2CCBF23-A07C-46F2-3FA6-BCBEF755B28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698498A5-A73F-DD92-56F0-E23FCB9DDDFF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A236EDB2-B0C1-4A64-3483-2607758CE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00" y="5357064"/>
            <a:ext cx="10515600" cy="906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 dirty="0"/>
              <a:t>Analysis implemented in Python on </a:t>
            </a:r>
            <a:r>
              <a:rPr lang="en-US" sz="2000" i="1" dirty="0" err="1"/>
              <a:t>RDataFrame</a:t>
            </a:r>
            <a:r>
              <a:rPr lang="en-US" sz="2000" i="1" dirty="0"/>
              <a:t> (ROOT).</a:t>
            </a: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045724B7-A4E4-4A10-037E-E2C27544072F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QUALITY FILTERS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Selecting single tracks, alignment check between the upstream and downstream telescope arms</a:t>
            </a:r>
            <a:endParaRPr lang="it-IT" sz="1400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 descr="Badge 1 with solid fill">
            <a:extLst>
              <a:ext uri="{FF2B5EF4-FFF2-40B4-BE49-F238E27FC236}">
                <a16:creationId xmlns:a16="http://schemas.microsoft.com/office/drawing/2014/main" id="{43A9EC78-4911-1179-E016-CFD00C569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sp>
        <p:nvSpPr>
          <p:cNvPr id="33" name="Rettangolo con angoli arrotondati 6">
            <a:extLst>
              <a:ext uri="{FF2B5EF4-FFF2-40B4-BE49-F238E27FC236}">
                <a16:creationId xmlns:a16="http://schemas.microsoft.com/office/drawing/2014/main" id="{4A222AB3-3C05-A4B9-40F3-EE85CA8DCBB2}"/>
              </a:ext>
            </a:extLst>
          </p:cNvPr>
          <p:cNvSpPr/>
          <p:nvPr/>
        </p:nvSpPr>
        <p:spPr>
          <a:xfrm>
            <a:off x="29588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CRYSTAL EDGES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Reconstruct the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spatial window illuminated by the crystal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(2 independent methods)</a:t>
            </a:r>
            <a:endParaRPr lang="it-IT" sz="1400" i="1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35" name="Elemento grafico 17" descr="Badge with solid fill">
            <a:extLst>
              <a:ext uri="{FF2B5EF4-FFF2-40B4-BE49-F238E27FC236}">
                <a16:creationId xmlns:a16="http://schemas.microsoft.com/office/drawing/2014/main" id="{299359E9-CB12-6A3D-05F2-69DA19E99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78800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ttangolo con angoli arrotondati 6">
                <a:extLst>
                  <a:ext uri="{FF2B5EF4-FFF2-40B4-BE49-F238E27FC236}">
                    <a16:creationId xmlns:a16="http://schemas.microsoft.com/office/drawing/2014/main" id="{4B679E7A-8695-F903-A8BE-23175690FF21}"/>
                  </a:ext>
                </a:extLst>
              </p:cNvPr>
              <p:cNvSpPr/>
              <p:nvPr/>
            </p:nvSpPr>
            <p:spPr>
              <a:xfrm>
                <a:off x="5105100" y="2244679"/>
                <a:ext cx="1980000" cy="2803043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TORSION MAP</a:t>
                </a:r>
              </a:p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2D checkerboard grid analysis of the entrance face: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surface fit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ttangolo con angoli arrotondati 6">
                <a:extLst>
                  <a:ext uri="{FF2B5EF4-FFF2-40B4-BE49-F238E27FC236}">
                    <a16:creationId xmlns:a16="http://schemas.microsoft.com/office/drawing/2014/main" id="{4B679E7A-8695-F903-A8BE-23175690FF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100" y="2244679"/>
                <a:ext cx="1980000" cy="280304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Elemento grafico 17" descr="Badge 3 with solid fill">
            <a:extLst>
              <a:ext uri="{FF2B5EF4-FFF2-40B4-BE49-F238E27FC236}">
                <a16:creationId xmlns:a16="http://schemas.microsoft.com/office/drawing/2014/main" id="{2B72C2FD-B8D8-C933-378F-B837192193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100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ttangolo con angoli arrotondati 6">
                <a:extLst>
                  <a:ext uri="{FF2B5EF4-FFF2-40B4-BE49-F238E27FC236}">
                    <a16:creationId xmlns:a16="http://schemas.microsoft.com/office/drawing/2014/main" id="{B2048A9A-8EE3-938C-8DB4-B9F0139FDB12}"/>
                  </a:ext>
                </a:extLst>
              </p:cNvPr>
              <p:cNvSpPr/>
              <p:nvPr/>
            </p:nvSpPr>
            <p:spPr>
              <a:xfrm>
                <a:off x="7251400" y="2244679"/>
                <a:ext cx="1980000" cy="2803043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LINDHARD CUT</a:t>
                </a: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Selecting particles entering within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1/2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sz="1400" dirty="0">
                    <a:solidFill>
                      <a:schemeClr val="tx1"/>
                    </a:solidFill>
                  </a:rPr>
                  <a:t>, corrected point-by-point for torsion</a:t>
                </a: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ttangolo con angoli arrotondati 6">
                <a:extLst>
                  <a:ext uri="{FF2B5EF4-FFF2-40B4-BE49-F238E27FC236}">
                    <a16:creationId xmlns:a16="http://schemas.microsoft.com/office/drawing/2014/main" id="{B2048A9A-8EE3-938C-8DB4-B9F0139FD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400" y="2244679"/>
                <a:ext cx="1980000" cy="280304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Elemento grafico 17" descr="Badge 4 with solid fill">
            <a:extLst>
              <a:ext uri="{FF2B5EF4-FFF2-40B4-BE49-F238E27FC236}">
                <a16:creationId xmlns:a16="http://schemas.microsoft.com/office/drawing/2014/main" id="{7DD4EA96-92CA-4010-E92D-C84367EA0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971400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ttangolo con angoli arrotondati 6">
                <a:extLst>
                  <a:ext uri="{FF2B5EF4-FFF2-40B4-BE49-F238E27FC236}">
                    <a16:creationId xmlns:a16="http://schemas.microsoft.com/office/drawing/2014/main" id="{30BE25C2-49A5-BC1A-8256-363018CD6CB8}"/>
                  </a:ext>
                </a:extLst>
              </p:cNvPr>
              <p:cNvSpPr/>
              <p:nvPr/>
            </p:nvSpPr>
            <p:spPr>
              <a:xfrm>
                <a:off x="9397700" y="2244679"/>
                <a:ext cx="1980000" cy="2803043"/>
              </a:xfrm>
              <a:prstGeom prst="roundRect">
                <a:avLst/>
              </a:prstGeom>
              <a:solidFill>
                <a:srgbClr val="002060">
                  <a:alpha val="20000"/>
                </a:srgbClr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EFFICIENCY</a:t>
                </a: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𝑐ℎ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and the full error budget (statistical and systematic errors)</a:t>
                </a:r>
                <a:endParaRPr lang="it-IT" sz="1400" dirty="0">
                  <a:solidFill>
                    <a:schemeClr val="tx1"/>
                  </a:solidFill>
                </a:endParaRPr>
              </a:p>
              <a:p>
                <a:pPr algn="ctr"/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ttangolo con angoli arrotondati 6">
                <a:extLst>
                  <a:ext uri="{FF2B5EF4-FFF2-40B4-BE49-F238E27FC236}">
                    <a16:creationId xmlns:a16="http://schemas.microsoft.com/office/drawing/2014/main" id="{30BE25C2-49A5-BC1A-8256-363018CD6C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7700" y="2244679"/>
                <a:ext cx="1980000" cy="2803043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Elemento grafico 17" descr="Badge 5 with solid fill">
            <a:extLst>
              <a:ext uri="{FF2B5EF4-FFF2-40B4-BE49-F238E27FC236}">
                <a16:creationId xmlns:a16="http://schemas.microsoft.com/office/drawing/2014/main" id="{A1D8BB13-374B-7E60-937E-824F4E780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117700" y="2386154"/>
            <a:ext cx="540000" cy="540000"/>
          </a:xfrm>
          <a:prstGeom prst="rect">
            <a:avLst/>
          </a:prstGeom>
        </p:spPr>
      </p:pic>
      <p:sp>
        <p:nvSpPr>
          <p:cNvPr id="49" name="Arc 48">
            <a:extLst>
              <a:ext uri="{FF2B5EF4-FFF2-40B4-BE49-F238E27FC236}">
                <a16:creationId xmlns:a16="http://schemas.microsoft.com/office/drawing/2014/main" id="{401A9850-DF5A-F665-74E6-ED5F39CCD7CC}"/>
              </a:ext>
            </a:extLst>
          </p:cNvPr>
          <p:cNvSpPr>
            <a:spLocks noChangeAspect="1"/>
          </p:cNvSpPr>
          <p:nvPr/>
        </p:nvSpPr>
        <p:spPr>
          <a:xfrm rot="-2700000">
            <a:off x="2335650" y="1988436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91603314-3AA2-4286-A840-1AB5A7E41152}"/>
              </a:ext>
            </a:extLst>
          </p:cNvPr>
          <p:cNvSpPr>
            <a:spLocks noChangeAspect="1"/>
          </p:cNvSpPr>
          <p:nvPr/>
        </p:nvSpPr>
        <p:spPr>
          <a:xfrm rot="18900000">
            <a:off x="4481949" y="1988434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2ABD862F-743E-9290-6507-F6181E28EF1B}"/>
              </a:ext>
            </a:extLst>
          </p:cNvPr>
          <p:cNvSpPr>
            <a:spLocks noChangeAspect="1"/>
          </p:cNvSpPr>
          <p:nvPr/>
        </p:nvSpPr>
        <p:spPr>
          <a:xfrm rot="18900000">
            <a:off x="6628246" y="1988434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EB5F038F-53EE-2B3C-CA36-380056A18EA5}"/>
              </a:ext>
            </a:extLst>
          </p:cNvPr>
          <p:cNvSpPr>
            <a:spLocks noChangeAspect="1"/>
          </p:cNvSpPr>
          <p:nvPr/>
        </p:nvSpPr>
        <p:spPr>
          <a:xfrm rot="18900000">
            <a:off x="8776351" y="1988434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162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8F06-B795-FAC4-9689-2DA6B332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A70D88-5E81-997D-BA9B-08FA9031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DETECTOR ALIGNMENT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181442-3EFA-87FC-7C50-6560197F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4D2E9B-51C0-A03D-622F-7DCA357B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391F990-F0BA-6870-047A-4D414D47F79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95058EBE-E027-2497-416D-200B934C5ECF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9C414380-91C2-835D-E81F-5C958EE58BD1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QUALITY FILTERS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Selecting single tracks, alignment check between the upstream and downstream telescope arms</a:t>
            </a:r>
            <a:endParaRPr lang="it-IT" sz="1400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 descr="Badge 1 with solid fill">
            <a:extLst>
              <a:ext uri="{FF2B5EF4-FFF2-40B4-BE49-F238E27FC236}">
                <a16:creationId xmlns:a16="http://schemas.microsoft.com/office/drawing/2014/main" id="{3B648F2D-E0EA-744C-3B1B-5052608E4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pic>
        <p:nvPicPr>
          <p:cNvPr id="7" name="Immagine 7">
            <a:extLst>
              <a:ext uri="{FF2B5EF4-FFF2-40B4-BE49-F238E27FC236}">
                <a16:creationId xmlns:a16="http://schemas.microsoft.com/office/drawing/2014/main" id="{A3C5BFAB-EAD6-595F-2E46-E1A422523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7911" y="2184294"/>
            <a:ext cx="4780431" cy="2074658"/>
          </a:xfrm>
          <a:prstGeom prst="rect">
            <a:avLst/>
          </a:prstGeom>
        </p:spPr>
      </p:pic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0736AFAB-5236-3F03-D1D3-44AF40E2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015" y="1311415"/>
            <a:ext cx="8434985" cy="2008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To ensure that the upstream and downstream detectors are aligned, we check the deviation of particles that did not hit the crystal.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63912E7-36AB-6236-EB06-A1D23B9CC7B6}"/>
              </a:ext>
            </a:extLst>
          </p:cNvPr>
          <p:cNvSpPr txBox="1">
            <a:spLocks/>
          </p:cNvSpPr>
          <p:nvPr/>
        </p:nvSpPr>
        <p:spPr>
          <a:xfrm>
            <a:off x="3061016" y="4803006"/>
            <a:ext cx="3777887" cy="1520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000" dirty="0"/>
              <a:t>We can also check the alignment by doing a linear fit between the upstream and dowstream profiles.</a:t>
            </a:r>
          </a:p>
        </p:txBody>
      </p:sp>
      <p:grpSp>
        <p:nvGrpSpPr>
          <p:cNvPr id="11" name="Gruppo 15">
            <a:extLst>
              <a:ext uri="{FF2B5EF4-FFF2-40B4-BE49-F238E27FC236}">
                <a16:creationId xmlns:a16="http://schemas.microsoft.com/office/drawing/2014/main" id="{D3E049D3-B3E1-74B8-CE2B-487AAE477E1E}"/>
              </a:ext>
            </a:extLst>
          </p:cNvPr>
          <p:cNvGrpSpPr/>
          <p:nvPr/>
        </p:nvGrpSpPr>
        <p:grpSpPr>
          <a:xfrm>
            <a:off x="6354851" y="4199468"/>
            <a:ext cx="5413829" cy="2284101"/>
            <a:chOff x="851293" y="2225424"/>
            <a:chExt cx="8233523" cy="3952091"/>
          </a:xfrm>
        </p:grpSpPr>
        <p:pic>
          <p:nvPicPr>
            <p:cNvPr id="13" name="Segnaposto contenuto 7">
              <a:extLst>
                <a:ext uri="{FF2B5EF4-FFF2-40B4-BE49-F238E27FC236}">
                  <a16:creationId xmlns:a16="http://schemas.microsoft.com/office/drawing/2014/main" id="{85729CE6-81E4-EC84-2590-4F2E29BB0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1293" y="2225424"/>
              <a:ext cx="8233523" cy="395209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ttangolo con angoli arrotondati 10">
                  <a:extLst>
                    <a:ext uri="{FF2B5EF4-FFF2-40B4-BE49-F238E27FC236}">
                      <a16:creationId xmlns:a16="http://schemas.microsoft.com/office/drawing/2014/main" id="{A1217375-BDCD-13BA-23CB-2CD3F83D1826}"/>
                    </a:ext>
                  </a:extLst>
                </p:cNvPr>
                <p:cNvSpPr/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=0.995 </m:t>
                        </m:r>
                      </m:oMath>
                    </m:oMathPara>
                  </a14:m>
                  <a:endParaRPr lang="en-US" sz="1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=0.007</m:t>
                        </m:r>
                      </m:oMath>
                    </m:oMathPara>
                  </a14:m>
                  <a:endParaRPr lang="it-IT" sz="1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ttangolo con angoli arrotondati 10">
                  <a:extLst>
                    <a:ext uri="{FF2B5EF4-FFF2-40B4-BE49-F238E27FC236}">
                      <a16:creationId xmlns:a16="http://schemas.microsoft.com/office/drawing/2014/main" id="{A1217375-BDCD-13BA-23CB-2CD3F83D18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B01EE45E-E586-5E5B-C0BB-1C14E4BDCEC5}"/>
                    </a:ext>
                  </a:extLst>
                </p:cNvPr>
                <p:cNvSpPr/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=0.999</m:t>
                        </m:r>
                      </m:oMath>
                    </m:oMathPara>
                  </a14:m>
                  <a:endParaRPr lang="en-US" sz="1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=0.006</m:t>
                        </m:r>
                      </m:oMath>
                    </m:oMathPara>
                  </a14:m>
                  <a:endParaRPr lang="it-IT" sz="1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B01EE45E-E586-5E5B-C0BB-1C14E4BDCE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91B9BC-5D9C-4493-B1C5-774DF405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27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3E37-478A-099A-1682-A43F9624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68CA415-42AA-9BBC-23B2-D08758344A0D}"/>
              </a:ext>
            </a:extLst>
          </p:cNvPr>
          <p:cNvGrpSpPr/>
          <p:nvPr/>
        </p:nvGrpSpPr>
        <p:grpSpPr>
          <a:xfrm>
            <a:off x="8456459" y="1383996"/>
            <a:ext cx="2923041" cy="2160000"/>
            <a:chOff x="6651322" y="3241606"/>
            <a:chExt cx="3918560" cy="3420000"/>
          </a:xfrm>
        </p:grpSpPr>
        <p:pic>
          <p:nvPicPr>
            <p:cNvPr id="28" name="Immagine 25">
              <a:extLst>
                <a:ext uri="{FF2B5EF4-FFF2-40B4-BE49-F238E27FC236}">
                  <a16:creationId xmlns:a16="http://schemas.microsoft.com/office/drawing/2014/main" id="{A5501EBD-E6F1-82F3-2EF7-E6FE14AFF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51322" y="3241606"/>
              <a:ext cx="3918560" cy="3420000"/>
            </a:xfrm>
            <a:prstGeom prst="rect">
              <a:avLst/>
            </a:prstGeom>
          </p:spPr>
        </p:pic>
        <p:sp>
          <p:nvSpPr>
            <p:cNvPr id="29" name="Rettangolo 8">
              <a:extLst>
                <a:ext uri="{FF2B5EF4-FFF2-40B4-BE49-F238E27FC236}">
                  <a16:creationId xmlns:a16="http://schemas.microsoft.com/office/drawing/2014/main" id="{2832584D-8C0B-6807-2164-152ACC700308}"/>
                </a:ext>
              </a:extLst>
            </p:cNvPr>
            <p:cNvSpPr/>
            <p:nvPr/>
          </p:nvSpPr>
          <p:spPr>
            <a:xfrm>
              <a:off x="7359920" y="4792136"/>
              <a:ext cx="810072" cy="13419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30" name="Connettore diritto 15">
              <a:extLst>
                <a:ext uri="{FF2B5EF4-FFF2-40B4-BE49-F238E27FC236}">
                  <a16:creationId xmlns:a16="http://schemas.microsoft.com/office/drawing/2014/main" id="{BC23D43E-47EC-3769-79DA-7D72CFF57993}"/>
                </a:ext>
              </a:extLst>
            </p:cNvPr>
            <p:cNvCxnSpPr>
              <a:cxnSpLocks/>
            </p:cNvCxnSpPr>
            <p:nvPr/>
          </p:nvCxnSpPr>
          <p:spPr>
            <a:xfrm>
              <a:off x="7359920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diritto 16">
              <a:extLst>
                <a:ext uri="{FF2B5EF4-FFF2-40B4-BE49-F238E27FC236}">
                  <a16:creationId xmlns:a16="http://schemas.microsoft.com/office/drawing/2014/main" id="{D4E81F18-B00D-89E2-BA75-0A18464EF6A0}"/>
                </a:ext>
              </a:extLst>
            </p:cNvPr>
            <p:cNvCxnSpPr>
              <a:cxnSpLocks/>
            </p:cNvCxnSpPr>
            <p:nvPr/>
          </p:nvCxnSpPr>
          <p:spPr>
            <a:xfrm>
              <a:off x="8169992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22">
              <a:extLst>
                <a:ext uri="{FF2B5EF4-FFF2-40B4-BE49-F238E27FC236}">
                  <a16:creationId xmlns:a16="http://schemas.microsoft.com/office/drawing/2014/main" id="{BCB719F9-00A3-0969-E9B0-19FA6D064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4792136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diritto 23">
              <a:extLst>
                <a:ext uri="{FF2B5EF4-FFF2-40B4-BE49-F238E27FC236}">
                  <a16:creationId xmlns:a16="http://schemas.microsoft.com/office/drawing/2014/main" id="{E1CE920C-B93C-3530-BB7D-39F273C0F6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6134098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744CAE0-8493-90C7-DD98-68282B91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CRYSTAL EDGES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577193-6EDD-8344-882F-E25840F3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AAFB88-FDB1-42D7-D8FB-7FB7446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AED7B67-8765-F7B3-F712-AFA68AFDCDF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BE4609EB-C4F9-7E7A-3670-0EEBCD548CB3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D1F6A0CF-6C92-3952-F677-F54524A7F10D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CRYSTAL EDGES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Reconstruct the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spatial window illuminated by the crystal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(2 independent methods)</a:t>
            </a:r>
            <a:endParaRPr lang="it-IT" sz="1400" i="1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>
            <a:extLst>
              <a:ext uri="{FF2B5EF4-FFF2-40B4-BE49-F238E27FC236}">
                <a16:creationId xmlns:a16="http://schemas.microsoft.com/office/drawing/2014/main" id="{F14DC5C2-0FB4-D2F1-1155-CC40514162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F0B84C-EA27-111D-DFE8-463BABD2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C47C1C39-F1FC-BAFD-28F2-B519ACD67540}"/>
              </a:ext>
            </a:extLst>
          </p:cNvPr>
          <p:cNvSpPr>
            <a:spLocks noChangeAspect="1"/>
          </p:cNvSpPr>
          <p:nvPr/>
        </p:nvSpPr>
        <p:spPr>
          <a:xfrm rot="18900000">
            <a:off x="2335650" y="1988436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tangolo con angoli arrotondati 6">
                <a:extLst>
                  <a:ext uri="{FF2B5EF4-FFF2-40B4-BE49-F238E27FC236}">
                    <a16:creationId xmlns:a16="http://schemas.microsoft.com/office/drawing/2014/main" id="{41D53145-443D-E035-54F6-BE5817500456}"/>
                  </a:ext>
                </a:extLst>
              </p:cNvPr>
              <p:cNvSpPr/>
              <p:nvPr/>
            </p:nvSpPr>
            <p:spPr>
              <a:xfrm>
                <a:off x="3330341" y="1319104"/>
                <a:ext cx="8165659" cy="4599491"/>
              </a:xfrm>
              <a:prstGeom prst="roundRect">
                <a:avLst>
                  <a:gd name="adj" fmla="val 0"/>
                </a:avLst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t-IT" sz="1600" b="1" dirty="0">
                    <a:solidFill>
                      <a:srgbClr val="002060"/>
                    </a:solidFill>
                  </a:rPr>
                  <a:t>	METHOD 1: CHANNELED PARTICLES</a:t>
                </a:r>
              </a:p>
              <a:p>
                <a:pPr algn="ctr"/>
                <a:endParaRPr lang="it-IT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Isolate already channeled particles (only uses ~ 20% 			             of data)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Their impact position (x, y) traces the crystal footprint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Use of a sliding window method, which maximize the 		                      number of particles inside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To project the downstream edges back upstream a 			        shift is needed (due to the lateral geometric drift 				     along the </a:t>
                </a:r>
                <a14:m>
                  <m:oMath xmlns:m="http://schemas.openxmlformats.org/officeDocument/2006/math">
                    <m:r>
                      <a:rPr lang="it-IT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1600" dirty="0">
                    <a:solidFill>
                      <a:schemeClr val="tx1"/>
                    </a:solidFill>
                  </a:rPr>
                  <a:t>-axis)</a:t>
                </a:r>
              </a:p>
            </p:txBody>
          </p:sp>
        </mc:Choice>
        <mc:Fallback xmlns="">
          <p:sp>
            <p:nvSpPr>
              <p:cNvPr id="24" name="Rettangolo con angoli arrotondati 6">
                <a:extLst>
                  <a:ext uri="{FF2B5EF4-FFF2-40B4-BE49-F238E27FC236}">
                    <a16:creationId xmlns:a16="http://schemas.microsoft.com/office/drawing/2014/main" id="{41D53145-443D-E035-54F6-BE58175004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341" y="1319104"/>
                <a:ext cx="8165659" cy="4599491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 l="-74"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tangolo con angoli arrotondati 6">
            <a:extLst>
              <a:ext uri="{FF2B5EF4-FFF2-40B4-BE49-F238E27FC236}">
                <a16:creationId xmlns:a16="http://schemas.microsoft.com/office/drawing/2014/main" id="{5EEF2527-E769-ADE2-2474-4C0DCA09A68E}"/>
              </a:ext>
            </a:extLst>
          </p:cNvPr>
          <p:cNvSpPr/>
          <p:nvPr/>
        </p:nvSpPr>
        <p:spPr>
          <a:xfrm>
            <a:off x="3330341" y="6011069"/>
            <a:ext cx="8165659" cy="303997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b="1" dirty="0">
                <a:solidFill>
                  <a:srgbClr val="002060"/>
                </a:solidFill>
              </a:rPr>
              <a:t>	METHOD 2: MULTIPLE COULOMB SCATTERING</a:t>
            </a:r>
          </a:p>
        </p:txBody>
      </p:sp>
      <p:grpSp>
        <p:nvGrpSpPr>
          <p:cNvPr id="34" name="Gruppo 6">
            <a:extLst>
              <a:ext uri="{FF2B5EF4-FFF2-40B4-BE49-F238E27FC236}">
                <a16:creationId xmlns:a16="http://schemas.microsoft.com/office/drawing/2014/main" id="{6B0BF187-5D2E-7409-C596-C5F506403D50}"/>
              </a:ext>
            </a:extLst>
          </p:cNvPr>
          <p:cNvGrpSpPr/>
          <p:nvPr/>
        </p:nvGrpSpPr>
        <p:grpSpPr>
          <a:xfrm>
            <a:off x="7532224" y="3801862"/>
            <a:ext cx="3847276" cy="2044737"/>
            <a:chOff x="3357897" y="2856297"/>
            <a:chExt cx="5476207" cy="3500050"/>
          </a:xfrm>
        </p:grpSpPr>
        <p:pic>
          <p:nvPicPr>
            <p:cNvPr id="35" name="Immagine 7">
              <a:extLst>
                <a:ext uri="{FF2B5EF4-FFF2-40B4-BE49-F238E27FC236}">
                  <a16:creationId xmlns:a16="http://schemas.microsoft.com/office/drawing/2014/main" id="{4DCF9A90-8EC6-F8A8-5298-EA9E649DA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95" b="2210"/>
            <a:stretch>
              <a:fillRect/>
            </a:stretch>
          </p:blipFill>
          <p:spPr>
            <a:xfrm>
              <a:off x="3357897" y="2856297"/>
              <a:ext cx="5476207" cy="3500050"/>
            </a:xfrm>
            <a:prstGeom prst="rect">
              <a:avLst/>
            </a:prstGeom>
          </p:spPr>
        </p:pic>
        <p:sp>
          <p:nvSpPr>
            <p:cNvPr id="36" name="Rettangolo 8">
              <a:extLst>
                <a:ext uri="{FF2B5EF4-FFF2-40B4-BE49-F238E27FC236}">
                  <a16:creationId xmlns:a16="http://schemas.microsoft.com/office/drawing/2014/main" id="{ACD0EAFB-A8F2-3357-9A8E-880D6476DBED}"/>
                </a:ext>
              </a:extLst>
            </p:cNvPr>
            <p:cNvSpPr/>
            <p:nvPr/>
          </p:nvSpPr>
          <p:spPr>
            <a:xfrm>
              <a:off x="5196417" y="3907271"/>
              <a:ext cx="302683" cy="9916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FC8A86F-B8DA-EC75-83B3-F57AA65E02C5}"/>
                  </a:ext>
                </a:extLst>
              </p:cNvPr>
              <p:cNvSpPr/>
              <p:nvPr/>
            </p:nvSpPr>
            <p:spPr>
              <a:xfrm>
                <a:off x="5267960" y="4415844"/>
                <a:ext cx="2147764" cy="52699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0" dirty="0">
                    <a:solidFill>
                      <a:schemeClr val="tx1"/>
                    </a:solidFill>
                  </a:rPr>
                  <a:t>Selected window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×12.8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6FC8A86F-B8DA-EC75-83B3-F57AA65E02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960" y="4415844"/>
                <a:ext cx="2147764" cy="526996"/>
              </a:xfrm>
              <a:prstGeom prst="roundRect">
                <a:avLst/>
              </a:prstGeom>
              <a:blipFill>
                <a:blip r:embed="rId7"/>
                <a:stretch>
                  <a:fillRect t="-6667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Arc 46">
            <a:extLst>
              <a:ext uri="{FF2B5EF4-FFF2-40B4-BE49-F238E27FC236}">
                <a16:creationId xmlns:a16="http://schemas.microsoft.com/office/drawing/2014/main" id="{D92DF3CF-3D3D-F89B-3A97-0634D6606CFA}"/>
              </a:ext>
            </a:extLst>
          </p:cNvPr>
          <p:cNvSpPr>
            <a:spLocks noChangeAspect="1"/>
          </p:cNvSpPr>
          <p:nvPr/>
        </p:nvSpPr>
        <p:spPr>
          <a:xfrm rot="18900000">
            <a:off x="6867862" y="3893848"/>
            <a:ext cx="2267108" cy="2267108"/>
          </a:xfrm>
          <a:prstGeom prst="arc">
            <a:avLst>
              <a:gd name="adj1" fmla="val 15450040"/>
              <a:gd name="adj2" fmla="val 366258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D459DD-97AE-6E59-E779-BA18D8DD4A08}"/>
              </a:ext>
            </a:extLst>
          </p:cNvPr>
          <p:cNvGrpSpPr>
            <a:grpSpLocks noChangeAspect="1"/>
          </p:cNvGrpSpPr>
          <p:nvPr/>
        </p:nvGrpSpPr>
        <p:grpSpPr>
          <a:xfrm>
            <a:off x="12620267" y="1438388"/>
            <a:ext cx="2172598" cy="1895532"/>
            <a:chOff x="6651267" y="3242140"/>
            <a:chExt cx="3918670" cy="3418932"/>
          </a:xfrm>
        </p:grpSpPr>
        <p:pic>
          <p:nvPicPr>
            <p:cNvPr id="49" name="Immagine 25">
              <a:extLst>
                <a:ext uri="{FF2B5EF4-FFF2-40B4-BE49-F238E27FC236}">
                  <a16:creationId xmlns:a16="http://schemas.microsoft.com/office/drawing/2014/main" id="{8E94EB5A-4F43-6CBD-4C92-4CA9F1757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51267" y="3242140"/>
              <a:ext cx="3918670" cy="3418932"/>
            </a:xfrm>
            <a:prstGeom prst="rect">
              <a:avLst/>
            </a:prstGeom>
          </p:spPr>
        </p:pic>
        <p:sp>
          <p:nvSpPr>
            <p:cNvPr id="50" name="Rettangolo 10">
              <a:extLst>
                <a:ext uri="{FF2B5EF4-FFF2-40B4-BE49-F238E27FC236}">
                  <a16:creationId xmlns:a16="http://schemas.microsoft.com/office/drawing/2014/main" id="{4C842739-3CDC-C45E-E714-D97D9BED5D0F}"/>
                </a:ext>
              </a:extLst>
            </p:cNvPr>
            <p:cNvSpPr/>
            <p:nvPr/>
          </p:nvSpPr>
          <p:spPr>
            <a:xfrm>
              <a:off x="7266789" y="4792137"/>
              <a:ext cx="810071" cy="1341962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1" name="Rettangolo 13">
              <a:extLst>
                <a:ext uri="{FF2B5EF4-FFF2-40B4-BE49-F238E27FC236}">
                  <a16:creationId xmlns:a16="http://schemas.microsoft.com/office/drawing/2014/main" id="{F66C269B-AD02-FB23-A310-25CFF046CF84}"/>
                </a:ext>
              </a:extLst>
            </p:cNvPr>
            <p:cNvSpPr/>
            <p:nvPr/>
          </p:nvSpPr>
          <p:spPr>
            <a:xfrm>
              <a:off x="7359920" y="4792136"/>
              <a:ext cx="810072" cy="13419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52" name="Connettore diritto 18">
              <a:extLst>
                <a:ext uri="{FF2B5EF4-FFF2-40B4-BE49-F238E27FC236}">
                  <a16:creationId xmlns:a16="http://schemas.microsoft.com/office/drawing/2014/main" id="{CF40EFBB-9592-14FD-FD6F-31C44D6F346A}"/>
                </a:ext>
              </a:extLst>
            </p:cNvPr>
            <p:cNvCxnSpPr>
              <a:cxnSpLocks/>
            </p:cNvCxnSpPr>
            <p:nvPr/>
          </p:nvCxnSpPr>
          <p:spPr>
            <a:xfrm>
              <a:off x="7359920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diritto 19">
              <a:extLst>
                <a:ext uri="{FF2B5EF4-FFF2-40B4-BE49-F238E27FC236}">
                  <a16:creationId xmlns:a16="http://schemas.microsoft.com/office/drawing/2014/main" id="{C97A30C5-F6A4-B200-3F6A-B463F6AC4C02}"/>
                </a:ext>
              </a:extLst>
            </p:cNvPr>
            <p:cNvCxnSpPr>
              <a:cxnSpLocks/>
            </p:cNvCxnSpPr>
            <p:nvPr/>
          </p:nvCxnSpPr>
          <p:spPr>
            <a:xfrm>
              <a:off x="8169992" y="3440113"/>
              <a:ext cx="0" cy="1038225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ttore diritto 20">
              <a:extLst>
                <a:ext uri="{FF2B5EF4-FFF2-40B4-BE49-F238E27FC236}">
                  <a16:creationId xmlns:a16="http://schemas.microsoft.com/office/drawing/2014/main" id="{7DD34DDB-64B3-960E-FD00-1EC88B81EB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6134098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diritto 24">
              <a:extLst>
                <a:ext uri="{FF2B5EF4-FFF2-40B4-BE49-F238E27FC236}">
                  <a16:creationId xmlns:a16="http://schemas.microsoft.com/office/drawing/2014/main" id="{666D2C75-53F9-9B27-CD77-AA750A933C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4637" y="4792136"/>
              <a:ext cx="1203325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651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8AFEE-A9AE-1ED3-00BC-22AC79153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E21BAC-A4C6-9734-B60C-8BEA5928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CRYSTAL EDGES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AB24C1-4075-A035-B835-4E031D14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B2399E-E2C6-3E32-4364-A376691B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889219B-5A52-B5EE-1307-049FB718D0C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9430FAD5-E1CF-8398-8E4E-324D2B82E1A2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ttangolo con angoli arrotondati 6">
            <a:extLst>
              <a:ext uri="{FF2B5EF4-FFF2-40B4-BE49-F238E27FC236}">
                <a16:creationId xmlns:a16="http://schemas.microsoft.com/office/drawing/2014/main" id="{F3975293-84A2-5917-3ED7-C5258084931B}"/>
              </a:ext>
            </a:extLst>
          </p:cNvPr>
          <p:cNvSpPr/>
          <p:nvPr/>
        </p:nvSpPr>
        <p:spPr>
          <a:xfrm>
            <a:off x="812500" y="2244679"/>
            <a:ext cx="1980000" cy="2803043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endParaRPr lang="it-IT" sz="1400" b="1" dirty="0">
              <a:solidFill>
                <a:srgbClr val="002060"/>
              </a:solidFill>
            </a:endParaRPr>
          </a:p>
          <a:p>
            <a:pPr algn="ctr"/>
            <a:r>
              <a:rPr lang="it-IT" sz="1400" b="1" dirty="0">
                <a:solidFill>
                  <a:srgbClr val="002060"/>
                </a:solidFill>
              </a:rPr>
              <a:t>CRYSTAL EDGES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Reconstruct the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spatial window illuminated by the crystal 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(2 independent methods)</a:t>
            </a:r>
            <a:endParaRPr lang="it-IT" sz="1400" i="1" dirty="0">
              <a:solidFill>
                <a:schemeClr val="tx1"/>
              </a:solidFill>
            </a:endParaRP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pic>
        <p:nvPicPr>
          <p:cNvPr id="22" name="Elemento grafico 17">
            <a:extLst>
              <a:ext uri="{FF2B5EF4-FFF2-40B4-BE49-F238E27FC236}">
                <a16:creationId xmlns:a16="http://schemas.microsoft.com/office/drawing/2014/main" id="{4FE42CD4-895D-D36E-D547-C1FF9526D1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32500" y="2386154"/>
            <a:ext cx="540000" cy="540000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95EB9E-8229-BD27-F419-2F68B1E2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262E3F75-7D0D-F549-22AF-77DD913A42EE}"/>
              </a:ext>
            </a:extLst>
          </p:cNvPr>
          <p:cNvSpPr>
            <a:spLocks noChangeAspect="1"/>
          </p:cNvSpPr>
          <p:nvPr/>
        </p:nvSpPr>
        <p:spPr>
          <a:xfrm rot="2700000" flipV="1">
            <a:off x="2335650" y="4225641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6">
            <a:extLst>
              <a:ext uri="{FF2B5EF4-FFF2-40B4-BE49-F238E27FC236}">
                <a16:creationId xmlns:a16="http://schemas.microsoft.com/office/drawing/2014/main" id="{314CEBA3-88F5-4380-352F-D54DC27550FE}"/>
              </a:ext>
            </a:extLst>
          </p:cNvPr>
          <p:cNvSpPr/>
          <p:nvPr/>
        </p:nvSpPr>
        <p:spPr>
          <a:xfrm>
            <a:off x="3330341" y="1319105"/>
            <a:ext cx="8165659" cy="30338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b="1" dirty="0">
                <a:solidFill>
                  <a:srgbClr val="002060"/>
                </a:solidFill>
              </a:rPr>
              <a:t>	METHOD 1: CHANNELED PARTICLES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tangolo con angoli arrotondati 6">
                <a:extLst>
                  <a:ext uri="{FF2B5EF4-FFF2-40B4-BE49-F238E27FC236}">
                    <a16:creationId xmlns:a16="http://schemas.microsoft.com/office/drawing/2014/main" id="{C2E062FB-803B-A1DA-635C-37C16DA3F4A8}"/>
                  </a:ext>
                </a:extLst>
              </p:cNvPr>
              <p:cNvSpPr/>
              <p:nvPr/>
            </p:nvSpPr>
            <p:spPr>
              <a:xfrm>
                <a:off x="3330341" y="1714967"/>
                <a:ext cx="8165659" cy="4600100"/>
              </a:xfrm>
              <a:prstGeom prst="roundRect">
                <a:avLst>
                  <a:gd name="adj" fmla="val 0"/>
                </a:avLst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it-IT" sz="1600" b="1" dirty="0">
                    <a:solidFill>
                      <a:srgbClr val="002060"/>
                    </a:solidFill>
                  </a:rPr>
                  <a:t>	METHOD 2: MULTIPLE COULOMB SCATTERING</a:t>
                </a:r>
              </a:p>
              <a:p>
                <a:pPr algn="ctr"/>
                <a:endParaRPr lang="it-IT" sz="16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Particles that physically crosses the crystal picks up extra Coulomb scattering, the ones outside the crystal do not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The width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it-IT" sz="1600" dirty="0">
                    <a:solidFill>
                      <a:schemeClr val="tx1"/>
                    </a:solidFill>
                  </a:rPr>
                  <a:t> of the outgoing angular distribution is measured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solidFill>
                      <a:schemeClr val="tx1"/>
                    </a:solidFill>
                  </a:rPr>
                  <a:t>A sharp transition marks the edges</a:t>
                </a:r>
              </a:p>
            </p:txBody>
          </p:sp>
        </mc:Choice>
        <mc:Fallback xmlns="">
          <p:sp>
            <p:nvSpPr>
              <p:cNvPr id="26" name="Rettangolo con angoli arrotondati 6">
                <a:extLst>
                  <a:ext uri="{FF2B5EF4-FFF2-40B4-BE49-F238E27FC236}">
                    <a16:creationId xmlns:a16="http://schemas.microsoft.com/office/drawing/2014/main" id="{C2E062FB-803B-A1DA-635C-37C16DA3F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341" y="1714967"/>
                <a:ext cx="8165659" cy="4600100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l="-74"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C3B7113F-6397-B69E-4B8D-F1A8B58C73F9}"/>
              </a:ext>
            </a:extLst>
          </p:cNvPr>
          <p:cNvGrpSpPr/>
          <p:nvPr/>
        </p:nvGrpSpPr>
        <p:grpSpPr>
          <a:xfrm>
            <a:off x="3983946" y="3224463"/>
            <a:ext cx="7369854" cy="2945294"/>
            <a:chOff x="2271165" y="1312863"/>
            <a:chExt cx="9835128" cy="495379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709400-AADD-5444-9388-AA1CFF1DBE37}"/>
                </a:ext>
              </a:extLst>
            </p:cNvPr>
            <p:cNvGrpSpPr/>
            <p:nvPr/>
          </p:nvGrpSpPr>
          <p:grpSpPr>
            <a:xfrm>
              <a:off x="2271165" y="1312863"/>
              <a:ext cx="7649670" cy="4864100"/>
              <a:chOff x="2271165" y="1312863"/>
              <a:chExt cx="7649670" cy="4864100"/>
            </a:xfrm>
          </p:grpSpPr>
          <p:pic>
            <p:nvPicPr>
              <p:cNvPr id="14" name="Content Placeholder 8">
                <a:extLst>
                  <a:ext uri="{FF2B5EF4-FFF2-40B4-BE49-F238E27FC236}">
                    <a16:creationId xmlns:a16="http://schemas.microsoft.com/office/drawing/2014/main" id="{D970EEAB-ECC0-1C8D-2BF3-051AF267B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71165" y="1312863"/>
                <a:ext cx="7649670" cy="4864100"/>
              </a:xfrm>
              <a:prstGeom prst="rect">
                <a:avLst/>
              </a:prstGeom>
            </p:spPr>
          </p:pic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D0DA6A2-B596-8E73-932D-D94D4AD83B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8076" y="4061172"/>
                <a:ext cx="1470481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0B8862-C55B-E599-8FF9-77A6F573B7C6}"/>
                </a:ext>
              </a:extLst>
            </p:cNvPr>
            <p:cNvGrpSpPr/>
            <p:nvPr/>
          </p:nvGrpSpPr>
          <p:grpSpPr>
            <a:xfrm>
              <a:off x="6426200" y="1451083"/>
              <a:ext cx="4954411" cy="1800000"/>
              <a:chOff x="6426200" y="1451083"/>
              <a:chExt cx="4954411" cy="18000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CB55324-16CA-4266-D690-8136E3409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96"/>
              <a:stretch>
                <a:fillRect/>
              </a:stretch>
            </p:blipFill>
            <p:spPr>
              <a:xfrm>
                <a:off x="7928946" y="1451083"/>
                <a:ext cx="2687477" cy="1800000"/>
              </a:xfrm>
              <a:prstGeom prst="rect">
                <a:avLst/>
              </a:prstGeom>
              <a:ln w="28575">
                <a:solidFill>
                  <a:srgbClr val="FFC000"/>
                </a:solidFill>
              </a:ln>
            </p:spPr>
          </p:pic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539DDDCE-D8C7-ACFA-1343-5F162D641ADB}"/>
                  </a:ext>
                </a:extLst>
              </p:cNvPr>
              <p:cNvSpPr/>
              <p:nvPr/>
            </p:nvSpPr>
            <p:spPr>
              <a:xfrm>
                <a:off x="9875624" y="1845194"/>
                <a:ext cx="1504987" cy="59312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INSIDE</a:t>
                </a:r>
                <a:endParaRPr lang="it-IT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E94C98E-F4DD-4E85-B680-F85B3BD81E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26200" y="2282677"/>
                <a:ext cx="1502746" cy="155641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F33F30F-169E-59E6-A015-8880E477029D}"/>
                </a:ext>
              </a:extLst>
            </p:cNvPr>
            <p:cNvGrpSpPr/>
            <p:nvPr/>
          </p:nvGrpSpPr>
          <p:grpSpPr>
            <a:xfrm>
              <a:off x="7806088" y="3873532"/>
              <a:ext cx="4300205" cy="2393124"/>
              <a:chOff x="7806088" y="3873532"/>
              <a:chExt cx="4300205" cy="2393124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02DA24C7-7C80-35E1-4ADA-4350A90D7C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355"/>
              <a:stretch>
                <a:fillRect/>
              </a:stretch>
            </p:blipFill>
            <p:spPr>
              <a:xfrm>
                <a:off x="9272684" y="4466656"/>
                <a:ext cx="2657940" cy="1800000"/>
              </a:xfrm>
              <a:prstGeom prst="rect">
                <a:avLst/>
              </a:prstGeom>
              <a:ln w="28575">
                <a:solidFill>
                  <a:srgbClr val="FFC000"/>
                </a:solidFill>
              </a:ln>
            </p:spPr>
          </p:pic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EAD24B3-6E12-E4EB-2325-684C66F12F98}"/>
                  </a:ext>
                </a:extLst>
              </p:cNvPr>
              <p:cNvSpPr/>
              <p:nvPr/>
            </p:nvSpPr>
            <p:spPr>
              <a:xfrm>
                <a:off x="10601306" y="3873532"/>
                <a:ext cx="1504987" cy="59312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OUTSIDE</a:t>
                </a:r>
                <a:endParaRPr lang="it-IT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90259C4-CCF3-C48A-D7BA-940B1E70B4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806088" y="5406917"/>
                <a:ext cx="1466596" cy="279591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81EF8A2-EF70-FBAB-D6F2-9BA31C160FE3}"/>
                  </a:ext>
                </a:extLst>
              </p:cNvPr>
              <p:cNvSpPr/>
              <p:nvPr/>
            </p:nvSpPr>
            <p:spPr>
              <a:xfrm>
                <a:off x="6187349" y="4964788"/>
                <a:ext cx="736889" cy="269546"/>
              </a:xfrm>
              <a:prstGeom prst="round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81EF8A2-EF70-FBAB-D6F2-9BA31C160F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349" y="4964788"/>
                <a:ext cx="736889" cy="26954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02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DD08-9028-2626-0C30-16CE4706D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egnaposto contenuto 9">
            <a:extLst>
              <a:ext uri="{FF2B5EF4-FFF2-40B4-BE49-F238E27FC236}">
                <a16:creationId xmlns:a16="http://schemas.microsoft.com/office/drawing/2014/main" id="{291DFA50-9092-7657-D59A-7FE317D11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7" t="7880" r="4789" b="6508"/>
          <a:stretch>
            <a:fillRect/>
          </a:stretch>
        </p:blipFill>
        <p:spPr>
          <a:xfrm>
            <a:off x="5985135" y="3442994"/>
            <a:ext cx="2162019" cy="159073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F9DDEA8-1128-F246-5D82-1255EDD6C4DC}"/>
              </a:ext>
            </a:extLst>
          </p:cNvPr>
          <p:cNvSpPr/>
          <p:nvPr/>
        </p:nvSpPr>
        <p:spPr>
          <a:xfrm>
            <a:off x="8064537" y="3324605"/>
            <a:ext cx="214314" cy="309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C89B334-8FC2-8557-7DF6-C6AF75D1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ANALYSIS: MAPPING THE TORSION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9A8210-84E1-1B1F-B7A2-C78D16A1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F4CA95-60D2-E98C-73BD-3775E7D8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89D8718-61CF-C8C9-3449-EDE596B88E94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DA6986EC-16C8-481B-0365-C4CCE0C1C52E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PRELIMINARY 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con angoli arrotondati 6">
                <a:extLst>
                  <a:ext uri="{FF2B5EF4-FFF2-40B4-BE49-F238E27FC236}">
                    <a16:creationId xmlns:a16="http://schemas.microsoft.com/office/drawing/2014/main" id="{F2615BE5-D9C4-0BBA-8176-CDC1C4A50E23}"/>
                  </a:ext>
                </a:extLst>
              </p:cNvPr>
              <p:cNvSpPr/>
              <p:nvPr/>
            </p:nvSpPr>
            <p:spPr>
              <a:xfrm>
                <a:off x="566964" y="2244679"/>
                <a:ext cx="1980000" cy="2803043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14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1400" b="1" dirty="0">
                    <a:solidFill>
                      <a:srgbClr val="002060"/>
                    </a:solidFill>
                  </a:rPr>
                  <a:t>TORSION MAP</a:t>
                </a:r>
              </a:p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2D checkerboard grid analysis of the entrance face:</a:t>
                </a:r>
              </a:p>
              <a:p>
                <a:pPr algn="ctr"/>
                <a:r>
                  <a:rPr lang="it-IT" sz="1400" dirty="0">
                    <a:solidFill>
                      <a:schemeClr val="tx1"/>
                    </a:solidFill>
                  </a:rPr>
                  <a:t>surface fit to obtain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ttangolo con angoli arrotondati 6">
                <a:extLst>
                  <a:ext uri="{FF2B5EF4-FFF2-40B4-BE49-F238E27FC236}">
                    <a16:creationId xmlns:a16="http://schemas.microsoft.com/office/drawing/2014/main" id="{F2615BE5-D9C4-0BBA-8176-CDC1C4A50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64" y="2244679"/>
                <a:ext cx="1980000" cy="280304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Elemento grafico 17">
            <a:extLst>
              <a:ext uri="{FF2B5EF4-FFF2-40B4-BE49-F238E27FC236}">
                <a16:creationId xmlns:a16="http://schemas.microsoft.com/office/drawing/2014/main" id="{86DCC9A3-5A10-C18E-FF21-9136E08DD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86964" y="2386154"/>
            <a:ext cx="54000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egnaposto contenuto 2">
                <a:extLst>
                  <a:ext uri="{FF2B5EF4-FFF2-40B4-BE49-F238E27FC236}">
                    <a16:creationId xmlns:a16="http://schemas.microsoft.com/office/drawing/2014/main" id="{224E4126-2FFD-D3D0-8564-E3DD2F449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61015" y="1407780"/>
                <a:ext cx="8434985" cy="1869086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The torsion effect is not negligible in long crystals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it-IT" sz="2000" dirty="0"/>
                  <a:t>The crystal is not perfectly rigid: the orientation of the crystalline planes rotates slightly across its surface </a:t>
                </a:r>
              </a:p>
              <a:p>
                <a:r>
                  <a:rPr lang="it-IT" sz="2000" dirty="0"/>
                  <a:t>The optimal entry angle is therefore not unique, but varies point by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23" name="Segnaposto contenuto 2">
                <a:extLst>
                  <a:ext uri="{FF2B5EF4-FFF2-40B4-BE49-F238E27FC236}">
                    <a16:creationId xmlns:a16="http://schemas.microsoft.com/office/drawing/2014/main" id="{224E4126-2FFD-D3D0-8564-E3DD2F449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61015" y="1407780"/>
                <a:ext cx="8434985" cy="1869086"/>
              </a:xfrm>
              <a:blipFill>
                <a:blip r:embed="rId6"/>
                <a:stretch>
                  <a:fillRect l="-650" t="-32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8AC3DF-93FA-F55A-4650-BED6BBC4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F3E583B3-96B7-3FDA-F22B-A478560F8993}"/>
              </a:ext>
            </a:extLst>
          </p:cNvPr>
          <p:cNvSpPr>
            <a:spLocks noChangeAspect="1"/>
          </p:cNvSpPr>
          <p:nvPr/>
        </p:nvSpPr>
        <p:spPr>
          <a:xfrm rot="2700000" flipV="1">
            <a:off x="2090114" y="4225641"/>
            <a:ext cx="1080000" cy="1080000"/>
          </a:xfrm>
          <a:prstGeom prst="arc">
            <a:avLst>
              <a:gd name="adj1" fmla="val 15450040"/>
              <a:gd name="adj2" fmla="val 0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6">
            <a:extLst>
              <a:ext uri="{FF2B5EF4-FFF2-40B4-BE49-F238E27FC236}">
                <a16:creationId xmlns:a16="http://schemas.microsoft.com/office/drawing/2014/main" id="{F4A9ED32-D519-F0C5-EED7-810759FC1EB7}"/>
              </a:ext>
            </a:extLst>
          </p:cNvPr>
          <p:cNvSpPr/>
          <p:nvPr/>
        </p:nvSpPr>
        <p:spPr>
          <a:xfrm>
            <a:off x="2713264" y="3429000"/>
            <a:ext cx="1800000" cy="1618722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Beam spot divided into a 0.1 mm (</a:t>
            </a:r>
            <a:r>
              <a:rPr lang="en-US" sz="1400" dirty="0" err="1">
                <a:solidFill>
                  <a:schemeClr val="tx1"/>
                </a:solidFill>
              </a:rPr>
              <a:t>x,y</a:t>
            </a:r>
            <a:r>
              <a:rPr lang="en-US" sz="1400" dirty="0">
                <a:solidFill>
                  <a:schemeClr val="tx1"/>
                </a:solidFill>
              </a:rPr>
              <a:t>) grid </a:t>
            </a:r>
            <a:endParaRPr lang="it-IT" sz="1400" i="1" dirty="0">
              <a:solidFill>
                <a:schemeClr val="tx1"/>
              </a:solidFill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22258AA-FD7A-74B6-EAB1-B74FCE845900}"/>
              </a:ext>
            </a:extLst>
          </p:cNvPr>
          <p:cNvSpPr>
            <a:spLocks noChangeAspect="1"/>
          </p:cNvSpPr>
          <p:nvPr/>
        </p:nvSpPr>
        <p:spPr>
          <a:xfrm rot="20839102">
            <a:off x="10535212" y="4569285"/>
            <a:ext cx="1080000" cy="1080000"/>
          </a:xfrm>
          <a:prstGeom prst="arc">
            <a:avLst>
              <a:gd name="adj1" fmla="val 18833306"/>
              <a:gd name="adj2" fmla="val 4285032"/>
            </a:avLst>
          </a:prstGeom>
          <a:ln w="38100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tangolo con angoli arrotondati 6">
                <a:extLst>
                  <a:ext uri="{FF2B5EF4-FFF2-40B4-BE49-F238E27FC236}">
                    <a16:creationId xmlns:a16="http://schemas.microsoft.com/office/drawing/2014/main" id="{15D21487-5C64-5609-B311-3681C246E4D0}"/>
                  </a:ext>
                </a:extLst>
              </p:cNvPr>
              <p:cNvSpPr/>
              <p:nvPr/>
            </p:nvSpPr>
            <p:spPr>
              <a:xfrm>
                <a:off x="3478459" y="5300133"/>
                <a:ext cx="7714474" cy="988840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RESULTS</a:t>
                </a:r>
                <a:r>
                  <a:rPr lang="en-US" sz="1400" dirty="0">
                    <a:solidFill>
                      <a:schemeClr val="tx1"/>
                    </a:solidFill>
                  </a:rPr>
                  <a:t>: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Torsion along the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-axis: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=5.98(3) 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Negligible torsion along the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-axis: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ttangolo con angoli arrotondati 6">
                <a:extLst>
                  <a:ext uri="{FF2B5EF4-FFF2-40B4-BE49-F238E27FC236}">
                    <a16:creationId xmlns:a16="http://schemas.microsoft.com/office/drawing/2014/main" id="{15D21487-5C64-5609-B311-3681C246E4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459" y="5300133"/>
                <a:ext cx="7714474" cy="98884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Immagine 7">
            <a:extLst>
              <a:ext uri="{FF2B5EF4-FFF2-40B4-BE49-F238E27FC236}">
                <a16:creationId xmlns:a16="http://schemas.microsoft.com/office/drawing/2014/main" id="{0ED073E6-6819-2BA1-641A-69CBCD8CD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" t="8226" r="12744" b="6082"/>
          <a:stretch>
            <a:fillRect/>
          </a:stretch>
        </p:blipFill>
        <p:spPr>
          <a:xfrm>
            <a:off x="9600550" y="3439586"/>
            <a:ext cx="1935762" cy="1591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A306FBB-6977-C06D-0C26-41CB9B97CE4D}"/>
              </a:ext>
            </a:extLst>
          </p:cNvPr>
          <p:cNvSpPr/>
          <p:nvPr/>
        </p:nvSpPr>
        <p:spPr>
          <a:xfrm>
            <a:off x="8034904" y="4857086"/>
            <a:ext cx="214314" cy="3099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tangolo con angoli arrotondati 6">
                <a:extLst>
                  <a:ext uri="{FF2B5EF4-FFF2-40B4-BE49-F238E27FC236}">
                    <a16:creationId xmlns:a16="http://schemas.microsoft.com/office/drawing/2014/main" id="{0163061F-02B5-1802-8BB7-B05F7FD3F822}"/>
                  </a:ext>
                </a:extLst>
              </p:cNvPr>
              <p:cNvSpPr/>
              <p:nvPr/>
            </p:nvSpPr>
            <p:spPr>
              <a:xfrm>
                <a:off x="4693264" y="3429000"/>
                <a:ext cx="3471775" cy="1618722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Angular scan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for each cell</a:t>
                </a:r>
                <a:endParaRPr lang="it-IT" sz="1400" baseline="-25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local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400" b="0" dirty="0">
                  <a:solidFill>
                    <a:schemeClr val="tx1"/>
                  </a:solidFill>
                </a:endParaRP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that maximize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efficiency</a:t>
                </a:r>
              </a:p>
            </p:txBody>
          </p:sp>
        </mc:Choice>
        <mc:Fallback xmlns="">
          <p:sp>
            <p:nvSpPr>
              <p:cNvPr id="14" name="Rettangolo con angoli arrotondati 6">
                <a:extLst>
                  <a:ext uri="{FF2B5EF4-FFF2-40B4-BE49-F238E27FC236}">
                    <a16:creationId xmlns:a16="http://schemas.microsoft.com/office/drawing/2014/main" id="{0163061F-02B5-1802-8BB7-B05F7FD3F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264" y="3429000"/>
                <a:ext cx="3471775" cy="1618722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tangolo con angoli arrotondati 6">
                <a:extLst>
                  <a:ext uri="{FF2B5EF4-FFF2-40B4-BE49-F238E27FC236}">
                    <a16:creationId xmlns:a16="http://schemas.microsoft.com/office/drawing/2014/main" id="{BF9B2FEB-E908-A7D9-F85A-26940B26176F}"/>
                  </a:ext>
                </a:extLst>
              </p:cNvPr>
              <p:cNvSpPr/>
              <p:nvPr/>
            </p:nvSpPr>
            <p:spPr>
              <a:xfrm>
                <a:off x="8392663" y="3429000"/>
                <a:ext cx="3156647" cy="1618722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dirty="0">
                    <a:solidFill>
                      <a:schemeClr val="tx1"/>
                    </a:solidFill>
                  </a:rPr>
                  <a:t>Surface fit</a:t>
                </a:r>
                <a:endParaRPr lang="en-US" sz="1400" i="1" dirty="0">
                  <a:solidFill>
                    <a:schemeClr val="tx1"/>
                  </a:solidFill>
                </a:endParaRPr>
              </a:p>
              <a:p>
                <a:r>
                  <a:rPr lang="en-US" sz="1400" i="1" dirty="0">
                    <a:solidFill>
                      <a:schemeClr val="tx1"/>
                    </a:solidFill>
                  </a:rPr>
                  <a:t>(parabolic)</a:t>
                </a:r>
                <a:endParaRPr lang="en-US" sz="1400" dirty="0">
                  <a:solidFill>
                    <a:schemeClr val="tx1"/>
                  </a:solidFill>
                </a:endParaRP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to extract the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global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it-IT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ttangolo con angoli arrotondati 6">
                <a:extLst>
                  <a:ext uri="{FF2B5EF4-FFF2-40B4-BE49-F238E27FC236}">
                    <a16:creationId xmlns:a16="http://schemas.microsoft.com/office/drawing/2014/main" id="{BF9B2FEB-E908-A7D9-F85A-26940B2617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663" y="3429000"/>
                <a:ext cx="3156647" cy="1618722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10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04C8-9872-7C52-EE1E-D2343DDF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EAE736-990C-04E2-A469-14EA0E520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712E79-679B-AEF9-FAEC-68650064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87B262-9215-0766-7727-24C29FF1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CA631F0-CF72-53B4-5933-C963F2F0858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1A547D99-8AA5-3755-CBF6-A7BBB5771699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3D17D0-BEF7-1264-D932-6811E2D5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con angoli arrotondati 25">
                <a:extLst>
                  <a:ext uri="{FF2B5EF4-FFF2-40B4-BE49-F238E27FC236}">
                    <a16:creationId xmlns:a16="http://schemas.microsoft.com/office/drawing/2014/main" id="{D4B3591F-7CC8-9171-BF48-EBB77348090C}"/>
                  </a:ext>
                </a:extLst>
              </p:cNvPr>
              <p:cNvSpPr/>
              <p:nvPr/>
            </p:nvSpPr>
            <p:spPr>
              <a:xfrm>
                <a:off x="3876861" y="1426291"/>
                <a:ext cx="4436478" cy="1458747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 dirty="0">
                    <a:solidFill>
                      <a:srgbClr val="FFC000"/>
                    </a:solidFill>
                  </a:rPr>
                  <a:t>CHANNELING EFFICIENCY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𝒄𝒉</m:t>
                          </m:r>
                        </m:sub>
                      </m:sSub>
                      <m:r>
                        <a:rPr lang="it-IT" sz="24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𝒄𝒉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2400" b="1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24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" name="Rettangolo con angoli arrotondati 25">
                <a:extLst>
                  <a:ext uri="{FF2B5EF4-FFF2-40B4-BE49-F238E27FC236}">
                    <a16:creationId xmlns:a16="http://schemas.microsoft.com/office/drawing/2014/main" id="{D4B3591F-7CC8-9171-BF48-EBB773480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861" y="1426291"/>
                <a:ext cx="4436478" cy="145874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8159D39-24D9-8F62-E773-E44608397131}"/>
              </a:ext>
            </a:extLst>
          </p:cNvPr>
          <p:cNvGrpSpPr/>
          <p:nvPr/>
        </p:nvGrpSpPr>
        <p:grpSpPr>
          <a:xfrm>
            <a:off x="581282" y="3284883"/>
            <a:ext cx="5613071" cy="2727919"/>
            <a:chOff x="206168" y="2843889"/>
            <a:chExt cx="5328357" cy="3224130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44B458DE-5962-6DC3-C9AC-ADCEC52E6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88" r="5536" b="651"/>
            <a:stretch>
              <a:fillRect/>
            </a:stretch>
          </p:blipFill>
          <p:spPr>
            <a:xfrm>
              <a:off x="206168" y="2843889"/>
              <a:ext cx="5328357" cy="32241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sellaDiTesto 6">
                  <a:extLst>
                    <a:ext uri="{FF2B5EF4-FFF2-40B4-BE49-F238E27FC236}">
                      <a16:creationId xmlns:a16="http://schemas.microsoft.com/office/drawing/2014/main" id="{F8A35020-0DFA-FBED-64A0-617EB0F04A27}"/>
                    </a:ext>
                  </a:extLst>
                </p:cNvPr>
                <p:cNvSpPr txBox="1"/>
                <p:nvPr/>
              </p:nvSpPr>
              <p:spPr>
                <a:xfrm>
                  <a:off x="2355837" y="3072809"/>
                  <a:ext cx="12865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oMath>
                    </m:oMathPara>
                  </a14:m>
                  <a:endParaRPr lang="it-IT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CasellaDiTesto 6">
                  <a:extLst>
                    <a:ext uri="{FF2B5EF4-FFF2-40B4-BE49-F238E27FC236}">
                      <a16:creationId xmlns:a16="http://schemas.microsoft.com/office/drawing/2014/main" id="{F8A35020-0DFA-FBED-64A0-617EB0F04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837" y="3072809"/>
                  <a:ext cx="1286540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91CCE4-6761-E9E7-A611-DD840D97DC9B}"/>
              </a:ext>
            </a:extLst>
          </p:cNvPr>
          <p:cNvGrpSpPr/>
          <p:nvPr/>
        </p:nvGrpSpPr>
        <p:grpSpPr>
          <a:xfrm>
            <a:off x="6372762" y="3153844"/>
            <a:ext cx="5501123" cy="3135129"/>
            <a:chOff x="5446277" y="2755900"/>
            <a:chExt cx="6186923" cy="3693929"/>
          </a:xfrm>
        </p:grpSpPr>
        <p:pic>
          <p:nvPicPr>
            <p:cNvPr id="9" name="Immagine 7">
              <a:extLst>
                <a:ext uri="{FF2B5EF4-FFF2-40B4-BE49-F238E27FC236}">
                  <a16:creationId xmlns:a16="http://schemas.microsoft.com/office/drawing/2014/main" id="{DAF312A5-D418-B25E-46F3-BA721675D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591" r="7738" b="3978"/>
            <a:stretch>
              <a:fillRect/>
            </a:stretch>
          </p:blipFill>
          <p:spPr>
            <a:xfrm>
              <a:off x="5446277" y="2755900"/>
              <a:ext cx="6186923" cy="3693929"/>
            </a:xfrm>
            <a:prstGeom prst="rect">
              <a:avLst/>
            </a:prstGeom>
          </p:spPr>
        </p:pic>
        <p:cxnSp>
          <p:nvCxnSpPr>
            <p:cNvPr id="16" name="Connettore 2 21">
              <a:extLst>
                <a:ext uri="{FF2B5EF4-FFF2-40B4-BE49-F238E27FC236}">
                  <a16:creationId xmlns:a16="http://schemas.microsoft.com/office/drawing/2014/main" id="{D9B10192-2869-7292-4491-E68C4549A997}"/>
                </a:ext>
              </a:extLst>
            </p:cNvPr>
            <p:cNvCxnSpPr>
              <a:cxnSpLocks/>
            </p:cNvCxnSpPr>
            <p:nvPr/>
          </p:nvCxnSpPr>
          <p:spPr>
            <a:xfrm>
              <a:off x="8267701" y="5410817"/>
              <a:ext cx="0" cy="66839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sellaDiTesto 11">
                  <a:extLst>
                    <a:ext uri="{FF2B5EF4-FFF2-40B4-BE49-F238E27FC236}">
                      <a16:creationId xmlns:a16="http://schemas.microsoft.com/office/drawing/2014/main" id="{3DF2A6D9-2C22-D5E0-FBFF-5E551AAE83A2}"/>
                    </a:ext>
                  </a:extLst>
                </p:cNvPr>
                <p:cNvSpPr txBox="1"/>
                <p:nvPr/>
              </p:nvSpPr>
              <p:spPr>
                <a:xfrm>
                  <a:off x="8638096" y="4494208"/>
                  <a:ext cx="12865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𝑐ℎ</m:t>
                            </m:r>
                          </m:sub>
                        </m:sSub>
                      </m:oMath>
                    </m:oMathPara>
                  </a14:m>
                  <a:endParaRPr lang="it-IT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asellaDiTesto 11">
                  <a:extLst>
                    <a:ext uri="{FF2B5EF4-FFF2-40B4-BE49-F238E27FC236}">
                      <a16:creationId xmlns:a16="http://schemas.microsoft.com/office/drawing/2014/main" id="{3DF2A6D9-2C22-D5E0-FBFF-5E551AAE8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8096" y="4494208"/>
                  <a:ext cx="1286540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274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13888B-04D8-8269-FF20-9B172F3D12BF}"/>
              </a:ext>
            </a:extLst>
          </p:cNvPr>
          <p:cNvGrpSpPr/>
          <p:nvPr/>
        </p:nvGrpSpPr>
        <p:grpSpPr>
          <a:xfrm>
            <a:off x="4483565" y="3071173"/>
            <a:ext cx="4701813" cy="2827745"/>
            <a:chOff x="3794967" y="2805084"/>
            <a:chExt cx="4701813" cy="2827745"/>
          </a:xfrm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1FCEDAEB-E809-19F3-8902-525656921478}"/>
                </a:ext>
              </a:extLst>
            </p:cNvPr>
            <p:cNvSpPr/>
            <p:nvPr/>
          </p:nvSpPr>
          <p:spPr>
            <a:xfrm>
              <a:off x="3794967" y="3043891"/>
              <a:ext cx="1194969" cy="239265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Arco 16">
              <a:extLst>
                <a:ext uri="{FF2B5EF4-FFF2-40B4-BE49-F238E27FC236}">
                  <a16:creationId xmlns:a16="http://schemas.microsoft.com/office/drawing/2014/main" id="{4CE3AE4C-F8C5-54BB-1CE2-E3E0D68943B0}"/>
                </a:ext>
              </a:extLst>
            </p:cNvPr>
            <p:cNvSpPr/>
            <p:nvPr/>
          </p:nvSpPr>
          <p:spPr>
            <a:xfrm rot="3428525" flipV="1">
              <a:off x="5098894" y="2234943"/>
              <a:ext cx="2827745" cy="3968027"/>
            </a:xfrm>
            <a:prstGeom prst="arc">
              <a:avLst>
                <a:gd name="adj1" fmla="val 15945701"/>
                <a:gd name="adj2" fmla="val 1052481"/>
              </a:avLst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826895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43B02-EB8B-C5AA-8730-2CC03D2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7B2C8E-4D6B-4385-4C61-E9B67850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EFFICIENCY: RESULTS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6C16D9-FBD2-0405-039C-F4B5E5E4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330ED7-A185-4130-4F28-81BDB36B6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64DD56D9-E1F0-16B6-8E4B-E945AF1CC44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4A2E6BCC-6219-878F-BE99-D270D4E865A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4DDB33-F85C-06BB-5E5A-AB9537E0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con angoli arrotondati 25">
                <a:extLst>
                  <a:ext uri="{FF2B5EF4-FFF2-40B4-BE49-F238E27FC236}">
                    <a16:creationId xmlns:a16="http://schemas.microsoft.com/office/drawing/2014/main" id="{504DFAD3-0087-196D-9FE7-4C0E7E8F3FCC}"/>
                  </a:ext>
                </a:extLst>
              </p:cNvPr>
              <p:cNvSpPr/>
              <p:nvPr/>
            </p:nvSpPr>
            <p:spPr>
              <a:xfrm>
                <a:off x="5159828" y="2265952"/>
                <a:ext cx="6336172" cy="1262544"/>
              </a:xfrm>
              <a:prstGeom prst="roundRect">
                <a:avLst/>
              </a:prstGeom>
              <a:solidFill>
                <a:srgbClr val="002060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1600" b="1" dirty="0">
                    <a:solidFill>
                      <a:srgbClr val="FFC000"/>
                    </a:solidFill>
                  </a:rPr>
                  <a:t>RUN 8430 (REFERENCE)</a:t>
                </a:r>
              </a:p>
              <a:p>
                <a:pPr algn="ctr"/>
                <a:endParaRPr lang="it-IT" sz="1600" b="1" dirty="0">
                  <a:solidFill>
                    <a:srgbClr val="FFC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𝟏𝟗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𝐬𝐭𝐚𝐭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]±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𝐬𝐲𝐬𝐭</m:t>
                      </m:r>
                      <m:r>
                        <a:rPr lang="en-US" sz="32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])%</m:t>
                      </m:r>
                    </m:oMath>
                  </m:oMathPara>
                </a14:m>
                <a:endParaRPr lang="it-IT" sz="32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2" name="Rettangolo con angoli arrotondati 25">
                <a:extLst>
                  <a:ext uri="{FF2B5EF4-FFF2-40B4-BE49-F238E27FC236}">
                    <a16:creationId xmlns:a16="http://schemas.microsoft.com/office/drawing/2014/main" id="{504DFAD3-0087-196D-9FE7-4C0E7E8F3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28" y="2265952"/>
                <a:ext cx="6336172" cy="12625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AB162D1F-451D-C16D-C2C1-906BD1DDC4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224821"/>
                  </p:ext>
                </p:extLst>
              </p:nvPr>
            </p:nvGraphicFramePr>
            <p:xfrm>
              <a:off x="4016829" y="4334987"/>
              <a:ext cx="7479171" cy="167092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78966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112372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19.4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±0.1±0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5.98±0.03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18.0±0.1±0.2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3.77±0.01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AB162D1F-451D-C16D-C2C1-906BD1DDC4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8224821"/>
                  </p:ext>
                </p:extLst>
              </p:nvPr>
            </p:nvGraphicFramePr>
            <p:xfrm>
              <a:off x="4016829" y="4334987"/>
              <a:ext cx="7479171" cy="167092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78966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679" t="-1053" r="-118272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7652" t="-1053" r="-419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112372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679" t="-106667" r="-118272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7652" t="-106667" r="-419" b="-1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679" t="-206667" r="-11827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57652" t="-206667" r="-419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6BA99E5F-712D-796A-90D1-8D412E1292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205074"/>
              </p:ext>
            </p:extLst>
          </p:nvPr>
        </p:nvGraphicFramePr>
        <p:xfrm>
          <a:off x="209291" y="1549599"/>
          <a:ext cx="4895881" cy="3314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785B653-A205-3195-DCFE-52287B16E511}"/>
              </a:ext>
            </a:extLst>
          </p:cNvPr>
          <p:cNvSpPr txBox="1"/>
          <p:nvPr/>
        </p:nvSpPr>
        <p:spPr>
          <a:xfrm>
            <a:off x="1786467" y="1222745"/>
            <a:ext cx="331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C000"/>
                </a:solidFill>
              </a:rPr>
              <a:t>crystal 1	                    crystal 2</a:t>
            </a:r>
            <a:endParaRPr lang="it-IT" b="1" i="1" dirty="0">
              <a:solidFill>
                <a:srgbClr val="FFC000"/>
              </a:solidFill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EB89B0A8-EC12-C7D5-897D-8B627041D8C2}"/>
              </a:ext>
            </a:extLst>
          </p:cNvPr>
          <p:cNvSpPr/>
          <p:nvPr/>
        </p:nvSpPr>
        <p:spPr>
          <a:xfrm rot="16200000" flipV="1">
            <a:off x="2025135" y="678928"/>
            <a:ext cx="369330" cy="2185088"/>
          </a:xfrm>
          <a:prstGeom prst="rightBrace">
            <a:avLst>
              <a:gd name="adj1" fmla="val 35093"/>
              <a:gd name="adj2" fmla="val 50000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1B33DB2E-91E7-3650-6820-CF696400EB1A}"/>
              </a:ext>
            </a:extLst>
          </p:cNvPr>
          <p:cNvSpPr/>
          <p:nvPr/>
        </p:nvSpPr>
        <p:spPr>
          <a:xfrm rot="16200000" flipV="1">
            <a:off x="4027444" y="946029"/>
            <a:ext cx="369330" cy="1650885"/>
          </a:xfrm>
          <a:prstGeom prst="rightBrace">
            <a:avLst>
              <a:gd name="adj1" fmla="val 35093"/>
              <a:gd name="adj2" fmla="val 50000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Arco 16">
            <a:extLst>
              <a:ext uri="{FF2B5EF4-FFF2-40B4-BE49-F238E27FC236}">
                <a16:creationId xmlns:a16="http://schemas.microsoft.com/office/drawing/2014/main" id="{C6FED77F-6387-186B-A018-FE3D842D51C3}"/>
              </a:ext>
            </a:extLst>
          </p:cNvPr>
          <p:cNvSpPr/>
          <p:nvPr/>
        </p:nvSpPr>
        <p:spPr>
          <a:xfrm rot="8850232" flipV="1">
            <a:off x="2304311" y="4481560"/>
            <a:ext cx="2588045" cy="3749579"/>
          </a:xfrm>
          <a:prstGeom prst="arc">
            <a:avLst>
              <a:gd name="adj1" fmla="val 16144804"/>
              <a:gd name="adj2" fmla="val 17247337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13">
            <a:extLst>
              <a:ext uri="{FF2B5EF4-FFF2-40B4-BE49-F238E27FC236}">
                <a16:creationId xmlns:a16="http://schemas.microsoft.com/office/drawing/2014/main" id="{95818692-E570-77C8-8B24-38F4A82ECD07}"/>
              </a:ext>
            </a:extLst>
          </p:cNvPr>
          <p:cNvSpPr/>
          <p:nvPr/>
        </p:nvSpPr>
        <p:spPr>
          <a:xfrm>
            <a:off x="2516463" y="3678664"/>
            <a:ext cx="952124" cy="131264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B2CDB1-FFEF-F214-9A0A-BDED7AB1D3C6}"/>
              </a:ext>
            </a:extLst>
          </p:cNvPr>
          <p:cNvSpPr txBox="1"/>
          <p:nvPr/>
        </p:nvSpPr>
        <p:spPr>
          <a:xfrm>
            <a:off x="1385443" y="5170449"/>
            <a:ext cx="170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anomalous run</a:t>
            </a:r>
            <a:endParaRPr lang="it-IT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86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7D31-D893-2CE6-942A-F04BB6A3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C4E31E-F294-EFB3-D9AF-550A60A18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EFFICIENCY: RESULTS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55B270-36C8-A247-9775-6194D101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9FD5BA-1AFB-F0F3-CD34-0B6F2454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80CFADA-D4FB-FA6A-F5A9-634D96675E2F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A46B29AF-D888-2540-0675-1E07A3A69295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31B6A5-1D71-5346-5C6B-772EEB45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960D55-6A0E-2DA2-D8AA-51FB868E5049}"/>
              </a:ext>
            </a:extLst>
          </p:cNvPr>
          <p:cNvGrpSpPr/>
          <p:nvPr/>
        </p:nvGrpSpPr>
        <p:grpSpPr>
          <a:xfrm>
            <a:off x="696000" y="2713747"/>
            <a:ext cx="5519744" cy="2329867"/>
            <a:chOff x="695999" y="2186851"/>
            <a:chExt cx="5519744" cy="2329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ttangolo con angoli arrotondati 25">
                  <a:extLst>
                    <a:ext uri="{FF2B5EF4-FFF2-40B4-BE49-F238E27FC236}">
                      <a16:creationId xmlns:a16="http://schemas.microsoft.com/office/drawing/2014/main" id="{6FACF35E-86BA-B6D8-5F74-1605F7ED0041}"/>
                    </a:ext>
                  </a:extLst>
                </p:cNvPr>
                <p:cNvSpPr/>
                <p:nvPr/>
              </p:nvSpPr>
              <p:spPr>
                <a:xfrm>
                  <a:off x="696000" y="2186851"/>
                  <a:ext cx="5519743" cy="1085980"/>
                </a:xfrm>
                <a:prstGeom prst="roundRect">
                  <a:avLst/>
                </a:prstGeom>
                <a:solidFill>
                  <a:srgbClr val="002060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600" b="1" dirty="0">
                      <a:solidFill>
                        <a:srgbClr val="FFC000"/>
                      </a:solidFill>
                    </a:rPr>
                    <a:t>Long crystal 1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𝐬𝐭𝐚𝐭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𝐬𝐲𝐬𝐭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])%</m:t>
                        </m:r>
                      </m:oMath>
                    </m:oMathPara>
                  </a14:m>
                  <a:endParaRPr lang="it-IT" sz="2800" b="1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ttangolo con angoli arrotondati 25">
                  <a:extLst>
                    <a:ext uri="{FF2B5EF4-FFF2-40B4-BE49-F238E27FC236}">
                      <a16:creationId xmlns:a16="http://schemas.microsoft.com/office/drawing/2014/main" id="{6FACF35E-86BA-B6D8-5F74-1605F7ED0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000" y="2186851"/>
                  <a:ext cx="5519743" cy="108598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ttangolo con angoli arrotondati 25">
                  <a:extLst>
                    <a:ext uri="{FF2B5EF4-FFF2-40B4-BE49-F238E27FC236}">
                      <a16:creationId xmlns:a16="http://schemas.microsoft.com/office/drawing/2014/main" id="{02A890C8-A190-EB52-E092-1BE70C55A884}"/>
                    </a:ext>
                  </a:extLst>
                </p:cNvPr>
                <p:cNvSpPr/>
                <p:nvPr/>
              </p:nvSpPr>
              <p:spPr>
                <a:xfrm>
                  <a:off x="695999" y="3430738"/>
                  <a:ext cx="5519743" cy="1085980"/>
                </a:xfrm>
                <a:prstGeom prst="roundRect">
                  <a:avLst/>
                </a:prstGeom>
                <a:solidFill>
                  <a:srgbClr val="002060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1600" b="1" dirty="0">
                      <a:solidFill>
                        <a:srgbClr val="FFC000"/>
                      </a:solidFill>
                    </a:rPr>
                    <a:t>Long crystal 2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it-IT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𝐬𝐭𝐚𝐭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]±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𝐬𝐲𝐬𝐭</m:t>
                        </m:r>
                        <m:r>
                          <a:rPr lang="en-US" sz="2800" b="1" i="0" dirty="0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])%</m:t>
                        </m:r>
                      </m:oMath>
                    </m:oMathPara>
                  </a14:m>
                  <a:endParaRPr lang="it-IT" sz="2800" b="1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ttangolo con angoli arrotondati 25">
                  <a:extLst>
                    <a:ext uri="{FF2B5EF4-FFF2-40B4-BE49-F238E27FC236}">
                      <a16:creationId xmlns:a16="http://schemas.microsoft.com/office/drawing/2014/main" id="{02A890C8-A190-EB52-E092-1BE70C55A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999" y="3430738"/>
                  <a:ext cx="5519743" cy="108598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ight Brace 12">
            <a:extLst>
              <a:ext uri="{FF2B5EF4-FFF2-40B4-BE49-F238E27FC236}">
                <a16:creationId xmlns:a16="http://schemas.microsoft.com/office/drawing/2014/main" id="{1534B93A-C26E-2679-DCBF-D3323BA34757}"/>
              </a:ext>
            </a:extLst>
          </p:cNvPr>
          <p:cNvSpPr/>
          <p:nvPr/>
        </p:nvSpPr>
        <p:spPr>
          <a:xfrm rot="10800000" flipV="1">
            <a:off x="6792415" y="2708448"/>
            <a:ext cx="577214" cy="2335166"/>
          </a:xfrm>
          <a:prstGeom prst="rightBrace">
            <a:avLst>
              <a:gd name="adj1" fmla="val 35093"/>
              <a:gd name="adj2" fmla="val 50000"/>
            </a:avLst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FA1CC-4260-32CA-FD2D-C8434BD2B963}"/>
              </a:ext>
            </a:extLst>
          </p:cNvPr>
          <p:cNvSpPr txBox="1"/>
          <p:nvPr/>
        </p:nvSpPr>
        <p:spPr>
          <a:xfrm>
            <a:off x="6330748" y="2708448"/>
            <a:ext cx="461665" cy="233516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/>
              <a:t>ERROR BUDGET</a:t>
            </a:r>
            <a:endParaRPr lang="it-IT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AAE11-2E3C-91EC-5DCF-C2F301FFC2A6}"/>
              </a:ext>
            </a:extLst>
          </p:cNvPr>
          <p:cNvSpPr txBox="1"/>
          <p:nvPr/>
        </p:nvSpPr>
        <p:spPr>
          <a:xfrm>
            <a:off x="7369629" y="2752646"/>
            <a:ext cx="412637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Statistical error: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Binomial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Fit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Systematic error: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Fit model choice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Binning choices </a:t>
            </a:r>
            <a:endParaRPr lang="it-IT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B1F5D44-B91A-47AD-4119-DC0104276BB0}"/>
                  </a:ext>
                </a:extLst>
              </p:cNvPr>
              <p:cNvSpPr/>
              <p:nvPr/>
            </p:nvSpPr>
            <p:spPr>
              <a:xfrm>
                <a:off x="9895114" y="2840521"/>
                <a:ext cx="1208315" cy="87147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B1F5D44-B91A-47AD-4119-DC0104276B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114" y="2840521"/>
                <a:ext cx="1208315" cy="87147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74372DA-6655-1F30-B55E-E5AC54E8F64A}"/>
                  </a:ext>
                </a:extLst>
              </p:cNvPr>
              <p:cNvSpPr/>
              <p:nvPr/>
            </p:nvSpPr>
            <p:spPr>
              <a:xfrm>
                <a:off x="9895113" y="4064889"/>
                <a:ext cx="1208315" cy="87147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0.2%</m:t>
                      </m:r>
                    </m:oMath>
                  </m:oMathPara>
                </a14:m>
                <a:endParaRPr lang="it-IT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74372DA-6655-1F30-B55E-E5AC54E8F6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5113" y="4064889"/>
                <a:ext cx="1208315" cy="87147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6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A0165-4818-069E-7BDC-091E3661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7F9391-FA0A-371F-109B-E733C06A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CHANNELING EFFICIENCY: RESULTS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8CC5EF-2F1C-1609-931F-C50DB9F2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7772A5-E715-AE5D-717E-6D1A7B86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FFF26E7-CD09-D2C8-1E51-8476F1B0A7C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F58068E2-EEDD-78E0-F78F-9E9723A6F6D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4837B4-2A5A-795E-E08C-AF4F72FE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99FBCD90-BA62-B24C-8185-9C1CDBC0FA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577626"/>
                  </p:ext>
                </p:extLst>
              </p:nvPr>
            </p:nvGraphicFramePr>
            <p:xfrm>
              <a:off x="2355514" y="1874816"/>
              <a:ext cx="7479171" cy="1637937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latin typeface="Cambria Math" panose="02040503050406030204" pitchFamily="18" charset="0"/>
                                      </a:rPr>
                                      <m:t>19.4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±0.1±0</m:t>
                                    </m:r>
                                    <m:r>
                                      <m:rPr>
                                        <m:lit/>
                                      </m:r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5.98±0.03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18.0±0.1±0.2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3.77±0.01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rad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mm</m:t>
                                </m:r>
                              </m:oMath>
                            </m:oMathPara>
                          </a14:m>
                          <a:endParaRPr lang="it-IT" sz="20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46103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99FBCD90-BA62-B24C-8185-9C1CDBC0FA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9577626"/>
                  </p:ext>
                </p:extLst>
              </p:nvPr>
            </p:nvGraphicFramePr>
            <p:xfrm>
              <a:off x="2355514" y="1874816"/>
              <a:ext cx="7479171" cy="1637937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08662">
                      <a:extLst>
                        <a:ext uri="{9D8B030D-6E8A-4147-A177-3AD203B41FA5}">
                          <a16:colId xmlns:a16="http://schemas.microsoft.com/office/drawing/2014/main" val="1396093748"/>
                        </a:ext>
                      </a:extLst>
                    </a:gridCol>
                    <a:gridCol w="2463338">
                      <a:extLst>
                        <a:ext uri="{9D8B030D-6E8A-4147-A177-3AD203B41FA5}">
                          <a16:colId xmlns:a16="http://schemas.microsoft.com/office/drawing/2014/main" val="3624033113"/>
                        </a:ext>
                      </a:extLst>
                    </a:gridCol>
                    <a:gridCol w="2907171">
                      <a:extLst>
                        <a:ext uri="{9D8B030D-6E8A-4147-A177-3AD203B41FA5}">
                          <a16:colId xmlns:a16="http://schemas.microsoft.com/office/drawing/2014/main" val="1422303490"/>
                        </a:ext>
                      </a:extLst>
                    </a:gridCol>
                  </a:tblGrid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1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679" t="-1111" r="-118272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7652" t="-1111" r="-419" b="-2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94383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long crystal 2</a:t>
                          </a:r>
                          <a:endParaRPr lang="it-IT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679" t="-101111" r="-118272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7652" t="-101111" r="-419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1790256"/>
                      </a:ext>
                    </a:extLst>
                  </a:tr>
                  <a:tr h="545979">
                    <a:tc>
                      <a:txBody>
                        <a:bodyPr/>
                        <a:lstStyle/>
                        <a:p>
                          <a:pPr algn="ctr"/>
                          <a:endParaRPr lang="it-IT" sz="2000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5679" t="-201111" r="-11827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7652" t="-201111" r="-419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461030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CF190E-DFA8-0413-FFB3-261326B5F6B7}"/>
              </a:ext>
            </a:extLst>
          </p:cNvPr>
          <p:cNvCxnSpPr>
            <a:cxnSpLocks/>
          </p:cNvCxnSpPr>
          <p:nvPr/>
        </p:nvCxnSpPr>
        <p:spPr>
          <a:xfrm>
            <a:off x="5638800" y="3455004"/>
            <a:ext cx="0" cy="79200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7C45B4-DD58-943E-0E21-9C7B68D83FF6}"/>
              </a:ext>
            </a:extLst>
          </p:cNvPr>
          <p:cNvCxnSpPr>
            <a:cxnSpLocks/>
          </p:cNvCxnSpPr>
          <p:nvPr/>
        </p:nvCxnSpPr>
        <p:spPr>
          <a:xfrm>
            <a:off x="8320617" y="3455003"/>
            <a:ext cx="0" cy="79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12399-717F-4B93-1D0A-C1CCC48BD01B}"/>
                  </a:ext>
                </a:extLst>
              </p:cNvPr>
              <p:cNvSpPr txBox="1"/>
              <p:nvPr/>
            </p:nvSpPr>
            <p:spPr>
              <a:xfrm>
                <a:off x="696000" y="3967239"/>
                <a:ext cx="10799997" cy="1655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On article</a:t>
                </a:r>
                <a:r>
                  <a:rPr lang="it-IT" sz="2000" dirty="0"/>
                  <a:t> </a:t>
                </a:r>
                <a:r>
                  <a:rPr lang="it-IT" sz="2000" i="1" dirty="0"/>
                  <a:t>Bandiera et al.</a:t>
                </a:r>
                <a:r>
                  <a:rPr lang="it-IT" sz="2000" dirty="0"/>
                  <a:t> (2025):</a:t>
                </a:r>
                <a:endParaRPr lang="en-US" sz="2000" dirty="0"/>
              </a:p>
              <a:p>
                <a:r>
                  <a:rPr lang="en-US" sz="2000" dirty="0"/>
                  <a:t>It was found and efficiency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15.8±0.1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it-IT" sz="2000" dirty="0">
                    <a:solidFill>
                      <a:srgbClr val="FFC000"/>
                    </a:solidFill>
                  </a:rPr>
                  <a:t> </a:t>
                </a:r>
                <a:r>
                  <a:rPr lang="it-IT" sz="2000" dirty="0"/>
                  <a:t>and a torsion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24.4±0.2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r>
                  <a:rPr lang="it-IT" sz="2000" dirty="0"/>
                  <a:t> for the TCCP long crystal.</a:t>
                </a:r>
              </a:p>
              <a:p>
                <a:endParaRPr lang="it-IT" sz="2000" dirty="0"/>
              </a:p>
              <a:p>
                <a:r>
                  <a:rPr lang="it-IT" sz="2000" dirty="0"/>
                  <a:t>Instead our two crystals can reach a maximum efficiency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23−25%</m:t>
                    </m:r>
                  </m:oMath>
                </a14:m>
                <a:r>
                  <a:rPr lang="it-IT" sz="2000" dirty="0"/>
                  <a:t> in some areas.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12399-717F-4B93-1D0A-C1CCC48BD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3967239"/>
                <a:ext cx="10799997" cy="1655390"/>
              </a:xfrm>
              <a:prstGeom prst="rect">
                <a:avLst/>
              </a:prstGeom>
              <a:blipFill>
                <a:blip r:embed="rId4"/>
                <a:stretch>
                  <a:fillRect l="-564" t="-2214" r="-677" b="-62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73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A56B3-EA09-9AF6-7D3E-22CD92ED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3E1A33-E79F-5CEB-02A2-49E1862E8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WHAT’S NEXT: SIMULATION</a:t>
            </a:r>
            <a:endParaRPr lang="it-IT" sz="4000" b="1" dirty="0">
              <a:solidFill>
                <a:srgbClr val="002060"/>
              </a:solidFill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C7D5DC-915F-A25F-4B1E-E2DB412C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748F07-19C3-5288-4A2E-627C9D25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E4B4F96-D01C-4CBC-061E-303A9C9D356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olo 1">
            <a:extLst>
              <a:ext uri="{FF2B5EF4-FFF2-40B4-BE49-F238E27FC236}">
                <a16:creationId xmlns:a16="http://schemas.microsoft.com/office/drawing/2014/main" id="{254FF390-66E9-5FA5-6247-83E973868DEC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D09D81-39EA-78F2-E329-7C86317B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1924F33-67BC-65BA-E711-DB1FB725E4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2400" dirty="0"/>
                  <a:t>        Set up </a:t>
                </a:r>
                <a:r>
                  <a:rPr lang="it-IT" sz="2400" b="1" dirty="0"/>
                  <a:t>a Geant4 simulation </a:t>
                </a:r>
                <a:r>
                  <a:rPr lang="it-IT" sz="2400" dirty="0"/>
                  <a:t>of the long crystals characterized in this analysis, reproducing the same geometry as the H8 setup.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Geant4/BDSIM:</a:t>
                </a:r>
              </a:p>
              <a:p>
                <a:pPr lvl="1"/>
                <a:r>
                  <a:rPr lang="en-US" dirty="0" err="1"/>
                  <a:t>Xtrack</a:t>
                </a:r>
                <a:r>
                  <a:rPr lang="en-US" dirty="0"/>
                  <a:t> along the beamline</a:t>
                </a:r>
              </a:p>
              <a:p>
                <a:pPr lvl="1"/>
                <a:r>
                  <a:rPr lang="en-US" dirty="0"/>
                  <a:t>Geant4 only for elements where there is interaction with matter (collimator, crystals,…)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       The actual data serve as a </a:t>
                </a:r>
                <a:r>
                  <a:rPr lang="en-US" sz="2400" b="1" dirty="0"/>
                  <a:t>benchmark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it-IT" sz="2400" dirty="0"/>
                  <a:t>        The simulation reproduces the “ideal” channeling physics, without torsion or other imperfections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400" dirty="0"/>
                  <a:t> simulated </a:t>
                </a:r>
                <a:r>
                  <a:rPr lang="it-IT" sz="2400" b="1" dirty="0"/>
                  <a:t>efficiency</a:t>
                </a:r>
                <a:r>
                  <a:rPr lang="it-IT" sz="2400" dirty="0"/>
                  <a:t> is expected to be </a:t>
                </a:r>
                <a:r>
                  <a:rPr lang="it-IT" sz="2400" b="1" dirty="0"/>
                  <a:t>higher</a:t>
                </a:r>
                <a:r>
                  <a:rPr lang="it-IT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The gap between the simulation and the data serves as a quantitative measure of the impact of torsion and other non-idealities.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1924F33-67BC-65BA-E711-DB1FB725E4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928" t="-1660" b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Programmer female with solid fill">
            <a:extLst>
              <a:ext uri="{FF2B5EF4-FFF2-40B4-BE49-F238E27FC236}">
                <a16:creationId xmlns:a16="http://schemas.microsoft.com/office/drawing/2014/main" id="{3209261A-A80B-69A0-4A61-ACB493C22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264830"/>
            <a:ext cx="540000" cy="540000"/>
          </a:xfrm>
          <a:prstGeom prst="rect">
            <a:avLst/>
          </a:prstGeom>
        </p:spPr>
      </p:pic>
      <p:pic>
        <p:nvPicPr>
          <p:cNvPr id="18" name="Graphic 17" descr="Layers Design with solid fill">
            <a:extLst>
              <a:ext uri="{FF2B5EF4-FFF2-40B4-BE49-F238E27FC236}">
                <a16:creationId xmlns:a16="http://schemas.microsoft.com/office/drawing/2014/main" id="{4E792F1F-1DD2-9885-E4EF-1579E5E2B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5295382"/>
            <a:ext cx="540000" cy="540000"/>
          </a:xfrm>
          <a:prstGeom prst="rect">
            <a:avLst/>
          </a:prstGeom>
        </p:spPr>
      </p:pic>
      <p:pic>
        <p:nvPicPr>
          <p:cNvPr id="22" name="Graphic 21" descr="Circles with arrows with solid fill">
            <a:extLst>
              <a:ext uri="{FF2B5EF4-FFF2-40B4-BE49-F238E27FC236}">
                <a16:creationId xmlns:a16="http://schemas.microsoft.com/office/drawing/2014/main" id="{5B04CD08-680E-5457-E9EF-7E94686FDF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2104013"/>
            <a:ext cx="540000" cy="540000"/>
          </a:xfrm>
          <a:prstGeom prst="rect">
            <a:avLst/>
          </a:prstGeom>
        </p:spPr>
      </p:pic>
      <p:pic>
        <p:nvPicPr>
          <p:cNvPr id="28" name="Graphic 27" descr="Pin with solid fill">
            <a:extLst>
              <a:ext uri="{FF2B5EF4-FFF2-40B4-BE49-F238E27FC236}">
                <a16:creationId xmlns:a16="http://schemas.microsoft.com/office/drawing/2014/main" id="{E4ACE780-000E-D2F2-842E-8D72F74C7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" y="4024690"/>
            <a:ext cx="540000" cy="540000"/>
          </a:xfrm>
          <a:prstGeom prst="rect">
            <a:avLst/>
          </a:prstGeom>
        </p:spPr>
      </p:pic>
      <p:pic>
        <p:nvPicPr>
          <p:cNvPr id="32" name="Graphic 31" descr="Bar graph with upward trend with solid fill">
            <a:extLst>
              <a:ext uri="{FF2B5EF4-FFF2-40B4-BE49-F238E27FC236}">
                <a16:creationId xmlns:a16="http://schemas.microsoft.com/office/drawing/2014/main" id="{D6E2B60C-71C5-B916-28E2-A5C029026F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" y="454565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37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EFF-B9B4-605B-23DF-EDC01FF4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97431-BBE5-CB25-093B-D04D3DF2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BACKUP SLIDES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987156-1AA3-606D-F960-F5521BB0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9376CE-2672-8B5F-17F8-C7FABE69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18D8F0-CFAD-5A22-0C45-35621E72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9CCD89B-D23E-B601-CB0F-35F735A548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68D235-E176-E7CA-EEBD-17788382E36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B2D0B5E-0AD3-1AC2-900A-351764AC43C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47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4030-A8AB-756E-7B6F-E15ADDA9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59094B-98B8-79C6-D910-E49A6676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D001E6-BE12-0E1C-E34E-F8F3589F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936A48-A600-E3BE-4414-86FAF9CF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D475C3-3B66-B577-42F5-6585EDDD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B26D157-5346-067C-2B45-7F428AF580F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B1B2EDD-5C24-17A1-EC00-F4E9170F2D61}"/>
              </a:ext>
            </a:extLst>
          </p:cNvPr>
          <p:cNvSpPr txBox="1"/>
          <p:nvPr/>
        </p:nvSpPr>
        <p:spPr>
          <a:xfrm>
            <a:off x="3048886" y="35999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0351722-4EA8-0597-4ABC-52AA3FC95A0A}"/>
              </a:ext>
            </a:extLst>
          </p:cNvPr>
          <p:cNvSpPr txBox="1"/>
          <p:nvPr/>
        </p:nvSpPr>
        <p:spPr>
          <a:xfrm>
            <a:off x="3048886" y="35999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50D853-3E25-ECC8-09EE-F01F4D7525D7}"/>
              </a:ext>
            </a:extLst>
          </p:cNvPr>
          <p:cNvSpPr/>
          <p:nvPr/>
        </p:nvSpPr>
        <p:spPr>
          <a:xfrm>
            <a:off x="696000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1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-12.4 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5120B7-CD7D-1D69-0AB8-7C9C80459C75}"/>
              </a:ext>
            </a:extLst>
          </p:cNvPr>
          <p:cNvSpPr/>
          <p:nvPr/>
        </p:nvSpPr>
        <p:spPr>
          <a:xfrm>
            <a:off x="2955175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2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-10.4 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8E1A454-66A3-17B6-13E9-76F57C85B558}"/>
              </a:ext>
            </a:extLst>
          </p:cNvPr>
          <p:cNvSpPr/>
          <p:nvPr/>
        </p:nvSpPr>
        <p:spPr>
          <a:xfrm>
            <a:off x="5198795" y="2809043"/>
            <a:ext cx="1785943" cy="772761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crystal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= 0 m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24E37D-C093-D1EC-F9D6-3260C33D719E}"/>
              </a:ext>
            </a:extLst>
          </p:cNvPr>
          <p:cNvSpPr/>
          <p:nvPr/>
        </p:nvSpPr>
        <p:spPr>
          <a:xfrm>
            <a:off x="7454426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3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0.5 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1B532E1-DA99-182C-90E4-4DB41FC919F6}"/>
              </a:ext>
            </a:extLst>
          </p:cNvPr>
          <p:cNvSpPr/>
          <p:nvPr/>
        </p:nvSpPr>
        <p:spPr>
          <a:xfrm>
            <a:off x="9710057" y="2809043"/>
            <a:ext cx="1785943" cy="77276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Station 4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z ~ 4.7 m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F85D0FE-C569-AA98-BFD2-570144BC2493}"/>
              </a:ext>
            </a:extLst>
          </p:cNvPr>
          <p:cNvSpPr/>
          <p:nvPr/>
        </p:nvSpPr>
        <p:spPr>
          <a:xfrm>
            <a:off x="2740837" y="5840855"/>
            <a:ext cx="3060934" cy="53421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Incoming arm vacuum pipe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1F48CD1-0863-4C8F-C0AC-DCB07C53C10B}"/>
              </a:ext>
            </a:extLst>
          </p:cNvPr>
          <p:cNvSpPr/>
          <p:nvPr/>
        </p:nvSpPr>
        <p:spPr>
          <a:xfrm>
            <a:off x="6590985" y="5840855"/>
            <a:ext cx="3433300" cy="53421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Downstream arm vacuum pipe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98D6E1D-B587-F8F6-07D7-328F0D43AA3D}"/>
              </a:ext>
            </a:extLst>
          </p:cNvPr>
          <p:cNvGrpSpPr/>
          <p:nvPr/>
        </p:nvGrpSpPr>
        <p:grpSpPr>
          <a:xfrm>
            <a:off x="401771" y="3784600"/>
            <a:ext cx="11379989" cy="1629275"/>
            <a:chOff x="658586" y="3936191"/>
            <a:chExt cx="11379989" cy="162927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79BBDFA-E4CA-D3B2-4D78-E57706BA8F27}"/>
                </a:ext>
              </a:extLst>
            </p:cNvPr>
            <p:cNvCxnSpPr>
              <a:cxnSpLocks/>
            </p:cNvCxnSpPr>
            <p:nvPr/>
          </p:nvCxnSpPr>
          <p:spPr>
            <a:xfrm>
              <a:off x="658586" y="4973562"/>
              <a:ext cx="108000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E4228AB-141A-A392-8988-D12EAA0C03BE}"/>
                </a:ext>
              </a:extLst>
            </p:cNvPr>
            <p:cNvSpPr/>
            <p:nvPr/>
          </p:nvSpPr>
          <p:spPr>
            <a:xfrm>
              <a:off x="1426029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333B110-1C10-5F2F-1244-95B57A49D9C7}"/>
                </a:ext>
              </a:extLst>
            </p:cNvPr>
            <p:cNvSpPr/>
            <p:nvPr/>
          </p:nvSpPr>
          <p:spPr>
            <a:xfrm>
              <a:off x="2367643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69175891-15C6-D445-D99D-79A521952D9A}"/>
                </a:ext>
              </a:extLst>
            </p:cNvPr>
            <p:cNvSpPr/>
            <p:nvPr/>
          </p:nvSpPr>
          <p:spPr>
            <a:xfrm>
              <a:off x="6673629" y="4434836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1493E57-5D00-058D-B38F-4AEE81470707}"/>
                </a:ext>
              </a:extLst>
            </p:cNvPr>
            <p:cNvSpPr/>
            <p:nvPr/>
          </p:nvSpPr>
          <p:spPr>
            <a:xfrm>
              <a:off x="8523514" y="4419238"/>
              <a:ext cx="174171" cy="113063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6370486-EF26-3AF2-4A68-075A7B3BC08B}"/>
                </a:ext>
              </a:extLst>
            </p:cNvPr>
            <p:cNvSpPr/>
            <p:nvPr/>
          </p:nvSpPr>
          <p:spPr>
            <a:xfrm>
              <a:off x="2693528" y="4660626"/>
              <a:ext cx="3419422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8ED58A-372D-827C-7F8B-F81AFE3615CA}"/>
                </a:ext>
              </a:extLst>
            </p:cNvPr>
            <p:cNvSpPr/>
            <p:nvPr/>
          </p:nvSpPr>
          <p:spPr>
            <a:xfrm>
              <a:off x="7002266" y="4660625"/>
              <a:ext cx="1366781" cy="62587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1CB113D-C53D-FB48-569B-9ED897091C42}"/>
                </a:ext>
              </a:extLst>
            </p:cNvPr>
            <p:cNvSpPr/>
            <p:nvPr/>
          </p:nvSpPr>
          <p:spPr>
            <a:xfrm>
              <a:off x="6306204" y="4604500"/>
              <a:ext cx="174171" cy="760103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3A5ED9-9156-7D0A-A69C-C5BC6E44CFAA}"/>
                    </a:ext>
                  </a:extLst>
                </p:cNvPr>
                <p:cNvSpPr txBox="1"/>
                <p:nvPr/>
              </p:nvSpPr>
              <p:spPr>
                <a:xfrm>
                  <a:off x="11118956" y="4475958"/>
                  <a:ext cx="4696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oMath>
                    </m:oMathPara>
                  </a14:m>
                  <a:endParaRPr lang="it-IT" b="1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F3A5ED9-9156-7D0A-A69C-C5BC6E44C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8956" y="4475958"/>
                  <a:ext cx="46968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685CF0-FAD7-F521-35BA-EFA05D5DB957}"/>
                </a:ext>
              </a:extLst>
            </p:cNvPr>
            <p:cNvSpPr txBox="1"/>
            <p:nvPr/>
          </p:nvSpPr>
          <p:spPr>
            <a:xfrm>
              <a:off x="10671794" y="3936191"/>
              <a:ext cx="13667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Beam</a:t>
              </a:r>
            </a:p>
            <a:p>
              <a:pPr algn="ctr"/>
              <a:r>
                <a:rPr lang="en-US" b="1" dirty="0"/>
                <a:t>direction</a:t>
              </a:r>
              <a:endParaRPr lang="it-IT" b="1" dirty="0"/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11A1F4-B289-588A-B70F-96D16C16952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343385" y="3581804"/>
            <a:ext cx="245587" cy="648264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EFCAA7B-A105-9BD4-26F9-87F74BD84BA6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2304387" y="3581804"/>
            <a:ext cx="1543760" cy="68200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4280D7C-DDF6-8D3E-F022-6E7B9DC26AA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641286" y="3581804"/>
            <a:ext cx="1706112" cy="682008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D2C29E-3B28-1C80-FF69-A3D86852808D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8501440" y="3581804"/>
            <a:ext cx="2101589" cy="668000"/>
          </a:xfrm>
          <a:prstGeom prst="straightConnector1">
            <a:avLst/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2AA7C04-B2FD-28B1-8D71-C8503B04E3DF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6091767" y="3581804"/>
            <a:ext cx="44707" cy="804116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8004C26-DF47-9F1B-D130-5B1428BFD5FC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4215144" y="5233287"/>
            <a:ext cx="56160" cy="60756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5C40DD8-C829-9CAC-EC85-0076DC92B1F1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7586432" y="5189361"/>
            <a:ext cx="721203" cy="65149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55B34FE-23C4-AED1-BE05-138EC3BC9BFD}"/>
                  </a:ext>
                </a:extLst>
              </p:cNvPr>
              <p:cNvSpPr/>
              <p:nvPr/>
            </p:nvSpPr>
            <p:spPr>
              <a:xfrm>
                <a:off x="696000" y="1388018"/>
                <a:ext cx="5353389" cy="1251312"/>
              </a:xfrm>
              <a:prstGeom prst="round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</a:rPr>
                  <a:t>Beam:</a:t>
                </a:r>
                <a:r>
                  <a:rPr lang="en-US" dirty="0">
                    <a:solidFill>
                      <a:schemeClr val="tx1"/>
                    </a:solidFill>
                  </a:rPr>
                  <a:t> H8 secondary beamline off the SPS, driven by 400 GeV protons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Spectrometer selection 180 GeV hadrons (30%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70%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55B34FE-23C4-AED1-BE05-138EC3BC9B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388018"/>
                <a:ext cx="5353389" cy="1251312"/>
              </a:xfrm>
              <a:prstGeom prst="roundRect">
                <a:avLst/>
              </a:prstGeom>
              <a:blipFill>
                <a:blip r:embed="rId3"/>
                <a:stretch>
                  <a:fillRect b="-426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B9ECF49-E6F7-0C3B-48A8-BA01944FCE43}"/>
              </a:ext>
            </a:extLst>
          </p:cNvPr>
          <p:cNvSpPr/>
          <p:nvPr/>
        </p:nvSpPr>
        <p:spPr>
          <a:xfrm>
            <a:off x="6136474" y="1388018"/>
            <a:ext cx="5359528" cy="1251312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Trackers:</a:t>
            </a:r>
          </a:p>
          <a:p>
            <a:r>
              <a:rPr lang="en-US" dirty="0">
                <a:solidFill>
                  <a:schemeClr val="tx1"/>
                </a:solidFill>
              </a:rPr>
              <a:t>2 silicon microstrip sensors</a:t>
            </a:r>
          </a:p>
          <a:p>
            <a:r>
              <a:rPr lang="en-US" dirty="0">
                <a:solidFill>
                  <a:schemeClr val="tx1"/>
                </a:solidFill>
              </a:rPr>
              <a:t>639 strips, 98 mm length</a:t>
            </a:r>
          </a:p>
          <a:p>
            <a:r>
              <a:rPr lang="en-US" dirty="0">
                <a:solidFill>
                  <a:schemeClr val="tx1"/>
                </a:solidFill>
              </a:rPr>
              <a:t>with a </a:t>
            </a:r>
            <a:r>
              <a:rPr lang="it-IT" dirty="0">
                <a:solidFill>
                  <a:schemeClr val="tx1"/>
                </a:solidFill>
              </a:rPr>
              <a:t>~ 7 um resolution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FA8C621-CD68-D14A-26FC-0ADE40F4B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6348" y="1561396"/>
            <a:ext cx="2105423" cy="893356"/>
          </a:xfrm>
          <a:prstGeom prst="rect">
            <a:avLst/>
          </a:prstGeom>
        </p:spPr>
      </p:pic>
      <p:sp>
        <p:nvSpPr>
          <p:cNvPr id="49" name="Titolo 1">
            <a:extLst>
              <a:ext uri="{FF2B5EF4-FFF2-40B4-BE49-F238E27FC236}">
                <a16:creationId xmlns:a16="http://schemas.microsoft.com/office/drawing/2014/main" id="{C581B828-EE4B-D4CF-B108-F533B07C1903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39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A478-2C97-10B4-34B5-10A73494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AC2323-4074-7D2D-42E4-448B5D17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05303-D450-DE41-FD4D-E965DB4B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32D726-6862-785A-B00C-19309D53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18A926-43E2-8B1A-948C-DD69E168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EB45A51-E901-915B-0293-EC5A0957C2F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A421A-CF34-DE89-C38E-406198ECC43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3A2D6F-A325-D7E7-DEFD-6EE799EFE07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C19DACC-8BF8-944F-AFBE-0BF9ECAB5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100" y="1486933"/>
            <a:ext cx="9000000" cy="46052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4782EE9B-3092-A7CF-581C-788617F861A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65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99CC-8B86-B2EE-64BF-98C6CD9A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DCB4FE-C26E-1D5A-A916-88AE81A4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TORSION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2d map is fitted through a parabolic function: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en-US" dirty="0"/>
                  <a:t>Now we correct the effect of torsion using 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found for each bin:</a:t>
                </a:r>
              </a:p>
              <a:p>
                <a:pPr marL="0" indent="0" algn="ctr">
                  <a:buNone/>
                </a:pPr>
                <a:r>
                  <a:rPr lang="en-US" dirty="0"/>
                  <a:t>instead of the Lindhard 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|≤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we will use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p>
                            </m:sSub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A471C-F0EE-5F04-A29E-E0CB002E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ABB026-FA86-A760-183A-FE10D53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FD25C1-5937-F4CD-E5E1-898A8851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2A6038D-432C-2F4A-7030-A075D3CF4C2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ECE314-D833-6651-B033-28F4F1798FA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B96A90-5280-D2F9-54F4-EC33C69AA88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740B1A72-9455-287D-DECF-5E6F95D0EE2E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magine 7">
            <a:extLst>
              <a:ext uri="{FF2B5EF4-FFF2-40B4-BE49-F238E27FC236}">
                <a16:creationId xmlns:a16="http://schemas.microsoft.com/office/drawing/2014/main" id="{2FA6EA3C-6EC2-380D-171B-F258E4E6C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" t="6850" r="10040" b="1950"/>
          <a:stretch>
            <a:fillRect/>
          </a:stretch>
        </p:blipFill>
        <p:spPr>
          <a:xfrm>
            <a:off x="8963964" y="2536372"/>
            <a:ext cx="2389836" cy="1959552"/>
          </a:xfrm>
          <a:prstGeom prst="rect">
            <a:avLst/>
          </a:prstGeom>
        </p:spPr>
      </p:pic>
      <p:pic>
        <p:nvPicPr>
          <p:cNvPr id="16" name="Immagine 6">
            <a:extLst>
              <a:ext uri="{FF2B5EF4-FFF2-40B4-BE49-F238E27FC236}">
                <a16:creationId xmlns:a16="http://schemas.microsoft.com/office/drawing/2014/main" id="{4CFFF36D-29E8-A80D-1E20-BE73617832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/>
          <a:stretch>
            <a:fillRect/>
          </a:stretch>
        </p:blipFill>
        <p:spPr>
          <a:xfrm>
            <a:off x="3273853" y="1363969"/>
            <a:ext cx="2614998" cy="1800000"/>
          </a:xfrm>
          <a:prstGeom prst="rect">
            <a:avLst/>
          </a:prstGeom>
        </p:spPr>
      </p:pic>
      <p:pic>
        <p:nvPicPr>
          <p:cNvPr id="18" name="Segnaposto contenuto 9">
            <a:extLst>
              <a:ext uri="{FF2B5EF4-FFF2-40B4-BE49-F238E27FC236}">
                <a16:creationId xmlns:a16="http://schemas.microsoft.com/office/drawing/2014/main" id="{4EDDF7DA-5323-30FC-99AD-298DDC7FFC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/>
          <a:stretch>
            <a:fillRect/>
          </a:stretch>
        </p:blipFill>
        <p:spPr>
          <a:xfrm>
            <a:off x="5995602" y="1376191"/>
            <a:ext cx="261499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5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309F-6E05-F667-14F8-EAA07050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942CA6-F172-2F55-ECB0-5D3E5C8D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	ANOMALOUS RUN 8650</a:t>
            </a:r>
            <a:endParaRPr lang="it-IT" sz="40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6CC956-69A6-1407-AB8B-30EA49A19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Due to an issue, the run was taken at 150 GeV instead of 180 GeV.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Wider channeling peak</a:t>
                </a:r>
              </a:p>
              <a:p>
                <a:pPr lvl="1"/>
                <a:r>
                  <a:rPr lang="en-US" dirty="0"/>
                  <a:t>More multiple scattering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(∝1/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Lower efficiency</a:t>
                </a:r>
              </a:p>
              <a:p>
                <a:pPr lvl="1"/>
                <a:r>
                  <a:rPr lang="en-US" dirty="0"/>
                  <a:t>De-channeling more likely at lower energies</a:t>
                </a:r>
              </a:p>
              <a:p>
                <a:r>
                  <a:rPr lang="en-US" dirty="0"/>
                  <a:t>Larger critical Lindhard angle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6CC956-69A6-1407-AB8B-30EA49A19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929964"/>
              </a:xfrm>
              <a:blipFill>
                <a:blip r:embed="rId3"/>
                <a:stretch>
                  <a:fillRect l="-1217" t="-22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BC57B7-D774-D984-360D-D88BA07E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EB6265-206E-76F8-875C-7B66465C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1CF861-0A65-29DE-2F43-6BE126A3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0C26D3BA-E6E5-AEC4-4905-A18CD9653680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98BAF2E-CB50-B6B5-7C3A-E2481C8E2AD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B8DA642-668C-A4A2-A213-5B8DD3966DC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F7D004A7-724C-CDEA-7A8E-EB98B7493C6A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9A26-B793-2D85-3CAD-E2D79658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88687-BF13-F647-4364-E442CA10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ANGLE SELECTION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385FB3-6561-5C04-3B4A-79D0186C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AACA59-250E-7219-30FF-8FCF7919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50E125-E034-E05A-7A7B-63CD2B3E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DCFE4DC-AED6-5073-176B-DAA7D9E6B25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766DD3B-A09B-2B03-760F-4FD2350D746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CB820BB-33C0-FD49-8310-C67C15646B1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/>
              <p:nvPr/>
            </p:nvSpPr>
            <p:spPr>
              <a:xfrm>
                <a:off x="696000" y="1377269"/>
                <a:ext cx="3660085" cy="2065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i="1" dirty="0"/>
                  <a:t>For each square bin: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variation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 err="1"/>
                  <a:t>select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particles</a:t>
                </a:r>
                <a:r>
                  <a:rPr lang="it-IT" sz="2000" dirty="0"/>
                  <a:t> within 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that maximizes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𝑐ℎ</m:t>
                        </m:r>
                      </m:sub>
                    </m:sSub>
                  </m:oMath>
                </a14:m>
                <a:r>
                  <a:rPr lang="it-IT" sz="2000" dirty="0"/>
                  <a:t> (through </a:t>
                </a:r>
                <a:r>
                  <a:rPr lang="it-IT" sz="2000" dirty="0" err="1"/>
                  <a:t>gaussian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fit</a:t>
                </a:r>
                <a:r>
                  <a:rPr lang="it-IT" sz="20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377269"/>
                <a:ext cx="3660085" cy="2065822"/>
              </a:xfrm>
              <a:prstGeom prst="rect">
                <a:avLst/>
              </a:prstGeom>
              <a:blipFill>
                <a:blip r:embed="rId3"/>
                <a:stretch>
                  <a:fillRect l="-1664" t="-1770" b="-44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AA240A1-3F70-EE14-4C04-C5F032BFB26F}"/>
              </a:ext>
            </a:extLst>
          </p:cNvPr>
          <p:cNvGrpSpPr>
            <a:grpSpLocks noChangeAspect="1"/>
          </p:cNvGrpSpPr>
          <p:nvPr/>
        </p:nvGrpSpPr>
        <p:grpSpPr>
          <a:xfrm>
            <a:off x="4305550" y="1373723"/>
            <a:ext cx="7190450" cy="4479886"/>
            <a:chOff x="3188750" y="1222745"/>
            <a:chExt cx="8432572" cy="5253769"/>
          </a:xfrm>
        </p:grpSpPr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1BBF9FFD-F79D-AA1B-DF5A-87466EEE6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8750" y="1222745"/>
              <a:ext cx="8432572" cy="5253769"/>
            </a:xfrm>
            <a:prstGeom prst="rect">
              <a:avLst/>
            </a:prstGeom>
          </p:spPr>
        </p:pic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33CB32C7-0FCA-E3A2-3F6E-CA232C9F465D}"/>
                </a:ext>
              </a:extLst>
            </p:cNvPr>
            <p:cNvGrpSpPr/>
            <p:nvPr/>
          </p:nvGrpSpPr>
          <p:grpSpPr>
            <a:xfrm>
              <a:off x="5650030" y="1568918"/>
              <a:ext cx="1822739" cy="567891"/>
              <a:chOff x="4340994" y="1588168"/>
              <a:chExt cx="1822739" cy="567891"/>
            </a:xfrm>
          </p:grpSpPr>
          <p:cxnSp>
            <p:nvCxnSpPr>
              <p:cNvPr id="9" name="Connettore 2 8">
                <a:extLst>
                  <a:ext uri="{FF2B5EF4-FFF2-40B4-BE49-F238E27FC236}">
                    <a16:creationId xmlns:a16="http://schemas.microsoft.com/office/drawing/2014/main" id="{D8CF927E-5FAC-04F9-9C12-62E9DAC2A3CC}"/>
                  </a:ext>
                </a:extLst>
              </p:cNvPr>
              <p:cNvCxnSpPr/>
              <p:nvPr/>
            </p:nvCxnSpPr>
            <p:spPr>
              <a:xfrm flipH="1">
                <a:off x="4340994" y="1876926"/>
                <a:ext cx="625642" cy="19250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ttangolo con angoli arrotondati 10">
                    <a:extLst>
                      <a:ext uri="{FF2B5EF4-FFF2-40B4-BE49-F238E27FC236}">
                        <a16:creationId xmlns:a16="http://schemas.microsoft.com/office/drawing/2014/main" id="{BB4D091A-960D-5AFF-1B6D-37F1F84E8EA1}"/>
                      </a:ext>
                    </a:extLst>
                  </p:cNvPr>
                  <p:cNvSpPr/>
                  <p:nvPr/>
                </p:nvSpPr>
                <p:spPr>
                  <a:xfrm>
                    <a:off x="4966636" y="1588168"/>
                    <a:ext cx="1197097" cy="567891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it-IT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ctrlP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a14:m>
                    <a:r>
                      <a:rPr lang="it-IT" sz="1400" dirty="0">
                        <a:solidFill>
                          <a:schemeClr val="tx1"/>
                        </a:solidFill>
                      </a:rPr>
                      <a:t> cut</a:t>
                    </a:r>
                  </a:p>
                </p:txBody>
              </p:sp>
            </mc:Choice>
            <mc:Fallback xmlns="">
              <p:sp>
                <p:nvSpPr>
                  <p:cNvPr id="11" name="Rettangolo con angoli arrotondati 10">
                    <a:extLst>
                      <a:ext uri="{FF2B5EF4-FFF2-40B4-BE49-F238E27FC236}">
                        <a16:creationId xmlns:a16="http://schemas.microsoft.com/office/drawing/2014/main" id="{BB4D091A-960D-5AFF-1B6D-37F1F84E8E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6636" y="1588168"/>
                    <a:ext cx="1197097" cy="567891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solidFill>
                      <a:srgbClr val="FF0000"/>
                    </a:solidFill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ABD559CF-BD2C-1502-6F8B-FB36F8027603}"/>
                </a:ext>
              </a:extLst>
            </p:cNvPr>
            <p:cNvCxnSpPr>
              <a:cxnSpLocks/>
            </p:cNvCxnSpPr>
            <p:nvPr/>
          </p:nvCxnSpPr>
          <p:spPr>
            <a:xfrm>
              <a:off x="5393267" y="1764543"/>
              <a:ext cx="0" cy="4179057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643DCC27-ABDA-24AC-98A5-A793CC17F949}"/>
                </a:ext>
              </a:extLst>
            </p:cNvPr>
            <p:cNvCxnSpPr>
              <a:cxnSpLocks/>
            </p:cNvCxnSpPr>
            <p:nvPr/>
          </p:nvCxnSpPr>
          <p:spPr>
            <a:xfrm>
              <a:off x="5590762" y="1764543"/>
              <a:ext cx="0" cy="4179057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2 18">
              <a:extLst>
                <a:ext uri="{FF2B5EF4-FFF2-40B4-BE49-F238E27FC236}">
                  <a16:creationId xmlns:a16="http://schemas.microsoft.com/office/drawing/2014/main" id="{B1A2FFA3-AE10-BF56-E55F-8018EA1DA0E5}"/>
                </a:ext>
              </a:extLst>
            </p:cNvPr>
            <p:cNvCxnSpPr>
              <a:cxnSpLocks/>
            </p:cNvCxnSpPr>
            <p:nvPr/>
          </p:nvCxnSpPr>
          <p:spPr>
            <a:xfrm>
              <a:off x="5590762" y="3660685"/>
              <a:ext cx="465021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olo 1">
            <a:extLst>
              <a:ext uri="{FF2B5EF4-FFF2-40B4-BE49-F238E27FC236}">
                <a16:creationId xmlns:a16="http://schemas.microsoft.com/office/drawing/2014/main" id="{37BC37BA-6AAD-84A0-EA99-1B83102FDE2E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Immagine 6">
            <a:extLst>
              <a:ext uri="{FF2B5EF4-FFF2-40B4-BE49-F238E27FC236}">
                <a16:creationId xmlns:a16="http://schemas.microsoft.com/office/drawing/2014/main" id="{7F01FD52-EFD8-96E9-97EE-C5FCA63D75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6" r="6547"/>
          <a:stretch>
            <a:fillRect/>
          </a:stretch>
        </p:blipFill>
        <p:spPr>
          <a:xfrm>
            <a:off x="386912" y="3750867"/>
            <a:ext cx="4060294" cy="268771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4A9ED08-7DD3-F4F3-9468-5482EA0AA377}"/>
              </a:ext>
            </a:extLst>
          </p:cNvPr>
          <p:cNvSpPr/>
          <p:nvPr/>
        </p:nvSpPr>
        <p:spPr>
          <a:xfrm>
            <a:off x="2642137" y="3837540"/>
            <a:ext cx="1630346" cy="680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C10190-79BF-8190-ED3C-0437D97278FF}"/>
              </a:ext>
            </a:extLst>
          </p:cNvPr>
          <p:cNvSpPr/>
          <p:nvPr/>
        </p:nvSpPr>
        <p:spPr>
          <a:xfrm>
            <a:off x="1803400" y="2774950"/>
            <a:ext cx="355600" cy="355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3C31DB42-C569-FEC5-A855-1C3B0E8B1E69}"/>
              </a:ext>
            </a:extLst>
          </p:cNvPr>
          <p:cNvSpPr/>
          <p:nvPr/>
        </p:nvSpPr>
        <p:spPr>
          <a:xfrm rot="2638057">
            <a:off x="526251" y="2615405"/>
            <a:ext cx="1913066" cy="1440147"/>
          </a:xfrm>
          <a:prstGeom prst="arc">
            <a:avLst>
              <a:gd name="adj1" fmla="val 17419214"/>
              <a:gd name="adj2" fmla="val 0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85F2BAD4-FC75-472D-0DFE-986EE5E0DD11}"/>
              </a:ext>
            </a:extLst>
          </p:cNvPr>
          <p:cNvSpPr/>
          <p:nvPr/>
        </p:nvSpPr>
        <p:spPr>
          <a:xfrm rot="2638057">
            <a:off x="838569" y="2757200"/>
            <a:ext cx="1913066" cy="2106933"/>
          </a:xfrm>
          <a:prstGeom prst="arc">
            <a:avLst>
              <a:gd name="adj1" fmla="val 17419214"/>
              <a:gd name="adj2" fmla="val 853247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284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96DB-8D5D-03C7-3FA3-2580E743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B6C1CD1E-43F2-2E63-AEC6-105AF05F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Crystal </a:t>
            </a:r>
            <a:r>
              <a:rPr lang="it-IT" sz="2400" dirty="0" err="1"/>
              <a:t>efficiency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function of the incoming angle, after </a:t>
            </a:r>
            <a:r>
              <a:rPr lang="it-IT" sz="2400" dirty="0" err="1"/>
              <a:t>application</a:t>
            </a:r>
            <a:r>
              <a:rPr lang="it-IT" sz="2400" dirty="0"/>
              <a:t> of the </a:t>
            </a:r>
            <a:r>
              <a:rPr lang="it-IT" sz="2400" dirty="0" err="1"/>
              <a:t>torsion</a:t>
            </a:r>
            <a:r>
              <a:rPr lang="it-IT" sz="2400" dirty="0"/>
              <a:t> </a:t>
            </a:r>
            <a:r>
              <a:rPr lang="it-IT" sz="2400" dirty="0" err="1"/>
              <a:t>correction</a:t>
            </a:r>
            <a:r>
              <a:rPr lang="it-IT" sz="2400" dirty="0"/>
              <a:t>. The </a:t>
            </a:r>
            <a:r>
              <a:rPr lang="it-IT" sz="2400" dirty="0" err="1"/>
              <a:t>value</a:t>
            </a:r>
            <a:r>
              <a:rPr lang="it-IT" sz="2400" dirty="0"/>
              <a:t> of the </a:t>
            </a:r>
            <a:r>
              <a:rPr lang="it-IT" sz="2400" dirty="0" err="1"/>
              <a:t>peak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efficiency</a:t>
            </a:r>
            <a:r>
              <a:rPr lang="it-IT" sz="2400" dirty="0"/>
              <a:t> of the </a:t>
            </a:r>
            <a:r>
              <a:rPr lang="it-IT" sz="2400" dirty="0" err="1"/>
              <a:t>crystal</a:t>
            </a:r>
            <a:r>
              <a:rPr lang="it-IT" sz="2400" dirty="0"/>
              <a:t> </a:t>
            </a:r>
            <a:r>
              <a:rPr lang="it-IT" sz="2400" dirty="0" err="1"/>
              <a:t>when</a:t>
            </a:r>
            <a:r>
              <a:rPr lang="it-IT" sz="2400" dirty="0"/>
              <a:t> it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perfectly</a:t>
            </a:r>
            <a:r>
              <a:rPr lang="it-IT" sz="2400" dirty="0"/>
              <a:t> </a:t>
            </a:r>
            <a:r>
              <a:rPr lang="it-IT" sz="2400" dirty="0" err="1"/>
              <a:t>aligned</a:t>
            </a:r>
            <a:r>
              <a:rPr lang="it-IT" sz="2400" dirty="0"/>
              <a:t> to the </a:t>
            </a:r>
            <a:r>
              <a:rPr lang="it-IT" sz="2400" dirty="0" err="1"/>
              <a:t>beam</a:t>
            </a:r>
            <a:r>
              <a:rPr lang="it-IT" sz="2400" dirty="0"/>
              <a:t>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41F033-41FF-9EC2-CD18-6C1065E7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2060"/>
                </a:solidFill>
              </a:rPr>
              <a:t>	EFFICIENCY CURVE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05E3A4-151D-9A1F-8186-E743AE29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August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ABE22A-648C-CB6A-CB96-BA087002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ED4E80-CE57-A7C6-53FF-A878B0C1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2604C5D-7C9A-C092-C1C1-6CF4E44DA8A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503126-5228-0AF4-215B-A7729A20AE8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2E0088-D7C6-1059-05D7-BD2076C40D2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13A8E72-F1F7-0929-4122-8EF64E4A4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1"/>
          <a:stretch>
            <a:fillRect/>
          </a:stretch>
        </p:blipFill>
        <p:spPr>
          <a:xfrm>
            <a:off x="2992774" y="2452841"/>
            <a:ext cx="6204651" cy="4047596"/>
          </a:xfrm>
          <a:prstGeom prst="rect">
            <a:avLst/>
          </a:prstGeom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0D475A32-EFAB-0480-2F82-0F3835B1E3BB}"/>
              </a:ext>
            </a:extLst>
          </p:cNvPr>
          <p:cNvSpPr txBox="1">
            <a:spLocks/>
          </p:cNvSpPr>
          <p:nvPr/>
        </p:nvSpPr>
        <p:spPr>
          <a:xfrm>
            <a:off x="696000" y="688243"/>
            <a:ext cx="10800000" cy="559599"/>
          </a:xfrm>
          <a:prstGeom prst="roundRect">
            <a:avLst>
              <a:gd name="adj" fmla="val 0"/>
            </a:avLst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i="1" dirty="0">
                <a:solidFill>
                  <a:srgbClr val="00206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BACKUP SLIDE</a:t>
            </a:r>
            <a:endParaRPr lang="it-IT" sz="2000" b="1" i="1" dirty="0">
              <a:solidFill>
                <a:srgbClr val="00206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494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9879</TotalTime>
  <Words>1562</Words>
  <Application>Microsoft Office PowerPoint</Application>
  <PresentationFormat>Widescreen</PresentationFormat>
  <Paragraphs>322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Tema di Office</vt:lpstr>
      <vt:lpstr>PowerPoint Presentation</vt:lpstr>
      <vt:lpstr> MY ANALYSIS</vt:lpstr>
      <vt:lpstr> THE ANALYSIS PIPELINE</vt:lpstr>
      <vt:lpstr> ANALYSIS: DETECTOR ALIGNMENT</vt:lpstr>
      <vt:lpstr> ANALYSIS: CRYSTAL EDGES</vt:lpstr>
      <vt:lpstr> ANALYSIS: CRYSTAL EDGES</vt:lpstr>
      <vt:lpstr> ANALYSIS: MAPPING THE TORSION</vt:lpstr>
      <vt:lpstr> CHANNELING EFFICIENCY</vt:lpstr>
      <vt:lpstr> CHANNELING EFFICIENCY: RESULTS</vt:lpstr>
      <vt:lpstr> CHANNELING EFFICIENCY: RESULTS</vt:lpstr>
      <vt:lpstr> CHANNELING EFFICIENCY: RESULTS</vt:lpstr>
      <vt:lpstr> WHAT’S NEXT: SIMULATION</vt:lpstr>
      <vt:lpstr> BACKUP SLIDES</vt:lpstr>
      <vt:lpstr> SCHEMATIC LAYOUT</vt:lpstr>
      <vt:lpstr> SCHEMATIC LAYOUT</vt:lpstr>
      <vt:lpstr> TORSION FIT</vt:lpstr>
      <vt:lpstr> ANOMALOUS RUN 8650</vt:lpstr>
      <vt:lpstr> ANGLE SELECTION</vt:lpstr>
      <vt:lpstr> EFFICIENCY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53</cp:revision>
  <dcterms:created xsi:type="dcterms:W3CDTF">2026-07-09T15:21:04Z</dcterms:created>
  <dcterms:modified xsi:type="dcterms:W3CDTF">2026-08-24T14:45:51Z</dcterms:modified>
</cp:coreProperties>
</file>