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86" r:id="rId3"/>
    <p:sldId id="319" r:id="rId4"/>
    <p:sldId id="288" r:id="rId5"/>
    <p:sldId id="292" r:id="rId6"/>
    <p:sldId id="317" r:id="rId7"/>
    <p:sldId id="289" r:id="rId8"/>
    <p:sldId id="291" r:id="rId9"/>
    <p:sldId id="318" r:id="rId10"/>
    <p:sldId id="316" r:id="rId11"/>
    <p:sldId id="295" r:id="rId12"/>
    <p:sldId id="322" r:id="rId13"/>
    <p:sldId id="299" r:id="rId14"/>
    <p:sldId id="298" r:id="rId15"/>
    <p:sldId id="303" r:id="rId16"/>
    <p:sldId id="301" r:id="rId17"/>
    <p:sldId id="308" r:id="rId18"/>
    <p:sldId id="304" r:id="rId19"/>
    <p:sldId id="327" r:id="rId20"/>
    <p:sldId id="323" r:id="rId21"/>
    <p:sldId id="324" r:id="rId22"/>
    <p:sldId id="326" r:id="rId23"/>
    <p:sldId id="305" r:id="rId24"/>
    <p:sldId id="320" r:id="rId25"/>
    <p:sldId id="310" r:id="rId26"/>
    <p:sldId id="306" r:id="rId27"/>
    <p:sldId id="307" r:id="rId28"/>
    <p:sldId id="314" r:id="rId29"/>
    <p:sldId id="315" r:id="rId3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82493" autoAdjust="0"/>
  </p:normalViewPr>
  <p:slideViewPr>
    <p:cSldViewPr snapToGrid="0">
      <p:cViewPr varScale="1">
        <p:scale>
          <a:sx n="53" d="100"/>
          <a:sy n="53" d="100"/>
        </p:scale>
        <p:origin x="105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A422DF-4847-4D6E-BB97-9B75D56F5D74}" type="datetimeFigureOut">
              <a:rPr lang="it-IT" smtClean="0"/>
              <a:t>28/07/2026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05392F-55BF-4B8E-AF01-45F81C88C28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0756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this </a:t>
            </a:r>
            <a:r>
              <a:rPr lang="it-IT" dirty="0" err="1"/>
              <a:t>analysis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based</a:t>
            </a:r>
            <a:r>
              <a:rPr lang="it-IT" dirty="0"/>
              <a:t> on a 2024 dataset for </a:t>
            </a:r>
            <a:r>
              <a:rPr lang="it-IT" dirty="0" err="1"/>
              <a:t>two</a:t>
            </a:r>
            <a:r>
              <a:rPr lang="it-IT" dirty="0"/>
              <a:t> long </a:t>
            </a:r>
            <a:r>
              <a:rPr lang="it-IT" dirty="0" err="1"/>
              <a:t>crystals</a:t>
            </a:r>
            <a:r>
              <a:rPr lang="it-IT" dirty="0"/>
              <a:t>, </a:t>
            </a:r>
            <a:r>
              <a:rPr lang="it-IT" dirty="0" err="1"/>
              <a:t>which</a:t>
            </a:r>
            <a:r>
              <a:rPr lang="it-IT" dirty="0"/>
              <a:t> we </a:t>
            </a:r>
            <a:r>
              <a:rPr lang="it-IT" dirty="0" err="1"/>
              <a:t>refer</a:t>
            </a:r>
            <a:r>
              <a:rPr lang="it-IT" dirty="0"/>
              <a:t> to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crystal</a:t>
            </a:r>
            <a:r>
              <a:rPr lang="it-IT" dirty="0"/>
              <a:t> 1 and </a:t>
            </a:r>
            <a:r>
              <a:rPr lang="it-IT" dirty="0" err="1"/>
              <a:t>crystal</a:t>
            </a:r>
            <a:r>
              <a:rPr lang="it-IT" dirty="0"/>
              <a:t> 2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340378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Before</a:t>
            </a:r>
            <a:r>
              <a:rPr lang="it-IT" dirty="0"/>
              <a:t> </a:t>
            </a:r>
            <a:r>
              <a:rPr lang="it-IT" dirty="0" err="1"/>
              <a:t>diving</a:t>
            </a:r>
            <a:r>
              <a:rPr lang="it-IT" dirty="0"/>
              <a:t> </a:t>
            </a:r>
            <a:r>
              <a:rPr lang="it-IT" dirty="0" err="1"/>
              <a:t>into</a:t>
            </a:r>
            <a:r>
              <a:rPr lang="it-IT" dirty="0"/>
              <a:t> the </a:t>
            </a:r>
            <a:r>
              <a:rPr lang="it-IT" dirty="0" err="1"/>
              <a:t>efficiency</a:t>
            </a:r>
            <a:r>
              <a:rPr lang="it-IT" dirty="0"/>
              <a:t> </a:t>
            </a:r>
            <a:r>
              <a:rPr lang="it-IT" dirty="0" err="1"/>
              <a:t>evaluation</a:t>
            </a:r>
            <a:r>
              <a:rPr lang="it-IT" dirty="0"/>
              <a:t>, we </a:t>
            </a:r>
            <a:r>
              <a:rPr lang="it-IT" dirty="0" err="1"/>
              <a:t>performed</a:t>
            </a:r>
            <a:r>
              <a:rPr lang="it-IT" dirty="0"/>
              <a:t> </a:t>
            </a:r>
            <a:r>
              <a:rPr lang="it-IT" dirty="0" err="1"/>
              <a:t>several</a:t>
            </a:r>
            <a:r>
              <a:rPr lang="it-IT" dirty="0"/>
              <a:t> </a:t>
            </a:r>
            <a:r>
              <a:rPr lang="it-IT" dirty="0" err="1"/>
              <a:t>preliminary</a:t>
            </a:r>
            <a:r>
              <a:rPr lang="it-IT" dirty="0"/>
              <a:t> </a:t>
            </a:r>
            <a:r>
              <a:rPr lang="it-IT" dirty="0" err="1"/>
              <a:t>analysis</a:t>
            </a:r>
            <a:r>
              <a:rPr lang="it-IT" dirty="0"/>
              <a:t> steps. </a:t>
            </a:r>
          </a:p>
          <a:p>
            <a:r>
              <a:rPr lang="it-IT" dirty="0"/>
              <a:t>Next, </a:t>
            </a:r>
            <a:r>
              <a:rPr lang="it-IT" dirty="0" err="1"/>
              <a:t>because</a:t>
            </a:r>
            <a:r>
              <a:rPr lang="it-IT" dirty="0"/>
              <a:t> the relative </a:t>
            </a:r>
            <a:r>
              <a:rPr lang="it-IT" dirty="0" err="1"/>
              <a:t>beam</a:t>
            </a:r>
            <a:r>
              <a:rPr lang="it-IT" dirty="0"/>
              <a:t> position was </a:t>
            </a:r>
            <a:r>
              <a:rPr lang="it-IT" dirty="0" err="1"/>
              <a:t>unknown</a:t>
            </a:r>
            <a:r>
              <a:rPr lang="it-IT" dirty="0"/>
              <a:t>, we </a:t>
            </a:r>
            <a:r>
              <a:rPr lang="it-IT" dirty="0" err="1"/>
              <a:t>had</a:t>
            </a:r>
            <a:r>
              <a:rPr lang="it-IT" dirty="0"/>
              <a:t> to </a:t>
            </a:r>
            <a:r>
              <a:rPr lang="it-IT" dirty="0" err="1"/>
              <a:t>algorithmically</a:t>
            </a:r>
            <a:r>
              <a:rPr lang="it-IT" dirty="0"/>
              <a:t> </a:t>
            </a:r>
            <a:r>
              <a:rPr lang="it-IT" dirty="0" err="1"/>
              <a:t>identify</a:t>
            </a:r>
            <a:r>
              <a:rPr lang="it-IT" dirty="0"/>
              <a:t> the </a:t>
            </a:r>
            <a:r>
              <a:rPr lang="it-IT" dirty="0" err="1"/>
              <a:t>physical</a:t>
            </a:r>
            <a:r>
              <a:rPr lang="it-IT" dirty="0"/>
              <a:t> </a:t>
            </a:r>
            <a:r>
              <a:rPr lang="it-IT" dirty="0" err="1"/>
              <a:t>edges</a:t>
            </a:r>
            <a:r>
              <a:rPr lang="it-IT" dirty="0"/>
              <a:t> of the </a:t>
            </a:r>
            <a:r>
              <a:rPr lang="it-IT" dirty="0" err="1"/>
              <a:t>crystal</a:t>
            </a:r>
            <a:r>
              <a:rPr lang="it-IT" dirty="0"/>
              <a:t> to validate 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particles</a:t>
            </a:r>
            <a:r>
              <a:rPr lang="it-IT" dirty="0"/>
              <a:t> </a:t>
            </a:r>
            <a:r>
              <a:rPr lang="it-IT" dirty="0" err="1"/>
              <a:t>successfully</a:t>
            </a:r>
            <a:r>
              <a:rPr lang="it-IT" dirty="0"/>
              <a:t> </a:t>
            </a:r>
            <a:r>
              <a:rPr lang="it-IT" dirty="0" err="1"/>
              <a:t>entered</a:t>
            </a:r>
            <a:r>
              <a:rPr lang="it-IT" dirty="0"/>
              <a:t> it. 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19920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can </a:t>
            </a:r>
            <a:r>
              <a:rPr lang="it-IT" dirty="0" err="1"/>
              <a:t>see</a:t>
            </a:r>
            <a:r>
              <a:rPr lang="it-IT" dirty="0"/>
              <a:t>, the </a:t>
            </a:r>
            <a:r>
              <a:rPr lang="it-IT" dirty="0" err="1"/>
              <a:t>deviation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essentially</a:t>
            </a:r>
            <a:r>
              <a:rPr lang="it-IT" dirty="0"/>
              <a:t> zero—with an x-offset of 0.003 </a:t>
            </a:r>
            <a:r>
              <a:rPr lang="it-IT" dirty="0" err="1"/>
              <a:t>millimeters</a:t>
            </a:r>
            <a:r>
              <a:rPr lang="it-IT" dirty="0"/>
              <a:t> and a y-offset of 0.004 </a:t>
            </a:r>
            <a:r>
              <a:rPr lang="it-IT" dirty="0" err="1"/>
              <a:t>millimeters</a:t>
            </a:r>
            <a:r>
              <a:rPr lang="it-IT" dirty="0"/>
              <a:t>, </a:t>
            </a:r>
            <a:r>
              <a:rPr lang="it-IT" dirty="0" err="1"/>
              <a:t>both</a:t>
            </a:r>
            <a:r>
              <a:rPr lang="it-IT" dirty="0"/>
              <a:t> </a:t>
            </a:r>
            <a:r>
              <a:rPr lang="it-IT" dirty="0" err="1"/>
              <a:t>showing</a:t>
            </a:r>
            <a:r>
              <a:rPr lang="it-IT" dirty="0"/>
              <a:t> a </a:t>
            </a:r>
            <a:r>
              <a:rPr lang="it-IT" dirty="0" err="1"/>
              <a:t>skewness</a:t>
            </a:r>
            <a:r>
              <a:rPr lang="it-IT" dirty="0"/>
              <a:t> </a:t>
            </a:r>
            <a:r>
              <a:rPr lang="it-IT" dirty="0" err="1"/>
              <a:t>near</a:t>
            </a:r>
            <a:r>
              <a:rPr lang="it-IT" dirty="0"/>
              <a:t> zero.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02370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To </a:t>
            </a:r>
            <a:r>
              <a:rPr lang="it-IT" dirty="0" err="1"/>
              <a:t>define</a:t>
            </a:r>
            <a:r>
              <a:rPr lang="it-IT" dirty="0"/>
              <a:t> the position of the </a:t>
            </a:r>
            <a:r>
              <a:rPr lang="it-IT" dirty="0" err="1"/>
              <a:t>crystal</a:t>
            </a:r>
            <a:r>
              <a:rPr lang="it-IT" dirty="0"/>
              <a:t> with </a:t>
            </a:r>
            <a:r>
              <a:rPr lang="it-IT" dirty="0" err="1"/>
              <a:t>respect</a:t>
            </a:r>
            <a:r>
              <a:rPr lang="it-IT" dirty="0"/>
              <a:t> to the </a:t>
            </a:r>
            <a:r>
              <a:rPr lang="it-IT" dirty="0" err="1"/>
              <a:t>beam</a:t>
            </a:r>
            <a:r>
              <a:rPr lang="it-IT" dirty="0"/>
              <a:t>, we </a:t>
            </a:r>
            <a:r>
              <a:rPr lang="it-IT" dirty="0" err="1"/>
              <a:t>looked</a:t>
            </a:r>
            <a:r>
              <a:rPr lang="it-IT" dirty="0"/>
              <a:t> </a:t>
            </a:r>
            <a:r>
              <a:rPr lang="it-IT" dirty="0" err="1"/>
              <a:t>specifically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channeled</a:t>
            </a:r>
            <a:r>
              <a:rPr lang="it-IT" dirty="0"/>
              <a:t> </a:t>
            </a:r>
            <a:r>
              <a:rPr lang="it-IT" dirty="0" err="1"/>
              <a:t>particles</a:t>
            </a:r>
            <a:r>
              <a:rPr lang="it-IT" dirty="0"/>
              <a:t>.</a:t>
            </a:r>
          </a:p>
          <a:p>
            <a:r>
              <a:rPr lang="it-IT" dirty="0"/>
              <a:t>The impact points of </a:t>
            </a:r>
            <a:r>
              <a:rPr lang="it-IT" dirty="0" err="1"/>
              <a:t>these</a:t>
            </a:r>
            <a:r>
              <a:rPr lang="it-IT" dirty="0"/>
              <a:t> </a:t>
            </a:r>
            <a:r>
              <a:rPr lang="it-IT" dirty="0" err="1"/>
              <a:t>particles</a:t>
            </a:r>
            <a:r>
              <a:rPr lang="it-IT" dirty="0"/>
              <a:t> </a:t>
            </a:r>
            <a:r>
              <a:rPr lang="it-IT" dirty="0" err="1"/>
              <a:t>revealed</a:t>
            </a:r>
            <a:r>
              <a:rPr lang="it-IT" dirty="0"/>
              <a:t> the </a:t>
            </a:r>
            <a:r>
              <a:rPr lang="it-IT" dirty="0" err="1"/>
              <a:t>physical</a:t>
            </a:r>
            <a:r>
              <a:rPr lang="it-IT" dirty="0"/>
              <a:t> location of the </a:t>
            </a:r>
            <a:r>
              <a:rPr lang="it-IT" dirty="0" err="1"/>
              <a:t>crystal</a:t>
            </a:r>
            <a:r>
              <a:rPr lang="it-IT" dirty="0"/>
              <a:t>, matching </a:t>
            </a:r>
            <a:r>
              <a:rPr lang="it-IT" dirty="0" err="1"/>
              <a:t>its</a:t>
            </a:r>
            <a:r>
              <a:rPr lang="it-IT" dirty="0"/>
              <a:t> </a:t>
            </a:r>
            <a:r>
              <a:rPr lang="it-IT" dirty="0" err="1"/>
              <a:t>expected</a:t>
            </a:r>
            <a:r>
              <a:rPr lang="it-IT" dirty="0"/>
              <a:t> </a:t>
            </a:r>
            <a:r>
              <a:rPr lang="it-IT" dirty="0" err="1"/>
              <a:t>dimensions</a:t>
            </a:r>
            <a:r>
              <a:rPr lang="it-IT" dirty="0"/>
              <a:t> of 2 by 8 </a:t>
            </a:r>
            <a:r>
              <a:rPr lang="it-IT" dirty="0" err="1"/>
              <a:t>millimeters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112117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the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crystal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edges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identified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using the </a:t>
            </a:r>
            <a:r>
              <a:rPr lang="it-I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downstream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particle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profiles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channeled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particles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distinctly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separated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subsequent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analysis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strictly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it-IT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upstream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coordinates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Channeled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particles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follow the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bent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lattice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planes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resulting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a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lateral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geometric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drift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along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x-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axis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traverse the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crystal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To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define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physical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footprint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entrance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face, we must project the downstream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edges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back upstream.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38831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note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it-IT" b="0" i="0" dirty="0" err="1">
                    <a:latin typeface="+mj-lt"/>
                  </a:rPr>
                  <a:t>torsion</a:t>
                </a:r>
                <a:r>
                  <a:rPr lang="it-IT" b="0" i="0" dirty="0">
                    <a:latin typeface="+mj-lt"/>
                  </a:rPr>
                  <a:t> </a:t>
                </a:r>
                <a:r>
                  <a:rPr lang="it-IT" b="0" i="0" dirty="0" err="1">
                    <a:latin typeface="+mj-lt"/>
                  </a:rPr>
                  <a:t>is</a:t>
                </a:r>
                <a:r>
                  <a:rPr lang="it-IT" b="0" i="0" dirty="0">
                    <a:latin typeface="+mj-lt"/>
                  </a:rPr>
                  <a:t> the </a:t>
                </a:r>
                <a:r>
                  <a:rPr lang="it-IT" b="0" i="0" dirty="0" err="1">
                    <a:latin typeface="+mj-lt"/>
                  </a:rPr>
                  <a:t>variation</a:t>
                </a:r>
                <a:r>
                  <a:rPr lang="it-IT" b="0" i="0" dirty="0">
                    <a:latin typeface="+mj-lt"/>
                  </a:rPr>
                  <a:t> of the </a:t>
                </a:r>
                <a:r>
                  <a:rPr lang="it-IT" b="0" i="0" dirty="0" err="1">
                    <a:latin typeface="+mj-lt"/>
                  </a:rPr>
                  <a:t>crystalline</a:t>
                </a:r>
                <a:r>
                  <a:rPr lang="it-IT" b="0" i="0" dirty="0">
                    <a:latin typeface="+mj-lt"/>
                  </a:rPr>
                  <a:t> </a:t>
                </a:r>
                <a:r>
                  <a:rPr lang="it-IT" b="0" i="0" dirty="0" err="1">
                    <a:latin typeface="+mj-lt"/>
                  </a:rPr>
                  <a:t>plane</a:t>
                </a:r>
                <a:r>
                  <a:rPr lang="it-IT" b="0" i="0" dirty="0">
                    <a:latin typeface="+mj-lt"/>
                  </a:rPr>
                  <a:t> </a:t>
                </a:r>
                <a:r>
                  <a:rPr lang="it-IT" b="0" i="0" dirty="0" err="1">
                    <a:latin typeface="+mj-lt"/>
                  </a:rPr>
                  <a:t>orientation</a:t>
                </a:r>
                <a:r>
                  <a:rPr lang="it-IT" b="0" i="0" dirty="0">
                    <a:latin typeface="+mj-lt"/>
                  </a:rPr>
                  <a:t> </a:t>
                </a:r>
                <a:r>
                  <a:rPr lang="it-IT" b="0" i="0" dirty="0" err="1">
                    <a:latin typeface="+mj-lt"/>
                  </a:rPr>
                  <a:t>along</a:t>
                </a:r>
                <a:r>
                  <a:rPr lang="it-IT" b="0" i="0" dirty="0">
                    <a:latin typeface="+mj-lt"/>
                  </a:rPr>
                  <a:t> the y </a:t>
                </a:r>
                <a:r>
                  <a:rPr lang="it-IT" b="0" i="0" dirty="0" err="1">
                    <a:latin typeface="+mj-lt"/>
                  </a:rPr>
                  <a:t>direction</a:t>
                </a:r>
                <a:r>
                  <a:rPr lang="it-IT" b="0" i="0" dirty="0">
                    <a:latin typeface="+mj-lt"/>
                  </a:rPr>
                  <a:t> </a:t>
                </a:r>
                <a:r>
                  <a:rPr lang="it-IT" b="0" i="0" dirty="0" err="1">
                    <a:latin typeface="+mj-lt"/>
                  </a:rPr>
                  <a:t>perpendicular</a:t>
                </a:r>
                <a:r>
                  <a:rPr lang="it-IT" b="0" i="0" dirty="0">
                    <a:latin typeface="+mj-lt"/>
                  </a:rPr>
                  <a:t> to the bending </a:t>
                </a:r>
                <a:r>
                  <a:rPr lang="it-IT" b="0" i="0" dirty="0" err="1">
                    <a:latin typeface="+mj-lt"/>
                  </a:rPr>
                  <a:t>plane</a:t>
                </a:r>
                <a:endParaRPr lang="it-IT" b="0" i="0" dirty="0">
                  <a:latin typeface="+mj-lt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dirty="0"/>
                  <a:t>: the angle </a:t>
                </a:r>
                <a:r>
                  <a:rPr lang="it-IT" dirty="0" err="1"/>
                  <a:t>where</a:t>
                </a:r>
                <a:r>
                  <a:rPr lang="it-IT" dirty="0"/>
                  <a:t> the </a:t>
                </a:r>
                <a:r>
                  <a:rPr lang="it-IT" dirty="0" err="1"/>
                  <a:t>crystal</a:t>
                </a:r>
                <a:r>
                  <a:rPr lang="it-IT" dirty="0"/>
                  <a:t> </a:t>
                </a:r>
                <a:r>
                  <a:rPr lang="it-IT" dirty="0" err="1"/>
                  <a:t>planes</a:t>
                </a:r>
                <a:r>
                  <a:rPr lang="it-IT" dirty="0"/>
                  <a:t> are </a:t>
                </a:r>
                <a:r>
                  <a:rPr lang="it-IT" dirty="0" err="1"/>
                  <a:t>perfectly</a:t>
                </a:r>
                <a:r>
                  <a:rPr lang="it-IT" dirty="0"/>
                  <a:t> </a:t>
                </a:r>
                <a:r>
                  <a:rPr lang="it-IT" dirty="0" err="1"/>
                  <a:t>aligned</a:t>
                </a:r>
                <a:r>
                  <a:rPr lang="it-IT" dirty="0"/>
                  <a:t> with the </a:t>
                </a:r>
                <a:r>
                  <a:rPr lang="it-IT" dirty="0" err="1"/>
                  <a:t>beam</a:t>
                </a:r>
                <a:r>
                  <a:rPr lang="it-IT" dirty="0"/>
                  <a:t>.</a:t>
                </a:r>
              </a:p>
            </p:txBody>
          </p:sp>
        </mc:Choice>
        <mc:Fallback xmlns="">
          <p:sp>
            <p:nvSpPr>
              <p:cNvPr id="3" name="Segnaposto note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it-IT" b="0" i="0">
                    <a:latin typeface="Cambria Math" panose="02040503050406030204" pitchFamily="18" charset="0"/>
                  </a:rPr>
                  <a:t>𝜃_0</a:t>
                </a:r>
                <a:r>
                  <a:rPr lang="it-IT" dirty="0"/>
                  <a:t>: the angle </a:t>
                </a:r>
                <a:r>
                  <a:rPr lang="it-IT" dirty="0" err="1"/>
                  <a:t>where</a:t>
                </a:r>
                <a:r>
                  <a:rPr lang="it-IT" dirty="0"/>
                  <a:t> the </a:t>
                </a:r>
                <a:r>
                  <a:rPr lang="it-IT" dirty="0" err="1"/>
                  <a:t>crystal</a:t>
                </a:r>
                <a:r>
                  <a:rPr lang="it-IT" dirty="0"/>
                  <a:t> </a:t>
                </a:r>
                <a:r>
                  <a:rPr lang="it-IT" dirty="0" err="1"/>
                  <a:t>planes</a:t>
                </a:r>
                <a:r>
                  <a:rPr lang="it-IT" dirty="0"/>
                  <a:t> are </a:t>
                </a:r>
                <a:r>
                  <a:rPr lang="it-IT" dirty="0" err="1"/>
                  <a:t>perfectly</a:t>
                </a:r>
                <a:r>
                  <a:rPr lang="it-IT" dirty="0"/>
                  <a:t> </a:t>
                </a:r>
                <a:r>
                  <a:rPr lang="it-IT" dirty="0" err="1"/>
                  <a:t>aligned</a:t>
                </a:r>
                <a:r>
                  <a:rPr lang="it-IT" dirty="0"/>
                  <a:t> with the </a:t>
                </a:r>
                <a:r>
                  <a:rPr lang="it-IT" dirty="0" err="1"/>
                  <a:t>beam</a:t>
                </a:r>
                <a:r>
                  <a:rPr lang="it-IT" dirty="0"/>
                  <a:t>.</a:t>
                </a:r>
              </a:p>
            </p:txBody>
          </p:sp>
        </mc:Fallback>
      </mc:AlternateContent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912868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4C9A7-4CBB-0D9B-16B5-75976A01B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4F6F799-4853-840A-A465-59E86E5E17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note 2">
                <a:extLst>
                  <a:ext uri="{FF2B5EF4-FFF2-40B4-BE49-F238E27FC236}">
                    <a16:creationId xmlns:a16="http://schemas.microsoft.com/office/drawing/2014/main" id="{A07ED44C-8A11-17E6-4C65-FD529E61844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dirty="0"/>
                  <a:t>: the angle </a:t>
                </a:r>
                <a:r>
                  <a:rPr lang="it-IT" dirty="0" err="1"/>
                  <a:t>where</a:t>
                </a:r>
                <a:r>
                  <a:rPr lang="it-IT" dirty="0"/>
                  <a:t> the </a:t>
                </a:r>
                <a:r>
                  <a:rPr lang="it-IT" dirty="0" err="1"/>
                  <a:t>crystal</a:t>
                </a:r>
                <a:r>
                  <a:rPr lang="it-IT" dirty="0"/>
                  <a:t> </a:t>
                </a:r>
                <a:r>
                  <a:rPr lang="it-IT" dirty="0" err="1"/>
                  <a:t>planes</a:t>
                </a:r>
                <a:r>
                  <a:rPr lang="it-IT" dirty="0"/>
                  <a:t> are </a:t>
                </a:r>
                <a:r>
                  <a:rPr lang="it-IT" dirty="0" err="1"/>
                  <a:t>perfectly</a:t>
                </a:r>
                <a:r>
                  <a:rPr lang="it-IT" dirty="0"/>
                  <a:t> </a:t>
                </a:r>
                <a:r>
                  <a:rPr lang="it-IT" dirty="0" err="1"/>
                  <a:t>aligned</a:t>
                </a:r>
                <a:r>
                  <a:rPr lang="it-IT" dirty="0"/>
                  <a:t> with the </a:t>
                </a:r>
                <a:r>
                  <a:rPr lang="it-IT" dirty="0" err="1"/>
                  <a:t>beam</a:t>
                </a:r>
                <a:r>
                  <a:rPr lang="it-IT" dirty="0"/>
                  <a:t>.</a:t>
                </a:r>
              </a:p>
            </p:txBody>
          </p:sp>
        </mc:Choice>
        <mc:Fallback>
          <p:sp>
            <p:nvSpPr>
              <p:cNvPr id="3" name="Segnaposto note 2">
                <a:extLst>
                  <a:ext uri="{FF2B5EF4-FFF2-40B4-BE49-F238E27FC236}">
                    <a16:creationId xmlns:a16="http://schemas.microsoft.com/office/drawing/2014/main" id="{A07ED44C-8A11-17E6-4C65-FD529E61844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it-IT" b="0" i="0">
                    <a:latin typeface="Cambria Math" panose="02040503050406030204" pitchFamily="18" charset="0"/>
                  </a:rPr>
                  <a:t>𝜃_0</a:t>
                </a:r>
                <a:r>
                  <a:rPr lang="it-IT" dirty="0"/>
                  <a:t>: the angle </a:t>
                </a:r>
                <a:r>
                  <a:rPr lang="it-IT" dirty="0" err="1"/>
                  <a:t>where</a:t>
                </a:r>
                <a:r>
                  <a:rPr lang="it-IT" dirty="0"/>
                  <a:t> the </a:t>
                </a:r>
                <a:r>
                  <a:rPr lang="it-IT" dirty="0" err="1"/>
                  <a:t>crystal</a:t>
                </a:r>
                <a:r>
                  <a:rPr lang="it-IT" dirty="0"/>
                  <a:t> </a:t>
                </a:r>
                <a:r>
                  <a:rPr lang="it-IT" dirty="0" err="1"/>
                  <a:t>planes</a:t>
                </a:r>
                <a:r>
                  <a:rPr lang="it-IT" dirty="0"/>
                  <a:t> are </a:t>
                </a:r>
                <a:r>
                  <a:rPr lang="it-IT" dirty="0" err="1"/>
                  <a:t>perfectly</a:t>
                </a:r>
                <a:r>
                  <a:rPr lang="it-IT" dirty="0"/>
                  <a:t> </a:t>
                </a:r>
                <a:r>
                  <a:rPr lang="it-IT" dirty="0" err="1"/>
                  <a:t>aligned</a:t>
                </a:r>
                <a:r>
                  <a:rPr lang="it-IT" dirty="0"/>
                  <a:t> with the </a:t>
                </a:r>
                <a:r>
                  <a:rPr lang="it-IT" dirty="0" err="1"/>
                  <a:t>beam</a:t>
                </a:r>
                <a:r>
                  <a:rPr lang="it-IT" dirty="0"/>
                  <a:t>.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5D719AC-EB43-5D3E-0175-4EB06F1664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140756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AF93E-775B-2F74-BEF9-33B0FF0DE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971DE8F-15E4-6CE3-9DC2-6294588A67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EF09B94-AEB7-2B7C-2B68-C2A03603AA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BADFF1F-2340-14F4-C46D-4A88A14F84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92216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This </a:t>
            </a:r>
            <a:r>
              <a:rPr lang="it-IT" dirty="0" err="1"/>
              <a:t>allowed</a:t>
            </a:r>
            <a:r>
              <a:rPr lang="it-IT" dirty="0"/>
              <a:t> </a:t>
            </a:r>
            <a:r>
              <a:rPr lang="it-IT" dirty="0" err="1"/>
              <a:t>us</a:t>
            </a:r>
            <a:r>
              <a:rPr lang="it-IT" dirty="0"/>
              <a:t> to </a:t>
            </a:r>
            <a:r>
              <a:rPr lang="it-IT" dirty="0" err="1"/>
              <a:t>apply</a:t>
            </a:r>
            <a:r>
              <a:rPr lang="it-IT" dirty="0"/>
              <a:t> a </a:t>
            </a:r>
            <a:r>
              <a:rPr lang="it-IT" dirty="0" err="1"/>
              <a:t>continuous</a:t>
            </a:r>
            <a:r>
              <a:rPr lang="it-IT" dirty="0"/>
              <a:t> </a:t>
            </a:r>
            <a:r>
              <a:rPr lang="it-IT" dirty="0" err="1"/>
              <a:t>torsion</a:t>
            </a:r>
            <a:r>
              <a:rPr lang="it-IT" dirty="0"/>
              <a:t> </a:t>
            </a:r>
            <a:r>
              <a:rPr lang="it-IT" dirty="0" err="1"/>
              <a:t>correction</a:t>
            </a:r>
            <a:r>
              <a:rPr lang="it-IT" dirty="0"/>
              <a:t>. So, </a:t>
            </a:r>
            <a:r>
              <a:rPr lang="it-IT" dirty="0" err="1"/>
              <a:t>instead</a:t>
            </a:r>
            <a:r>
              <a:rPr lang="it-IT" dirty="0"/>
              <a:t> of using a standard Lindhard cut </a:t>
            </a:r>
            <a:r>
              <a:rPr lang="it-IT" dirty="0" err="1"/>
              <a:t>centered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zero, we </a:t>
            </a:r>
            <a:r>
              <a:rPr lang="it-IT" dirty="0" err="1"/>
              <a:t>corrected</a:t>
            </a:r>
            <a:r>
              <a:rPr lang="it-IT" dirty="0"/>
              <a:t> the incoming angle using the </a:t>
            </a:r>
            <a:r>
              <a:rPr lang="it-IT" dirty="0" err="1"/>
              <a:t>fitted</a:t>
            </a:r>
            <a:r>
              <a:rPr lang="it-IT" dirty="0"/>
              <a:t> </a:t>
            </a:r>
            <a:r>
              <a:rPr lang="it-IT" dirty="0" err="1"/>
              <a:t>parameters</a:t>
            </a:r>
            <a:r>
              <a:rPr lang="it-IT" dirty="0"/>
              <a:t> </a:t>
            </a:r>
            <a:r>
              <a:rPr lang="it-IT" dirty="0" err="1"/>
              <a:t>found</a:t>
            </a:r>
            <a:r>
              <a:rPr lang="it-IT" dirty="0"/>
              <a:t> for </a:t>
            </a:r>
            <a:r>
              <a:rPr lang="it-IT" dirty="0" err="1"/>
              <a:t>each</a:t>
            </a:r>
            <a:r>
              <a:rPr lang="it-IT" dirty="0"/>
              <a:t> </a:t>
            </a:r>
            <a:r>
              <a:rPr lang="it-IT" dirty="0" err="1"/>
              <a:t>spatial</a:t>
            </a:r>
            <a:r>
              <a:rPr lang="it-IT" dirty="0"/>
              <a:t> bin.</a:t>
            </a:r>
          </a:p>
          <a:p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want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use the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simplest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 that can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accurately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describe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data,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not so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simple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that it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hides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actual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physics</a:t>
            </a:r>
            <a:r>
              <a:rPr lang="it-IT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989839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This </a:t>
            </a:r>
            <a:r>
              <a:rPr lang="it-IT" dirty="0" err="1"/>
              <a:t>allowed</a:t>
            </a:r>
            <a:r>
              <a:rPr lang="it-IT" dirty="0"/>
              <a:t> </a:t>
            </a:r>
            <a:r>
              <a:rPr lang="it-IT" dirty="0" err="1"/>
              <a:t>us</a:t>
            </a:r>
            <a:r>
              <a:rPr lang="it-IT" dirty="0"/>
              <a:t> to </a:t>
            </a:r>
            <a:r>
              <a:rPr lang="it-IT" dirty="0" err="1"/>
              <a:t>apply</a:t>
            </a:r>
            <a:r>
              <a:rPr lang="it-IT" dirty="0"/>
              <a:t> a </a:t>
            </a:r>
            <a:r>
              <a:rPr lang="it-IT" dirty="0" err="1"/>
              <a:t>continuous</a:t>
            </a:r>
            <a:r>
              <a:rPr lang="it-IT" dirty="0"/>
              <a:t> </a:t>
            </a:r>
            <a:r>
              <a:rPr lang="it-IT" dirty="0" err="1"/>
              <a:t>torsion</a:t>
            </a:r>
            <a:r>
              <a:rPr lang="it-IT" dirty="0"/>
              <a:t> </a:t>
            </a:r>
            <a:r>
              <a:rPr lang="it-IT" dirty="0" err="1"/>
              <a:t>correction</a:t>
            </a:r>
            <a:r>
              <a:rPr lang="it-IT" dirty="0"/>
              <a:t>. So, </a:t>
            </a:r>
            <a:r>
              <a:rPr lang="it-IT" dirty="0" err="1"/>
              <a:t>instead</a:t>
            </a:r>
            <a:r>
              <a:rPr lang="it-IT" dirty="0"/>
              <a:t> of using a standard Lindhard cut </a:t>
            </a:r>
            <a:r>
              <a:rPr lang="it-IT" dirty="0" err="1"/>
              <a:t>centered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zero, we </a:t>
            </a:r>
            <a:r>
              <a:rPr lang="it-IT" dirty="0" err="1"/>
              <a:t>corrected</a:t>
            </a:r>
            <a:r>
              <a:rPr lang="it-IT" dirty="0"/>
              <a:t> the incoming angle using the </a:t>
            </a:r>
            <a:r>
              <a:rPr lang="it-IT" dirty="0" err="1"/>
              <a:t>fitted</a:t>
            </a:r>
            <a:r>
              <a:rPr lang="it-IT" dirty="0"/>
              <a:t> </a:t>
            </a:r>
            <a:r>
              <a:rPr lang="it-IT" dirty="0" err="1"/>
              <a:t>parameters</a:t>
            </a:r>
            <a:r>
              <a:rPr lang="it-IT" dirty="0"/>
              <a:t> </a:t>
            </a:r>
            <a:r>
              <a:rPr lang="it-IT" dirty="0" err="1"/>
              <a:t>found</a:t>
            </a:r>
            <a:r>
              <a:rPr lang="it-IT" dirty="0"/>
              <a:t> for </a:t>
            </a:r>
            <a:r>
              <a:rPr lang="it-IT" dirty="0" err="1"/>
              <a:t>each</a:t>
            </a:r>
            <a:r>
              <a:rPr lang="it-IT" dirty="0"/>
              <a:t> </a:t>
            </a:r>
            <a:r>
              <a:rPr lang="it-IT" dirty="0" err="1"/>
              <a:t>spatial</a:t>
            </a:r>
            <a:r>
              <a:rPr lang="it-IT" dirty="0"/>
              <a:t> bin.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326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By fitting </a:t>
            </a:r>
            <a:r>
              <a:rPr lang="it-IT" dirty="0" err="1"/>
              <a:t>only</a:t>
            </a:r>
            <a:r>
              <a:rPr lang="it-IT" dirty="0"/>
              <a:t> the right side of the </a:t>
            </a:r>
            <a:r>
              <a:rPr lang="it-IT" dirty="0" err="1"/>
              <a:t>peak</a:t>
            </a:r>
            <a:r>
              <a:rPr lang="it-IT" dirty="0"/>
              <a:t>, we </a:t>
            </a:r>
            <a:r>
              <a:rPr lang="it-IT" dirty="0" err="1"/>
              <a:t>ensured</a:t>
            </a:r>
            <a:r>
              <a:rPr lang="it-IT" dirty="0"/>
              <a:t> the </a:t>
            </a:r>
            <a:r>
              <a:rPr lang="it-IT" dirty="0" err="1"/>
              <a:t>cleanest</a:t>
            </a:r>
            <a:r>
              <a:rPr lang="it-IT" dirty="0"/>
              <a:t> </a:t>
            </a:r>
            <a:r>
              <a:rPr lang="it-IT" dirty="0" err="1"/>
              <a:t>possible</a:t>
            </a:r>
            <a:r>
              <a:rPr lang="it-IT" dirty="0"/>
              <a:t> </a:t>
            </a:r>
            <a:r>
              <a:rPr lang="it-IT" dirty="0" err="1"/>
              <a:t>measurement</a:t>
            </a:r>
            <a:r>
              <a:rPr lang="it-IT" dirty="0"/>
              <a:t> by </a:t>
            </a:r>
            <a:r>
              <a:rPr lang="it-IT" dirty="0" err="1"/>
              <a:t>excluding</a:t>
            </a:r>
            <a:r>
              <a:rPr lang="it-IT" dirty="0"/>
              <a:t> </a:t>
            </a:r>
            <a:r>
              <a:rPr lang="it-IT" dirty="0" err="1"/>
              <a:t>any</a:t>
            </a:r>
            <a:r>
              <a:rPr lang="it-IT" dirty="0"/>
              <a:t> </a:t>
            </a:r>
            <a:r>
              <a:rPr lang="it-IT" dirty="0" err="1"/>
              <a:t>contribution</a:t>
            </a:r>
            <a:r>
              <a:rPr lang="it-IT" dirty="0"/>
              <a:t> from </a:t>
            </a:r>
            <a:r>
              <a:rPr lang="it-IT" dirty="0" err="1"/>
              <a:t>dechanneled</a:t>
            </a:r>
            <a:r>
              <a:rPr lang="it-IT" dirty="0"/>
              <a:t> </a:t>
            </a:r>
            <a:r>
              <a:rPr lang="it-IT" dirty="0" err="1"/>
              <a:t>particles</a:t>
            </a:r>
            <a:r>
              <a:rPr lang="it-IT" dirty="0"/>
              <a:t>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15518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CONSISTENT ACROSS DIFFERENT RUNS FOR THE SAME CRYSTALS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9205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C3734-D68F-AEE4-E882-95D282F9A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279A511-D36A-7AA2-6866-A6498A53E6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FA53E14-BA4C-B9DA-0F75-A5C0CB8083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CONSISTENT ACROSS DIFFERENT RUNS FOR THE SAME CRYSTALS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4272AE8-D53E-2380-1720-55D8368E0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932577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53D2B-C14B-C923-E666-2BE98336C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1E73501-4C4F-7EA7-F309-EC9432A82A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102C8D8-9566-F6BA-2D4C-09E243EDED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CONSISTENT ACROSS DIFFERENT RUNS FOR THE SAME CRYSTALS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A1D6B02-C167-B05C-9F5F-29D88237B7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64290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3A338-DA96-94A6-1231-7139DAC0C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0C59848-D54F-11C9-63E0-F6D9296FEE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0E91691-AC07-FEE1-A622-8D7C44357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CONSISTENT ACROSS DIFFERENT RUNS FOR THE SAME CRYSTALS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1341F72-31BB-22BB-4057-13EF4B93FF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68475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0F733-84F1-38B6-0673-2862DB609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37211C7-FBEC-C105-1092-C67EAFF17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6854425-E480-4674-CE54-8D5BBE1EF0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Before</a:t>
            </a:r>
            <a:r>
              <a:rPr lang="it-IT" dirty="0"/>
              <a:t> </a:t>
            </a:r>
            <a:r>
              <a:rPr lang="it-IT" dirty="0" err="1"/>
              <a:t>diving</a:t>
            </a:r>
            <a:r>
              <a:rPr lang="it-IT" dirty="0"/>
              <a:t> </a:t>
            </a:r>
            <a:r>
              <a:rPr lang="it-IT" dirty="0" err="1"/>
              <a:t>into</a:t>
            </a:r>
            <a:r>
              <a:rPr lang="it-IT" dirty="0"/>
              <a:t> the </a:t>
            </a:r>
            <a:r>
              <a:rPr lang="it-IT" dirty="0" err="1"/>
              <a:t>efficiency</a:t>
            </a:r>
            <a:r>
              <a:rPr lang="it-IT" dirty="0"/>
              <a:t> </a:t>
            </a:r>
            <a:r>
              <a:rPr lang="it-IT" dirty="0" err="1"/>
              <a:t>evaluation</a:t>
            </a:r>
            <a:r>
              <a:rPr lang="it-IT" dirty="0"/>
              <a:t>, we </a:t>
            </a:r>
            <a:r>
              <a:rPr lang="it-IT" dirty="0" err="1"/>
              <a:t>performed</a:t>
            </a:r>
            <a:r>
              <a:rPr lang="it-IT" dirty="0"/>
              <a:t> </a:t>
            </a:r>
            <a:r>
              <a:rPr lang="it-IT" dirty="0" err="1"/>
              <a:t>several</a:t>
            </a:r>
            <a:r>
              <a:rPr lang="it-IT" dirty="0"/>
              <a:t> </a:t>
            </a:r>
            <a:r>
              <a:rPr lang="it-IT" dirty="0" err="1"/>
              <a:t>preliminary</a:t>
            </a:r>
            <a:r>
              <a:rPr lang="it-IT" dirty="0"/>
              <a:t> </a:t>
            </a:r>
            <a:r>
              <a:rPr lang="it-IT" dirty="0" err="1"/>
              <a:t>analysis</a:t>
            </a:r>
            <a:r>
              <a:rPr lang="it-IT" dirty="0"/>
              <a:t> steps. </a:t>
            </a:r>
          </a:p>
          <a:p>
            <a:r>
              <a:rPr lang="it-IT" dirty="0"/>
              <a:t>Next, </a:t>
            </a:r>
            <a:r>
              <a:rPr lang="it-IT" dirty="0" err="1"/>
              <a:t>because</a:t>
            </a:r>
            <a:r>
              <a:rPr lang="it-IT" dirty="0"/>
              <a:t> the relative </a:t>
            </a:r>
            <a:r>
              <a:rPr lang="it-IT" dirty="0" err="1"/>
              <a:t>beam</a:t>
            </a:r>
            <a:r>
              <a:rPr lang="it-IT" dirty="0"/>
              <a:t> position was </a:t>
            </a:r>
            <a:r>
              <a:rPr lang="it-IT" dirty="0" err="1"/>
              <a:t>unknown</a:t>
            </a:r>
            <a:r>
              <a:rPr lang="it-IT" dirty="0"/>
              <a:t>, we </a:t>
            </a:r>
            <a:r>
              <a:rPr lang="it-IT" dirty="0" err="1"/>
              <a:t>had</a:t>
            </a:r>
            <a:r>
              <a:rPr lang="it-IT" dirty="0"/>
              <a:t> to </a:t>
            </a:r>
            <a:r>
              <a:rPr lang="it-IT" dirty="0" err="1"/>
              <a:t>algorithmically</a:t>
            </a:r>
            <a:r>
              <a:rPr lang="it-IT" dirty="0"/>
              <a:t> </a:t>
            </a:r>
            <a:r>
              <a:rPr lang="it-IT" dirty="0" err="1"/>
              <a:t>identify</a:t>
            </a:r>
            <a:r>
              <a:rPr lang="it-IT" dirty="0"/>
              <a:t> the </a:t>
            </a:r>
            <a:r>
              <a:rPr lang="it-IT" dirty="0" err="1"/>
              <a:t>physical</a:t>
            </a:r>
            <a:r>
              <a:rPr lang="it-IT" dirty="0"/>
              <a:t> </a:t>
            </a:r>
            <a:r>
              <a:rPr lang="it-IT" dirty="0" err="1"/>
              <a:t>edges</a:t>
            </a:r>
            <a:r>
              <a:rPr lang="it-IT" dirty="0"/>
              <a:t> of the </a:t>
            </a:r>
            <a:r>
              <a:rPr lang="it-IT" dirty="0" err="1"/>
              <a:t>crystal</a:t>
            </a:r>
            <a:r>
              <a:rPr lang="it-IT" dirty="0"/>
              <a:t> to validate 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particles</a:t>
            </a:r>
            <a:r>
              <a:rPr lang="it-IT" dirty="0"/>
              <a:t> </a:t>
            </a:r>
            <a:r>
              <a:rPr lang="it-IT" dirty="0" err="1"/>
              <a:t>successfully</a:t>
            </a:r>
            <a:r>
              <a:rPr lang="it-IT" dirty="0"/>
              <a:t> </a:t>
            </a:r>
            <a:r>
              <a:rPr lang="it-IT" dirty="0" err="1"/>
              <a:t>entered</a:t>
            </a:r>
            <a:r>
              <a:rPr lang="it-IT" dirty="0"/>
              <a:t> it. 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7E8889D-3534-E53B-974D-9BE4F3C299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49507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note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it-IT" dirty="0"/>
                  <a:t>If not </a:t>
                </a:r>
                <a:r>
                  <a:rPr lang="it-IT" dirty="0" err="1"/>
                  <a:t>considering</a:t>
                </a:r>
                <a:r>
                  <a:rPr lang="it-IT" dirty="0"/>
                  <a:t> </a:t>
                </a:r>
                <a:r>
                  <a:rPr lang="it-IT" dirty="0" err="1"/>
                  <a:t>any</a:t>
                </a:r>
                <a:r>
                  <a:rPr lang="it-IT" dirty="0"/>
                  <a:t> </a:t>
                </a:r>
                <a:r>
                  <a:rPr lang="it-IT" dirty="0" err="1"/>
                  <a:t>torsion</a:t>
                </a:r>
                <a:r>
                  <a:rPr lang="it-IT" dirty="0"/>
                  <a:t> </a:t>
                </a:r>
                <a:r>
                  <a:rPr lang="it-IT" dirty="0" err="1"/>
                  <a:t>correction</a:t>
                </a:r>
                <a:r>
                  <a:rPr lang="it-IT" dirty="0"/>
                  <a:t>: we </a:t>
                </a:r>
                <a:r>
                  <a:rPr lang="it-IT" dirty="0" err="1"/>
                  <a:t>would</a:t>
                </a:r>
                <a:r>
                  <a:rPr lang="it-IT" dirty="0"/>
                  <a:t> just </a:t>
                </a:r>
                <a:r>
                  <a:rPr lang="it-IT" dirty="0" err="1"/>
                  <a:t>calculate</a:t>
                </a:r>
                <a:r>
                  <a:rPr lang="it-IT" dirty="0"/>
                  <a:t> the </a:t>
                </a:r>
                <a:r>
                  <a:rPr lang="it-IT" dirty="0" err="1"/>
                  <a:t>channeling</a:t>
                </a:r>
                <a:r>
                  <a:rPr lang="it-IT" dirty="0"/>
                  <a:t> </a:t>
                </a:r>
                <a:r>
                  <a:rPr lang="it-IT" dirty="0" err="1"/>
                  <a:t>efficiency</a:t>
                </a:r>
                <a:r>
                  <a:rPr lang="it-IT" dirty="0"/>
                  <a:t> </a:t>
                </a:r>
                <a:r>
                  <a:rPr lang="it-IT" dirty="0" err="1"/>
                  <a:t>through</a:t>
                </a:r>
                <a:r>
                  <a:rPr lang="it-IT" dirty="0"/>
                  <a:t> </a:t>
                </a:r>
                <a:r>
                  <a:rPr lang="it-IT" dirty="0" err="1"/>
                  <a:t>several</a:t>
                </a:r>
                <a:r>
                  <a:rPr lang="it-IT" dirty="0"/>
                  <a:t> </a:t>
                </a:r>
                <a:r>
                  <a:rPr lang="it-IT" dirty="0" err="1"/>
                  <a:t>iterations</a:t>
                </a:r>
                <a:r>
                  <a:rPr lang="it-IT" dirty="0"/>
                  <a:t> </a:t>
                </a:r>
                <a:r>
                  <a:rPr lang="it-IT" dirty="0" err="1"/>
                  <a:t>varying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dirty="0"/>
                  <a:t> </a:t>
                </a:r>
                <a:r>
                  <a:rPr lang="it-IT" dirty="0" err="1"/>
                  <a:t>until</a:t>
                </a:r>
                <a:r>
                  <a:rPr lang="it-IT" dirty="0"/>
                  <a:t> the </a:t>
                </a:r>
                <a:r>
                  <a:rPr lang="it-IT" dirty="0" err="1"/>
                  <a:t>highest</a:t>
                </a:r>
                <a:r>
                  <a:rPr lang="it-IT" baseline="0" dirty="0"/>
                  <a:t> </a:t>
                </a:r>
                <a:r>
                  <a:rPr lang="it-IT" baseline="0" dirty="0" err="1"/>
                  <a:t>efficiency</a:t>
                </a:r>
                <a:r>
                  <a:rPr lang="it-IT" baseline="0" dirty="0"/>
                  <a:t> </a:t>
                </a:r>
                <a:r>
                  <a:rPr lang="it-IT" baseline="0" dirty="0" err="1"/>
                  <a:t>is</a:t>
                </a:r>
                <a:r>
                  <a:rPr lang="it-IT" baseline="0" dirty="0"/>
                  <a:t> </a:t>
                </a:r>
                <a:r>
                  <a:rPr lang="it-IT" baseline="0" dirty="0" err="1"/>
                  <a:t>found</a:t>
                </a:r>
                <a:r>
                  <a:rPr lang="it-IT" baseline="0" dirty="0"/>
                  <a:t>, </a:t>
                </a:r>
                <a:r>
                  <a:rPr lang="it-IT" baseline="0" dirty="0" err="1"/>
                  <a:t>representing</a:t>
                </a:r>
                <a:r>
                  <a:rPr lang="it-IT" baseline="0" dirty="0"/>
                  <a:t> the best </a:t>
                </a:r>
                <a:r>
                  <a:rPr lang="it-IT" baseline="0" dirty="0" err="1"/>
                  <a:t>alignment</a:t>
                </a:r>
                <a:r>
                  <a:rPr lang="it-IT" baseline="0" dirty="0"/>
                  <a:t> of incoming </a:t>
                </a:r>
                <a:r>
                  <a:rPr lang="it-IT" baseline="0" dirty="0" err="1"/>
                  <a:t>particles</a:t>
                </a:r>
                <a:r>
                  <a:rPr lang="it-IT" baseline="0" dirty="0"/>
                  <a:t> with the </a:t>
                </a:r>
                <a:r>
                  <a:rPr lang="it-IT" baseline="0" dirty="0" err="1"/>
                  <a:t>crystalline</a:t>
                </a:r>
                <a:r>
                  <a:rPr lang="it-IT" baseline="0" dirty="0"/>
                  <a:t> </a:t>
                </a:r>
                <a:r>
                  <a:rPr lang="it-IT" baseline="0" dirty="0" err="1"/>
                  <a:t>planes</a:t>
                </a:r>
                <a:endParaRPr lang="it-IT" dirty="0"/>
              </a:p>
            </p:txBody>
          </p:sp>
        </mc:Choice>
        <mc:Fallback xmlns="">
          <p:sp>
            <p:nvSpPr>
              <p:cNvPr id="3" name="Segnaposto note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it-IT" dirty="0"/>
                  <a:t>If not </a:t>
                </a:r>
                <a:r>
                  <a:rPr lang="it-IT" dirty="0" err="1"/>
                  <a:t>considering</a:t>
                </a:r>
                <a:r>
                  <a:rPr lang="it-IT" dirty="0"/>
                  <a:t> </a:t>
                </a:r>
                <a:r>
                  <a:rPr lang="it-IT" dirty="0" err="1"/>
                  <a:t>any</a:t>
                </a:r>
                <a:r>
                  <a:rPr lang="it-IT" dirty="0"/>
                  <a:t> </a:t>
                </a:r>
                <a:r>
                  <a:rPr lang="it-IT" dirty="0" err="1"/>
                  <a:t>torsion</a:t>
                </a:r>
                <a:r>
                  <a:rPr lang="it-IT" dirty="0"/>
                  <a:t> </a:t>
                </a:r>
                <a:r>
                  <a:rPr lang="it-IT" dirty="0" err="1"/>
                  <a:t>correction</a:t>
                </a:r>
                <a:r>
                  <a:rPr lang="it-IT" dirty="0"/>
                  <a:t>: we </a:t>
                </a:r>
                <a:r>
                  <a:rPr lang="it-IT" dirty="0" err="1"/>
                  <a:t>would</a:t>
                </a:r>
                <a:r>
                  <a:rPr lang="it-IT" dirty="0"/>
                  <a:t> just </a:t>
                </a:r>
                <a:r>
                  <a:rPr lang="it-IT" dirty="0" err="1"/>
                  <a:t>calculate</a:t>
                </a:r>
                <a:r>
                  <a:rPr lang="it-IT" dirty="0"/>
                  <a:t> the </a:t>
                </a:r>
                <a:r>
                  <a:rPr lang="it-IT" dirty="0" err="1"/>
                  <a:t>channeling</a:t>
                </a:r>
                <a:r>
                  <a:rPr lang="it-IT" dirty="0"/>
                  <a:t> </a:t>
                </a:r>
                <a:r>
                  <a:rPr lang="it-IT" dirty="0" err="1"/>
                  <a:t>efficiency</a:t>
                </a:r>
                <a:r>
                  <a:rPr lang="it-IT" dirty="0"/>
                  <a:t> </a:t>
                </a:r>
                <a:r>
                  <a:rPr lang="it-IT" dirty="0" err="1"/>
                  <a:t>through</a:t>
                </a:r>
                <a:r>
                  <a:rPr lang="it-IT" dirty="0"/>
                  <a:t> </a:t>
                </a:r>
                <a:r>
                  <a:rPr lang="it-IT" dirty="0" err="1"/>
                  <a:t>several</a:t>
                </a:r>
                <a:r>
                  <a:rPr lang="it-IT" dirty="0"/>
                  <a:t> </a:t>
                </a:r>
                <a:r>
                  <a:rPr lang="it-IT" dirty="0" err="1"/>
                  <a:t>iterations</a:t>
                </a:r>
                <a:r>
                  <a:rPr lang="it-IT" dirty="0"/>
                  <a:t> </a:t>
                </a:r>
                <a:r>
                  <a:rPr lang="it-IT" dirty="0" err="1"/>
                  <a:t>varying</a:t>
                </a:r>
                <a:r>
                  <a:rPr lang="it-IT" dirty="0"/>
                  <a:t> </a:t>
                </a:r>
                <a:r>
                  <a:rPr lang="it-IT" b="0" i="0">
                    <a:latin typeface="Cambria Math" panose="02040503050406030204" pitchFamily="18" charset="0"/>
                  </a:rPr>
                  <a:t>𝜃_0</a:t>
                </a:r>
                <a:r>
                  <a:rPr lang="it-IT" dirty="0"/>
                  <a:t> </a:t>
                </a:r>
                <a:r>
                  <a:rPr lang="it-IT" dirty="0" err="1"/>
                  <a:t>until</a:t>
                </a:r>
                <a:r>
                  <a:rPr lang="it-IT" dirty="0"/>
                  <a:t> the </a:t>
                </a:r>
                <a:r>
                  <a:rPr lang="it-IT" dirty="0" err="1"/>
                  <a:t>highest</a:t>
                </a:r>
                <a:r>
                  <a:rPr lang="it-IT" baseline="0" dirty="0"/>
                  <a:t> </a:t>
                </a:r>
                <a:r>
                  <a:rPr lang="it-IT" baseline="0" dirty="0" err="1"/>
                  <a:t>efficiency</a:t>
                </a:r>
                <a:r>
                  <a:rPr lang="it-IT" baseline="0" dirty="0"/>
                  <a:t> </a:t>
                </a:r>
                <a:r>
                  <a:rPr lang="it-IT" baseline="0" dirty="0" err="1"/>
                  <a:t>is</a:t>
                </a:r>
                <a:r>
                  <a:rPr lang="it-IT" baseline="0" dirty="0"/>
                  <a:t> </a:t>
                </a:r>
                <a:r>
                  <a:rPr lang="it-IT" baseline="0" dirty="0" err="1"/>
                  <a:t>found</a:t>
                </a:r>
                <a:r>
                  <a:rPr lang="it-IT" baseline="0" dirty="0"/>
                  <a:t>, </a:t>
                </a:r>
                <a:r>
                  <a:rPr lang="it-IT" baseline="0" dirty="0" err="1"/>
                  <a:t>representing</a:t>
                </a:r>
                <a:r>
                  <a:rPr lang="it-IT" baseline="0" dirty="0"/>
                  <a:t> the best </a:t>
                </a:r>
                <a:r>
                  <a:rPr lang="it-IT" baseline="0" dirty="0" err="1"/>
                  <a:t>alignment</a:t>
                </a:r>
                <a:r>
                  <a:rPr lang="it-IT" baseline="0" dirty="0"/>
                  <a:t> of incoming </a:t>
                </a:r>
                <a:r>
                  <a:rPr lang="it-IT" baseline="0" dirty="0" err="1"/>
                  <a:t>particles</a:t>
                </a:r>
                <a:r>
                  <a:rPr lang="it-IT" baseline="0" dirty="0"/>
                  <a:t> with the </a:t>
                </a:r>
                <a:r>
                  <a:rPr lang="it-IT" baseline="0" dirty="0" err="1"/>
                  <a:t>crystalline</a:t>
                </a:r>
                <a:r>
                  <a:rPr lang="it-IT" baseline="0" dirty="0"/>
                  <a:t> </a:t>
                </a:r>
                <a:r>
                  <a:rPr lang="it-IT" baseline="0" dirty="0" err="1"/>
                  <a:t>planes</a:t>
                </a:r>
                <a:endParaRPr lang="it-IT" dirty="0"/>
              </a:p>
            </p:txBody>
          </p:sp>
        </mc:Fallback>
      </mc:AlternateContent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338403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Applying</a:t>
            </a:r>
            <a:r>
              <a:rPr lang="it-IT" dirty="0"/>
              <a:t> this </a:t>
            </a:r>
            <a:r>
              <a:rPr lang="it-IT" dirty="0" err="1"/>
              <a:t>torsion</a:t>
            </a:r>
            <a:r>
              <a:rPr lang="it-IT" dirty="0"/>
              <a:t> </a:t>
            </a:r>
            <a:r>
              <a:rPr lang="it-IT" dirty="0" err="1"/>
              <a:t>correction</a:t>
            </a:r>
            <a:r>
              <a:rPr lang="it-IT" dirty="0"/>
              <a:t> </a:t>
            </a:r>
            <a:r>
              <a:rPr lang="it-IT" dirty="0" err="1"/>
              <a:t>significantly</a:t>
            </a:r>
            <a:r>
              <a:rPr lang="it-IT" dirty="0"/>
              <a:t> </a:t>
            </a:r>
            <a:r>
              <a:rPr lang="it-IT" dirty="0" err="1"/>
              <a:t>improves</a:t>
            </a:r>
            <a:r>
              <a:rPr lang="it-IT" dirty="0"/>
              <a:t> </a:t>
            </a:r>
            <a:r>
              <a:rPr lang="it-IT" dirty="0" err="1"/>
              <a:t>our</a:t>
            </a:r>
            <a:r>
              <a:rPr lang="it-IT" dirty="0"/>
              <a:t> </a:t>
            </a:r>
            <a:r>
              <a:rPr lang="it-IT" dirty="0" err="1"/>
              <a:t>analysis</a:t>
            </a:r>
            <a:r>
              <a:rPr lang="it-IT" dirty="0"/>
              <a:t>. </a:t>
            </a:r>
            <a:r>
              <a:rPr lang="it-IT" dirty="0" err="1"/>
              <a:t>When</a:t>
            </a:r>
            <a:r>
              <a:rPr lang="it-IT" dirty="0"/>
              <a:t> we plot the </a:t>
            </a:r>
            <a:r>
              <a:rPr lang="it-IT" dirty="0" err="1"/>
              <a:t>crystal</a:t>
            </a:r>
            <a:r>
              <a:rPr lang="it-IT" dirty="0"/>
              <a:t> </a:t>
            </a:r>
            <a:r>
              <a:rPr lang="it-IT" dirty="0" err="1"/>
              <a:t>efficiency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function of the </a:t>
            </a:r>
            <a:r>
              <a:rPr lang="it-IT" dirty="0" err="1"/>
              <a:t>torsion-corrected</a:t>
            </a:r>
            <a:r>
              <a:rPr lang="it-IT" dirty="0"/>
              <a:t> incoming angle, the </a:t>
            </a:r>
            <a:r>
              <a:rPr lang="it-IT" dirty="0" err="1"/>
              <a:t>peak</a:t>
            </a:r>
            <a:r>
              <a:rPr lang="it-IT" dirty="0"/>
              <a:t> of this curve </a:t>
            </a:r>
            <a:r>
              <a:rPr lang="it-IT" dirty="0" err="1"/>
              <a:t>represents</a:t>
            </a:r>
            <a:r>
              <a:rPr lang="it-IT" dirty="0"/>
              <a:t> the </a:t>
            </a:r>
            <a:r>
              <a:rPr lang="it-IT" dirty="0" err="1"/>
              <a:t>efficiency</a:t>
            </a:r>
            <a:r>
              <a:rPr lang="it-IT" dirty="0"/>
              <a:t> of the </a:t>
            </a:r>
            <a:r>
              <a:rPr lang="it-IT" dirty="0" err="1"/>
              <a:t>crystal</a:t>
            </a:r>
            <a:r>
              <a:rPr lang="it-IT" dirty="0"/>
              <a:t> </a:t>
            </a:r>
            <a:r>
              <a:rPr lang="it-IT" dirty="0" err="1"/>
              <a:t>when</a:t>
            </a:r>
            <a:r>
              <a:rPr lang="it-IT" dirty="0"/>
              <a:t> it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perfectly</a:t>
            </a:r>
            <a:r>
              <a:rPr lang="it-IT" dirty="0"/>
              <a:t> </a:t>
            </a:r>
            <a:r>
              <a:rPr lang="it-IT" dirty="0" err="1"/>
              <a:t>aligned</a:t>
            </a:r>
            <a:r>
              <a:rPr lang="it-IT" dirty="0"/>
              <a:t> to the </a:t>
            </a:r>
            <a:r>
              <a:rPr lang="it-IT" dirty="0" err="1"/>
              <a:t>beam</a:t>
            </a:r>
            <a:r>
              <a:rPr lang="it-IT" dirty="0"/>
              <a:t>, </a:t>
            </a:r>
            <a:r>
              <a:rPr lang="it-IT" dirty="0" err="1"/>
              <a:t>which</a:t>
            </a:r>
            <a:r>
              <a:rPr lang="it-IT" dirty="0"/>
              <a:t> in this case </a:t>
            </a:r>
            <a:r>
              <a:rPr lang="it-IT" dirty="0" err="1"/>
              <a:t>reached</a:t>
            </a:r>
            <a:r>
              <a:rPr lang="it-IT" dirty="0"/>
              <a:t> 18.8%.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5392F-55BF-4B8E-AF01-45F81C88C286}" type="slidenum">
              <a:rPr lang="it-IT" smtClean="0"/>
              <a:t>29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34989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821984-7078-FB6F-53DE-65CB495922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9B0F579-13AD-1739-E1E4-4A793161EE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C366BD3-025C-431C-F893-5E744EEA4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28/07/2026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16B1278-2C38-DAAA-2180-B3C7CF9E2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A97CBF5-3F4D-EE8F-2948-DA6B6F727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3875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5BF9F7-DF67-1E3C-547B-A5DD6323C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897D17-B33A-6EF1-CEF4-981888F7F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788FE08-6E28-2435-B1EC-792C36B67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28/07/2026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96292FF-01B5-7AC1-867C-EEFA64FD6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8C4693C-59F1-46F6-6F7F-2B8960722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1532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8FA5AA-FBCD-6954-D2E4-9E6A30EC9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D157C25-DA71-A412-A8F8-C57915EA4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5B257C5-C8D1-BC78-EB2A-67B902CA7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28/07/2026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C0A21B9-77D6-757F-FA97-6E2E8511A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F6EEBBD-AFF0-E5A1-86E3-6BF12AA63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7015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4FECF5-18C9-81B6-0E7F-7D0C714EB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6F01EA4-A558-FA53-457E-90179EFC94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796ED2A-F813-DC16-E2A0-22104D9372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583BCB6-BE83-B09D-6860-23AA5F3B8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28/07/2026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E807251-F5D2-194C-A28B-1FF256E4F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1282E7D-96B1-1FEB-7101-C83209A2A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4326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510D65-D9F5-6682-A088-CCB2E189F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C1461FA-1BD4-41E7-5612-B9A63DC68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8E14A22-90A5-A90F-BD0E-F256D29DF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C80727B-7142-286E-DE3B-7B8E833DC0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5203D91-1775-8A1D-169A-D6CE16954D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26E9141-3575-E6BC-31BD-40D6F8C18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28/07/2026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3ED44CC-825C-252C-F9E7-9AFB2DDFE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4EAFB81-9B92-09AB-31C7-9964D6A0F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5513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17CDB2-4B02-4B07-9307-AA112DA8B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45ED6FB-CF38-9B06-4770-9487CFF1F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28/07/2026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524D896-7BDD-3114-11AB-2CAEBBB03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13DBC53-D20A-CA44-6D1D-3E3F05E17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0041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C8297C2-0D3B-ED56-8B61-FCB9774E0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28/07/2026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748E9F0-0B23-D251-AC8F-D94B00C16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3ECAA01-23A7-6F7F-6E50-FED32F981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0161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4600CA-7798-78EF-A297-14320CA83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01CFEC1-C59B-4282-7ECD-EED1E5185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6FA0D9B-562D-BA61-6460-5B681C24F5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66EF93F-C388-68A8-6F71-1DF2A7CA6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28/07/2026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C792410-D57D-8112-5C15-B3FE6B716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3A02F4E-4C83-F922-9862-ADBD0F70D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589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02439D-E4F5-5CFC-2A7E-3B7111003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76CAC3F-4306-8C93-FAFD-71172627CC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77C4C85-4610-E23F-E411-CAB1446C0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F0750AC-EC3B-956F-684D-3C0FEE6CB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28/07/2026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A1C4B6-8AD9-702F-FC48-361C84EE6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4A69AD3-3C4C-17D2-A40D-87D5ECD27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9463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5266DE-32C7-73E6-6685-47860E28A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0B3BC10-8E18-A721-00DD-56CA590D68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B7F265D-9538-2214-0D6D-0C6078CC5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28/07/2026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01A8A0C-1534-981E-3D4B-30FF7C642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4CFED61-CB81-D9BC-C52D-CE21C2E80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9185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ECC69D5-05DB-95B6-C17D-00B311146A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E743714-00DC-E371-9597-EB25A8FBA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70DE6F-350B-6C8A-3068-BFEE6901A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34174-4AE7-4BE8-A29D-97641C0FB41A}" type="datetimeFigureOut">
              <a:rPr lang="it-IT" smtClean="0"/>
              <a:t>28/07/2026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5165C43-787E-C48A-1E67-0D099BC1C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D0D0913-985D-6312-E38E-9477ADF1A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1865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7D8B87C-FD1A-B59F-78B3-6892EFB87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C67C8B9-89B9-D7BA-FB20-C7EB58136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A205FC-B67D-F4FD-003E-9D2FD2A1C3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734174-4AE7-4BE8-A29D-97641C0FB41A}" type="datetimeFigureOut">
              <a:rPr lang="it-IT" smtClean="0"/>
              <a:t>28/07/2026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66218BC-0ED4-07D9-A0D8-A1B2B24A2C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1910B92-3F1F-78FA-6C70-FEC529A95B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68CEA8-3AB4-4B0B-9144-20E181ED950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5483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260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0.png"/><Relationship Id="rId4" Type="http://schemas.openxmlformats.org/officeDocument/2006/relationships/image" Target="../media/image35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04856A9A-3EED-F0B3-DD7D-25DC283AB95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36459"/>
            </a:avLst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b="1" dirty="0">
                <a:solidFill>
                  <a:schemeClr val="bg1"/>
                </a:solidFill>
              </a:rPr>
              <a:t>CHARACTERIZATION OF CRYSTAL EFFICIENCY:</a:t>
            </a:r>
          </a:p>
          <a:p>
            <a:r>
              <a:rPr lang="it-IT" sz="3000" b="1" dirty="0" err="1">
                <a:solidFill>
                  <a:schemeClr val="bg1"/>
                </a:solidFill>
              </a:rPr>
              <a:t>Methodology</a:t>
            </a:r>
            <a:r>
              <a:rPr lang="it-IT" sz="3000" b="1" dirty="0">
                <a:solidFill>
                  <a:schemeClr val="bg1"/>
                </a:solidFill>
              </a:rPr>
              <a:t>, </a:t>
            </a:r>
            <a:r>
              <a:rPr lang="it-IT" sz="3000" b="1" dirty="0" err="1">
                <a:solidFill>
                  <a:schemeClr val="bg1"/>
                </a:solidFill>
              </a:rPr>
              <a:t>Corrections</a:t>
            </a:r>
            <a:r>
              <a:rPr lang="it-IT" sz="3000" b="1" dirty="0">
                <a:solidFill>
                  <a:schemeClr val="bg1"/>
                </a:solidFill>
              </a:rPr>
              <a:t>, and </a:t>
            </a:r>
            <a:r>
              <a:rPr lang="it-IT" sz="3000" b="1" dirty="0" err="1">
                <a:solidFill>
                  <a:schemeClr val="bg1"/>
                </a:solidFill>
              </a:rPr>
              <a:t>Results</a:t>
            </a:r>
            <a:endParaRPr lang="it-IT" sz="3000" b="1" dirty="0">
              <a:solidFill>
                <a:schemeClr val="bg1"/>
              </a:solidFill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BC78894-2BE6-7008-73A1-DD7B80075B0A}"/>
              </a:ext>
            </a:extLst>
          </p:cNvPr>
          <p:cNvSpPr txBox="1"/>
          <p:nvPr/>
        </p:nvSpPr>
        <p:spPr>
          <a:xfrm>
            <a:off x="0" y="5842337"/>
            <a:ext cx="1219200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3000" b="1" dirty="0">
                <a:solidFill>
                  <a:schemeClr val="bg1"/>
                </a:solidFill>
              </a:rPr>
              <a:t>JULY 2026</a:t>
            </a:r>
          </a:p>
          <a:p>
            <a:pPr algn="ctr"/>
            <a:r>
              <a:rPr lang="it-IT" sz="3000" b="1" dirty="0">
                <a:solidFill>
                  <a:schemeClr val="bg1"/>
                </a:solidFill>
              </a:rPr>
              <a:t>ANNA SOFIA MORO</a:t>
            </a:r>
          </a:p>
        </p:txBody>
      </p:sp>
    </p:spTree>
    <p:extLst>
      <p:ext uri="{BB962C8B-B14F-4D97-AF65-F5344CB8AC3E}">
        <p14:creationId xmlns:p14="http://schemas.microsoft.com/office/powerpoint/2010/main" val="3895283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EC8513-F988-C98D-D333-B6789C129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1. DATA ANALYZED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705E017-952C-14B0-9906-4510932BC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288"/>
            <a:ext cx="10515600" cy="477622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Analysis of 2024 dataset for </a:t>
            </a:r>
            <a:r>
              <a:rPr lang="it-IT" dirty="0" err="1"/>
              <a:t>two</a:t>
            </a:r>
            <a:r>
              <a:rPr lang="it-IT" dirty="0"/>
              <a:t> long </a:t>
            </a:r>
            <a:r>
              <a:rPr lang="it-IT" dirty="0" err="1"/>
              <a:t>crystals</a:t>
            </a:r>
            <a:r>
              <a:rPr lang="it-IT" dirty="0"/>
              <a:t>:</a:t>
            </a:r>
          </a:p>
          <a:p>
            <a:pPr lvl="1"/>
            <a:r>
              <a:rPr lang="it-IT" sz="2800" dirty="0"/>
              <a:t>LHCTBMCP0001-0001: </a:t>
            </a:r>
            <a:r>
              <a:rPr lang="it-IT" sz="2800" dirty="0" err="1"/>
              <a:t>runs</a:t>
            </a:r>
            <a:r>
              <a:rPr lang="it-IT" sz="2800" dirty="0"/>
              <a:t> 8430, 8431, 8650</a:t>
            </a:r>
          </a:p>
          <a:p>
            <a:pPr lvl="1"/>
            <a:r>
              <a:rPr lang="it-IT" sz="2800" dirty="0"/>
              <a:t>LHCTBMCP0001-0002: </a:t>
            </a:r>
            <a:r>
              <a:rPr lang="it-IT" sz="2800" dirty="0" err="1"/>
              <a:t>runs</a:t>
            </a:r>
            <a:r>
              <a:rPr lang="it-IT" sz="2800" dirty="0"/>
              <a:t> 8655, 8656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 err="1"/>
              <a:t>Configuration</a:t>
            </a:r>
            <a:r>
              <a:rPr lang="it-IT" dirty="0"/>
              <a:t>:</a:t>
            </a:r>
          </a:p>
          <a:p>
            <a:pPr lvl="1"/>
            <a:r>
              <a:rPr lang="it-IT" sz="2800" dirty="0"/>
              <a:t>Central </a:t>
            </a:r>
            <a:r>
              <a:rPr lang="it-IT" sz="2800" dirty="0" err="1"/>
              <a:t>goniometer</a:t>
            </a:r>
            <a:endParaRPr lang="it-IT" sz="2800" dirty="0"/>
          </a:p>
          <a:p>
            <a:pPr lvl="1"/>
            <a:r>
              <a:rPr lang="it-IT" sz="2800" dirty="0"/>
              <a:t>Energy 180 GeV/c or 150 GeV/c for </a:t>
            </a:r>
            <a:r>
              <a:rPr lang="it-IT" sz="2800" dirty="0" err="1"/>
              <a:t>run</a:t>
            </a:r>
            <a:r>
              <a:rPr lang="it-IT" sz="2800" dirty="0"/>
              <a:t> 8650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9CBEBE7-5AD1-2A5D-D796-FC860CFACB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65DDE3E-B94E-09A0-E6FC-740927746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B429AC5-2B17-3AA7-829E-3FADDA4D0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2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D66CB6E1-F902-FACB-CE04-F0353E6FCF48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3749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1A478-2C97-10B4-34B5-10A734949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AC2323-4074-7D2D-42E4-448B5D172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1. SCHEMATIC LAYOUT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8305303-D450-DE41-FD4D-E965DB4B99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932D726-6862-785A-B00C-19309D53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318A926-43E2-8B1A-948C-DD69E1680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3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2EB45A51-E901-915B-0293-EC5A0957C2FE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23A421A-CF34-DE89-C38E-406198ECC43D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A3A2D6F-A325-D7E7-DEFD-6EE799EFE079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3F38F614-6004-D72E-11CB-6711FB5AB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99247" y="1546325"/>
            <a:ext cx="8757821" cy="4165439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761CFF4-1AA7-7DBA-C7AD-C4C417735B36}"/>
              </a:ext>
            </a:extLst>
          </p:cNvPr>
          <p:cNvSpPr txBox="1"/>
          <p:nvPr/>
        </p:nvSpPr>
        <p:spPr>
          <a:xfrm>
            <a:off x="2819400" y="1671629"/>
            <a:ext cx="6794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/>
              <a:t>T1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D3769F19-49FA-6A86-4E43-EE9B9FCF5335}"/>
              </a:ext>
            </a:extLst>
          </p:cNvPr>
          <p:cNvSpPr txBox="1"/>
          <p:nvPr/>
        </p:nvSpPr>
        <p:spPr>
          <a:xfrm>
            <a:off x="3498850" y="1671629"/>
            <a:ext cx="6794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/>
              <a:t>T2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E6613190-54C0-7766-BE53-A88A0928D029}"/>
              </a:ext>
            </a:extLst>
          </p:cNvPr>
          <p:cNvSpPr txBox="1"/>
          <p:nvPr/>
        </p:nvSpPr>
        <p:spPr>
          <a:xfrm>
            <a:off x="6146800" y="1671629"/>
            <a:ext cx="6794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/>
              <a:t>T3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91ABB6A2-0253-F61C-3A3B-B5D48ED67530}"/>
              </a:ext>
            </a:extLst>
          </p:cNvPr>
          <p:cNvSpPr txBox="1"/>
          <p:nvPr/>
        </p:nvSpPr>
        <p:spPr>
          <a:xfrm>
            <a:off x="8455025" y="1671629"/>
            <a:ext cx="6794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/>
              <a:t>C4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5EF31BC2-B06C-C19F-8B82-234E7051B99F}"/>
              </a:ext>
            </a:extLst>
          </p:cNvPr>
          <p:cNvSpPr txBox="1"/>
          <p:nvPr/>
        </p:nvSpPr>
        <p:spPr>
          <a:xfrm>
            <a:off x="4914900" y="4911565"/>
            <a:ext cx="1047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 err="1">
                <a:solidFill>
                  <a:srgbClr val="FFC000"/>
                </a:solidFill>
              </a:rPr>
              <a:t>crystal</a:t>
            </a:r>
            <a:endParaRPr lang="it-IT" sz="2000" b="1" dirty="0">
              <a:solidFill>
                <a:srgbClr val="FFC000"/>
              </a:solidFill>
            </a:endParaRP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DC516CBA-691F-320E-81BE-67B07E92F0CB}"/>
              </a:ext>
            </a:extLst>
          </p:cNvPr>
          <p:cNvSpPr txBox="1"/>
          <p:nvPr/>
        </p:nvSpPr>
        <p:spPr>
          <a:xfrm>
            <a:off x="10402009" y="4315824"/>
            <a:ext cx="679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[m]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8C19DACC-8BF8-944F-AFBE-0BF9ECAB57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151" y="151052"/>
            <a:ext cx="3098753" cy="1585607"/>
          </a:xfrm>
          <a:prstGeom prst="roundRect">
            <a:avLst>
              <a:gd name="adj" fmla="val 16667"/>
            </a:avLst>
          </a:prstGeom>
          <a:ln w="38100">
            <a:solidFill>
              <a:srgbClr val="FFC000"/>
            </a:solidFill>
          </a:ln>
          <a:effectLst/>
        </p:spPr>
      </p:pic>
      <p:sp>
        <p:nvSpPr>
          <p:cNvPr id="11" name="Arco 10">
            <a:extLst>
              <a:ext uri="{FF2B5EF4-FFF2-40B4-BE49-F238E27FC236}">
                <a16:creationId xmlns:a16="http://schemas.microsoft.com/office/drawing/2014/main" id="{10E620A4-10A1-BF2A-CF11-1DF7063FF5AD}"/>
              </a:ext>
            </a:extLst>
          </p:cNvPr>
          <p:cNvSpPr/>
          <p:nvPr/>
        </p:nvSpPr>
        <p:spPr>
          <a:xfrm rot="5881670">
            <a:off x="1003504" y="-5711251"/>
            <a:ext cx="6975242" cy="13219817"/>
          </a:xfrm>
          <a:prstGeom prst="arc">
            <a:avLst>
              <a:gd name="adj1" fmla="val 16162446"/>
              <a:gd name="adj2" fmla="val 19464192"/>
            </a:avLst>
          </a:prstGeom>
          <a:ln w="38100">
            <a:solidFill>
              <a:srgbClr val="FFC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9365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46C03-C17C-AEAA-D887-38CCF92B8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608CAC-1F68-0C88-4244-272414C60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2. PREVIOUS ANALYSIS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A25536D-7111-A337-4A80-1121C3ADFC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EE6A61F-24FB-7FB6-1293-7D66A9D49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5AB8F59-E042-224D-F2F1-1DD904736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4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1F5E83E0-5A06-1EC3-F9AB-B6890923D603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7C8EAC19-DE60-A74A-0B70-C847AF0A1698}"/>
              </a:ext>
            </a:extLst>
          </p:cNvPr>
          <p:cNvSpPr/>
          <p:nvPr/>
        </p:nvSpPr>
        <p:spPr>
          <a:xfrm>
            <a:off x="696000" y="1497271"/>
            <a:ext cx="3535758" cy="4791701"/>
          </a:xfrm>
          <a:prstGeom prst="round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t-IT" sz="2000" b="1" dirty="0">
              <a:solidFill>
                <a:srgbClr val="002060"/>
              </a:solidFill>
            </a:endParaRPr>
          </a:p>
          <a:p>
            <a:pPr algn="ctr"/>
            <a:endParaRPr lang="it-IT" sz="2000" b="1" dirty="0">
              <a:solidFill>
                <a:srgbClr val="002060"/>
              </a:solidFill>
            </a:endParaRPr>
          </a:p>
          <a:p>
            <a:pPr algn="ctr"/>
            <a:endParaRPr lang="it-IT" sz="2000" b="1" dirty="0">
              <a:solidFill>
                <a:srgbClr val="002060"/>
              </a:solidFill>
            </a:endParaRPr>
          </a:p>
          <a:p>
            <a:pPr algn="ctr"/>
            <a:r>
              <a:rPr lang="it-IT" sz="2000" b="1" dirty="0">
                <a:solidFill>
                  <a:srgbClr val="002060"/>
                </a:solidFill>
              </a:rPr>
              <a:t>SELECT SINGLE TRACKS</a:t>
            </a:r>
          </a:p>
          <a:p>
            <a:pPr algn="ctr"/>
            <a:endParaRPr lang="it-IT" sz="2000" dirty="0">
              <a:solidFill>
                <a:schemeClr val="tx1"/>
              </a:solidFill>
            </a:endParaRPr>
          </a:p>
          <a:p>
            <a:pPr algn="ctr"/>
            <a:r>
              <a:rPr lang="it-IT" sz="2000" dirty="0" err="1">
                <a:solidFill>
                  <a:schemeClr val="tx1"/>
                </a:solidFill>
              </a:rPr>
              <a:t>Selection</a:t>
            </a:r>
            <a:r>
              <a:rPr lang="it-IT" sz="2000" dirty="0">
                <a:solidFill>
                  <a:schemeClr val="tx1"/>
                </a:solidFill>
              </a:rPr>
              <a:t> of single tracks to eliminate multi-scattering events and multi-hit events (pile-up </a:t>
            </a:r>
            <a:r>
              <a:rPr lang="it-IT" sz="2000" dirty="0" err="1">
                <a:solidFill>
                  <a:schemeClr val="tx1"/>
                </a:solidFill>
              </a:rPr>
              <a:t>effect</a:t>
            </a:r>
            <a:r>
              <a:rPr lang="it-IT" sz="2000" dirty="0">
                <a:solidFill>
                  <a:schemeClr val="tx1"/>
                </a:solidFill>
              </a:rPr>
              <a:t>) from the dataset.</a:t>
            </a:r>
          </a:p>
          <a:p>
            <a:pPr algn="ctr"/>
            <a:endParaRPr lang="it-IT" sz="2000" dirty="0">
              <a:solidFill>
                <a:schemeClr val="tx1"/>
              </a:solidFill>
            </a:endParaRP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9736CE16-710C-E676-D6C0-9088D0D676F0}"/>
              </a:ext>
            </a:extLst>
          </p:cNvPr>
          <p:cNvSpPr/>
          <p:nvPr/>
        </p:nvSpPr>
        <p:spPr>
          <a:xfrm>
            <a:off x="4328122" y="1497270"/>
            <a:ext cx="3535758" cy="4791701"/>
          </a:xfrm>
          <a:prstGeom prst="round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t-IT" sz="2000" b="1" dirty="0">
              <a:solidFill>
                <a:srgbClr val="002060"/>
              </a:solidFill>
            </a:endParaRPr>
          </a:p>
          <a:p>
            <a:pPr algn="ctr"/>
            <a:endParaRPr lang="it-IT" sz="2000" b="1" dirty="0">
              <a:solidFill>
                <a:srgbClr val="002060"/>
              </a:solidFill>
            </a:endParaRPr>
          </a:p>
          <a:p>
            <a:pPr algn="ctr"/>
            <a:endParaRPr lang="it-IT" sz="2000" b="1" dirty="0">
              <a:solidFill>
                <a:srgbClr val="002060"/>
              </a:solidFill>
            </a:endParaRPr>
          </a:p>
          <a:p>
            <a:pPr algn="ctr"/>
            <a:r>
              <a:rPr lang="it-IT" sz="2000" b="1" dirty="0">
                <a:solidFill>
                  <a:srgbClr val="002060"/>
                </a:solidFill>
              </a:rPr>
              <a:t>PARTICLE ENTRY</a:t>
            </a:r>
          </a:p>
          <a:p>
            <a:pPr algn="ctr"/>
            <a:endParaRPr lang="it-IT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Validation of which particles successfully entered the crystal.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Since we do not know the relative beam position: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algorithmic identification of the physical crystal edges based on interaction density profiles.</a:t>
            </a:r>
          </a:p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endParaRPr lang="it-IT" sz="2000" dirty="0">
              <a:solidFill>
                <a:schemeClr val="tx1"/>
              </a:solidFill>
            </a:endParaRP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3F0A19BB-1D24-2DB7-870C-4A534AE82EC6}"/>
              </a:ext>
            </a:extLst>
          </p:cNvPr>
          <p:cNvSpPr/>
          <p:nvPr/>
        </p:nvSpPr>
        <p:spPr>
          <a:xfrm>
            <a:off x="7960244" y="1497270"/>
            <a:ext cx="3535758" cy="4791701"/>
          </a:xfrm>
          <a:prstGeom prst="round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t-IT" sz="2000" b="1" dirty="0">
              <a:solidFill>
                <a:srgbClr val="002060"/>
              </a:solidFill>
            </a:endParaRPr>
          </a:p>
          <a:p>
            <a:pPr algn="ctr"/>
            <a:endParaRPr lang="it-IT" sz="2000" b="1" dirty="0">
              <a:solidFill>
                <a:srgbClr val="002060"/>
              </a:solidFill>
            </a:endParaRPr>
          </a:p>
          <a:p>
            <a:pPr algn="ctr"/>
            <a:endParaRPr lang="it-IT" sz="2000" b="1" dirty="0">
              <a:solidFill>
                <a:srgbClr val="002060"/>
              </a:solidFill>
            </a:endParaRPr>
          </a:p>
          <a:p>
            <a:pPr algn="ctr"/>
            <a:r>
              <a:rPr lang="it-IT" sz="2000" b="1" dirty="0">
                <a:solidFill>
                  <a:srgbClr val="002060"/>
                </a:solidFill>
              </a:rPr>
              <a:t>DETECTOR ALIGNMENT</a:t>
            </a:r>
          </a:p>
          <a:p>
            <a:pPr algn="ctr"/>
            <a:endParaRPr lang="it-IT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Ensuring precision and the alignment of the detectors.</a:t>
            </a:r>
          </a:p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Any misalignment between tracking planes corrupts the angular measurements, necessitating corrections.</a:t>
            </a:r>
            <a:endParaRPr lang="it-IT" sz="2000" dirty="0">
              <a:solidFill>
                <a:schemeClr val="tx1"/>
              </a:solidFill>
            </a:endParaRPr>
          </a:p>
        </p:txBody>
      </p:sp>
      <p:pic>
        <p:nvPicPr>
          <p:cNvPr id="14" name="Elemento grafico 13" descr="Cerchi con linee con riempimento a tinta unita">
            <a:extLst>
              <a:ext uri="{FF2B5EF4-FFF2-40B4-BE49-F238E27FC236}">
                <a16:creationId xmlns:a16="http://schemas.microsoft.com/office/drawing/2014/main" id="{8D389B79-1EBE-FB00-8C61-684097C835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93879" y="1860574"/>
            <a:ext cx="540000" cy="540000"/>
          </a:xfrm>
          <a:prstGeom prst="rect">
            <a:avLst/>
          </a:prstGeom>
        </p:spPr>
      </p:pic>
      <p:pic>
        <p:nvPicPr>
          <p:cNvPr id="16" name="Elemento grafico 15" descr="Design dei livelli con riempimento a tinta unita">
            <a:extLst>
              <a:ext uri="{FF2B5EF4-FFF2-40B4-BE49-F238E27FC236}">
                <a16:creationId xmlns:a16="http://schemas.microsoft.com/office/drawing/2014/main" id="{5A4C15CB-93B3-50BA-8818-6D309B1882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58123" y="1860574"/>
            <a:ext cx="540000" cy="540000"/>
          </a:xfrm>
          <a:prstGeom prst="rect">
            <a:avLst/>
          </a:prstGeom>
        </p:spPr>
      </p:pic>
      <p:pic>
        <p:nvPicPr>
          <p:cNvPr id="18" name="Elemento grafico 17" descr="Selezione posta in arrivo con riempimento a tinta unita">
            <a:extLst>
              <a:ext uri="{FF2B5EF4-FFF2-40B4-BE49-F238E27FC236}">
                <a16:creationId xmlns:a16="http://schemas.microsoft.com/office/drawing/2014/main" id="{5840FC33-6BD7-32E5-1BCF-20F59009E4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25100" y="1860574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402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11EB1-4330-C416-EE85-4C1F34C07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A8608F-2305-4200-0914-3A4811281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2. PREVIOUS ANALYSIS: ALIGNMENT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04A602E-B4AA-6A89-A978-0A93A2C4C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288"/>
            <a:ext cx="10515600" cy="47762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To </a:t>
            </a:r>
            <a:r>
              <a:rPr lang="it-IT" dirty="0" err="1"/>
              <a:t>ensure</a:t>
            </a:r>
            <a:r>
              <a:rPr lang="it-IT" dirty="0"/>
              <a:t> that the upstream and downstream detectors are </a:t>
            </a:r>
            <a:r>
              <a:rPr lang="it-IT" dirty="0" err="1"/>
              <a:t>aligned</a:t>
            </a:r>
            <a:r>
              <a:rPr lang="it-IT" dirty="0"/>
              <a:t>, we check the </a:t>
            </a:r>
            <a:r>
              <a:rPr lang="it-IT" dirty="0" err="1"/>
              <a:t>deviation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the </a:t>
            </a:r>
            <a:r>
              <a:rPr lang="it-IT" dirty="0" err="1"/>
              <a:t>initial</a:t>
            </a:r>
            <a:r>
              <a:rPr lang="it-IT" dirty="0"/>
              <a:t> and </a:t>
            </a:r>
            <a:r>
              <a:rPr lang="it-IT" dirty="0" err="1"/>
              <a:t>final</a:t>
            </a:r>
            <a:r>
              <a:rPr lang="it-IT" dirty="0"/>
              <a:t> positions of </a:t>
            </a:r>
            <a:r>
              <a:rPr lang="it-IT" dirty="0" err="1"/>
              <a:t>particles</a:t>
            </a:r>
            <a:r>
              <a:rPr lang="it-IT" dirty="0"/>
              <a:t> that </a:t>
            </a:r>
            <a:r>
              <a:rPr lang="it-IT" dirty="0" err="1"/>
              <a:t>definitely</a:t>
            </a:r>
            <a:r>
              <a:rPr lang="it-IT" dirty="0"/>
              <a:t> </a:t>
            </a:r>
            <a:r>
              <a:rPr lang="it-IT" dirty="0" err="1"/>
              <a:t>did</a:t>
            </a:r>
            <a:r>
              <a:rPr lang="it-IT" dirty="0"/>
              <a:t> not hit the </a:t>
            </a:r>
            <a:r>
              <a:rPr lang="it-IT" dirty="0" err="1"/>
              <a:t>crystal</a:t>
            </a:r>
            <a:r>
              <a:rPr lang="it-IT" dirty="0"/>
              <a:t>, </a:t>
            </a:r>
            <a:r>
              <a:rPr lang="it-IT" dirty="0" err="1"/>
              <a:t>ensuring</a:t>
            </a:r>
            <a:r>
              <a:rPr lang="it-IT" dirty="0"/>
              <a:t> that </a:t>
            </a:r>
            <a:r>
              <a:rPr lang="it-IT" dirty="0" err="1"/>
              <a:t>is</a:t>
            </a:r>
            <a:r>
              <a:rPr lang="it-IT" dirty="0"/>
              <a:t> zero.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19DD55B-70C7-5BB5-4EB3-E92B7E1E11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692FF51-B9F7-EFC9-C356-6F4E91F79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7EEABA-DCFF-3382-481D-B852DF855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5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D7A94697-0A6E-6959-1136-CC5B04A9A0A8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Immagine 7">
            <a:extLst>
              <a:ext uri="{FF2B5EF4-FFF2-40B4-BE49-F238E27FC236}">
                <a16:creationId xmlns:a16="http://schemas.microsoft.com/office/drawing/2014/main" id="{989FA1B0-5081-D834-7B01-E799986CB3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43261" y="2636044"/>
            <a:ext cx="7798282" cy="37200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ttangolo con angoli arrotondati 10">
                <a:extLst>
                  <a:ext uri="{FF2B5EF4-FFF2-40B4-BE49-F238E27FC236}">
                    <a16:creationId xmlns:a16="http://schemas.microsoft.com/office/drawing/2014/main" id="{6D9CF20B-45DC-2586-D939-EBF8EEFFF671}"/>
                  </a:ext>
                </a:extLst>
              </p:cNvPr>
              <p:cNvSpPr/>
              <p:nvPr/>
            </p:nvSpPr>
            <p:spPr>
              <a:xfrm>
                <a:off x="1339378" y="3551274"/>
                <a:ext cx="2571307" cy="711894"/>
              </a:xfrm>
              <a:prstGeom prst="roundRect">
                <a:avLst/>
              </a:prstGeom>
              <a:noFill/>
              <a:ln w="28575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offset</m:t>
                          </m:r>
                        </m:e>
                        <m:sub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=0.003 </m:t>
                      </m:r>
                      <m:r>
                        <m:rPr>
                          <m:sty m:val="p"/>
                        </m:rPr>
                        <a:rPr lang="it-IT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mm</m:t>
                      </m:r>
                    </m:oMath>
                  </m:oMathPara>
                </a14:m>
                <a:endParaRPr lang="it-IT" sz="20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skewness</m:t>
                      </m:r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∼0</m:t>
                      </m:r>
                    </m:oMath>
                  </m:oMathPara>
                </a14:m>
                <a:endParaRPr lang="it-IT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ttangolo con angoli arrotondati 10">
                <a:extLst>
                  <a:ext uri="{FF2B5EF4-FFF2-40B4-BE49-F238E27FC236}">
                    <a16:creationId xmlns:a16="http://schemas.microsoft.com/office/drawing/2014/main" id="{6D9CF20B-45DC-2586-D939-EBF8EEFFF6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9378" y="3551274"/>
                <a:ext cx="2571307" cy="711894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ttangolo con angoli arrotondati 12">
                <a:extLst>
                  <a:ext uri="{FF2B5EF4-FFF2-40B4-BE49-F238E27FC236}">
                    <a16:creationId xmlns:a16="http://schemas.microsoft.com/office/drawing/2014/main" id="{30A327D6-BD0C-6C8D-22AB-10AAC1502C0D}"/>
                  </a:ext>
                </a:extLst>
              </p:cNvPr>
              <p:cNvSpPr/>
              <p:nvPr/>
            </p:nvSpPr>
            <p:spPr>
              <a:xfrm>
                <a:off x="1339377" y="4441711"/>
                <a:ext cx="2571307" cy="711894"/>
              </a:xfrm>
              <a:prstGeom prst="roundRect">
                <a:avLst/>
              </a:prstGeom>
              <a:noFill/>
              <a:ln w="28575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it-IT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offset</m:t>
                          </m:r>
                        </m:e>
                        <m:sub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=0.004 </m:t>
                      </m:r>
                      <m:r>
                        <m:rPr>
                          <m:sty m:val="p"/>
                        </m:rPr>
                        <a:rPr lang="it-IT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mm</m:t>
                      </m:r>
                    </m:oMath>
                  </m:oMathPara>
                </a14:m>
                <a:endParaRPr lang="it-IT" sz="20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skewness</m:t>
                      </m:r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∼0</m:t>
                      </m:r>
                    </m:oMath>
                  </m:oMathPara>
                </a14:m>
                <a:endParaRPr lang="it-IT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ttangolo con angoli arrotondati 12">
                <a:extLst>
                  <a:ext uri="{FF2B5EF4-FFF2-40B4-BE49-F238E27FC236}">
                    <a16:creationId xmlns:a16="http://schemas.microsoft.com/office/drawing/2014/main" id="{30A327D6-BD0C-6C8D-22AB-10AAC1502C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9377" y="4441711"/>
                <a:ext cx="2571307" cy="711894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2105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B86E7-1A7A-D5FF-00F7-4EA047E91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A1DB4D-1ABD-A3F3-5222-17C3D2873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BACKUP SLIDES: ALIGNMENT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CEBEEF6-A28E-39F6-8449-8812EF9C3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288"/>
            <a:ext cx="10515600" cy="47762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We can </a:t>
            </a:r>
            <a:r>
              <a:rPr lang="it-IT" dirty="0" err="1"/>
              <a:t>also</a:t>
            </a:r>
            <a:r>
              <a:rPr lang="it-IT" dirty="0"/>
              <a:t> check the </a:t>
            </a:r>
            <a:r>
              <a:rPr lang="it-IT" dirty="0" err="1"/>
              <a:t>alignment</a:t>
            </a:r>
            <a:r>
              <a:rPr lang="it-IT" dirty="0"/>
              <a:t> by </a:t>
            </a:r>
            <a:r>
              <a:rPr lang="it-IT" dirty="0" err="1"/>
              <a:t>doing</a:t>
            </a:r>
            <a:r>
              <a:rPr lang="it-IT" dirty="0"/>
              <a:t> a linear </a:t>
            </a:r>
            <a:r>
              <a:rPr lang="it-IT" dirty="0" err="1"/>
              <a:t>fit</a:t>
            </a:r>
            <a:r>
              <a:rPr lang="it-IT" dirty="0"/>
              <a:t> </a:t>
            </a:r>
            <a:r>
              <a:rPr lang="it-IT" dirty="0" err="1"/>
              <a:t>between</a:t>
            </a:r>
            <a:r>
              <a:rPr lang="it-IT" dirty="0"/>
              <a:t> the upstream and </a:t>
            </a:r>
            <a:r>
              <a:rPr lang="it-IT" dirty="0" err="1"/>
              <a:t>dowstream</a:t>
            </a:r>
            <a:r>
              <a:rPr lang="it-IT" dirty="0"/>
              <a:t> </a:t>
            </a:r>
            <a:r>
              <a:rPr lang="it-IT" dirty="0" err="1"/>
              <a:t>profiles</a:t>
            </a:r>
            <a:r>
              <a:rPr lang="it-IT" dirty="0"/>
              <a:t>.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30E214C-E59D-866B-031F-B4179AE394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98C4BE9-74D3-5C68-A715-2F5A9ED44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DAE6CA7-9F2D-CE6D-06CC-5EE7AFC0C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6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C700AA9C-2368-44FD-B5A1-95604DB48E99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0BA96C06-4EFC-1DB2-F6AE-9D4290B62609}"/>
              </a:ext>
            </a:extLst>
          </p:cNvPr>
          <p:cNvGrpSpPr/>
          <p:nvPr/>
        </p:nvGrpSpPr>
        <p:grpSpPr>
          <a:xfrm>
            <a:off x="1978338" y="2278589"/>
            <a:ext cx="8233523" cy="3952091"/>
            <a:chOff x="851293" y="2225424"/>
            <a:chExt cx="8233523" cy="3952091"/>
          </a:xfrm>
        </p:grpSpPr>
        <p:pic>
          <p:nvPicPr>
            <p:cNvPr id="7" name="Segnaposto contenuto 7">
              <a:extLst>
                <a:ext uri="{FF2B5EF4-FFF2-40B4-BE49-F238E27FC236}">
                  <a16:creationId xmlns:a16="http://schemas.microsoft.com/office/drawing/2014/main" id="{B64A8EB8-0B59-286A-1CA3-C6C166623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51293" y="2225424"/>
              <a:ext cx="8233523" cy="3952091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Rettangolo con angoli arrotondati 10">
                  <a:extLst>
                    <a:ext uri="{FF2B5EF4-FFF2-40B4-BE49-F238E27FC236}">
                      <a16:creationId xmlns:a16="http://schemas.microsoft.com/office/drawing/2014/main" id="{30272D5E-1964-7C54-CC85-FC6F30DE3317}"/>
                    </a:ext>
                  </a:extLst>
                </p:cNvPr>
                <p:cNvSpPr/>
                <p:nvPr/>
              </p:nvSpPr>
              <p:spPr>
                <a:xfrm>
                  <a:off x="1528611" y="2717106"/>
                  <a:ext cx="2012032" cy="711894"/>
                </a:xfrm>
                <a:prstGeom prst="roundRect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it-IT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=0.995</m:t>
                        </m:r>
                      </m:oMath>
                    </m:oMathPara>
                  </a14:m>
                  <a:endParaRPr lang="it-IT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it-IT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=0.007</m:t>
                        </m:r>
                      </m:oMath>
                    </m:oMathPara>
                  </a14:m>
                  <a:endParaRPr lang="it-IT" sz="2000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1" name="Rettangolo con angoli arrotondati 10">
                  <a:extLst>
                    <a:ext uri="{FF2B5EF4-FFF2-40B4-BE49-F238E27FC236}">
                      <a16:creationId xmlns:a16="http://schemas.microsoft.com/office/drawing/2014/main" id="{30272D5E-1964-7C54-CC85-FC6F30DE331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8611" y="2717106"/>
                  <a:ext cx="2012032" cy="711894"/>
                </a:xfrm>
                <a:prstGeom prst="roundRect">
                  <a:avLst/>
                </a:prstGeom>
                <a:blipFill>
                  <a:blip r:embed="rId3"/>
                  <a:stretch>
                    <a:fillRect b="-1639"/>
                  </a:stretch>
                </a:blipFill>
                <a:ln w="2857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Rettangolo con angoli arrotondati 14">
                  <a:extLst>
                    <a:ext uri="{FF2B5EF4-FFF2-40B4-BE49-F238E27FC236}">
                      <a16:creationId xmlns:a16="http://schemas.microsoft.com/office/drawing/2014/main" id="{ED5E50EE-9091-8029-174B-6855889A457D}"/>
                    </a:ext>
                  </a:extLst>
                </p:cNvPr>
                <p:cNvSpPr/>
                <p:nvPr/>
              </p:nvSpPr>
              <p:spPr>
                <a:xfrm>
                  <a:off x="5700118" y="2717106"/>
                  <a:ext cx="2012032" cy="711894"/>
                </a:xfrm>
                <a:prstGeom prst="roundRect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it-IT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=0.999</m:t>
                        </m:r>
                      </m:oMath>
                    </m:oMathPara>
                  </a14:m>
                  <a:endParaRPr lang="it-IT" sz="2000" b="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it-IT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=0.006</m:t>
                        </m:r>
                      </m:oMath>
                    </m:oMathPara>
                  </a14:m>
                  <a:endParaRPr lang="it-IT" sz="2000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5" name="Rettangolo con angoli arrotondati 14">
                  <a:extLst>
                    <a:ext uri="{FF2B5EF4-FFF2-40B4-BE49-F238E27FC236}">
                      <a16:creationId xmlns:a16="http://schemas.microsoft.com/office/drawing/2014/main" id="{ED5E50EE-9091-8029-174B-6855889A45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0118" y="2717106"/>
                  <a:ext cx="2012032" cy="711894"/>
                </a:xfrm>
                <a:prstGeom prst="roundRect">
                  <a:avLst/>
                </a:prstGeom>
                <a:blipFill>
                  <a:blip r:embed="rId4"/>
                  <a:stretch>
                    <a:fillRect b="-1639"/>
                  </a:stretch>
                </a:blipFill>
                <a:ln w="28575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93181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F46FA-DC91-D1E6-7C77-41DC8D025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57F4CA-D5FD-4459-489A-10A7EEB52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2. PREVIOUS ANALYSIS: CRYSTAL EDGES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23E1616-7B8B-98E7-3A85-9E2850913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288"/>
            <a:ext cx="10766834" cy="477622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2000" dirty="0"/>
              <a:t>To </a:t>
            </a:r>
            <a:r>
              <a:rPr lang="it-IT" sz="2000" dirty="0" err="1"/>
              <a:t>select</a:t>
            </a:r>
            <a:r>
              <a:rPr lang="it-IT" sz="2000" dirty="0"/>
              <a:t> the </a:t>
            </a:r>
            <a:r>
              <a:rPr lang="it-IT" sz="2000" dirty="0" err="1"/>
              <a:t>particles</a:t>
            </a:r>
            <a:r>
              <a:rPr lang="it-IT" sz="2000" dirty="0"/>
              <a:t> that </a:t>
            </a:r>
            <a:r>
              <a:rPr lang="it-IT" sz="2000" dirty="0" err="1"/>
              <a:t>actually</a:t>
            </a:r>
            <a:r>
              <a:rPr lang="it-IT" sz="2000" dirty="0"/>
              <a:t> </a:t>
            </a:r>
            <a:r>
              <a:rPr lang="it-IT" sz="2000" dirty="0" err="1"/>
              <a:t>enter</a:t>
            </a:r>
            <a:r>
              <a:rPr lang="it-IT" sz="2000" dirty="0"/>
              <a:t> the </a:t>
            </a:r>
            <a:r>
              <a:rPr lang="it-IT" sz="2000" dirty="0" err="1"/>
              <a:t>crystal</a:t>
            </a:r>
            <a:r>
              <a:rPr lang="it-IT" sz="2000" dirty="0"/>
              <a:t> we first </a:t>
            </a:r>
            <a:r>
              <a:rPr lang="it-IT" sz="2000" dirty="0" err="1"/>
              <a:t>need</a:t>
            </a:r>
            <a:r>
              <a:rPr lang="it-IT" sz="2000" dirty="0"/>
              <a:t> to know the position of the </a:t>
            </a:r>
            <a:r>
              <a:rPr lang="it-IT" sz="2000" dirty="0" err="1"/>
              <a:t>crystal</a:t>
            </a:r>
            <a:r>
              <a:rPr lang="it-IT" sz="2000" dirty="0"/>
              <a:t> with </a:t>
            </a:r>
            <a:r>
              <a:rPr lang="it-IT" sz="2000" dirty="0" err="1"/>
              <a:t>respect</a:t>
            </a:r>
            <a:r>
              <a:rPr lang="it-IT" sz="2000" dirty="0"/>
              <a:t> to the </a:t>
            </a:r>
            <a:r>
              <a:rPr lang="it-IT" sz="2000" dirty="0" err="1"/>
              <a:t>beam</a:t>
            </a:r>
            <a:r>
              <a:rPr lang="it-IT" sz="2000" dirty="0"/>
              <a:t>.</a:t>
            </a:r>
          </a:p>
          <a:p>
            <a:pPr marL="0" indent="0">
              <a:buNone/>
            </a:pPr>
            <a:endParaRPr lang="it-IT" sz="2000" dirty="0"/>
          </a:p>
          <a:p>
            <a:pPr marL="0" indent="0">
              <a:buNone/>
            </a:pPr>
            <a:endParaRPr lang="it-IT" sz="2000" dirty="0"/>
          </a:p>
          <a:p>
            <a:pPr marL="0" indent="0">
              <a:buNone/>
            </a:pPr>
            <a:endParaRPr lang="it-IT" sz="2000" dirty="0"/>
          </a:p>
          <a:p>
            <a:pPr marL="0" indent="0">
              <a:buNone/>
            </a:pPr>
            <a:endParaRPr lang="it-IT" sz="2000" dirty="0"/>
          </a:p>
          <a:p>
            <a:pPr marL="0" indent="0">
              <a:buNone/>
            </a:pPr>
            <a:endParaRPr lang="it-IT" sz="2000" dirty="0"/>
          </a:p>
          <a:p>
            <a:pPr marL="0" indent="0">
              <a:buNone/>
            </a:pPr>
            <a:endParaRPr lang="it-IT" sz="1600" dirty="0"/>
          </a:p>
          <a:p>
            <a:pPr marL="0" indent="0">
              <a:buNone/>
            </a:pPr>
            <a:endParaRPr lang="it-IT" sz="1600" dirty="0"/>
          </a:p>
          <a:p>
            <a:pPr marL="0" indent="0">
              <a:buNone/>
            </a:pPr>
            <a:endParaRPr lang="it-IT" sz="1600" dirty="0"/>
          </a:p>
          <a:p>
            <a:pPr marL="0" indent="0">
              <a:buNone/>
            </a:pPr>
            <a:endParaRPr lang="it-IT" sz="2000" dirty="0"/>
          </a:p>
          <a:p>
            <a:pPr marL="0" indent="0">
              <a:buNone/>
            </a:pPr>
            <a:r>
              <a:rPr lang="it-IT" sz="2000" dirty="0"/>
              <a:t>We </a:t>
            </a:r>
            <a:r>
              <a:rPr lang="it-IT" sz="2000" dirty="0" err="1"/>
              <a:t>then</a:t>
            </a:r>
            <a:r>
              <a:rPr lang="it-IT" sz="2000" dirty="0"/>
              <a:t> look </a:t>
            </a:r>
            <a:r>
              <a:rPr lang="it-IT" sz="2000" dirty="0" err="1"/>
              <a:t>at</a:t>
            </a:r>
            <a:r>
              <a:rPr lang="it-IT" sz="2000" dirty="0"/>
              <a:t> </a:t>
            </a:r>
            <a:r>
              <a:rPr lang="it-IT" sz="2000" dirty="0" err="1"/>
              <a:t>channeled</a:t>
            </a:r>
            <a:r>
              <a:rPr lang="it-IT" sz="2000" dirty="0"/>
              <a:t> </a:t>
            </a:r>
            <a:r>
              <a:rPr lang="it-IT" sz="2000" dirty="0" err="1"/>
              <a:t>particles</a:t>
            </a:r>
            <a:r>
              <a:rPr lang="it-IT" sz="2000" dirty="0"/>
              <a:t> </a:t>
            </a:r>
            <a:r>
              <a:rPr lang="it-IT" sz="2000" dirty="0" err="1"/>
              <a:t>only</a:t>
            </a:r>
            <a:r>
              <a:rPr lang="it-IT" sz="2000" dirty="0"/>
              <a:t> using a </a:t>
            </a:r>
            <a:r>
              <a:rPr lang="it-IT" sz="2000" dirty="0" err="1"/>
              <a:t>preliminary</a:t>
            </a:r>
            <a:r>
              <a:rPr lang="it-IT" sz="2000" dirty="0"/>
              <a:t> </a:t>
            </a:r>
            <a:r>
              <a:rPr lang="it-IT" sz="2000" dirty="0" err="1"/>
              <a:t>deflection</a:t>
            </a:r>
            <a:r>
              <a:rPr lang="it-IT" sz="2000" dirty="0"/>
              <a:t> cut. </a:t>
            </a:r>
            <a:r>
              <a:rPr lang="it-IT" sz="2000" dirty="0" err="1"/>
              <a:t>Their</a:t>
            </a:r>
            <a:r>
              <a:rPr lang="it-IT" sz="2000" dirty="0"/>
              <a:t> impact points </a:t>
            </a:r>
            <a:r>
              <a:rPr lang="it-IT" sz="2000" dirty="0" err="1"/>
              <a:t>reveal</a:t>
            </a:r>
            <a:r>
              <a:rPr lang="it-IT" sz="2000" dirty="0"/>
              <a:t> the </a:t>
            </a:r>
            <a:r>
              <a:rPr lang="it-IT" sz="2000" dirty="0" err="1"/>
              <a:t>crystal's</a:t>
            </a:r>
            <a:r>
              <a:rPr lang="it-IT" sz="2000" dirty="0"/>
              <a:t> </a:t>
            </a:r>
            <a:r>
              <a:rPr lang="it-IT" sz="2000" dirty="0" err="1"/>
              <a:t>physical</a:t>
            </a:r>
            <a:r>
              <a:rPr lang="it-IT" sz="2000" dirty="0"/>
              <a:t> location, matching </a:t>
            </a:r>
            <a:r>
              <a:rPr lang="it-IT" sz="2000" dirty="0" err="1"/>
              <a:t>its</a:t>
            </a:r>
            <a:r>
              <a:rPr lang="it-IT" sz="2000" dirty="0"/>
              <a:t> </a:t>
            </a:r>
            <a:r>
              <a:rPr lang="it-IT" sz="2000" dirty="0" err="1"/>
              <a:t>expected</a:t>
            </a:r>
            <a:r>
              <a:rPr lang="it-IT" sz="2000" dirty="0"/>
              <a:t> </a:t>
            </a:r>
            <a:r>
              <a:rPr lang="it-IT" sz="2000" dirty="0" err="1"/>
              <a:t>dimensions</a:t>
            </a:r>
            <a:r>
              <a:rPr lang="it-IT" sz="2000" dirty="0"/>
              <a:t>.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E39A7DB-C620-BC97-5527-E50A35B09E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1CD300B-0EBD-6ABE-1FC8-EBE2164DC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1E12B5E-9162-22A6-B2CE-A7528195A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7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4D3F1391-657A-1CAA-5D4C-EA799D1925D9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0D59DA23-F82A-E144-21AD-4751255283A5}"/>
              </a:ext>
            </a:extLst>
          </p:cNvPr>
          <p:cNvGrpSpPr/>
          <p:nvPr/>
        </p:nvGrpSpPr>
        <p:grpSpPr>
          <a:xfrm>
            <a:off x="232946" y="2156056"/>
            <a:ext cx="9493450" cy="3320716"/>
            <a:chOff x="232946" y="2040556"/>
            <a:chExt cx="9493450" cy="3320716"/>
          </a:xfrm>
        </p:grpSpPr>
        <p:sp>
          <p:nvSpPr>
            <p:cNvPr id="18" name="CasellaDiTesto 17">
              <a:extLst>
                <a:ext uri="{FF2B5EF4-FFF2-40B4-BE49-F238E27FC236}">
                  <a16:creationId xmlns:a16="http://schemas.microsoft.com/office/drawing/2014/main" id="{C4649E7F-5920-3413-5D26-2E2BEBC6E8BB}"/>
                </a:ext>
              </a:extLst>
            </p:cNvPr>
            <p:cNvSpPr txBox="1"/>
            <p:nvPr/>
          </p:nvSpPr>
          <p:spPr>
            <a:xfrm>
              <a:off x="232946" y="2593936"/>
              <a:ext cx="20783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i="1" dirty="0">
                  <a:solidFill>
                    <a:srgbClr val="002060"/>
                  </a:solidFill>
                </a:rPr>
                <a:t>IMPACT POSITION</a:t>
              </a:r>
            </a:p>
            <a:p>
              <a:pPr algn="ctr"/>
              <a:r>
                <a:rPr lang="it-IT" i="1" dirty="0">
                  <a:solidFill>
                    <a:srgbClr val="002060"/>
                  </a:solidFill>
                </a:rPr>
                <a:t>OF ALL PARTICLES</a:t>
              </a:r>
            </a:p>
          </p:txBody>
        </p:sp>
        <p:sp>
          <p:nvSpPr>
            <p:cNvPr id="20" name="CasellaDiTesto 19">
              <a:extLst>
                <a:ext uri="{FF2B5EF4-FFF2-40B4-BE49-F238E27FC236}">
                  <a16:creationId xmlns:a16="http://schemas.microsoft.com/office/drawing/2014/main" id="{C4AD72A4-DF42-AA52-22A8-E7633C4A4DC3}"/>
                </a:ext>
              </a:extLst>
            </p:cNvPr>
            <p:cNvSpPr txBox="1"/>
            <p:nvPr/>
          </p:nvSpPr>
          <p:spPr>
            <a:xfrm>
              <a:off x="419100" y="4166393"/>
              <a:ext cx="19791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i="1" dirty="0">
                  <a:solidFill>
                    <a:srgbClr val="002060"/>
                  </a:solidFill>
                </a:rPr>
                <a:t>OF CHANNELED PARTICLES</a:t>
              </a:r>
            </a:p>
          </p:txBody>
        </p:sp>
        <p:sp>
          <p:nvSpPr>
            <p:cNvPr id="21" name="Parentesi graffa aperta 20">
              <a:extLst>
                <a:ext uri="{FF2B5EF4-FFF2-40B4-BE49-F238E27FC236}">
                  <a16:creationId xmlns:a16="http://schemas.microsoft.com/office/drawing/2014/main" id="{DE53ED93-825D-AC7F-70D6-688AFF70BE2B}"/>
                </a:ext>
              </a:extLst>
            </p:cNvPr>
            <p:cNvSpPr/>
            <p:nvPr/>
          </p:nvSpPr>
          <p:spPr>
            <a:xfrm>
              <a:off x="2207699" y="2067292"/>
              <a:ext cx="381084" cy="1468619"/>
            </a:xfrm>
            <a:prstGeom prst="leftBrace">
              <a:avLst>
                <a:gd name="adj1" fmla="val 36529"/>
                <a:gd name="adj2" fmla="val 50000"/>
              </a:avLst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3" name="Parentesi graffa aperta 22">
              <a:extLst>
                <a:ext uri="{FF2B5EF4-FFF2-40B4-BE49-F238E27FC236}">
                  <a16:creationId xmlns:a16="http://schemas.microsoft.com/office/drawing/2014/main" id="{2D95720A-BD41-32E8-1D6D-5D7603E6298E}"/>
                </a:ext>
              </a:extLst>
            </p:cNvPr>
            <p:cNvSpPr/>
            <p:nvPr/>
          </p:nvSpPr>
          <p:spPr>
            <a:xfrm>
              <a:off x="2202335" y="3726405"/>
              <a:ext cx="381084" cy="1468619"/>
            </a:xfrm>
            <a:prstGeom prst="leftBrace">
              <a:avLst>
                <a:gd name="adj1" fmla="val 36529"/>
                <a:gd name="adj2" fmla="val 50000"/>
              </a:avLst>
            </a:prstGeom>
            <a:ln w="3810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9" name="Gruppo 8">
              <a:extLst>
                <a:ext uri="{FF2B5EF4-FFF2-40B4-BE49-F238E27FC236}">
                  <a16:creationId xmlns:a16="http://schemas.microsoft.com/office/drawing/2014/main" id="{AFD15A83-2207-4DE2-BC78-72230903C480}"/>
                </a:ext>
              </a:extLst>
            </p:cNvPr>
            <p:cNvGrpSpPr/>
            <p:nvPr/>
          </p:nvGrpSpPr>
          <p:grpSpPr>
            <a:xfrm>
              <a:off x="2463803" y="2040556"/>
              <a:ext cx="7262593" cy="3320716"/>
              <a:chOff x="1111250" y="1222745"/>
              <a:chExt cx="10210800" cy="5582366"/>
            </a:xfrm>
          </p:grpSpPr>
          <p:pic>
            <p:nvPicPr>
              <p:cNvPr id="11" name="Immagine 10">
                <a:extLst>
                  <a:ext uri="{FF2B5EF4-FFF2-40B4-BE49-F238E27FC236}">
                    <a16:creationId xmlns:a16="http://schemas.microsoft.com/office/drawing/2014/main" id="{F3846541-9936-BE45-AAC0-A4FAA0F14F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444" b="5444"/>
              <a:stretch/>
            </p:blipFill>
            <p:spPr>
              <a:xfrm>
                <a:off x="1111250" y="1222745"/>
                <a:ext cx="10210800" cy="5582366"/>
              </a:xfrm>
              <a:prstGeom prst="rect">
                <a:avLst/>
              </a:prstGeom>
            </p:spPr>
          </p:pic>
          <p:sp>
            <p:nvSpPr>
              <p:cNvPr id="12" name="Rettangolo 11">
                <a:extLst>
                  <a:ext uri="{FF2B5EF4-FFF2-40B4-BE49-F238E27FC236}">
                    <a16:creationId xmlns:a16="http://schemas.microsoft.com/office/drawing/2014/main" id="{72104B99-B76D-1B5A-2481-411B645C88F2}"/>
                  </a:ext>
                </a:extLst>
              </p:cNvPr>
              <p:cNvSpPr/>
              <p:nvPr/>
            </p:nvSpPr>
            <p:spPr>
              <a:xfrm>
                <a:off x="2740025" y="1964256"/>
                <a:ext cx="527050" cy="97407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13" name="Rettangolo 12">
                <a:extLst>
                  <a:ext uri="{FF2B5EF4-FFF2-40B4-BE49-F238E27FC236}">
                    <a16:creationId xmlns:a16="http://schemas.microsoft.com/office/drawing/2014/main" id="{54E3362A-00F6-7F8F-94C1-5935DA3388E8}"/>
                  </a:ext>
                </a:extLst>
              </p:cNvPr>
              <p:cNvSpPr/>
              <p:nvPr/>
            </p:nvSpPr>
            <p:spPr>
              <a:xfrm>
                <a:off x="7850299" y="1964256"/>
                <a:ext cx="527050" cy="97407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cxnSp>
            <p:nvCxnSpPr>
              <p:cNvPr id="14" name="Connettore diritto 13">
                <a:extLst>
                  <a:ext uri="{FF2B5EF4-FFF2-40B4-BE49-F238E27FC236}">
                    <a16:creationId xmlns:a16="http://schemas.microsoft.com/office/drawing/2014/main" id="{E20FEB9B-0259-DEE6-5B4B-66D2E68CCC9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08151" y="2938334"/>
                <a:ext cx="1031874" cy="138919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Connettore diritto 14">
                <a:extLst>
                  <a:ext uri="{FF2B5EF4-FFF2-40B4-BE49-F238E27FC236}">
                    <a16:creationId xmlns:a16="http://schemas.microsoft.com/office/drawing/2014/main" id="{7862B18A-E334-1F11-7B6F-EE12798260E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12074" y="2938334"/>
                <a:ext cx="1038225" cy="138919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onnettore diritto 15">
                <a:extLst>
                  <a:ext uri="{FF2B5EF4-FFF2-40B4-BE49-F238E27FC236}">
                    <a16:creationId xmlns:a16="http://schemas.microsoft.com/office/drawing/2014/main" id="{E74CB15A-2238-C0D7-9D61-AAC36C7C5DD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267076" y="2938334"/>
                <a:ext cx="2343262" cy="138919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Connettore diritto 16">
                <a:extLst>
                  <a:ext uri="{FF2B5EF4-FFF2-40B4-BE49-F238E27FC236}">
                    <a16:creationId xmlns:a16="http://schemas.microsoft.com/office/drawing/2014/main" id="{189F36E2-03E7-17E7-185F-9E706841666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377349" y="2938334"/>
                <a:ext cx="2351993" cy="138919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197274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3FA93-8E2E-1C9F-8219-407C9632E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magine 26">
            <a:extLst>
              <a:ext uri="{FF2B5EF4-FFF2-40B4-BE49-F238E27FC236}">
                <a16:creationId xmlns:a16="http://schemas.microsoft.com/office/drawing/2014/main" id="{D9366BB9-EA5C-69F9-6B86-BF1EE1769A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51322" y="3241606"/>
            <a:ext cx="3918560" cy="3420000"/>
          </a:xfrm>
          <a:prstGeom prst="rect">
            <a:avLst/>
          </a:prstGeom>
        </p:spPr>
      </p:pic>
      <p:pic>
        <p:nvPicPr>
          <p:cNvPr id="28" name="Segnaposto contenuto 13">
            <a:extLst>
              <a:ext uri="{FF2B5EF4-FFF2-40B4-BE49-F238E27FC236}">
                <a16:creationId xmlns:a16="http://schemas.microsoft.com/office/drawing/2014/main" id="{A96E174C-4D16-737A-EEFE-FC48760ED8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2119" y="3241606"/>
            <a:ext cx="3918560" cy="3420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B8F46AA1-A41C-E935-60A8-188E79C9F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2. PREVIOUS ANALYSIS: CRYSTAL EDGES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213B1C5B-6364-2BF9-A14D-96F3D0EA6F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1288"/>
                <a:ext cx="10515600" cy="4776227"/>
              </a:xfrm>
            </p:spPr>
            <p:txBody>
              <a:bodyPr>
                <a:noAutofit/>
              </a:bodyPr>
              <a:lstStyle/>
              <a:p>
                <a:r>
                  <a:rPr lang="it-IT" sz="2400" dirty="0"/>
                  <a:t>The impact points of </a:t>
                </a:r>
                <a:r>
                  <a:rPr lang="it-IT" sz="2400" dirty="0" err="1"/>
                  <a:t>these</a:t>
                </a:r>
                <a:r>
                  <a:rPr lang="it-IT" sz="2400" dirty="0"/>
                  <a:t> </a:t>
                </a:r>
                <a:r>
                  <a:rPr lang="it-IT" sz="2400" dirty="0" err="1"/>
                  <a:t>particles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revealed</a:t>
                </a:r>
                <a:r>
                  <a:rPr lang="it-IT" sz="2400" dirty="0"/>
                  <a:t> the </a:t>
                </a:r>
                <a:r>
                  <a:rPr lang="it-IT" sz="2400" dirty="0" err="1"/>
                  <a:t>physical</a:t>
                </a:r>
                <a:r>
                  <a:rPr lang="it-IT" sz="2400" dirty="0"/>
                  <a:t> location of the </a:t>
                </a:r>
                <a:r>
                  <a:rPr lang="it-IT" sz="2400" dirty="0" err="1"/>
                  <a:t>crystal</a:t>
                </a:r>
                <a:r>
                  <a:rPr lang="it-IT" sz="2400" dirty="0"/>
                  <a:t>, matching </a:t>
                </a:r>
                <a:r>
                  <a:rPr lang="it-IT" sz="2400" dirty="0" err="1"/>
                  <a:t>its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expected</a:t>
                </a:r>
                <a:r>
                  <a:rPr lang="it-IT" sz="2400" dirty="0"/>
                  <a:t> </a:t>
                </a:r>
                <a:r>
                  <a:rPr lang="it-IT" sz="2400" dirty="0" err="1"/>
                  <a:t>dimensions</a:t>
                </a:r>
                <a:r>
                  <a:rPr lang="it-IT" sz="2400" dirty="0"/>
                  <a:t> of 2 by 12.8 mm.</a:t>
                </a:r>
              </a:p>
              <a:p>
                <a:r>
                  <a:rPr lang="it-IT" sz="2400" dirty="0"/>
                  <a:t>To </a:t>
                </a:r>
                <a:r>
                  <a:rPr lang="it-IT" sz="2400" dirty="0" err="1"/>
                  <a:t>find</a:t>
                </a:r>
                <a:r>
                  <a:rPr lang="it-IT" sz="2400" dirty="0"/>
                  <a:t> the </a:t>
                </a:r>
                <a:r>
                  <a:rPr lang="it-IT" sz="2400" dirty="0" err="1"/>
                  <a:t>edges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along</a:t>
                </a:r>
                <a:r>
                  <a:rPr lang="it-IT" sz="2400" dirty="0"/>
                  <a:t> </a:t>
                </a:r>
                <a14:m>
                  <m:oMath xmlns:m="http://schemas.openxmlformats.org/officeDocument/2006/math">
                    <m:r>
                      <a:rPr lang="it-IT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it-IT" sz="2400" dirty="0"/>
                  <a:t> (that </a:t>
                </a:r>
                <a:r>
                  <a:rPr lang="it-IT" sz="2400" dirty="0" err="1"/>
                  <a:t>have</a:t>
                </a:r>
                <a:r>
                  <a:rPr lang="it-IT" sz="2400" dirty="0"/>
                  <a:t> an </a:t>
                </a:r>
                <a:r>
                  <a:rPr lang="it-IT" sz="2400" dirty="0" err="1"/>
                  <a:t>asymmetrical</a:t>
                </a:r>
                <a:r>
                  <a:rPr lang="it-IT" sz="2400" dirty="0"/>
                  <a:t> </a:t>
                </a:r>
                <a:r>
                  <a:rPr lang="it-IT" sz="2400" dirty="0" err="1"/>
                  <a:t>distribution</a:t>
                </a:r>
                <a:r>
                  <a:rPr lang="it-IT" sz="2400" dirty="0"/>
                  <a:t>) we </a:t>
                </a:r>
                <a:r>
                  <a:rPr lang="it-IT" sz="2400" dirty="0" err="1"/>
                  <a:t>perform</a:t>
                </a:r>
                <a:r>
                  <a:rPr lang="it-IT" sz="2400" dirty="0"/>
                  <a:t> a «sliding window» </a:t>
                </a:r>
                <a:r>
                  <a:rPr lang="it-IT" sz="2400" dirty="0" err="1"/>
                  <a:t>method</a:t>
                </a:r>
                <a:r>
                  <a:rPr lang="it-IT" sz="2400" dirty="0"/>
                  <a:t> (</a:t>
                </a:r>
                <a:r>
                  <a:rPr lang="it-IT" sz="2400" dirty="0" err="1"/>
                  <a:t>fixed</a:t>
                </a:r>
                <a:r>
                  <a:rPr lang="it-IT" sz="2400" dirty="0"/>
                  <a:t> width &amp; </a:t>
                </a:r>
                <a:r>
                  <a:rPr lang="it-IT" sz="2400" dirty="0" err="1"/>
                  <a:t>precision</a:t>
                </a:r>
                <a:r>
                  <a:rPr lang="it-IT" sz="2400" dirty="0"/>
                  <a:t> of 0.01mm), </a:t>
                </a:r>
                <a:r>
                  <a:rPr lang="it-IT" sz="2400" dirty="0" err="1"/>
                  <a:t>aiming</a:t>
                </a:r>
                <a:r>
                  <a:rPr lang="it-IT" sz="2400" dirty="0"/>
                  <a:t> for the position that </a:t>
                </a:r>
                <a:r>
                  <a:rPr lang="it-IT" sz="2400" dirty="0" err="1"/>
                  <a:t>maximize</a:t>
                </a:r>
                <a:r>
                  <a:rPr lang="it-IT" sz="2400" dirty="0"/>
                  <a:t> the </a:t>
                </a:r>
                <a:r>
                  <a:rPr lang="it-IT" sz="2400" dirty="0" err="1"/>
                  <a:t>number</a:t>
                </a:r>
                <a:r>
                  <a:rPr lang="it-IT" sz="2400" dirty="0"/>
                  <a:t> of </a:t>
                </a:r>
                <a:r>
                  <a:rPr lang="it-IT" sz="2400" dirty="0" err="1"/>
                  <a:t>particles</a:t>
                </a:r>
                <a:r>
                  <a:rPr lang="it-IT" sz="2400" dirty="0"/>
                  <a:t> inside.</a:t>
                </a:r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213B1C5B-6364-2BF9-A14D-96F3D0EA6F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1288"/>
                <a:ext cx="10515600" cy="4776227"/>
              </a:xfrm>
              <a:blipFill>
                <a:blip r:embed="rId4"/>
                <a:stretch>
                  <a:fillRect l="-812" t="-1660" r="-34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84B681B-C0B1-80E0-7387-4B95E29142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9592F47-28AC-BA86-BCC8-F10BEF85C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1031187-543E-B81F-CA1C-DBA0444C8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8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FCF6C941-522B-F4EA-03DB-282BB1038ADA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743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C6166-FE84-CE3F-0649-4905E5866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magine 25">
            <a:extLst>
              <a:ext uri="{FF2B5EF4-FFF2-40B4-BE49-F238E27FC236}">
                <a16:creationId xmlns:a16="http://schemas.microsoft.com/office/drawing/2014/main" id="{677B0D9E-035E-F55D-8D73-D0C24D2CCD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51322" y="3241606"/>
            <a:ext cx="3918560" cy="3420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B0524BDA-A9F5-3129-9FB8-D3236D264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2. PREVIOUS ANALYSIS: CRYSTAL EDGES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65D9949E-736C-0832-8EBF-9F079CFB34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1288"/>
                <a:ext cx="10515600" cy="4776227"/>
              </a:xfrm>
            </p:spPr>
            <p:txBody>
              <a:bodyPr>
                <a:noAutofit/>
              </a:bodyPr>
              <a:lstStyle/>
              <a:p>
                <a:r>
                  <a:rPr lang="it-IT" sz="2400" dirty="0"/>
                  <a:t>The impact points of </a:t>
                </a:r>
                <a:r>
                  <a:rPr lang="it-IT" sz="2400" dirty="0" err="1"/>
                  <a:t>these</a:t>
                </a:r>
                <a:r>
                  <a:rPr lang="it-IT" sz="2400" dirty="0"/>
                  <a:t> </a:t>
                </a:r>
                <a:r>
                  <a:rPr lang="it-IT" sz="2400" dirty="0" err="1"/>
                  <a:t>particles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revealed</a:t>
                </a:r>
                <a:r>
                  <a:rPr lang="it-IT" sz="2400" dirty="0"/>
                  <a:t> the </a:t>
                </a:r>
                <a:r>
                  <a:rPr lang="it-IT" sz="2400" dirty="0" err="1"/>
                  <a:t>physical</a:t>
                </a:r>
                <a:r>
                  <a:rPr lang="it-IT" sz="2400" dirty="0"/>
                  <a:t> location of the </a:t>
                </a:r>
                <a:r>
                  <a:rPr lang="it-IT" sz="2400" dirty="0" err="1"/>
                  <a:t>crystal</a:t>
                </a:r>
                <a:r>
                  <a:rPr lang="it-IT" sz="2400" dirty="0"/>
                  <a:t>, matching </a:t>
                </a:r>
                <a:r>
                  <a:rPr lang="it-IT" sz="2400" dirty="0" err="1"/>
                  <a:t>its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expected</a:t>
                </a:r>
                <a:r>
                  <a:rPr lang="it-IT" sz="2400" dirty="0"/>
                  <a:t> </a:t>
                </a:r>
                <a:r>
                  <a:rPr lang="it-IT" sz="2400" dirty="0" err="1"/>
                  <a:t>dimensions</a:t>
                </a:r>
                <a:r>
                  <a:rPr lang="it-IT" sz="2400" dirty="0"/>
                  <a:t> of 2 by 12.8 mm.</a:t>
                </a:r>
              </a:p>
              <a:p>
                <a:r>
                  <a:rPr lang="it-IT" sz="2400" dirty="0"/>
                  <a:t>To </a:t>
                </a:r>
                <a:r>
                  <a:rPr lang="it-IT" sz="2400" dirty="0" err="1"/>
                  <a:t>find</a:t>
                </a:r>
                <a:r>
                  <a:rPr lang="it-IT" sz="2400" dirty="0"/>
                  <a:t> the </a:t>
                </a:r>
                <a:r>
                  <a:rPr lang="it-IT" sz="2400" dirty="0" err="1"/>
                  <a:t>edges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along</a:t>
                </a:r>
                <a:r>
                  <a:rPr lang="it-IT" sz="2400" dirty="0"/>
                  <a:t> </a:t>
                </a:r>
                <a14:m>
                  <m:oMath xmlns:m="http://schemas.openxmlformats.org/officeDocument/2006/math">
                    <m:r>
                      <a:rPr lang="it-IT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it-IT" sz="2400" dirty="0"/>
                  <a:t> (that </a:t>
                </a:r>
                <a:r>
                  <a:rPr lang="it-IT" sz="2400" dirty="0" err="1"/>
                  <a:t>have</a:t>
                </a:r>
                <a:r>
                  <a:rPr lang="it-IT" sz="2400" dirty="0"/>
                  <a:t> an </a:t>
                </a:r>
                <a:r>
                  <a:rPr lang="it-IT" sz="2400" dirty="0" err="1"/>
                  <a:t>asymmetrical</a:t>
                </a:r>
                <a:r>
                  <a:rPr lang="it-IT" sz="2400" dirty="0"/>
                  <a:t> </a:t>
                </a:r>
                <a:r>
                  <a:rPr lang="it-IT" sz="2400" dirty="0" err="1"/>
                  <a:t>distribution</a:t>
                </a:r>
                <a:r>
                  <a:rPr lang="it-IT" sz="2400" dirty="0"/>
                  <a:t>) we </a:t>
                </a:r>
                <a:r>
                  <a:rPr lang="it-IT" sz="2400" dirty="0" err="1"/>
                  <a:t>perform</a:t>
                </a:r>
                <a:r>
                  <a:rPr lang="it-IT" sz="2400" dirty="0"/>
                  <a:t> a «sliding window» </a:t>
                </a:r>
                <a:r>
                  <a:rPr lang="it-IT" sz="2400" dirty="0" err="1"/>
                  <a:t>method</a:t>
                </a:r>
                <a:r>
                  <a:rPr lang="it-IT" sz="2400" dirty="0"/>
                  <a:t> (</a:t>
                </a:r>
                <a:r>
                  <a:rPr lang="it-IT" sz="2400" dirty="0" err="1"/>
                  <a:t>fixed</a:t>
                </a:r>
                <a:r>
                  <a:rPr lang="it-IT" sz="2400" dirty="0"/>
                  <a:t> width &amp; </a:t>
                </a:r>
                <a:r>
                  <a:rPr lang="it-IT" sz="2400" dirty="0" err="1"/>
                  <a:t>precision</a:t>
                </a:r>
                <a:r>
                  <a:rPr lang="it-IT" sz="2400" dirty="0"/>
                  <a:t> of 0.01mm), </a:t>
                </a:r>
                <a:r>
                  <a:rPr lang="it-IT" sz="2400" dirty="0" err="1"/>
                  <a:t>aiming</a:t>
                </a:r>
                <a:r>
                  <a:rPr lang="it-IT" sz="2400" dirty="0"/>
                  <a:t> for the position that </a:t>
                </a:r>
                <a:r>
                  <a:rPr lang="it-IT" sz="2400" dirty="0" err="1"/>
                  <a:t>maximize</a:t>
                </a:r>
                <a:r>
                  <a:rPr lang="it-IT" sz="2400" dirty="0"/>
                  <a:t> the </a:t>
                </a:r>
                <a:r>
                  <a:rPr lang="it-IT" sz="2400" dirty="0" err="1"/>
                  <a:t>number</a:t>
                </a:r>
                <a:r>
                  <a:rPr lang="it-IT" sz="2400" dirty="0"/>
                  <a:t> of </a:t>
                </a:r>
                <a:r>
                  <a:rPr lang="it-IT" sz="2400" dirty="0" err="1"/>
                  <a:t>particles</a:t>
                </a:r>
                <a:r>
                  <a:rPr lang="it-IT" sz="2400" dirty="0"/>
                  <a:t> inside.</a:t>
                </a:r>
              </a:p>
              <a:p>
                <a:r>
                  <a:rPr lang="it-IT" sz="2400" dirty="0"/>
                  <a:t>The </a:t>
                </a:r>
                <a:r>
                  <a:rPr lang="it-IT" sz="2400" dirty="0" err="1"/>
                  <a:t>method</a:t>
                </a:r>
                <a:r>
                  <a:rPr lang="it-IT" sz="2400" dirty="0"/>
                  <a:t> was </a:t>
                </a:r>
                <a:r>
                  <a:rPr lang="it-IT" sz="2400" dirty="0" err="1"/>
                  <a:t>performed</a:t>
                </a:r>
                <a:r>
                  <a:rPr lang="it-IT" sz="2400" dirty="0"/>
                  <a:t> on the 				           </a:t>
                </a:r>
                <a:r>
                  <a:rPr lang="it-IT" sz="2400" dirty="0" err="1"/>
                  <a:t>dowstream</a:t>
                </a:r>
                <a:r>
                  <a:rPr lang="it-IT" sz="2400" dirty="0"/>
                  <a:t> </a:t>
                </a:r>
                <a:r>
                  <a:rPr lang="it-IT" sz="2400" dirty="0" err="1"/>
                  <a:t>particles</a:t>
                </a:r>
                <a:r>
                  <a:rPr lang="it-IT" sz="2400" dirty="0"/>
                  <a:t>, </a:t>
                </a:r>
                <a:r>
                  <a:rPr lang="it-IT" sz="2400" dirty="0" err="1"/>
                  <a:t>since</a:t>
                </a:r>
                <a:r>
                  <a:rPr lang="it-IT" sz="2400" dirty="0"/>
                  <a:t> </a:t>
                </a:r>
                <a:r>
                  <a:rPr lang="it-IT" sz="2400" dirty="0" err="1"/>
                  <a:t>they</a:t>
                </a:r>
                <a:r>
                  <a:rPr lang="it-IT" sz="2400" dirty="0"/>
                  <a:t> show 					         more </a:t>
                </a:r>
                <a:r>
                  <a:rPr lang="it-IT" sz="2400" dirty="0" err="1"/>
                  <a:t>defined</a:t>
                </a:r>
                <a:r>
                  <a:rPr lang="it-IT" sz="2400" dirty="0"/>
                  <a:t> </a:t>
                </a:r>
                <a:r>
                  <a:rPr lang="it-IT" sz="2400" dirty="0" err="1"/>
                  <a:t>edges</a:t>
                </a:r>
                <a:r>
                  <a:rPr lang="it-IT" sz="2400" dirty="0"/>
                  <a:t>.</a:t>
                </a:r>
              </a:p>
              <a:p>
                <a:pPr marL="0" indent="0">
                  <a:buNone/>
                </a:pPr>
                <a:endParaRPr lang="it-IT" sz="2400" dirty="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65D9949E-736C-0832-8EBF-9F079CFB34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1288"/>
                <a:ext cx="10515600" cy="4776227"/>
              </a:xfrm>
              <a:blipFill>
                <a:blip r:embed="rId3"/>
                <a:stretch>
                  <a:fillRect l="-812" t="-1660" r="-34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6F3708B-B74A-74C3-49C4-D47F5DCA24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F497987-DFD4-E644-4DD8-60504FFA6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6E13CF2-BC13-751B-CA26-A5E740D35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9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718F4508-C177-0D85-4A4C-1321EA43B6B6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ttangolo 8">
            <a:extLst>
              <a:ext uri="{FF2B5EF4-FFF2-40B4-BE49-F238E27FC236}">
                <a16:creationId xmlns:a16="http://schemas.microsoft.com/office/drawing/2014/main" id="{2E43FB0E-7D20-8032-1D71-D2711D3BD285}"/>
              </a:ext>
            </a:extLst>
          </p:cNvPr>
          <p:cNvSpPr/>
          <p:nvPr/>
        </p:nvSpPr>
        <p:spPr>
          <a:xfrm>
            <a:off x="7359920" y="4792136"/>
            <a:ext cx="810072" cy="13419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253F37C6-E636-81DA-4537-B44ED5F9D761}"/>
              </a:ext>
            </a:extLst>
          </p:cNvPr>
          <p:cNvCxnSpPr>
            <a:cxnSpLocks/>
          </p:cNvCxnSpPr>
          <p:nvPr/>
        </p:nvCxnSpPr>
        <p:spPr>
          <a:xfrm>
            <a:off x="7359920" y="3440113"/>
            <a:ext cx="0" cy="1038225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diritto 16">
            <a:extLst>
              <a:ext uri="{FF2B5EF4-FFF2-40B4-BE49-F238E27FC236}">
                <a16:creationId xmlns:a16="http://schemas.microsoft.com/office/drawing/2014/main" id="{01308BBB-2F02-586A-9BDF-DA3ABB293EB1}"/>
              </a:ext>
            </a:extLst>
          </p:cNvPr>
          <p:cNvCxnSpPr>
            <a:cxnSpLocks/>
          </p:cNvCxnSpPr>
          <p:nvPr/>
        </p:nvCxnSpPr>
        <p:spPr>
          <a:xfrm>
            <a:off x="8169992" y="3440113"/>
            <a:ext cx="0" cy="1038225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9CD8AB4A-3551-93F4-7F51-A01117EC332F}"/>
              </a:ext>
            </a:extLst>
          </p:cNvPr>
          <p:cNvCxnSpPr>
            <a:cxnSpLocks/>
          </p:cNvCxnSpPr>
          <p:nvPr/>
        </p:nvCxnSpPr>
        <p:spPr>
          <a:xfrm flipH="1">
            <a:off x="9164637" y="4792136"/>
            <a:ext cx="1203325" cy="0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diritto 23">
            <a:extLst>
              <a:ext uri="{FF2B5EF4-FFF2-40B4-BE49-F238E27FC236}">
                <a16:creationId xmlns:a16="http://schemas.microsoft.com/office/drawing/2014/main" id="{CAD7CDBF-935C-69DD-5E6C-9114FEFA1CC5}"/>
              </a:ext>
            </a:extLst>
          </p:cNvPr>
          <p:cNvCxnSpPr>
            <a:cxnSpLocks/>
          </p:cNvCxnSpPr>
          <p:nvPr/>
        </p:nvCxnSpPr>
        <p:spPr>
          <a:xfrm flipH="1">
            <a:off x="9164637" y="6134098"/>
            <a:ext cx="1203325" cy="0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6113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E89F9-D1FA-1576-64FD-A2EB689BC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magine 25">
            <a:extLst>
              <a:ext uri="{FF2B5EF4-FFF2-40B4-BE49-F238E27FC236}">
                <a16:creationId xmlns:a16="http://schemas.microsoft.com/office/drawing/2014/main" id="{8E94EB5A-4F43-6CBD-4C92-4CA9F1757A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51267" y="3242140"/>
            <a:ext cx="3918670" cy="3418932"/>
          </a:xfrm>
          <a:prstGeom prst="rect">
            <a:avLst/>
          </a:prstGeom>
        </p:spPr>
      </p:pic>
      <p:pic>
        <p:nvPicPr>
          <p:cNvPr id="28" name="Segnaposto contenuto 13">
            <a:extLst>
              <a:ext uri="{FF2B5EF4-FFF2-40B4-BE49-F238E27FC236}">
                <a16:creationId xmlns:a16="http://schemas.microsoft.com/office/drawing/2014/main" id="{F000813B-5FBF-D20E-DACE-03AC95F539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2066" y="3242885"/>
            <a:ext cx="3918667" cy="3417441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B4565F3B-3ED1-0D04-5BA8-550046893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2. PREVIOUS ANALYSIS: CRYSTAL EDGES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72EEC9D3-1E73-78F7-9E6A-5F7C3C212E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1288"/>
                <a:ext cx="10515600" cy="4776227"/>
              </a:xfrm>
            </p:spPr>
            <p:txBody>
              <a:bodyPr>
                <a:noAutofit/>
              </a:bodyPr>
              <a:lstStyle/>
              <a:p>
                <a:r>
                  <a:rPr lang="it-IT" sz="2400" dirty="0"/>
                  <a:t>To </a:t>
                </a:r>
                <a:r>
                  <a:rPr lang="it-IT" sz="2400" dirty="0" err="1"/>
                  <a:t>define</a:t>
                </a:r>
                <a:r>
                  <a:rPr lang="it-IT" sz="2400" dirty="0"/>
                  <a:t> the </a:t>
                </a:r>
                <a:r>
                  <a:rPr lang="it-IT" sz="2400" dirty="0" err="1"/>
                  <a:t>true</a:t>
                </a:r>
                <a:r>
                  <a:rPr lang="it-IT" sz="2400" dirty="0"/>
                  <a:t> footprint </a:t>
                </a:r>
                <a:r>
                  <a:rPr lang="it-IT" sz="2400" dirty="0" err="1"/>
                  <a:t>at</a:t>
                </a:r>
                <a:r>
                  <a:rPr lang="it-IT" sz="2400" dirty="0"/>
                  <a:t> the </a:t>
                </a:r>
                <a:r>
                  <a:rPr lang="it-IT" sz="2400" dirty="0" err="1"/>
                  <a:t>entrance</a:t>
                </a:r>
                <a:r>
                  <a:rPr lang="it-IT" sz="2400" dirty="0"/>
                  <a:t> face we must project the downstream </a:t>
                </a:r>
                <a:r>
                  <a:rPr lang="it-IT" sz="2400" dirty="0" err="1"/>
                  <a:t>edges</a:t>
                </a:r>
                <a:r>
                  <a:rPr lang="it-IT" sz="2400" dirty="0"/>
                  <a:t> back upstream.</a:t>
                </a:r>
              </a:p>
              <a:p>
                <a:r>
                  <a:rPr lang="it-IT" sz="2400" dirty="0"/>
                  <a:t>We </a:t>
                </a:r>
                <a:r>
                  <a:rPr lang="it-IT" sz="2400" dirty="0" err="1"/>
                  <a:t>need</a:t>
                </a:r>
                <a:r>
                  <a:rPr lang="it-IT" sz="2400" dirty="0"/>
                  <a:t> to </a:t>
                </a:r>
                <a:r>
                  <a:rPr lang="it-IT" sz="2400" dirty="0" err="1"/>
                  <a:t>subtract</a:t>
                </a:r>
                <a:r>
                  <a:rPr lang="it-IT" sz="2400" dirty="0"/>
                  <a:t> a shift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it-IT" sz="2400" dirty="0"/>
                  <a:t> from the downstream </a:t>
                </a:r>
                <a:r>
                  <a:rPr lang="it-IT" sz="2400" dirty="0" err="1"/>
                  <a:t>edge</a:t>
                </a:r>
                <a:r>
                  <a:rPr lang="it-IT" sz="2400" dirty="0"/>
                  <a:t> position.</a:t>
                </a:r>
              </a:p>
              <a:p>
                <a:r>
                  <a:rPr lang="it-IT" sz="2400" dirty="0" err="1"/>
                  <a:t>Channeled</a:t>
                </a:r>
                <a:r>
                  <a:rPr lang="it-IT" sz="2400" dirty="0"/>
                  <a:t> </a:t>
                </a:r>
                <a:r>
                  <a:rPr lang="it-IT" sz="2400" dirty="0" err="1"/>
                  <a:t>particles</a:t>
                </a:r>
                <a:r>
                  <a:rPr lang="it-IT" sz="2400" dirty="0"/>
                  <a:t> follow the </a:t>
                </a:r>
                <a:r>
                  <a:rPr lang="it-IT" sz="2400" dirty="0" err="1"/>
                  <a:t>bent</a:t>
                </a:r>
                <a:r>
                  <a:rPr lang="it-IT" sz="2400" dirty="0"/>
                  <a:t> lattice </a:t>
                </a:r>
                <a:r>
                  <a:rPr lang="it-IT" sz="2400" dirty="0" err="1"/>
                  <a:t>planes</a:t>
                </a:r>
                <a:r>
                  <a:rPr lang="it-IT" sz="2400" dirty="0"/>
                  <a:t>, </a:t>
                </a:r>
                <a:r>
                  <a:rPr lang="it-IT" sz="2400" dirty="0" err="1"/>
                  <a:t>resulting</a:t>
                </a:r>
                <a:r>
                  <a:rPr lang="it-IT" sz="2400" dirty="0"/>
                  <a:t> in a </a:t>
                </a:r>
                <a:r>
                  <a:rPr lang="it-IT" sz="2400" dirty="0" err="1"/>
                  <a:t>lateral</a:t>
                </a:r>
                <a:r>
                  <a:rPr lang="it-IT" sz="2400" dirty="0"/>
                  <a:t> </a:t>
                </a:r>
                <a:r>
                  <a:rPr lang="it-IT" sz="2400" dirty="0" err="1"/>
                  <a:t>geometric</a:t>
                </a:r>
                <a:r>
                  <a:rPr lang="it-IT" sz="2400" dirty="0"/>
                  <a:t> drift </a:t>
                </a:r>
                <a:r>
                  <a:rPr lang="it-IT" sz="2400" dirty="0" err="1"/>
                  <a:t>along</a:t>
                </a:r>
                <a:r>
                  <a:rPr lang="it-IT" sz="2400" dirty="0"/>
                  <a:t> the </a:t>
                </a:r>
                <a14:m>
                  <m:oMath xmlns:m="http://schemas.openxmlformats.org/officeDocument/2006/math">
                    <m:r>
                      <a:rPr lang="it-IT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it-IT" sz="2400" dirty="0"/>
                  <a:t>-</a:t>
                </a:r>
                <a:r>
                  <a:rPr lang="it-IT" sz="2400" dirty="0" err="1"/>
                  <a:t>axis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as</a:t>
                </a:r>
                <a:r>
                  <a:rPr lang="it-IT" sz="2400" dirty="0"/>
                  <a:t> </a:t>
                </a:r>
                <a:r>
                  <a:rPr lang="it-IT" sz="2400" dirty="0" err="1"/>
                  <a:t>they</a:t>
                </a:r>
                <a:r>
                  <a:rPr lang="it-IT" sz="2400" dirty="0"/>
                  <a:t> traverse the </a:t>
                </a:r>
                <a:r>
                  <a:rPr lang="it-IT" sz="2400" dirty="0" err="1"/>
                  <a:t>crystal</a:t>
                </a:r>
                <a:r>
                  <a:rPr lang="it-IT" sz="2400" dirty="0"/>
                  <a:t>.</a:t>
                </a:r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72EEC9D3-1E73-78F7-9E6A-5F7C3C212E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1288"/>
                <a:ext cx="10515600" cy="4776227"/>
              </a:xfrm>
              <a:blipFill>
                <a:blip r:embed="rId5"/>
                <a:stretch>
                  <a:fillRect l="-812" t="-166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8817D2-0A9B-0FAF-36DE-4A11DA6A53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68EBD17-4982-87E2-3CDB-90B5380C2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107B5E3-3B9D-1082-353B-3394C8D10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10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CC47FAF3-C921-892C-9CA4-BE050B1D5E9B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ttangolo 6">
            <a:extLst>
              <a:ext uri="{FF2B5EF4-FFF2-40B4-BE49-F238E27FC236}">
                <a16:creationId xmlns:a16="http://schemas.microsoft.com/office/drawing/2014/main" id="{0188A4B1-7E67-D966-06CE-BDB22631CF37}"/>
              </a:ext>
            </a:extLst>
          </p:cNvPr>
          <p:cNvSpPr/>
          <p:nvPr/>
        </p:nvSpPr>
        <p:spPr>
          <a:xfrm>
            <a:off x="2235201" y="4792137"/>
            <a:ext cx="815636" cy="13419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FE88FD1A-5454-5AA8-1606-1C9938301A25}"/>
              </a:ext>
            </a:extLst>
          </p:cNvPr>
          <p:cNvCxnSpPr>
            <a:cxnSpLocks/>
          </p:cNvCxnSpPr>
          <p:nvPr/>
        </p:nvCxnSpPr>
        <p:spPr>
          <a:xfrm>
            <a:off x="2245785" y="3429000"/>
            <a:ext cx="0" cy="1038225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AE15623F-17A3-2E34-83DC-B4A12FAAEE97}"/>
              </a:ext>
            </a:extLst>
          </p:cNvPr>
          <p:cNvCxnSpPr>
            <a:cxnSpLocks/>
          </p:cNvCxnSpPr>
          <p:nvPr/>
        </p:nvCxnSpPr>
        <p:spPr>
          <a:xfrm>
            <a:off x="3057187" y="3440113"/>
            <a:ext cx="0" cy="1038225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diritto 17">
            <a:extLst>
              <a:ext uri="{FF2B5EF4-FFF2-40B4-BE49-F238E27FC236}">
                <a16:creationId xmlns:a16="http://schemas.microsoft.com/office/drawing/2014/main" id="{E1A732FF-C639-A178-1422-EF6F95A240D8}"/>
              </a:ext>
            </a:extLst>
          </p:cNvPr>
          <p:cNvCxnSpPr>
            <a:cxnSpLocks/>
          </p:cNvCxnSpPr>
          <p:nvPr/>
        </p:nvCxnSpPr>
        <p:spPr>
          <a:xfrm flipH="1">
            <a:off x="4138613" y="4792136"/>
            <a:ext cx="1203325" cy="0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F694E3CB-E4C0-FA0D-7F1C-B294C58F5FD2}"/>
              </a:ext>
            </a:extLst>
          </p:cNvPr>
          <p:cNvCxnSpPr>
            <a:cxnSpLocks/>
          </p:cNvCxnSpPr>
          <p:nvPr/>
        </p:nvCxnSpPr>
        <p:spPr>
          <a:xfrm flipH="1">
            <a:off x="4138613" y="6134098"/>
            <a:ext cx="1203325" cy="0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ttangolo 10">
            <a:extLst>
              <a:ext uri="{FF2B5EF4-FFF2-40B4-BE49-F238E27FC236}">
                <a16:creationId xmlns:a16="http://schemas.microsoft.com/office/drawing/2014/main" id="{4C842739-3CDC-C45E-E714-D97D9BED5D0F}"/>
              </a:ext>
            </a:extLst>
          </p:cNvPr>
          <p:cNvSpPr/>
          <p:nvPr/>
        </p:nvSpPr>
        <p:spPr>
          <a:xfrm>
            <a:off x="7266789" y="4792137"/>
            <a:ext cx="810071" cy="1341962"/>
          </a:xfrm>
          <a:prstGeom prst="rect">
            <a:avLst/>
          </a:prstGeom>
          <a:noFill/>
          <a:ln w="28575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ttangolo con angoli arrotondati 12">
                <a:extLst>
                  <a:ext uri="{FF2B5EF4-FFF2-40B4-BE49-F238E27FC236}">
                    <a16:creationId xmlns:a16="http://schemas.microsoft.com/office/drawing/2014/main" id="{80D6D794-BEF0-5EB5-B731-DADE666780B1}"/>
                  </a:ext>
                </a:extLst>
              </p:cNvPr>
              <p:cNvSpPr/>
              <p:nvPr/>
            </p:nvSpPr>
            <p:spPr>
              <a:xfrm>
                <a:off x="9164638" y="3332747"/>
                <a:ext cx="2331362" cy="1134475"/>
              </a:xfrm>
              <a:prstGeom prst="roundRect">
                <a:avLst/>
              </a:prstGeom>
              <a:noFill/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it-IT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it-IT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it-IT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it-IT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it-IT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it-IT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∼0.22 </m:t>
                      </m:r>
                      <m:r>
                        <m:rPr>
                          <m:sty m:val="p"/>
                        </m:rPr>
                        <a:rPr lang="it-IT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mm</m:t>
                      </m:r>
                    </m:oMath>
                  </m:oMathPara>
                </a14:m>
                <a:endParaRPr lang="it-IT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ttangolo con angoli arrotondati 12">
                <a:extLst>
                  <a:ext uri="{FF2B5EF4-FFF2-40B4-BE49-F238E27FC236}">
                    <a16:creationId xmlns:a16="http://schemas.microsoft.com/office/drawing/2014/main" id="{80D6D794-BEF0-5EB5-B731-DADE666780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4638" y="3332747"/>
                <a:ext cx="2331362" cy="113447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ttangolo 13">
            <a:extLst>
              <a:ext uri="{FF2B5EF4-FFF2-40B4-BE49-F238E27FC236}">
                <a16:creationId xmlns:a16="http://schemas.microsoft.com/office/drawing/2014/main" id="{F66C269B-AD02-FB23-A310-25CFF046CF84}"/>
              </a:ext>
            </a:extLst>
          </p:cNvPr>
          <p:cNvSpPr/>
          <p:nvPr/>
        </p:nvSpPr>
        <p:spPr>
          <a:xfrm>
            <a:off x="7359920" y="4792136"/>
            <a:ext cx="810072" cy="13419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CF40EFBB-9592-14FD-FD6F-31C44D6F346A}"/>
              </a:ext>
            </a:extLst>
          </p:cNvPr>
          <p:cNvCxnSpPr>
            <a:cxnSpLocks/>
          </p:cNvCxnSpPr>
          <p:nvPr/>
        </p:nvCxnSpPr>
        <p:spPr>
          <a:xfrm>
            <a:off x="7359920" y="3440113"/>
            <a:ext cx="0" cy="1038225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diritto 19">
            <a:extLst>
              <a:ext uri="{FF2B5EF4-FFF2-40B4-BE49-F238E27FC236}">
                <a16:creationId xmlns:a16="http://schemas.microsoft.com/office/drawing/2014/main" id="{C97A30C5-F6A4-B200-3F6A-B463F6AC4C02}"/>
              </a:ext>
            </a:extLst>
          </p:cNvPr>
          <p:cNvCxnSpPr>
            <a:cxnSpLocks/>
          </p:cNvCxnSpPr>
          <p:nvPr/>
        </p:nvCxnSpPr>
        <p:spPr>
          <a:xfrm>
            <a:off x="8169992" y="3440113"/>
            <a:ext cx="0" cy="1038225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diritto 20">
            <a:extLst>
              <a:ext uri="{FF2B5EF4-FFF2-40B4-BE49-F238E27FC236}">
                <a16:creationId xmlns:a16="http://schemas.microsoft.com/office/drawing/2014/main" id="{7DD34DDB-64B3-960E-FD00-1EC88B81EB0E}"/>
              </a:ext>
            </a:extLst>
          </p:cNvPr>
          <p:cNvCxnSpPr>
            <a:cxnSpLocks/>
          </p:cNvCxnSpPr>
          <p:nvPr/>
        </p:nvCxnSpPr>
        <p:spPr>
          <a:xfrm flipH="1">
            <a:off x="9164637" y="6134098"/>
            <a:ext cx="1203325" cy="0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diritto 24">
            <a:extLst>
              <a:ext uri="{FF2B5EF4-FFF2-40B4-BE49-F238E27FC236}">
                <a16:creationId xmlns:a16="http://schemas.microsoft.com/office/drawing/2014/main" id="{666D2C75-53F9-9B27-CD77-AA750A933C68}"/>
              </a:ext>
            </a:extLst>
          </p:cNvPr>
          <p:cNvCxnSpPr>
            <a:cxnSpLocks/>
          </p:cNvCxnSpPr>
          <p:nvPr/>
        </p:nvCxnSpPr>
        <p:spPr>
          <a:xfrm flipH="1">
            <a:off x="9164637" y="4792136"/>
            <a:ext cx="1203325" cy="0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2937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76D01-217C-59DD-756C-C159F3DD3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36224C-472C-0BFC-A1A7-3DC5DCDAA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3. ANALYSIS: TORSION EFFECT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36D42AD-3DE8-BB3A-DB3E-573D0B4E7A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1288"/>
                <a:ext cx="10515600" cy="477622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it-IT" sz="2600" i="1" dirty="0" err="1"/>
                  <a:t>Torsion</a:t>
                </a:r>
                <a:r>
                  <a:rPr lang="it-IT" sz="2600" i="1" dirty="0"/>
                  <a:t> </a:t>
                </a:r>
                <a:r>
                  <a:rPr lang="it-IT" sz="2600" i="1" dirty="0" err="1"/>
                  <a:t>effect</a:t>
                </a:r>
                <a:r>
                  <a:rPr lang="it-IT" sz="2600" i="1" dirty="0"/>
                  <a:t>:</a:t>
                </a:r>
                <a:r>
                  <a:rPr lang="it-IT" sz="2600" dirty="0"/>
                  <a:t> in long </a:t>
                </a:r>
                <a:r>
                  <a:rPr lang="it-IT" sz="2600" dirty="0" err="1"/>
                  <a:t>crystals</a:t>
                </a:r>
                <a:r>
                  <a:rPr lang="it-IT" sz="2600" dirty="0"/>
                  <a:t> (&gt;1 cm), </a:t>
                </a:r>
                <a:r>
                  <a:rPr lang="it-IT" sz="2600" dirty="0" err="1"/>
                  <a:t>structural</a:t>
                </a:r>
                <a:r>
                  <a:rPr lang="it-IT" sz="2600" dirty="0"/>
                  <a:t> </a:t>
                </a:r>
                <a:r>
                  <a:rPr lang="it-IT" sz="2600" dirty="0" err="1"/>
                  <a:t>torsion</a:t>
                </a:r>
                <a:r>
                  <a:rPr lang="it-IT" sz="2600" dirty="0"/>
                  <a:t> </a:t>
                </a:r>
                <a:r>
                  <a:rPr lang="it-IT" sz="2600" dirty="0" err="1"/>
                  <a:t>is</a:t>
                </a:r>
                <a:r>
                  <a:rPr lang="it-IT" sz="2600" dirty="0"/>
                  <a:t> non-</a:t>
                </a:r>
                <a:r>
                  <a:rPr lang="it-IT" sz="2600" dirty="0" err="1"/>
                  <a:t>negligible</a:t>
                </a:r>
                <a:r>
                  <a:rPr lang="it-IT" sz="2600" dirty="0"/>
                  <a:t> and </a:t>
                </a:r>
                <a:r>
                  <a:rPr lang="en-US" sz="2600" dirty="0"/>
                  <a:t>must be incorporated into the analysis.</a:t>
                </a:r>
              </a:p>
              <a:p>
                <a:pPr marL="0" indent="0">
                  <a:buNone/>
                </a:pPr>
                <a:endParaRPr lang="en-US" sz="2600" dirty="0"/>
              </a:p>
              <a:p>
                <a:r>
                  <a:rPr lang="it-IT" sz="2600" dirty="0"/>
                  <a:t>The </a:t>
                </a:r>
                <a:r>
                  <a:rPr lang="it-IT" sz="2600" dirty="0" err="1"/>
                  <a:t>different</a:t>
                </a:r>
                <a:r>
                  <a:rPr lang="it-IT" sz="2600" dirty="0"/>
                  <a:t> </a:t>
                </a:r>
                <a:r>
                  <a:rPr lang="it-IT" sz="2600" dirty="0" err="1"/>
                  <a:t>orientations</a:t>
                </a:r>
                <a:r>
                  <a:rPr lang="it-IT" sz="2600" dirty="0"/>
                  <a:t> of the </a:t>
                </a:r>
                <a:r>
                  <a:rPr lang="it-IT" sz="2600" dirty="0" err="1"/>
                  <a:t>crystallographic</a:t>
                </a:r>
                <a:r>
                  <a:rPr lang="it-IT" sz="2600" dirty="0"/>
                  <a:t> </a:t>
                </a:r>
                <a:r>
                  <a:rPr lang="it-IT" sz="2600" dirty="0" err="1"/>
                  <a:t>planes</a:t>
                </a:r>
                <a:r>
                  <a:rPr lang="it-IT" sz="2600" dirty="0"/>
                  <a:t> </a:t>
                </a:r>
                <a:r>
                  <a:rPr lang="it-IT" sz="2600" dirty="0" err="1"/>
                  <a:t>along</a:t>
                </a:r>
                <a:r>
                  <a:rPr lang="it-IT" sz="2600" dirty="0"/>
                  <a:t> the </a:t>
                </a:r>
                <a:r>
                  <a:rPr lang="it-IT" sz="2600" dirty="0" err="1"/>
                  <a:t>crystal</a:t>
                </a:r>
                <a:r>
                  <a:rPr lang="it-IT" sz="2600" dirty="0"/>
                  <a:t> front </a:t>
                </a:r>
                <a:r>
                  <a:rPr lang="it-IT" sz="2600" dirty="0" err="1"/>
                  <a:t>surface</a:t>
                </a:r>
                <a:r>
                  <a:rPr lang="it-IT" sz="2600" dirty="0"/>
                  <a:t> </a:t>
                </a:r>
                <a:r>
                  <a:rPr lang="it-IT" sz="2600" dirty="0" err="1"/>
                  <a:t>influence</a:t>
                </a:r>
                <a:r>
                  <a:rPr lang="it-IT" sz="2600" dirty="0"/>
                  <a:t> the </a:t>
                </a:r>
                <a:r>
                  <a:rPr lang="it-IT" sz="2600" dirty="0" err="1"/>
                  <a:t>angular</a:t>
                </a:r>
                <a:r>
                  <a:rPr lang="it-IT" sz="2600" dirty="0"/>
                  <a:t> range in </a:t>
                </a:r>
                <a:r>
                  <a:rPr lang="it-IT" sz="2600" dirty="0" err="1"/>
                  <a:t>which</a:t>
                </a:r>
                <a:r>
                  <a:rPr lang="it-IT" sz="2600" dirty="0"/>
                  <a:t> </a:t>
                </a:r>
                <a:r>
                  <a:rPr lang="it-IT" sz="2600" dirty="0" err="1"/>
                  <a:t>particles</a:t>
                </a:r>
                <a:r>
                  <a:rPr lang="it-IT" sz="2600" dirty="0"/>
                  <a:t> can be </a:t>
                </a:r>
                <a:r>
                  <a:rPr lang="it-IT" sz="2600" dirty="0" err="1"/>
                  <a:t>channelled</a:t>
                </a:r>
                <a:r>
                  <a:rPr lang="it-IT" sz="2600" dirty="0"/>
                  <a:t>.</a:t>
                </a:r>
              </a:p>
              <a:p>
                <a:r>
                  <a:rPr lang="it-IT" sz="2600" dirty="0" err="1"/>
                  <a:t>Before</a:t>
                </a:r>
                <a:r>
                  <a:rPr lang="it-IT" sz="2600" dirty="0"/>
                  <a:t> </a:t>
                </a:r>
                <a:r>
                  <a:rPr lang="it-IT" sz="2600" dirty="0" err="1"/>
                  <a:t>selecting</a:t>
                </a:r>
                <a:r>
                  <a:rPr lang="it-IT" sz="2600" dirty="0"/>
                  <a:t> the </a:t>
                </a:r>
                <a:r>
                  <a:rPr lang="it-IT" sz="2600" dirty="0" err="1"/>
                  <a:t>particles</a:t>
                </a:r>
                <a:r>
                  <a:rPr lang="it-IT" sz="2600" dirty="0"/>
                  <a:t> that </a:t>
                </a:r>
                <a:r>
                  <a:rPr lang="it-IT" sz="2600" dirty="0" err="1"/>
                  <a:t>have</a:t>
                </a:r>
                <a:r>
                  <a:rPr lang="it-IT" sz="2600" dirty="0"/>
                  <a:t> </a:t>
                </a:r>
                <a:r>
                  <a:rPr lang="it-IT" sz="2600" dirty="0" err="1"/>
                  <a:t>entered</a:t>
                </a:r>
                <a:r>
                  <a:rPr lang="it-IT" sz="2600" dirty="0"/>
                  <a:t> with the right angle (</a:t>
                </a:r>
                <a:r>
                  <a:rPr lang="it-IT" sz="2600" dirty="0" err="1"/>
                  <a:t>within</a:t>
                </a:r>
                <a:r>
                  <a:rPr lang="it-IT" sz="2600" dirty="0"/>
                  <a:t> </a:t>
                </a:r>
                <a14:m>
                  <m:oMath xmlns:m="http://schemas.openxmlformats.org/officeDocument/2006/math">
                    <m:r>
                      <a:rPr lang="it-IT" sz="2600" i="1"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ctrlPr>
                          <a:rPr lang="it-IT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2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sz="26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it-IT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sz="26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it-IT" sz="2600" dirty="0"/>
                  <a:t>) we </a:t>
                </a:r>
                <a:r>
                  <a:rPr lang="it-IT" sz="2600" dirty="0" err="1"/>
                  <a:t>need</a:t>
                </a:r>
                <a:r>
                  <a:rPr lang="it-IT" sz="2600" dirty="0"/>
                  <a:t> to </a:t>
                </a:r>
                <a:r>
                  <a:rPr lang="it-IT" sz="2600" dirty="0" err="1"/>
                  <a:t>apply</a:t>
                </a:r>
                <a:r>
                  <a:rPr lang="it-IT" sz="2600" dirty="0"/>
                  <a:t> a </a:t>
                </a:r>
                <a:r>
                  <a:rPr lang="it-IT" sz="2600" dirty="0" err="1"/>
                  <a:t>correction</a:t>
                </a:r>
                <a:r>
                  <a:rPr lang="it-IT" sz="2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sz="2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sz="2600" dirty="0"/>
                  <a:t> </a:t>
                </a:r>
                <a:r>
                  <a:rPr lang="it-IT" sz="2600" dirty="0" err="1"/>
                  <a:t>because</a:t>
                </a:r>
                <a:r>
                  <a:rPr lang="it-IT" sz="2600" dirty="0"/>
                  <a:t> the cut </a:t>
                </a:r>
                <a:r>
                  <a:rPr lang="it-IT" sz="2600" dirty="0" err="1"/>
                  <a:t>may</a:t>
                </a:r>
                <a:r>
                  <a:rPr lang="it-IT" sz="2600" dirty="0"/>
                  <a:t> not be </a:t>
                </a:r>
                <a:r>
                  <a:rPr lang="it-IT" sz="2600" dirty="0" err="1"/>
                  <a:t>centered</a:t>
                </a:r>
                <a:r>
                  <a:rPr lang="it-IT" sz="2600" dirty="0"/>
                  <a:t> </a:t>
                </a:r>
                <a:r>
                  <a:rPr lang="it-IT" sz="2600" dirty="0" err="1"/>
                  <a:t>at</a:t>
                </a:r>
                <a:r>
                  <a:rPr lang="it-IT" sz="2600" dirty="0"/>
                  <a:t> zero.</a:t>
                </a:r>
              </a:p>
              <a:p>
                <a:r>
                  <a:rPr lang="it-IT" sz="2600" dirty="0"/>
                  <a:t>We do not </a:t>
                </a:r>
                <a:r>
                  <a:rPr lang="it-IT" sz="2600" dirty="0" err="1"/>
                  <a:t>choose</a:t>
                </a:r>
                <a:r>
                  <a:rPr lang="it-IT" sz="2600" dirty="0"/>
                  <a:t> a single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sz="2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sz="2600" dirty="0"/>
                  <a:t> </a:t>
                </a:r>
                <a:r>
                  <a:rPr lang="it-IT" sz="2600" dirty="0" err="1"/>
                  <a:t>value</a:t>
                </a:r>
                <a:r>
                  <a:rPr lang="it-IT" sz="2600" dirty="0"/>
                  <a:t> </a:t>
                </a:r>
                <a:r>
                  <a:rPr lang="it-IT" sz="2600" dirty="0" err="1"/>
                  <a:t>but</a:t>
                </a:r>
                <a:r>
                  <a:rPr lang="it-IT" sz="2600" dirty="0"/>
                  <a:t> </a:t>
                </a:r>
                <a:r>
                  <a:rPr lang="it-IT" sz="2600" dirty="0" err="1"/>
                  <a:t>rather</a:t>
                </a:r>
                <a:r>
                  <a:rPr lang="it-IT" sz="2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sz="2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it-IT" sz="2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2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sz="2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2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it-IT" sz="2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sz="2600" dirty="0"/>
                  <a:t> in </a:t>
                </a:r>
                <a:r>
                  <a:rPr lang="it-IT" sz="2600" dirty="0" err="1"/>
                  <a:t>order</a:t>
                </a:r>
                <a:r>
                  <a:rPr lang="it-IT" sz="2600" dirty="0"/>
                  <a:t> to </a:t>
                </a:r>
                <a:r>
                  <a:rPr lang="it-IT" sz="2600" dirty="0" err="1"/>
                  <a:t>also</a:t>
                </a:r>
                <a:r>
                  <a:rPr lang="it-IT" sz="2600" dirty="0"/>
                  <a:t> </a:t>
                </a:r>
                <a:r>
                  <a:rPr lang="it-IT" sz="2600" dirty="0" err="1"/>
                  <a:t>apply</a:t>
                </a:r>
                <a:r>
                  <a:rPr lang="it-IT" sz="2600" dirty="0"/>
                  <a:t> a </a:t>
                </a:r>
                <a:r>
                  <a:rPr lang="it-IT" sz="2600" dirty="0" err="1"/>
                  <a:t>torsion</a:t>
                </a:r>
                <a:r>
                  <a:rPr lang="it-IT" sz="2600" dirty="0"/>
                  <a:t> </a:t>
                </a:r>
                <a:r>
                  <a:rPr lang="it-IT" sz="2600" dirty="0" err="1"/>
                  <a:t>correction</a:t>
                </a:r>
                <a:r>
                  <a:rPr lang="it-IT" sz="2600" dirty="0"/>
                  <a:t> </a:t>
                </a:r>
                <a:r>
                  <a:rPr lang="it-IT" sz="2600" dirty="0" err="1"/>
                  <a:t>which</a:t>
                </a:r>
                <a:r>
                  <a:rPr lang="it-IT" sz="2600" dirty="0"/>
                  <a:t> </a:t>
                </a:r>
                <a:r>
                  <a:rPr lang="it-IT" sz="2600" dirty="0" err="1"/>
                  <a:t>is</a:t>
                </a:r>
                <a:r>
                  <a:rPr lang="it-IT" sz="2600" dirty="0"/>
                  <a:t> not </a:t>
                </a:r>
                <a:r>
                  <a:rPr lang="it-IT" sz="2600" dirty="0" err="1"/>
                  <a:t>negligible</a:t>
                </a:r>
                <a:r>
                  <a:rPr lang="it-IT" sz="2600" dirty="0"/>
                  <a:t> in the long </a:t>
                </a:r>
                <a:r>
                  <a:rPr lang="it-IT" sz="2600" dirty="0" err="1"/>
                  <a:t>crystals</a:t>
                </a:r>
                <a:r>
                  <a:rPr lang="it-IT" sz="2600" dirty="0"/>
                  <a:t>.</a:t>
                </a:r>
              </a:p>
              <a:p>
                <a:endParaRPr lang="en-US" sz="2600" dirty="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36D42AD-3DE8-BB3A-DB3E-573D0B4E7A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1288"/>
                <a:ext cx="10515600" cy="4776227"/>
              </a:xfrm>
              <a:blipFill>
                <a:blip r:embed="rId3"/>
                <a:stretch>
                  <a:fillRect l="-1043" t="-1916" r="-174" b="-102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024B76F-2B5A-A365-1DB2-E063075868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92672AC-E987-DC85-7818-4A23BEB34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A23CF9B-73B6-496F-F418-16CC8B346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11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F893F73-D8A8-FA7B-CF8A-27F6A5D42D5D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BB42D59-8988-FF51-91B5-95ADA046BA21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413B42E-6FEF-6243-0FD1-23423BD1D805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72A55CC9-B254-F7E0-BA4B-E6798570C0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05466" y="69651"/>
            <a:ext cx="2154418" cy="1148742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F57D110E-CCDE-7140-11DB-AB1EC9B06756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27E35FD3-526F-767A-3541-C3577FD9AA1D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67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23129-B3F6-BD8B-1520-7B87806BC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30A3F6-A095-4045-B83A-58D05D790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3. ANALYSIS: TORSION EFFECT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3B0E17FD-4B75-D52D-E59E-B212A57673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1288"/>
                <a:ext cx="10515600" cy="477622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it-IT" sz="2600" i="1" dirty="0" err="1"/>
                  <a:t>Torsion</a:t>
                </a:r>
                <a:r>
                  <a:rPr lang="it-IT" sz="2600" i="1" dirty="0"/>
                  <a:t> </a:t>
                </a:r>
                <a:r>
                  <a:rPr lang="it-IT" sz="2600" i="1" dirty="0" err="1"/>
                  <a:t>effect</a:t>
                </a:r>
                <a:r>
                  <a:rPr lang="it-IT" sz="2600" i="1" dirty="0"/>
                  <a:t>:</a:t>
                </a:r>
                <a:r>
                  <a:rPr lang="it-IT" sz="2600" dirty="0"/>
                  <a:t> in long </a:t>
                </a:r>
                <a:r>
                  <a:rPr lang="it-IT" sz="2600" dirty="0" err="1"/>
                  <a:t>crystals</a:t>
                </a:r>
                <a:r>
                  <a:rPr lang="it-IT" sz="2600" dirty="0"/>
                  <a:t> (&gt;1 cm), </a:t>
                </a:r>
                <a:r>
                  <a:rPr lang="it-IT" sz="2600" dirty="0" err="1"/>
                  <a:t>structural</a:t>
                </a:r>
                <a:r>
                  <a:rPr lang="it-IT" sz="2600" dirty="0"/>
                  <a:t> </a:t>
                </a:r>
                <a:r>
                  <a:rPr lang="it-IT" sz="2600" dirty="0" err="1"/>
                  <a:t>torsion</a:t>
                </a:r>
                <a:r>
                  <a:rPr lang="it-IT" sz="2600" dirty="0"/>
                  <a:t> </a:t>
                </a:r>
                <a:r>
                  <a:rPr lang="it-IT" sz="2600" dirty="0" err="1"/>
                  <a:t>is</a:t>
                </a:r>
                <a:r>
                  <a:rPr lang="it-IT" sz="2600" dirty="0"/>
                  <a:t> non-</a:t>
                </a:r>
                <a:r>
                  <a:rPr lang="it-IT" sz="2600" dirty="0" err="1"/>
                  <a:t>negligible</a:t>
                </a:r>
                <a:r>
                  <a:rPr lang="it-IT" sz="2600" dirty="0"/>
                  <a:t> and </a:t>
                </a:r>
                <a:r>
                  <a:rPr lang="en-US" sz="2600" dirty="0"/>
                  <a:t>must be incorporated into the analysis.</a:t>
                </a:r>
              </a:p>
              <a:p>
                <a:pPr marL="0" indent="0">
                  <a:buNone/>
                </a:pPr>
                <a:endParaRPr lang="en-US" sz="2600" dirty="0"/>
              </a:p>
              <a:p>
                <a:pPr marL="0" indent="0">
                  <a:buNone/>
                </a:pPr>
                <a:r>
                  <a:rPr lang="en-US" sz="2600" dirty="0"/>
                  <a:t>The effect of the torsion can be corrected by doing a checkerboard analysis: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sz="2600" dirty="0"/>
                  <a:t>Dividing the data sample into square bins (for example 0.1 mm x 0.1 mm) as a function of the impact position on the crystal surface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sz="2600" dirty="0"/>
                  <a:t>The angular shift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sz="2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600" dirty="0"/>
                  <a:t> is then varied to find the maximum channeling efficiency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6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it-IT" sz="2600" i="1">
                            <a:latin typeface="Cambria Math" panose="02040503050406030204" pitchFamily="18" charset="0"/>
                          </a:rPr>
                          <m:t>𝑐h</m:t>
                        </m:r>
                      </m:sub>
                    </m:sSub>
                  </m:oMath>
                </a14:m>
                <a:r>
                  <a:rPr lang="en-US" sz="2600" dirty="0"/>
                  <a:t> for each bin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US" sz="2600" dirty="0"/>
                  <a:t>We obtain a 2D map of torsion variation across the crystal surface</a:t>
                </a:r>
              </a:p>
              <a:p>
                <a:endParaRPr lang="en-US" sz="2600" dirty="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3B0E17FD-4B75-D52D-E59E-B212A57673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1288"/>
                <a:ext cx="10515600" cy="4776227"/>
              </a:xfrm>
              <a:blipFill>
                <a:blip r:embed="rId3"/>
                <a:stretch>
                  <a:fillRect l="-1043" t="-1916" r="-63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006EF8A-C1FE-0A73-8ABA-49B0F208DE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AB72C18-1837-C866-0D32-F865BB6AC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A5844C2-4D4D-CC3E-5949-DC621264C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12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A362B24-F219-9F07-16C8-F6E0404A0E87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C360793-5C5E-CF9F-EAB1-109C46F30BAE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B9D01A4-19CC-8368-9297-916355A4200F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F34C42CA-C8EE-724F-5FDC-E8986B6C98A6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44062F87-A922-3990-D29D-7C9CFFB5EE8D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2216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19772-CA0F-72A5-01E5-0569343B2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191C66B-8C54-FF25-4713-D7FD4D2A5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3. ANALYSIS: TORSION EFFECT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E7D5E5C-DAB3-124E-E9ED-FCC68D06EB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D701879-238A-489C-0B19-AE8043D1E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CBD9DF1-AD57-9A42-98DA-0063D175F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13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828A93C-6AAB-1BE9-4552-1A0897742DD9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6D49B2E-529F-54C2-7285-883664F70043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737BC7A6-7125-2715-D652-38A841F06D28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79C971D-3CEE-476D-C8E9-35183FB0B474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3A95D7DC-772C-F2D0-7F6E-7B637FABB5CC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6E9D8EB2-3A37-43F7-1C5F-7B4FDF8A62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80"/>
          <a:stretch>
            <a:fillRect/>
          </a:stretch>
        </p:blipFill>
        <p:spPr>
          <a:xfrm>
            <a:off x="0" y="1657998"/>
            <a:ext cx="6263248" cy="4311225"/>
          </a:xfrm>
          <a:prstGeom prst="rect">
            <a:avLst/>
          </a:prstGeom>
        </p:spPr>
      </p:pic>
      <p:pic>
        <p:nvPicPr>
          <p:cNvPr id="9" name="Segnaposto contenuto 9">
            <a:extLst>
              <a:ext uri="{FF2B5EF4-FFF2-40B4-BE49-F238E27FC236}">
                <a16:creationId xmlns:a16="http://schemas.microsoft.com/office/drawing/2014/main" id="{6CA9BF4D-ECEB-7FC8-53BE-361DAA9E17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80"/>
          <a:stretch>
            <a:fillRect/>
          </a:stretch>
        </p:blipFill>
        <p:spPr>
          <a:xfrm>
            <a:off x="5888851" y="1657997"/>
            <a:ext cx="6263249" cy="4311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256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57A05-5581-2507-2271-32772C049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CB6FC3-5C80-9455-E161-DA75CFAF4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3. ANALYSIS: TORSION FIT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D0CB520-A067-8FE3-9BD0-6B5C105BFE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1288"/>
                <a:ext cx="10515600" cy="477622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2d map is fitted through a parabolic function:</a:t>
                </a:r>
                <a:endParaRPr lang="it-IT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𝑐𝑜𝑟𝑟</m:t>
                          </m:r>
                        </m:sub>
                      </m:sSub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it-IT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it-IT" dirty="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D0CB520-A067-8FE3-9BD0-6B5C105BFE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1288"/>
                <a:ext cx="10515600" cy="4776227"/>
              </a:xfrm>
              <a:blipFill>
                <a:blip r:embed="rId3"/>
                <a:stretch>
                  <a:fillRect l="-1217" t="-229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5C96FC0-7D82-4607-B5AD-15E8A1471A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86DC3C0-2087-08BF-083B-29C5E3AE8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807D8D7-A2A0-4815-E3B2-8CA47A7CB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14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78AD835D-015D-C803-CA98-A43D0F0AEC66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39CB041-5340-4E95-7D40-AEADA351C4A4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F43E1EF5-379F-B22C-48CE-2CF97B803ACA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62E148E6-13EB-2C99-6BD7-6C050970A0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" t="6850" r="-227" b="1950"/>
          <a:stretch>
            <a:fillRect/>
          </a:stretch>
        </p:blipFill>
        <p:spPr>
          <a:xfrm>
            <a:off x="3581400" y="2370666"/>
            <a:ext cx="5431280" cy="399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998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199CC-8B86-B2EE-64BF-98C6CD9A3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DCB4FE-C26E-1D5A-A916-88AE81A45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3. ANALYSIS: TORSION EFFECT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CB05CB6-18C8-AD14-0450-7E39FC76E1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01288"/>
                <a:ext cx="10515600" cy="477622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2d map is fitted through a parabolic function:</a:t>
                </a:r>
                <a:endParaRPr lang="it-IT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𝑐𝑜𝑟𝑟</m:t>
                          </m:r>
                        </m:sub>
                      </m:sSub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it-IT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it-IT" dirty="0"/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endParaRPr lang="it-IT" dirty="0"/>
              </a:p>
              <a:p>
                <a:pPr marL="0" indent="0">
                  <a:buNone/>
                </a:pPr>
                <a:r>
                  <a:rPr lang="en-US" dirty="0"/>
                  <a:t>Now we correct the effect of torsion using the parameter 	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found for each bin.</a:t>
                </a:r>
              </a:p>
              <a:p>
                <a:pPr marL="0" indent="0" algn="ctr">
                  <a:buNone/>
                </a:pPr>
                <a:r>
                  <a:rPr lang="en-US" dirty="0"/>
                  <a:t>instead of the Lindhard cut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|≤</m:t>
                    </m:r>
                    <m:f>
                      <m:f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/>
                  <a:t> we will use</a:t>
                </a:r>
                <a:endParaRPr lang="it-IT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p>
                        </m:sSubSup>
                        <m:r>
                          <a:rPr lang="it-IT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  <m:sup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𝑜𝑓𝑓</m:t>
                                </m:r>
                              </m:sup>
                            </m:sSubSup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  <m:r>
                              <a:rPr lang="it-IT" i="1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it-IT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it-IT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it-IT" i="1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it-IT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it-IT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it-IT" i="1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it-IT" dirty="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CB05CB6-18C8-AD14-0450-7E39FC76E1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01288"/>
                <a:ext cx="10515600" cy="4776227"/>
              </a:xfrm>
              <a:blipFill>
                <a:blip r:embed="rId3"/>
                <a:stretch>
                  <a:fillRect l="-1217" t="-229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BA471C-F0EE-5F04-A29E-E0CB002E49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8ABB026-FA86-A760-183A-FE10D536E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7FD25C1-5937-F4CD-E5E1-898A8851E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15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B2A6038D-432C-2F4A-7030-A075D3CF4C2B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D6ECE314-D833-6651-B033-28F4F1798FAC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4B96A90-5280-D2F9-54F4-EC33C69AA886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CFFF44FA-E276-ED10-F4B0-EBF88C2855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66" r="10659"/>
          <a:stretch>
            <a:fillRect/>
          </a:stretch>
        </p:blipFill>
        <p:spPr>
          <a:xfrm>
            <a:off x="8925102" y="1309849"/>
            <a:ext cx="2926004" cy="2436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397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A5160-53F5-0D96-6732-BE65EFCB8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6BBFA8-148B-A6EE-D5B0-343218899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3. ANALYSIS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60CBF39-6A49-8BC7-6425-C33F0B2E9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288"/>
            <a:ext cx="10515600" cy="47762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We can </a:t>
            </a:r>
            <a:r>
              <a:rPr lang="it-IT" dirty="0" err="1"/>
              <a:t>now</a:t>
            </a:r>
            <a:r>
              <a:rPr lang="it-IT" dirty="0"/>
              <a:t> compute the </a:t>
            </a:r>
            <a:r>
              <a:rPr lang="it-IT" dirty="0" err="1"/>
              <a:t>efficiency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the ratio of </a:t>
            </a:r>
            <a:r>
              <a:rPr lang="it-IT" dirty="0" err="1"/>
              <a:t>successfully</a:t>
            </a:r>
            <a:r>
              <a:rPr lang="it-IT" dirty="0"/>
              <a:t> </a:t>
            </a:r>
            <a:r>
              <a:rPr lang="it-IT" dirty="0" err="1"/>
              <a:t>channeled</a:t>
            </a:r>
            <a:r>
              <a:rPr lang="it-IT" dirty="0"/>
              <a:t> </a:t>
            </a:r>
            <a:r>
              <a:rPr lang="it-IT" dirty="0" err="1"/>
              <a:t>particles</a:t>
            </a:r>
            <a:r>
              <a:rPr lang="it-IT" dirty="0"/>
              <a:t> to the </a:t>
            </a:r>
            <a:r>
              <a:rPr lang="it-IT" dirty="0" err="1"/>
              <a:t>total</a:t>
            </a:r>
            <a:r>
              <a:rPr lang="it-IT" dirty="0"/>
              <a:t> </a:t>
            </a:r>
            <a:r>
              <a:rPr lang="it-IT" dirty="0" err="1"/>
              <a:t>number</a:t>
            </a:r>
            <a:r>
              <a:rPr lang="it-IT" dirty="0"/>
              <a:t> of </a:t>
            </a:r>
            <a:r>
              <a:rPr lang="it-IT" dirty="0" err="1"/>
              <a:t>incident</a:t>
            </a:r>
            <a:r>
              <a:rPr lang="it-IT" dirty="0"/>
              <a:t> </a:t>
            </a:r>
            <a:r>
              <a:rPr lang="it-IT" dirty="0" err="1"/>
              <a:t>particles</a:t>
            </a:r>
            <a:r>
              <a:rPr lang="it-IT" dirty="0"/>
              <a:t>.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3E0AFA0-61E3-D8A9-56A7-DC0F946D4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16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C8B57960-238D-1446-8231-5A6EAEC972B1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50B2FFE-00F1-2BC4-EC60-0131B113B70F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77C4D9B-5566-E01F-9A9E-00516CA43C48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43163043-DF86-E4CC-C083-AD992BCE1F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78" r="5287" b="651"/>
          <a:stretch>
            <a:fillRect/>
          </a:stretch>
        </p:blipFill>
        <p:spPr>
          <a:xfrm>
            <a:off x="696000" y="2308462"/>
            <a:ext cx="7002965" cy="42360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ttangolo con angoli arrotondati 25">
                <a:extLst>
                  <a:ext uri="{FF2B5EF4-FFF2-40B4-BE49-F238E27FC236}">
                    <a16:creationId xmlns:a16="http://schemas.microsoft.com/office/drawing/2014/main" id="{8FC6E12E-5C3E-72F7-980E-E93CD9556588}"/>
                  </a:ext>
                </a:extLst>
              </p:cNvPr>
              <p:cNvSpPr/>
              <p:nvPr/>
            </p:nvSpPr>
            <p:spPr>
              <a:xfrm>
                <a:off x="7700576" y="2310232"/>
                <a:ext cx="3535758" cy="4030359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3200" b="1" dirty="0">
                    <a:solidFill>
                      <a:srgbClr val="002060"/>
                    </a:solidFill>
                  </a:rPr>
                  <a:t>CHANNELING EFFICIENCY</a:t>
                </a:r>
              </a:p>
              <a:p>
                <a:pPr algn="ctr"/>
                <a:endParaRPr lang="it-IT" sz="3200" b="1" dirty="0">
                  <a:solidFill>
                    <a:srgbClr val="00206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2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32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  <m:sub>
                          <m:r>
                            <a:rPr lang="it-IT" sz="32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𝒄𝒉</m:t>
                          </m:r>
                        </m:sub>
                      </m:sSub>
                      <m:r>
                        <a:rPr lang="it-IT" sz="32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32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sz="32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32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it-IT" sz="32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𝒄𝒉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t-IT" sz="32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32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e>
                            <m:sub>
                              <m:r>
                                <a:rPr lang="it-IT" sz="3200" b="1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𝒕𝒐𝒕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it-IT" sz="3200" b="1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26" name="Rettangolo con angoli arrotondati 25">
                <a:extLst>
                  <a:ext uri="{FF2B5EF4-FFF2-40B4-BE49-F238E27FC236}">
                    <a16:creationId xmlns:a16="http://schemas.microsoft.com/office/drawing/2014/main" id="{8FC6E12E-5C3E-72F7-980E-E93CD95565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0576" y="2310232"/>
                <a:ext cx="3535758" cy="4030359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510AF69-2D03-0DD4-090C-8C15F1AB9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C682348-A51C-8908-4A7A-D6D6AF8CFF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</p:spTree>
    <p:extLst>
      <p:ext uri="{BB962C8B-B14F-4D97-AF65-F5344CB8AC3E}">
        <p14:creationId xmlns:p14="http://schemas.microsoft.com/office/powerpoint/2010/main" val="3067722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1E354-B03F-BD18-F01A-A41D48938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CD704B-3434-5030-BB5F-2FDD6B8F4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3. ANALYSIS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0B74F6-27D2-7C8C-E165-33A2F0292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288"/>
            <a:ext cx="10515600" cy="4776227"/>
          </a:xfrm>
        </p:spPr>
        <p:txBody>
          <a:bodyPr>
            <a:normAutofit/>
          </a:bodyPr>
          <a:lstStyle/>
          <a:p>
            <a:r>
              <a:rPr lang="it-IT" sz="2400" dirty="0"/>
              <a:t>A </a:t>
            </a:r>
            <a:r>
              <a:rPr lang="it-IT" sz="2400" dirty="0" err="1"/>
              <a:t>Gaussian</a:t>
            </a:r>
            <a:r>
              <a:rPr lang="it-IT" sz="2400" dirty="0"/>
              <a:t> </a:t>
            </a:r>
            <a:r>
              <a:rPr lang="it-IT" sz="2400" dirty="0" err="1"/>
              <a:t>fit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performed</a:t>
            </a:r>
            <a:r>
              <a:rPr lang="it-IT" sz="2400" dirty="0"/>
              <a:t> on the </a:t>
            </a:r>
            <a:r>
              <a:rPr lang="it-IT" sz="2400" dirty="0" err="1"/>
              <a:t>deflection</a:t>
            </a:r>
            <a:r>
              <a:rPr lang="it-IT" sz="2400" dirty="0"/>
              <a:t> </a:t>
            </a:r>
            <a:r>
              <a:rPr lang="it-IT" sz="2400" dirty="0" err="1"/>
              <a:t>peak</a:t>
            </a:r>
            <a:r>
              <a:rPr lang="it-IT" sz="2400" dirty="0"/>
              <a:t>.</a:t>
            </a:r>
          </a:p>
          <a:p>
            <a:r>
              <a:rPr lang="it-IT" sz="2400" dirty="0"/>
              <a:t>We </a:t>
            </a:r>
            <a:r>
              <a:rPr lang="it-IT" sz="2400" dirty="0" err="1"/>
              <a:t>fit</a:t>
            </a:r>
            <a:r>
              <a:rPr lang="it-IT" sz="2400" dirty="0"/>
              <a:t> the right side of the </a:t>
            </a:r>
            <a:r>
              <a:rPr lang="it-IT" sz="2400" dirty="0" err="1"/>
              <a:t>peak</a:t>
            </a:r>
            <a:r>
              <a:rPr lang="it-IT" sz="2400" dirty="0"/>
              <a:t> to </a:t>
            </a:r>
            <a:r>
              <a:rPr lang="it-IT" sz="2400" dirty="0" err="1"/>
              <a:t>ensure</a:t>
            </a:r>
            <a:r>
              <a:rPr lang="it-IT" sz="2400" dirty="0"/>
              <a:t> the </a:t>
            </a:r>
            <a:r>
              <a:rPr lang="it-IT" sz="2400" dirty="0" err="1"/>
              <a:t>cleanest</a:t>
            </a:r>
            <a:r>
              <a:rPr lang="it-IT" sz="2400" dirty="0"/>
              <a:t> </a:t>
            </a:r>
            <a:r>
              <a:rPr lang="it-IT" sz="2400" dirty="0" err="1"/>
              <a:t>measurement</a:t>
            </a:r>
            <a:r>
              <a:rPr lang="it-IT" sz="2400" dirty="0"/>
              <a:t> (no </a:t>
            </a:r>
            <a:r>
              <a:rPr lang="it-IT" sz="2400" dirty="0" err="1"/>
              <a:t>dechanneled</a:t>
            </a:r>
            <a:r>
              <a:rPr lang="it-IT" sz="2400" dirty="0"/>
              <a:t> </a:t>
            </a:r>
            <a:r>
              <a:rPr lang="it-IT" sz="2400" dirty="0" err="1"/>
              <a:t>particles</a:t>
            </a:r>
            <a:r>
              <a:rPr lang="it-IT" sz="2400" dirty="0"/>
              <a:t> </a:t>
            </a:r>
            <a:r>
              <a:rPr lang="it-IT" sz="2400" dirty="0" err="1"/>
              <a:t>contribution</a:t>
            </a:r>
            <a:r>
              <a:rPr lang="it-IT" sz="2400" dirty="0"/>
              <a:t>).</a:t>
            </a:r>
          </a:p>
          <a:p>
            <a:pPr marL="0" indent="0">
              <a:buNone/>
            </a:pPr>
            <a:endParaRPr lang="it-IT" sz="2400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2163C9A-DA38-D8AD-1517-2D1F552FBF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0B72CDD-1B29-A1B1-AE7F-C338BFAB6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99682B3-4B3D-15C8-A998-726454F8F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17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F91A779A-7270-7A98-408A-1444357C9E35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1DBD5622-AE76-F3F2-E78E-A7E2566D28BA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84ACA1D1-0026-540C-70E3-FEA431668F69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D9FE3799-AA56-96B5-61CD-52ADB4695C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91" b="3978"/>
          <a:stretch>
            <a:fillRect/>
          </a:stretch>
        </p:blipFill>
        <p:spPr>
          <a:xfrm>
            <a:off x="5446277" y="2755900"/>
            <a:ext cx="6705823" cy="3693929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A369F6DF-241B-FC05-FB2C-74DFB0379E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88" r="5536" b="651"/>
          <a:stretch>
            <a:fillRect/>
          </a:stretch>
        </p:blipFill>
        <p:spPr>
          <a:xfrm>
            <a:off x="206168" y="2843889"/>
            <a:ext cx="5328357" cy="3224130"/>
          </a:xfrm>
          <a:prstGeom prst="rect">
            <a:avLst/>
          </a:prstGeom>
        </p:spPr>
      </p:pic>
      <p:sp>
        <p:nvSpPr>
          <p:cNvPr id="14" name="Ovale 13">
            <a:extLst>
              <a:ext uri="{FF2B5EF4-FFF2-40B4-BE49-F238E27FC236}">
                <a16:creationId xmlns:a16="http://schemas.microsoft.com/office/drawing/2014/main" id="{5C2CDB7F-4798-849A-B362-05F16E54F49C}"/>
              </a:ext>
            </a:extLst>
          </p:cNvPr>
          <p:cNvSpPr/>
          <p:nvPr/>
        </p:nvSpPr>
        <p:spPr>
          <a:xfrm>
            <a:off x="3794967" y="2984577"/>
            <a:ext cx="1286540" cy="294521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Arco 16">
            <a:extLst>
              <a:ext uri="{FF2B5EF4-FFF2-40B4-BE49-F238E27FC236}">
                <a16:creationId xmlns:a16="http://schemas.microsoft.com/office/drawing/2014/main" id="{219D7ECA-BCC6-3278-8C9C-03F146B36666}"/>
              </a:ext>
            </a:extLst>
          </p:cNvPr>
          <p:cNvSpPr/>
          <p:nvPr/>
        </p:nvSpPr>
        <p:spPr>
          <a:xfrm rot="18171475">
            <a:off x="5124294" y="2234943"/>
            <a:ext cx="2827745" cy="3968027"/>
          </a:xfrm>
          <a:prstGeom prst="arc">
            <a:avLst>
              <a:gd name="adj1" fmla="val 15945701"/>
              <a:gd name="adj2" fmla="val 1052481"/>
            </a:avLst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A5FB51C5-E6E6-4E41-99C1-ACAD81F796A0}"/>
              </a:ext>
            </a:extLst>
          </p:cNvPr>
          <p:cNvCxnSpPr>
            <a:cxnSpLocks/>
          </p:cNvCxnSpPr>
          <p:nvPr/>
        </p:nvCxnSpPr>
        <p:spPr>
          <a:xfrm>
            <a:off x="8267701" y="5410817"/>
            <a:ext cx="0" cy="66839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9782FBE4-B7CD-5D20-0D70-213BC119BA8F}"/>
                  </a:ext>
                </a:extLst>
              </p:cNvPr>
              <p:cNvSpPr txBox="1"/>
              <p:nvPr/>
            </p:nvSpPr>
            <p:spPr>
              <a:xfrm>
                <a:off x="2355837" y="3072809"/>
                <a:ext cx="12865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it-IT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</m:oMath>
                  </m:oMathPara>
                </a14:m>
                <a:endParaRPr lang="it-IT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9782FBE4-B7CD-5D20-0D70-213BC119B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837" y="3072809"/>
                <a:ext cx="128654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8B695AC5-A004-5B7A-AA21-F7DDCB3AF5BB}"/>
                  </a:ext>
                </a:extLst>
              </p:cNvPr>
              <p:cNvSpPr txBox="1"/>
              <p:nvPr/>
            </p:nvSpPr>
            <p:spPr>
              <a:xfrm>
                <a:off x="8638096" y="4494208"/>
                <a:ext cx="12865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it-IT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𝑐h</m:t>
                          </m:r>
                        </m:sub>
                      </m:sSub>
                    </m:oMath>
                  </m:oMathPara>
                </a14:m>
                <a:endParaRPr lang="it-IT" sz="28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8B695AC5-A004-5B7A-AA21-F7DDCB3AF5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8096" y="4494208"/>
                <a:ext cx="128654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71256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D1461-C75C-7E30-7CB1-94EE05E41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FD112F-A6F5-EDE0-3EF1-FE53FF0D0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4. RESULTS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8C8395F-5A29-CBE5-2F17-8C5F1B0FB5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C8632CE-25AA-0A1B-BC06-2686BE582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EB70B37-5218-F84D-2646-2A877AFD5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18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FD0A2B7C-B5A1-D2BC-41BE-0AFDF9DAB6A1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C5574AB-0B0B-8361-1ED1-AA4582A18A6D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8F7B6111-24ED-E494-D339-85B73CFCBE65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Segnaposto contenuto 10">
                <a:extLst>
                  <a:ext uri="{FF2B5EF4-FFF2-40B4-BE49-F238E27FC236}">
                    <a16:creationId xmlns:a16="http://schemas.microsoft.com/office/drawing/2014/main" id="{71DF83D9-FF00-8DC4-EF2F-A708B15EC92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649525259"/>
                  </p:ext>
                </p:extLst>
              </p:nvPr>
            </p:nvGraphicFramePr>
            <p:xfrm>
              <a:off x="838200" y="2059186"/>
              <a:ext cx="10515600" cy="277672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3834650750"/>
                        </a:ext>
                      </a:extLst>
                    </a:gridCol>
                    <a:gridCol w="1642712">
                      <a:extLst>
                        <a:ext uri="{9D8B030D-6E8A-4147-A177-3AD203B41FA5}">
                          <a16:colId xmlns:a16="http://schemas.microsoft.com/office/drawing/2014/main" val="1666825536"/>
                        </a:ext>
                      </a:extLst>
                    </a:gridCol>
                    <a:gridCol w="2358189">
                      <a:extLst>
                        <a:ext uri="{9D8B030D-6E8A-4147-A177-3AD203B41FA5}">
                          <a16:colId xmlns:a16="http://schemas.microsoft.com/office/drawing/2014/main" val="1022820918"/>
                        </a:ext>
                      </a:extLst>
                    </a:gridCol>
                    <a:gridCol w="2159446">
                      <a:extLst>
                        <a:ext uri="{9D8B030D-6E8A-4147-A177-3AD203B41FA5}">
                          <a16:colId xmlns:a16="http://schemas.microsoft.com/office/drawing/2014/main" val="2020566626"/>
                        </a:ext>
                      </a:extLst>
                    </a:gridCol>
                    <a:gridCol w="2252133">
                      <a:extLst>
                        <a:ext uri="{9D8B030D-6E8A-4147-A177-3AD203B41FA5}">
                          <a16:colId xmlns:a16="http://schemas.microsoft.com/office/drawing/2014/main" val="19911609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b="1" dirty="0" err="1"/>
                            <a:t>run</a:t>
                          </a:r>
                          <a:endParaRPr lang="it-IT" sz="2400" b="1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2400" b="1" i="1" smtClean="0">
                                        <a:latin typeface="Cambria Math" panose="02040503050406030204" pitchFamily="18" charset="0"/>
                                      </a:rPr>
                                      <m:t>𝝉</m:t>
                                    </m:r>
                                  </m:e>
                                  <m:sub>
                                    <m:r>
                                      <a:rPr lang="it-IT" sz="2400" b="1" i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sub>
                                </m:sSub>
                                <m:r>
                                  <a:rPr lang="it-IT" sz="2400" b="1" i="1" smtClean="0">
                                    <a:latin typeface="Cambria Math" panose="02040503050406030204" pitchFamily="18" charset="0"/>
                                  </a:rPr>
                                  <m:t> [</m:t>
                                </m:r>
                                <m:r>
                                  <a:rPr lang="it-IT" sz="2400" b="1" i="1" smtClean="0"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  <m:r>
                                  <a:rPr lang="it-IT" sz="2400" b="1" i="0" smtClean="0">
                                    <a:latin typeface="Cambria Math" panose="02040503050406030204" pitchFamily="18" charset="0"/>
                                  </a:rPr>
                                  <m:t>𝐫𝐚𝐝</m:t>
                                </m:r>
                                <m:r>
                                  <a:rPr lang="it-IT" sz="2400" b="1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it-IT" sz="2400" b="1" i="0" smtClean="0">
                                    <a:latin typeface="Cambria Math" panose="02040503050406030204" pitchFamily="18" charset="0"/>
                                  </a:rPr>
                                  <m:t>𝐦𝐦</m:t>
                                </m:r>
                                <m:r>
                                  <a:rPr lang="it-IT" sz="2400" b="1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it-IT" sz="2400" b="1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it-IT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2400" b="1" i="1" smtClean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it-IT" sz="2400" b="1" i="1" smtClean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  <m:r>
                                <a:rPr lang="it-IT" sz="2400" b="1" i="1" smtClean="0">
                                  <a:latin typeface="Cambria Math" panose="02040503050406030204" pitchFamily="18" charset="0"/>
                                </a:rPr>
                                <m:t> [</m:t>
                              </m:r>
                              <m:r>
                                <a:rPr lang="it-IT" sz="2400" b="1" i="1" smtClean="0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  <m:r>
                                <a:rPr lang="it-IT" sz="2400" b="1" i="0" smtClean="0">
                                  <a:latin typeface="Cambria Math" panose="02040503050406030204" pitchFamily="18" charset="0"/>
                                </a:rPr>
                                <m:t>𝐫𝐚𝐝</m:t>
                              </m:r>
                              <m:r>
                                <a:rPr lang="it-IT" sz="2400" b="1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r>
                            <a:rPr lang="it-IT" sz="2400" b="1" dirty="0"/>
                            <a:t> </a:t>
                          </a: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2400" b="1" i="1" smtClean="0">
                                        <a:latin typeface="Cambria Math" panose="02040503050406030204" pitchFamily="18" charset="0"/>
                                      </a:rPr>
                                      <m:t>𝝐</m:t>
                                    </m:r>
                                  </m:e>
                                  <m:sub>
                                    <m:r>
                                      <a:rPr lang="it-IT" sz="2400" b="1" i="1" smtClean="0">
                                        <a:latin typeface="Cambria Math" panose="02040503050406030204" pitchFamily="18" charset="0"/>
                                      </a:rPr>
                                      <m:t>𝒄𝒉</m:t>
                                    </m:r>
                                  </m:sub>
                                </m:sSub>
                                <m:r>
                                  <a:rPr lang="it-IT" sz="2400" b="1" i="1" smtClean="0">
                                    <a:latin typeface="Cambria Math" panose="02040503050406030204" pitchFamily="18" charset="0"/>
                                  </a:rPr>
                                  <m:t> [%]</m:t>
                                </m:r>
                              </m:oMath>
                            </m:oMathPara>
                          </a14:m>
                          <a:endParaRPr lang="it-IT" sz="2400" b="1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36405646"/>
                      </a:ext>
                    </a:extLst>
                  </a:tr>
                  <a:tr h="370840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/>
                            <a:t>Long </a:t>
                          </a:r>
                          <a:r>
                            <a:rPr lang="it-IT" sz="2400" dirty="0" err="1"/>
                            <a:t>crystal</a:t>
                          </a:r>
                          <a:r>
                            <a:rPr lang="it-IT" sz="2400" dirty="0"/>
                            <a:t> 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i="1" dirty="0" smtClean="0">
                                    <a:latin typeface="Cambria Math" panose="02040503050406030204" pitchFamily="18" charset="0"/>
                                  </a:rPr>
                                  <m:t>8430</m:t>
                                </m:r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6.25±0.04</m:t>
                                </m:r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6008.4±0.2</m:t>
                                </m:r>
                              </m:oMath>
                            </m:oMathPara>
                          </a14:m>
                          <a:endParaRPr lang="it-IT" sz="2400" i="0" dirty="0"/>
                        </a:p>
                      </a:txBody>
                      <a:tcPr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19.6±0.01</m:t>
                                </m:r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529356210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i="1" dirty="0" smtClean="0">
                                    <a:latin typeface="Cambria Math" panose="02040503050406030204" pitchFamily="18" charset="0"/>
                                  </a:rPr>
                                  <m:t>8431</m:t>
                                </m:r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it-IT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5.71±0.04</m:t>
                                </m:r>
                              </m:oMath>
                            </m:oMathPara>
                          </a14:m>
                          <a:endParaRPr kumimoji="0" lang="it-IT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it-IT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6008.4±0.2</m:t>
                                </m:r>
                              </m:oMath>
                            </m:oMathPara>
                          </a14:m>
                          <a:endParaRPr kumimoji="0" lang="it-IT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19.1±0.01</m:t>
                                </m:r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48010959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i="1" dirty="0" smtClean="0">
                                    <a:latin typeface="Cambria Math" panose="02040503050406030204" pitchFamily="18" charset="0"/>
                                  </a:rPr>
                                  <m:t>8650</m:t>
                                </m:r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it-IT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3.89±0.01</m:t>
                                </m:r>
                              </m:oMath>
                            </m:oMathPara>
                          </a14:m>
                          <a:endParaRPr kumimoji="0" lang="it-IT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it-IT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6081.7±0.1</m:t>
                                </m:r>
                              </m:oMath>
                            </m:oMathPara>
                          </a14:m>
                          <a:endParaRPr kumimoji="0" lang="it-IT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17.1±0.01</m:t>
                                </m:r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53670846"/>
                      </a:ext>
                    </a:extLst>
                  </a:tr>
                  <a:tr h="37084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/>
                            <a:t>Long </a:t>
                          </a:r>
                          <a:r>
                            <a:rPr lang="it-IT" sz="2400" dirty="0" err="1"/>
                            <a:t>crystal</a:t>
                          </a:r>
                          <a:r>
                            <a:rPr lang="it-IT" sz="2400" dirty="0"/>
                            <a:t> 2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i="1" dirty="0" smtClean="0">
                                    <a:latin typeface="Cambria Math" panose="02040503050406030204" pitchFamily="18" charset="0"/>
                                  </a:rPr>
                                  <m:t>8655</m:t>
                                </m:r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it-IT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3.67±0.02</m:t>
                                </m:r>
                              </m:oMath>
                            </m:oMathPara>
                          </a14:m>
                          <a:endParaRPr kumimoji="0" lang="it-IT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it-IT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6122.6±0.3</m:t>
                                </m:r>
                              </m:oMath>
                            </m:oMathPara>
                          </a14:m>
                          <a:endParaRPr kumimoji="0" lang="it-IT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it-IT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18.0±0.01</m:t>
                                </m:r>
                              </m:oMath>
                            </m:oMathPara>
                          </a14:m>
                          <a:endParaRPr kumimoji="0" lang="it-IT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544524089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i="1" dirty="0" smtClean="0">
                                    <a:latin typeface="Cambria Math" panose="02040503050406030204" pitchFamily="18" charset="0"/>
                                  </a:rPr>
                                  <m:t>8656</m:t>
                                </m:r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it-IT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3.80±0.01</m:t>
                                </m:r>
                              </m:oMath>
                            </m:oMathPara>
                          </a14:m>
                          <a:endParaRPr kumimoji="0" lang="it-IT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it-IT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6122.0±0.3</m:t>
                                </m:r>
                              </m:oMath>
                            </m:oMathPara>
                          </a14:m>
                          <a:endParaRPr kumimoji="0" lang="it-IT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it-IT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18.0±0.01</m:t>
                                </m:r>
                              </m:oMath>
                            </m:oMathPara>
                          </a14:m>
                          <a:endParaRPr kumimoji="0" lang="it-IT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4273818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Segnaposto contenuto 10">
                <a:extLst>
                  <a:ext uri="{FF2B5EF4-FFF2-40B4-BE49-F238E27FC236}">
                    <a16:creationId xmlns:a16="http://schemas.microsoft.com/office/drawing/2014/main" id="{71DF83D9-FF00-8DC4-EF2F-A708B15EC92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649525259"/>
                  </p:ext>
                </p:extLst>
              </p:nvPr>
            </p:nvGraphicFramePr>
            <p:xfrm>
              <a:off x="838200" y="2059186"/>
              <a:ext cx="10515600" cy="277672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3834650750"/>
                        </a:ext>
                      </a:extLst>
                    </a:gridCol>
                    <a:gridCol w="1642712">
                      <a:extLst>
                        <a:ext uri="{9D8B030D-6E8A-4147-A177-3AD203B41FA5}">
                          <a16:colId xmlns:a16="http://schemas.microsoft.com/office/drawing/2014/main" val="1666825536"/>
                        </a:ext>
                      </a:extLst>
                    </a:gridCol>
                    <a:gridCol w="2358189">
                      <a:extLst>
                        <a:ext uri="{9D8B030D-6E8A-4147-A177-3AD203B41FA5}">
                          <a16:colId xmlns:a16="http://schemas.microsoft.com/office/drawing/2014/main" val="1022820918"/>
                        </a:ext>
                      </a:extLst>
                    </a:gridCol>
                    <a:gridCol w="2159446">
                      <a:extLst>
                        <a:ext uri="{9D8B030D-6E8A-4147-A177-3AD203B41FA5}">
                          <a16:colId xmlns:a16="http://schemas.microsoft.com/office/drawing/2014/main" val="2020566626"/>
                        </a:ext>
                      </a:extLst>
                    </a:gridCol>
                    <a:gridCol w="2252133">
                      <a:extLst>
                        <a:ext uri="{9D8B030D-6E8A-4147-A177-3AD203B41FA5}">
                          <a16:colId xmlns:a16="http://schemas.microsoft.com/office/drawing/2014/main" val="199116097"/>
                        </a:ext>
                      </a:extLst>
                    </a:gridCol>
                  </a:tblGrid>
                  <a:tr h="490728"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b="1" dirty="0" err="1"/>
                            <a:t>run</a:t>
                          </a:r>
                          <a:endParaRPr lang="it-IT" sz="2400" b="1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8915" t="-4938" r="-187597" b="-4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3051" t="-4938" r="-105085" b="-4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6486" t="-4938" r="-541" b="-46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6405646"/>
                      </a:ext>
                    </a:extLst>
                  </a:tr>
                  <a:tr h="457200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/>
                            <a:t>Long </a:t>
                          </a:r>
                          <a:r>
                            <a:rPr lang="it-IT" sz="2400" dirty="0" err="1"/>
                            <a:t>crystal</a:t>
                          </a:r>
                          <a:r>
                            <a:rPr lang="it-IT" sz="2400" dirty="0"/>
                            <a:t> 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127778" t="-113333" r="-412222" b="-4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158915" t="-113333" r="-187597" b="-4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283051" t="-113333" r="-105085" b="-4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366486" t="-113333" r="-541" b="-40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9356210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127778" t="-213333" r="-412222" b="-3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158915" t="-213333" r="-187597" b="-3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83051" t="-213333" r="-105085" b="-3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366486" t="-213333" r="-541" b="-30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010959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7778" t="-309211" r="-41222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8915" t="-309211" r="-187597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3051" t="-309211" r="-10508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6486" t="-309211" r="-541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3670846"/>
                      </a:ext>
                    </a:extLst>
                  </a:tr>
                  <a:tr h="4572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/>
                            <a:t>Long </a:t>
                          </a:r>
                          <a:r>
                            <a:rPr lang="it-IT" sz="2400" dirty="0" err="1"/>
                            <a:t>crystal</a:t>
                          </a:r>
                          <a:r>
                            <a:rPr lang="it-IT" sz="2400" dirty="0"/>
                            <a:t> 2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127778" t="-414667" r="-412222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158915" t="-414667" r="-187597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283051" t="-414667" r="-105085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366486" t="-414667" r="-541" b="-102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4524089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7778" t="-514667" r="-412222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8915" t="-514667" r="-187597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3051" t="-514667" r="-105085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6486" t="-514667" r="-541" b="-2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273818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832335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28AE4-22DD-C84D-6B99-6B8F166EA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E230AE-9326-DFD6-E766-34D542C75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4. RESULTS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BC65657-D6AD-1A90-0352-400511BB48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9D64C05-16B6-4D7B-A9DF-CB4A2F182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BCA64BA-AFA7-136B-BDC7-CDF6F73E0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19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88305F19-5DA9-0789-9A3D-B5DE30A01643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4ADF62F-16BF-5959-2E42-8AF5FC5668E7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1B513348-9F2B-B81E-DEF8-95243544830F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Segnaposto contenuto 10">
                <a:extLst>
                  <a:ext uri="{FF2B5EF4-FFF2-40B4-BE49-F238E27FC236}">
                    <a16:creationId xmlns:a16="http://schemas.microsoft.com/office/drawing/2014/main" id="{8D0382F8-3035-3E53-A226-7D6F37EDAD3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902674871"/>
                  </p:ext>
                </p:extLst>
              </p:nvPr>
            </p:nvGraphicFramePr>
            <p:xfrm>
              <a:off x="838200" y="2059186"/>
              <a:ext cx="10515600" cy="277672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3834650750"/>
                        </a:ext>
                      </a:extLst>
                    </a:gridCol>
                    <a:gridCol w="1642712">
                      <a:extLst>
                        <a:ext uri="{9D8B030D-6E8A-4147-A177-3AD203B41FA5}">
                          <a16:colId xmlns:a16="http://schemas.microsoft.com/office/drawing/2014/main" val="1666825536"/>
                        </a:ext>
                      </a:extLst>
                    </a:gridCol>
                    <a:gridCol w="2358189">
                      <a:extLst>
                        <a:ext uri="{9D8B030D-6E8A-4147-A177-3AD203B41FA5}">
                          <a16:colId xmlns:a16="http://schemas.microsoft.com/office/drawing/2014/main" val="1022820918"/>
                        </a:ext>
                      </a:extLst>
                    </a:gridCol>
                    <a:gridCol w="2159446">
                      <a:extLst>
                        <a:ext uri="{9D8B030D-6E8A-4147-A177-3AD203B41FA5}">
                          <a16:colId xmlns:a16="http://schemas.microsoft.com/office/drawing/2014/main" val="2020566626"/>
                        </a:ext>
                      </a:extLst>
                    </a:gridCol>
                    <a:gridCol w="2252133">
                      <a:extLst>
                        <a:ext uri="{9D8B030D-6E8A-4147-A177-3AD203B41FA5}">
                          <a16:colId xmlns:a16="http://schemas.microsoft.com/office/drawing/2014/main" val="19911609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b="1" dirty="0" err="1"/>
                            <a:t>run</a:t>
                          </a:r>
                          <a:endParaRPr lang="it-IT" sz="2400" b="1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2400" b="1" i="1" smtClean="0">
                                        <a:latin typeface="Cambria Math" panose="02040503050406030204" pitchFamily="18" charset="0"/>
                                      </a:rPr>
                                      <m:t>𝝉</m:t>
                                    </m:r>
                                  </m:e>
                                  <m:sub>
                                    <m:r>
                                      <a:rPr lang="it-IT" sz="2400" b="1" i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sub>
                                </m:sSub>
                                <m:r>
                                  <a:rPr lang="it-IT" sz="2400" b="1" i="1" smtClean="0">
                                    <a:latin typeface="Cambria Math" panose="02040503050406030204" pitchFamily="18" charset="0"/>
                                  </a:rPr>
                                  <m:t> [</m:t>
                                </m:r>
                                <m:r>
                                  <a:rPr lang="it-IT" sz="2400" b="1" i="1" smtClean="0"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  <m:r>
                                  <a:rPr lang="it-IT" sz="2400" b="1" i="0" smtClean="0">
                                    <a:latin typeface="Cambria Math" panose="02040503050406030204" pitchFamily="18" charset="0"/>
                                  </a:rPr>
                                  <m:t>𝐫𝐚𝐝</m:t>
                                </m:r>
                                <m:r>
                                  <a:rPr lang="it-IT" sz="2400" b="1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it-IT" sz="2400" b="1" i="0" smtClean="0">
                                    <a:latin typeface="Cambria Math" panose="02040503050406030204" pitchFamily="18" charset="0"/>
                                  </a:rPr>
                                  <m:t>𝐦𝐦</m:t>
                                </m:r>
                                <m:r>
                                  <a:rPr lang="it-IT" sz="2400" b="1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it-IT" sz="2400" b="1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it-IT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2400" b="1" i="1" smtClean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it-IT" sz="2400" b="1" i="1" smtClean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  <m:r>
                                <a:rPr lang="it-IT" sz="2400" b="1" i="1" smtClean="0">
                                  <a:latin typeface="Cambria Math" panose="02040503050406030204" pitchFamily="18" charset="0"/>
                                </a:rPr>
                                <m:t> [</m:t>
                              </m:r>
                              <m:r>
                                <a:rPr lang="it-IT" sz="2400" b="1" i="1" smtClean="0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  <m:r>
                                <a:rPr lang="it-IT" sz="2400" b="1" i="0" smtClean="0">
                                  <a:latin typeface="Cambria Math" panose="02040503050406030204" pitchFamily="18" charset="0"/>
                                </a:rPr>
                                <m:t>𝐫𝐚𝐝</m:t>
                              </m:r>
                              <m:r>
                                <a:rPr lang="it-IT" sz="2400" b="1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r>
                            <a:rPr lang="it-IT" sz="2400" b="1" dirty="0"/>
                            <a:t> </a:t>
                          </a: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2400" b="1" i="1" smtClean="0">
                                        <a:latin typeface="Cambria Math" panose="02040503050406030204" pitchFamily="18" charset="0"/>
                                      </a:rPr>
                                      <m:t>𝝐</m:t>
                                    </m:r>
                                  </m:e>
                                  <m:sub>
                                    <m:r>
                                      <a:rPr lang="it-IT" sz="2400" b="1" i="1" smtClean="0">
                                        <a:latin typeface="Cambria Math" panose="02040503050406030204" pitchFamily="18" charset="0"/>
                                      </a:rPr>
                                      <m:t>𝒄𝒉</m:t>
                                    </m:r>
                                  </m:sub>
                                </m:sSub>
                                <m:r>
                                  <a:rPr lang="it-IT" sz="2400" b="1" i="1" smtClean="0">
                                    <a:latin typeface="Cambria Math" panose="02040503050406030204" pitchFamily="18" charset="0"/>
                                  </a:rPr>
                                  <m:t> [%]</m:t>
                                </m:r>
                              </m:oMath>
                            </m:oMathPara>
                          </a14:m>
                          <a:endParaRPr lang="it-IT" sz="2400" b="1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36405646"/>
                      </a:ext>
                    </a:extLst>
                  </a:tr>
                  <a:tr h="370840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/>
                            <a:t>Long </a:t>
                          </a:r>
                          <a:r>
                            <a:rPr lang="it-IT" sz="2400" dirty="0" err="1"/>
                            <a:t>crystal</a:t>
                          </a:r>
                          <a:r>
                            <a:rPr lang="it-IT" sz="2400" dirty="0"/>
                            <a:t> 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i="1" dirty="0" smtClean="0">
                                    <a:latin typeface="Cambria Math" panose="02040503050406030204" pitchFamily="18" charset="0"/>
                                  </a:rPr>
                                  <m:t>8430</m:t>
                                </m:r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6.25±0.04</m:t>
                                </m:r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6008.4±0.2</m:t>
                                </m:r>
                              </m:oMath>
                            </m:oMathPara>
                          </a14:m>
                          <a:endParaRPr lang="it-IT" sz="2400" i="0" dirty="0"/>
                        </a:p>
                      </a:txBody>
                      <a:tcPr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19.6±0.01</m:t>
                                </m:r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529356210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i="1" dirty="0" smtClean="0">
                                    <a:latin typeface="Cambria Math" panose="02040503050406030204" pitchFamily="18" charset="0"/>
                                  </a:rPr>
                                  <m:t>8431</m:t>
                                </m:r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it-IT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5.71±0.04</m:t>
                                </m:r>
                              </m:oMath>
                            </m:oMathPara>
                          </a14:m>
                          <a:endParaRPr kumimoji="0" lang="it-IT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it-IT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6008.4±0.2</m:t>
                                </m:r>
                              </m:oMath>
                            </m:oMathPara>
                          </a14:m>
                          <a:endParaRPr kumimoji="0" lang="it-IT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19.1±0.01</m:t>
                                </m:r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48010959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i="1" dirty="0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8650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rgbClr val="FFC000"/>
                            </a:solidFill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it-IT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FFC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3.89±0.01</m:t>
                                </m:r>
                              </m:oMath>
                            </m:oMathPara>
                          </a14:m>
                          <a:endParaRPr kumimoji="0" lang="it-IT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C000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it-IT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FFC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6081.7±0.1</m:t>
                                </m:r>
                              </m:oMath>
                            </m:oMathPara>
                          </a14:m>
                          <a:endParaRPr kumimoji="0" lang="it-IT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C000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b="0" i="1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</a:rPr>
                                  <m:t>17.1±0.01</m:t>
                                </m:r>
                              </m:oMath>
                            </m:oMathPara>
                          </a14:m>
                          <a:endParaRPr lang="it-IT" sz="2400" dirty="0">
                            <a:solidFill>
                              <a:srgbClr val="FFC000"/>
                            </a:solidFill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53670846"/>
                      </a:ext>
                    </a:extLst>
                  </a:tr>
                  <a:tr h="37084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/>
                            <a:t>Long </a:t>
                          </a:r>
                          <a:r>
                            <a:rPr lang="it-IT" sz="2400" dirty="0" err="1"/>
                            <a:t>crystal</a:t>
                          </a:r>
                          <a:r>
                            <a:rPr lang="it-IT" sz="2400" dirty="0"/>
                            <a:t> 2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i="1" dirty="0" smtClean="0">
                                    <a:latin typeface="Cambria Math" panose="02040503050406030204" pitchFamily="18" charset="0"/>
                                  </a:rPr>
                                  <m:t>8655</m:t>
                                </m:r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it-IT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3.67±0.02</m:t>
                                </m:r>
                              </m:oMath>
                            </m:oMathPara>
                          </a14:m>
                          <a:endParaRPr kumimoji="0" lang="it-IT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it-IT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6122.6±0.3</m:t>
                                </m:r>
                              </m:oMath>
                            </m:oMathPara>
                          </a14:m>
                          <a:endParaRPr kumimoji="0" lang="it-IT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it-IT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18.0±0.01</m:t>
                                </m:r>
                              </m:oMath>
                            </m:oMathPara>
                          </a14:m>
                          <a:endParaRPr kumimoji="0" lang="it-IT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544524089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i="1" dirty="0" smtClean="0">
                                    <a:latin typeface="Cambria Math" panose="02040503050406030204" pitchFamily="18" charset="0"/>
                                  </a:rPr>
                                  <m:t>8656</m:t>
                                </m:r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it-IT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3.80±0.01</m:t>
                                </m:r>
                              </m:oMath>
                            </m:oMathPara>
                          </a14:m>
                          <a:endParaRPr kumimoji="0" lang="it-IT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it-IT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6122.0±0.3</m:t>
                                </m:r>
                              </m:oMath>
                            </m:oMathPara>
                          </a14:m>
                          <a:endParaRPr kumimoji="0" lang="it-IT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it-IT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18.0±0.01</m:t>
                                </m:r>
                              </m:oMath>
                            </m:oMathPara>
                          </a14:m>
                          <a:endParaRPr kumimoji="0" lang="it-IT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4273818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Segnaposto contenuto 10">
                <a:extLst>
                  <a:ext uri="{FF2B5EF4-FFF2-40B4-BE49-F238E27FC236}">
                    <a16:creationId xmlns:a16="http://schemas.microsoft.com/office/drawing/2014/main" id="{8D0382F8-3035-3E53-A226-7D6F37EDAD3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902674871"/>
                  </p:ext>
                </p:extLst>
              </p:nvPr>
            </p:nvGraphicFramePr>
            <p:xfrm>
              <a:off x="838200" y="2059186"/>
              <a:ext cx="10515600" cy="277672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3834650750"/>
                        </a:ext>
                      </a:extLst>
                    </a:gridCol>
                    <a:gridCol w="1642712">
                      <a:extLst>
                        <a:ext uri="{9D8B030D-6E8A-4147-A177-3AD203B41FA5}">
                          <a16:colId xmlns:a16="http://schemas.microsoft.com/office/drawing/2014/main" val="1666825536"/>
                        </a:ext>
                      </a:extLst>
                    </a:gridCol>
                    <a:gridCol w="2358189">
                      <a:extLst>
                        <a:ext uri="{9D8B030D-6E8A-4147-A177-3AD203B41FA5}">
                          <a16:colId xmlns:a16="http://schemas.microsoft.com/office/drawing/2014/main" val="1022820918"/>
                        </a:ext>
                      </a:extLst>
                    </a:gridCol>
                    <a:gridCol w="2159446">
                      <a:extLst>
                        <a:ext uri="{9D8B030D-6E8A-4147-A177-3AD203B41FA5}">
                          <a16:colId xmlns:a16="http://schemas.microsoft.com/office/drawing/2014/main" val="2020566626"/>
                        </a:ext>
                      </a:extLst>
                    </a:gridCol>
                    <a:gridCol w="2252133">
                      <a:extLst>
                        <a:ext uri="{9D8B030D-6E8A-4147-A177-3AD203B41FA5}">
                          <a16:colId xmlns:a16="http://schemas.microsoft.com/office/drawing/2014/main" val="199116097"/>
                        </a:ext>
                      </a:extLst>
                    </a:gridCol>
                  </a:tblGrid>
                  <a:tr h="490728"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b="1" dirty="0" err="1"/>
                            <a:t>run</a:t>
                          </a:r>
                          <a:endParaRPr lang="it-IT" sz="2400" b="1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8915" t="-4938" r="-187597" b="-4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3051" t="-4938" r="-105085" b="-4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6486" t="-4938" r="-541" b="-46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6405646"/>
                      </a:ext>
                    </a:extLst>
                  </a:tr>
                  <a:tr h="457200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/>
                            <a:t>Long </a:t>
                          </a:r>
                          <a:r>
                            <a:rPr lang="it-IT" sz="2400" dirty="0" err="1"/>
                            <a:t>crystal</a:t>
                          </a:r>
                          <a:r>
                            <a:rPr lang="it-IT" sz="2400" dirty="0"/>
                            <a:t> 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127778" t="-113333" r="-412222" b="-4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158915" t="-113333" r="-187597" b="-4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283051" t="-113333" r="-105085" b="-4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366486" t="-113333" r="-541" b="-40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9356210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127778" t="-213333" r="-412222" b="-3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158915" t="-213333" r="-187597" b="-3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83051" t="-213333" r="-105085" b="-3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366486" t="-213333" r="-541" b="-30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010959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7778" t="-309211" r="-41222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8915" t="-309211" r="-187597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3051" t="-309211" r="-10508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6486" t="-309211" r="-541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3670846"/>
                      </a:ext>
                    </a:extLst>
                  </a:tr>
                  <a:tr h="4572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/>
                            <a:t>Long </a:t>
                          </a:r>
                          <a:r>
                            <a:rPr lang="it-IT" sz="2400" dirty="0" err="1"/>
                            <a:t>crystal</a:t>
                          </a:r>
                          <a:r>
                            <a:rPr lang="it-IT" sz="2400" dirty="0"/>
                            <a:t> 2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127778" t="-414667" r="-412222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158915" t="-414667" r="-187597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283051" t="-414667" r="-105085" b="-1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366486" t="-414667" r="-541" b="-102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4524089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7778" t="-514667" r="-412222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8915" t="-514667" r="-187597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3051" t="-514667" r="-105085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6486" t="-514667" r="-541" b="-2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273818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511406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D15EE-E0CD-DBB8-0557-41AFA45E1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4CADC3-A97E-6CE9-A43A-682A34F02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4. COMBINED RESULTS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DED9B23-6341-6217-27A2-9458D68E28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6628363-9935-E4B6-77DD-A483B2C3D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F505CC-6018-7E71-413B-1016AEE17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20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E8019FF7-6D4B-2DBF-09E8-CC4A5508A71A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A1B56BD-FD0F-1F4B-BB59-5AFD665E3673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C62BAA7C-A2B4-88F1-D5D2-96BF5F09E297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Segnaposto contenuto 10">
                <a:extLst>
                  <a:ext uri="{FF2B5EF4-FFF2-40B4-BE49-F238E27FC236}">
                    <a16:creationId xmlns:a16="http://schemas.microsoft.com/office/drawing/2014/main" id="{64ACAFC3-799E-8B06-CC81-4AD4B1D9346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219283717"/>
                  </p:ext>
                </p:extLst>
              </p:nvPr>
            </p:nvGraphicFramePr>
            <p:xfrm>
              <a:off x="838200" y="2059186"/>
              <a:ext cx="10515600" cy="231952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3834650750"/>
                        </a:ext>
                      </a:extLst>
                    </a:gridCol>
                    <a:gridCol w="1642712">
                      <a:extLst>
                        <a:ext uri="{9D8B030D-6E8A-4147-A177-3AD203B41FA5}">
                          <a16:colId xmlns:a16="http://schemas.microsoft.com/office/drawing/2014/main" val="1666825536"/>
                        </a:ext>
                      </a:extLst>
                    </a:gridCol>
                    <a:gridCol w="2358189">
                      <a:extLst>
                        <a:ext uri="{9D8B030D-6E8A-4147-A177-3AD203B41FA5}">
                          <a16:colId xmlns:a16="http://schemas.microsoft.com/office/drawing/2014/main" val="1022820918"/>
                        </a:ext>
                      </a:extLst>
                    </a:gridCol>
                    <a:gridCol w="2159446">
                      <a:extLst>
                        <a:ext uri="{9D8B030D-6E8A-4147-A177-3AD203B41FA5}">
                          <a16:colId xmlns:a16="http://schemas.microsoft.com/office/drawing/2014/main" val="2020566626"/>
                        </a:ext>
                      </a:extLst>
                    </a:gridCol>
                    <a:gridCol w="2252133">
                      <a:extLst>
                        <a:ext uri="{9D8B030D-6E8A-4147-A177-3AD203B41FA5}">
                          <a16:colId xmlns:a16="http://schemas.microsoft.com/office/drawing/2014/main" val="19911609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b="1" dirty="0" err="1"/>
                            <a:t>run</a:t>
                          </a:r>
                          <a:endParaRPr lang="it-IT" sz="2400" b="1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2400" b="1" i="1" smtClean="0">
                                        <a:latin typeface="Cambria Math" panose="02040503050406030204" pitchFamily="18" charset="0"/>
                                      </a:rPr>
                                      <m:t>𝝉</m:t>
                                    </m:r>
                                  </m:e>
                                  <m:sub>
                                    <m:r>
                                      <a:rPr lang="it-IT" sz="2400" b="1" i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sub>
                                </m:sSub>
                                <m:r>
                                  <a:rPr lang="it-IT" sz="2400" b="1" i="1" smtClean="0">
                                    <a:latin typeface="Cambria Math" panose="02040503050406030204" pitchFamily="18" charset="0"/>
                                  </a:rPr>
                                  <m:t> [</m:t>
                                </m:r>
                                <m:r>
                                  <a:rPr lang="it-IT" sz="2400" b="1" i="1" smtClean="0"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  <m:r>
                                  <a:rPr lang="it-IT" sz="2400" b="1" i="0" smtClean="0">
                                    <a:latin typeface="Cambria Math" panose="02040503050406030204" pitchFamily="18" charset="0"/>
                                  </a:rPr>
                                  <m:t>𝐫𝐚𝐝</m:t>
                                </m:r>
                                <m:r>
                                  <a:rPr lang="it-IT" sz="2400" b="1" i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it-IT" sz="2400" b="1" i="0" smtClean="0">
                                    <a:latin typeface="Cambria Math" panose="02040503050406030204" pitchFamily="18" charset="0"/>
                                  </a:rPr>
                                  <m:t>𝐦𝐦</m:t>
                                </m:r>
                                <m:r>
                                  <a:rPr lang="it-IT" sz="2400" b="1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it-IT" sz="2400" b="1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it-IT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2400" b="1" i="1" smtClean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b>
                                  <m:r>
                                    <a:rPr lang="it-IT" sz="2400" b="1" i="1" smtClean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  <m:r>
                                <a:rPr lang="it-IT" sz="2400" b="1" i="1" smtClean="0">
                                  <a:latin typeface="Cambria Math" panose="02040503050406030204" pitchFamily="18" charset="0"/>
                                </a:rPr>
                                <m:t> [</m:t>
                              </m:r>
                              <m:r>
                                <a:rPr lang="it-IT" sz="2400" b="1" i="1" smtClean="0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  <m:r>
                                <a:rPr lang="it-IT" sz="2400" b="1" i="0" smtClean="0">
                                  <a:latin typeface="Cambria Math" panose="02040503050406030204" pitchFamily="18" charset="0"/>
                                </a:rPr>
                                <m:t>𝐫𝐚𝐝</m:t>
                              </m:r>
                              <m:r>
                                <a:rPr lang="it-IT" sz="2400" b="1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r>
                            <a:rPr lang="it-IT" sz="2400" b="1" dirty="0"/>
                            <a:t> </a:t>
                          </a: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it-IT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2400" b="1" i="1" smtClean="0">
                                        <a:latin typeface="Cambria Math" panose="02040503050406030204" pitchFamily="18" charset="0"/>
                                      </a:rPr>
                                      <m:t>𝝐</m:t>
                                    </m:r>
                                  </m:e>
                                  <m:sub>
                                    <m:r>
                                      <a:rPr lang="it-IT" sz="2400" b="1" i="1" smtClean="0">
                                        <a:latin typeface="Cambria Math" panose="02040503050406030204" pitchFamily="18" charset="0"/>
                                      </a:rPr>
                                      <m:t>𝒄𝒉</m:t>
                                    </m:r>
                                  </m:sub>
                                </m:sSub>
                                <m:r>
                                  <a:rPr lang="it-IT" sz="2400" b="1" i="1" smtClean="0">
                                    <a:latin typeface="Cambria Math" panose="02040503050406030204" pitchFamily="18" charset="0"/>
                                  </a:rPr>
                                  <m:t> [%]</m:t>
                                </m:r>
                              </m:oMath>
                            </m:oMathPara>
                          </a14:m>
                          <a:endParaRPr lang="it-IT" sz="2400" b="1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36405646"/>
                      </a:ext>
                    </a:extLst>
                  </a:tr>
                  <a:tr h="37084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/>
                            <a:t>Long </a:t>
                          </a:r>
                          <a:r>
                            <a:rPr lang="it-IT" sz="2400" dirty="0" err="1"/>
                            <a:t>crystal</a:t>
                          </a:r>
                          <a:r>
                            <a:rPr lang="it-IT" sz="2400" dirty="0"/>
                            <a:t> 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i="1" dirty="0" smtClean="0">
                                    <a:latin typeface="Cambria Math" panose="02040503050406030204" pitchFamily="18" charset="0"/>
                                  </a:rPr>
                                  <m:t>8430</m:t>
                                </m:r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5.98</m:t>
                                </m:r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±0.0</m:t>
                                </m:r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it-IT" sz="2400" b="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6008.4±0.1</m:t>
                                </m:r>
                              </m:oMath>
                            </m:oMathPara>
                          </a14:m>
                          <a:endParaRPr lang="it-IT" sz="2400" i="0" dirty="0"/>
                        </a:p>
                      </a:txBody>
                      <a:tcPr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19.4</m:t>
                                </m:r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±0.01</m:t>
                                </m:r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29356210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i="1" dirty="0" smtClean="0">
                                    <a:latin typeface="Cambria Math" panose="02040503050406030204" pitchFamily="18" charset="0"/>
                                  </a:rPr>
                                  <m:t>8431</m:t>
                                </m:r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 vMerge="1">
                      <a:txBody>
                        <a:bodyPr/>
                        <a:lstStyle/>
                        <a:p>
                          <a:pPr/>
                          <a:endParaRPr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it-IT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it-IT" sz="2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48010959"/>
                      </a:ext>
                    </a:extLst>
                  </a:tr>
                  <a:tr h="37084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/>
                            <a:t>Long </a:t>
                          </a:r>
                          <a:r>
                            <a:rPr lang="it-IT" sz="2400" dirty="0" err="1"/>
                            <a:t>crystal</a:t>
                          </a:r>
                          <a:r>
                            <a:rPr lang="it-IT" sz="2400" dirty="0"/>
                            <a:t> 2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i="1" dirty="0" smtClean="0">
                                    <a:latin typeface="Cambria Math" panose="02040503050406030204" pitchFamily="18" charset="0"/>
                                  </a:rPr>
                                  <m:t>8655</m:t>
                                </m:r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it-IT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3.77</m:t>
                                </m:r>
                                <m:r>
                                  <a:rPr kumimoji="0" lang="it-IT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±0.0</m:t>
                                </m:r>
                                <m:r>
                                  <a:rPr kumimoji="0" lang="it-IT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it-IT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it-IT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6122</m:t>
                                </m:r>
                                <m:r>
                                  <a:rPr kumimoji="0" lang="it-IT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.</m:t>
                                </m:r>
                                <m:r>
                                  <a:rPr kumimoji="0" lang="it-IT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3</m:t>
                                </m:r>
                                <m:r>
                                  <a:rPr kumimoji="0" lang="it-IT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±0.2</m:t>
                                </m:r>
                              </m:oMath>
                            </m:oMathPara>
                          </a14:m>
                          <a:endParaRPr kumimoji="0" lang="it-IT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rowSpan="2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it-IT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18.0</m:t>
                                </m:r>
                                <m:r>
                                  <a:rPr kumimoji="0" lang="it-IT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±0.01</m:t>
                                </m:r>
                              </m:oMath>
                            </m:oMathPara>
                          </a14:m>
                          <a:endParaRPr kumimoji="0" lang="it-IT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44524089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2400" i="1" dirty="0" smtClean="0">
                                    <a:latin typeface="Cambria Math" panose="02040503050406030204" pitchFamily="18" charset="0"/>
                                  </a:rPr>
                                  <m:t>8656</m:t>
                                </m:r>
                              </m:oMath>
                            </m:oMathPara>
                          </a14:m>
                          <a:endParaRPr lang="it-IT" sz="2400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it-IT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it-IT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it-IT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4273818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Segnaposto contenuto 10">
                <a:extLst>
                  <a:ext uri="{FF2B5EF4-FFF2-40B4-BE49-F238E27FC236}">
                    <a16:creationId xmlns:a16="http://schemas.microsoft.com/office/drawing/2014/main" id="{64ACAFC3-799E-8B06-CC81-4AD4B1D9346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219283717"/>
                  </p:ext>
                </p:extLst>
              </p:nvPr>
            </p:nvGraphicFramePr>
            <p:xfrm>
              <a:off x="838200" y="2059186"/>
              <a:ext cx="10515600" cy="231952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3834650750"/>
                        </a:ext>
                      </a:extLst>
                    </a:gridCol>
                    <a:gridCol w="1642712">
                      <a:extLst>
                        <a:ext uri="{9D8B030D-6E8A-4147-A177-3AD203B41FA5}">
                          <a16:colId xmlns:a16="http://schemas.microsoft.com/office/drawing/2014/main" val="1666825536"/>
                        </a:ext>
                      </a:extLst>
                    </a:gridCol>
                    <a:gridCol w="2358189">
                      <a:extLst>
                        <a:ext uri="{9D8B030D-6E8A-4147-A177-3AD203B41FA5}">
                          <a16:colId xmlns:a16="http://schemas.microsoft.com/office/drawing/2014/main" val="1022820918"/>
                        </a:ext>
                      </a:extLst>
                    </a:gridCol>
                    <a:gridCol w="2159446">
                      <a:extLst>
                        <a:ext uri="{9D8B030D-6E8A-4147-A177-3AD203B41FA5}">
                          <a16:colId xmlns:a16="http://schemas.microsoft.com/office/drawing/2014/main" val="2020566626"/>
                        </a:ext>
                      </a:extLst>
                    </a:gridCol>
                    <a:gridCol w="2252133">
                      <a:extLst>
                        <a:ext uri="{9D8B030D-6E8A-4147-A177-3AD203B41FA5}">
                          <a16:colId xmlns:a16="http://schemas.microsoft.com/office/drawing/2014/main" val="199116097"/>
                        </a:ext>
                      </a:extLst>
                    </a:gridCol>
                  </a:tblGrid>
                  <a:tr h="490728">
                    <a:tc>
                      <a:txBody>
                        <a:bodyPr/>
                        <a:lstStyle/>
                        <a:p>
                          <a:pPr algn="ctr"/>
                          <a:endParaRPr lang="it-IT" sz="2400" dirty="0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2400" b="1" dirty="0" err="1"/>
                            <a:t>run</a:t>
                          </a:r>
                          <a:endParaRPr lang="it-IT" sz="2400" b="1" dirty="0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8915" t="-4938" r="-187597" b="-3740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3051" t="-4938" r="-105085" b="-3740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6486" t="-4938" r="-541" b="-3740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6405646"/>
                      </a:ext>
                    </a:extLst>
                  </a:tr>
                  <a:tr h="4572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/>
                            <a:t>Long </a:t>
                          </a:r>
                          <a:r>
                            <a:rPr lang="it-IT" sz="2400" dirty="0" err="1"/>
                            <a:t>crystal</a:t>
                          </a:r>
                          <a:r>
                            <a:rPr lang="it-IT" sz="2400" dirty="0"/>
                            <a:t> 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127778" t="-113333" r="-412222" b="-30400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8915" t="-56667" r="-187597" b="-10200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3051" t="-56667" r="-105085" b="-102000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6486" t="-56667" r="-541" b="-10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9356210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127778" t="-213333" r="-412222" b="-204000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/>
                          <a:endParaRPr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it-IT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it-IT" sz="2400" dirty="0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48010959"/>
                      </a:ext>
                    </a:extLst>
                  </a:tr>
                  <a:tr h="45720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it-IT" sz="2400" dirty="0"/>
                            <a:t>Long </a:t>
                          </a:r>
                          <a:r>
                            <a:rPr lang="it-IT" sz="2400" dirty="0" err="1"/>
                            <a:t>crystal</a:t>
                          </a:r>
                          <a:r>
                            <a:rPr lang="it-IT" sz="2400" dirty="0"/>
                            <a:t> 2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127778" t="-309211" r="-412222" b="-101316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8915" t="-155629" r="-187597" b="-132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83051" t="-155629" r="-105085" b="-1325"/>
                          </a:stretch>
                        </a:blipFill>
                      </a:tcPr>
                    </a:tc>
                    <a:tc rowSpan="2"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6486" t="-155629" r="-541" b="-13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44524089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endParaRPr lang="it-IT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7778" t="-414667" r="-412222" b="-2667"/>
                          </a:stretch>
                        </a:blip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it-IT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it-IT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it-IT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Aptos" panose="0211000402020202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4273818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935802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1969C-555A-9CE3-366A-93E474515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9862AA0-1034-A96A-11F8-4B9F4F62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4. FINAL RESULTS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D952E5-EAD7-C566-D07F-BCF009E6CF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1E82E26-A18F-E4B2-16DC-4F15DFA1D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C954C07-8E44-B103-9820-F6FC940E7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21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B844E650-12D4-EFF3-7840-141428F50368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09E15CB5-7181-A2A3-5662-F06C5C13F146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F65F5B79-6256-2B6D-4DA3-A35E035B5C8D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Segnaposto contenuto 6">
                <a:extLst>
                  <a:ext uri="{FF2B5EF4-FFF2-40B4-BE49-F238E27FC236}">
                    <a16:creationId xmlns:a16="http://schemas.microsoft.com/office/drawing/2014/main" id="{63E1780A-3EA9-670E-66EE-AD225EA234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8011"/>
                <a:ext cx="10515600" cy="4648952"/>
              </a:xfrm>
            </p:spPr>
            <p:txBody>
              <a:bodyPr>
                <a:normAutofit/>
              </a:bodyPr>
              <a:lstStyle/>
              <a:p>
                <a:endParaRPr lang="it-IT" sz="2600" dirty="0"/>
              </a:p>
              <a:p>
                <a:r>
                  <a:rPr lang="it-IT" sz="2600" dirty="0"/>
                  <a:t>Crystal 1 </a:t>
                </a:r>
                <a:r>
                  <a:rPr lang="it-IT" sz="2600" dirty="0" err="1"/>
                  <a:t>does</a:t>
                </a:r>
                <a:r>
                  <a:rPr lang="it-IT" sz="2600" dirty="0"/>
                  <a:t> show </a:t>
                </a:r>
                <a:r>
                  <a:rPr lang="it-IT" sz="2600" dirty="0" err="1"/>
                  <a:t>inconsistencies</a:t>
                </a:r>
                <a:r>
                  <a:rPr lang="it-IT" sz="2600" dirty="0"/>
                  <a:t> in </a:t>
                </a:r>
                <a:r>
                  <a:rPr lang="it-IT" sz="2600" dirty="0" err="1"/>
                  <a:t>different</a:t>
                </a:r>
                <a:r>
                  <a:rPr lang="it-IT" sz="2600" dirty="0"/>
                  <a:t> </a:t>
                </a:r>
                <a:r>
                  <a:rPr lang="it-IT" sz="2600" dirty="0" err="1"/>
                  <a:t>runs</a:t>
                </a:r>
                <a:r>
                  <a:rPr lang="it-IT" sz="2600" dirty="0"/>
                  <a:t> (8430 and 8650 </a:t>
                </a:r>
                <a:r>
                  <a:rPr lang="it-IT" sz="2600" dirty="0" err="1"/>
                  <a:t>have</a:t>
                </a:r>
                <a:r>
                  <a:rPr lang="it-IT" sz="2600" dirty="0"/>
                  <a:t> </a:t>
                </a:r>
                <a:r>
                  <a:rPr lang="it-IT" sz="2600" dirty="0" err="1"/>
                  <a:t>different</a:t>
                </a:r>
                <a:r>
                  <a:rPr lang="it-IT" sz="2600" dirty="0"/>
                  <a:t> energies)</a:t>
                </a:r>
              </a:p>
              <a:p>
                <a:endParaRPr lang="it-IT" sz="2600" dirty="0"/>
              </a:p>
              <a:p>
                <a:r>
                  <a:rPr lang="it-IT" sz="2600" dirty="0"/>
                  <a:t>Crystal 1 shows a maximum </a:t>
                </a:r>
                <a:r>
                  <a:rPr lang="it-IT" sz="2600" dirty="0" err="1"/>
                  <a:t>efficiency</a:t>
                </a:r>
                <a:r>
                  <a:rPr lang="it-IT" sz="2600" dirty="0"/>
                  <a:t> of </a:t>
                </a:r>
                <a14:m>
                  <m:oMath xmlns:m="http://schemas.openxmlformats.org/officeDocument/2006/math">
                    <m:r>
                      <a:rPr lang="it-IT" sz="2600" b="0" i="1" smtClean="0">
                        <a:latin typeface="Cambria Math" panose="02040503050406030204" pitchFamily="18" charset="0"/>
                      </a:rPr>
                      <m:t>∼25.4%</m:t>
                    </m:r>
                  </m:oMath>
                </a14:m>
                <a:r>
                  <a:rPr lang="it-IT" sz="2600" dirty="0"/>
                  <a:t> </a:t>
                </a:r>
              </a:p>
              <a:p>
                <a:r>
                  <a:rPr lang="it-IT" sz="2600" dirty="0"/>
                  <a:t>Crystal 2 shows a maximum </a:t>
                </a:r>
                <a:r>
                  <a:rPr lang="it-IT" sz="2600" dirty="0" err="1"/>
                  <a:t>efficiency</a:t>
                </a:r>
                <a:r>
                  <a:rPr lang="it-IT" sz="2600" dirty="0"/>
                  <a:t> of </a:t>
                </a:r>
                <a14:m>
                  <m:oMath xmlns:m="http://schemas.openxmlformats.org/officeDocument/2006/math">
                    <m:r>
                      <a:rPr lang="it-IT" sz="2600" i="1">
                        <a:latin typeface="Cambria Math" panose="02040503050406030204" pitchFamily="18" charset="0"/>
                      </a:rPr>
                      <m:t>∼2</m:t>
                    </m:r>
                    <m:r>
                      <a:rPr lang="it-IT" sz="2600" b="0" i="1" smtClean="0">
                        <a:latin typeface="Cambria Math" panose="02040503050406030204" pitchFamily="18" charset="0"/>
                      </a:rPr>
                      <m:t>3.1</m:t>
                    </m:r>
                    <m:r>
                      <a:rPr lang="it-IT" sz="2600" i="1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 lang="it-IT" sz="2600" dirty="0"/>
              </a:p>
              <a:p>
                <a:endParaRPr lang="it-IT" sz="2600" dirty="0"/>
              </a:p>
            </p:txBody>
          </p:sp>
        </mc:Choice>
        <mc:Fallback>
          <p:sp>
            <p:nvSpPr>
              <p:cNvPr id="7" name="Segnaposto contenuto 6">
                <a:extLst>
                  <a:ext uri="{FF2B5EF4-FFF2-40B4-BE49-F238E27FC236}">
                    <a16:creationId xmlns:a16="http://schemas.microsoft.com/office/drawing/2014/main" id="{63E1780A-3EA9-670E-66EE-AD225EA234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8011"/>
                <a:ext cx="10515600" cy="4648952"/>
              </a:xfrm>
              <a:blipFill>
                <a:blip r:embed="rId3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90718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918F9-20BA-7D9D-5E18-95A4ACCDA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C2B6A7-5B88-7985-2BEA-87C654539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4. NEXT STEPS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72C9FB-F02B-0FD3-BD32-CEA5EF315E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76B9A53-D0F8-EEB0-DAA4-E86ED39F8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B89205E-8934-3BED-AA1E-58FEF0E9F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22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E1514724-120A-654B-3739-07F2ED8192E3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ttangolo con angoli arrotondati 6">
                <a:extLst>
                  <a:ext uri="{FF2B5EF4-FFF2-40B4-BE49-F238E27FC236}">
                    <a16:creationId xmlns:a16="http://schemas.microsoft.com/office/drawing/2014/main" id="{4FAE4BBF-9B14-E627-BE4A-5F711FF700E2}"/>
                  </a:ext>
                </a:extLst>
              </p:cNvPr>
              <p:cNvSpPr/>
              <p:nvPr/>
            </p:nvSpPr>
            <p:spPr>
              <a:xfrm>
                <a:off x="696000" y="1497271"/>
                <a:ext cx="3535758" cy="4791701"/>
              </a:xfrm>
              <a:prstGeom prst="roundRect">
                <a:avLst/>
              </a:prstGeom>
              <a:noFill/>
              <a:ln w="381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it-IT" sz="2000" b="1" dirty="0">
                  <a:solidFill>
                    <a:srgbClr val="002060"/>
                  </a:solidFill>
                </a:endParaRPr>
              </a:p>
              <a:p>
                <a:pPr algn="ctr"/>
                <a:endParaRPr lang="it-IT" sz="2000" b="1" dirty="0">
                  <a:solidFill>
                    <a:srgbClr val="002060"/>
                  </a:solidFill>
                </a:endParaRPr>
              </a:p>
              <a:p>
                <a:pPr algn="ctr"/>
                <a:r>
                  <a:rPr lang="it-IT" sz="2000" b="1" dirty="0">
                    <a:solidFill>
                      <a:srgbClr val="002060"/>
                    </a:solidFill>
                  </a:rPr>
                  <a:t>ERRORS</a:t>
                </a:r>
              </a:p>
              <a:p>
                <a:pPr algn="ctr"/>
                <a:endParaRPr lang="it-IT" sz="20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it-IT" sz="2000" dirty="0">
                    <a:solidFill>
                      <a:schemeClr val="tx1"/>
                    </a:solidFill>
                  </a:rPr>
                  <a:t>Quantify </a:t>
                </a:r>
                <a:r>
                  <a:rPr lang="it-IT" sz="2000" dirty="0" err="1">
                    <a:solidFill>
                      <a:schemeClr val="tx1"/>
                    </a:solidFill>
                  </a:rPr>
                  <a:t>statistical</a:t>
                </a:r>
                <a:r>
                  <a:rPr lang="it-IT" sz="2000" dirty="0">
                    <a:solidFill>
                      <a:schemeClr val="tx1"/>
                    </a:solidFill>
                  </a:rPr>
                  <a:t> and </a:t>
                </a:r>
                <a:r>
                  <a:rPr lang="it-IT" sz="2000" dirty="0" err="1">
                    <a:solidFill>
                      <a:schemeClr val="tx1"/>
                    </a:solidFill>
                  </a:rPr>
                  <a:t>systematic</a:t>
                </a:r>
                <a:r>
                  <a:rPr lang="it-IT" sz="2000" dirty="0">
                    <a:solidFill>
                      <a:schemeClr val="tx1"/>
                    </a:solidFill>
                  </a:rPr>
                  <a:t> </a:t>
                </a:r>
                <a:r>
                  <a:rPr lang="it-IT" sz="2000" dirty="0" err="1">
                    <a:solidFill>
                      <a:schemeClr val="tx1"/>
                    </a:solidFill>
                  </a:rPr>
                  <a:t>uncertainties</a:t>
                </a:r>
                <a:r>
                  <a:rPr lang="it-IT" sz="2000" dirty="0">
                    <a:solidFill>
                      <a:schemeClr val="tx1"/>
                    </a:solidFill>
                  </a:rPr>
                  <a:t> on the </a:t>
                </a:r>
                <a:r>
                  <a:rPr lang="it-IT" sz="2000" dirty="0" err="1">
                    <a:solidFill>
                      <a:schemeClr val="tx1"/>
                    </a:solidFill>
                  </a:rPr>
                  <a:t>channeling</a:t>
                </a:r>
                <a:r>
                  <a:rPr lang="it-IT" sz="2000" dirty="0">
                    <a:solidFill>
                      <a:schemeClr val="tx1"/>
                    </a:solidFill>
                  </a:rPr>
                  <a:t> </a:t>
                </a:r>
                <a:r>
                  <a:rPr lang="it-IT" sz="2000" dirty="0" err="1">
                    <a:solidFill>
                      <a:schemeClr val="tx1"/>
                    </a:solidFill>
                  </a:rPr>
                  <a:t>efficiency</a:t>
                </a:r>
                <a:r>
                  <a:rPr lang="it-IT" sz="2000" dirty="0">
                    <a:solidFill>
                      <a:schemeClr val="tx1"/>
                    </a:solidFill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it-IT" sz="20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𝑐h</m:t>
                        </m:r>
                      </m:sub>
                    </m:sSub>
                  </m:oMath>
                </a14:m>
                <a:r>
                  <a:rPr lang="it-IT" sz="2000" dirty="0">
                    <a:solidFill>
                      <a:schemeClr val="tx1"/>
                    </a:solidFill>
                  </a:rPr>
                  <a:t>) and </a:t>
                </a:r>
                <a:r>
                  <a:rPr lang="it-IT" sz="2000" dirty="0" err="1">
                    <a:solidFill>
                      <a:schemeClr val="tx1"/>
                    </a:solidFill>
                  </a:rPr>
                  <a:t>torsion</a:t>
                </a:r>
                <a:r>
                  <a:rPr lang="it-IT" sz="2000" dirty="0">
                    <a:solidFill>
                      <a:schemeClr val="tx1"/>
                    </a:solidFill>
                  </a:rPr>
                  <a:t> </a:t>
                </a:r>
                <a:r>
                  <a:rPr lang="it-IT" sz="2000" dirty="0" err="1">
                    <a:solidFill>
                      <a:schemeClr val="tx1"/>
                    </a:solidFill>
                  </a:rPr>
                  <a:t>parameters</a:t>
                </a:r>
                <a:r>
                  <a:rPr lang="it-IT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 algn="ctr"/>
                <a:endParaRPr lang="it-IT" sz="2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Rettangolo con angoli arrotondati 6">
                <a:extLst>
                  <a:ext uri="{FF2B5EF4-FFF2-40B4-BE49-F238E27FC236}">
                    <a16:creationId xmlns:a16="http://schemas.microsoft.com/office/drawing/2014/main" id="{4FAE4BBF-9B14-E627-BE4A-5F711FF700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00" y="1497271"/>
                <a:ext cx="3535758" cy="479170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206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C331D47E-6024-8ED6-1B52-08C575E065AE}"/>
              </a:ext>
            </a:extLst>
          </p:cNvPr>
          <p:cNvSpPr/>
          <p:nvPr/>
        </p:nvSpPr>
        <p:spPr>
          <a:xfrm>
            <a:off x="4328122" y="1497270"/>
            <a:ext cx="3535758" cy="4791701"/>
          </a:xfrm>
          <a:prstGeom prst="round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t-IT" sz="2000" b="1" dirty="0">
              <a:solidFill>
                <a:srgbClr val="002060"/>
              </a:solidFill>
            </a:endParaRPr>
          </a:p>
          <a:p>
            <a:pPr algn="ctr"/>
            <a:endParaRPr lang="it-IT" sz="2000" b="1" dirty="0">
              <a:solidFill>
                <a:srgbClr val="002060"/>
              </a:solidFill>
            </a:endParaRPr>
          </a:p>
          <a:p>
            <a:pPr algn="ctr"/>
            <a:r>
              <a:rPr lang="it-IT" sz="2000" b="1" dirty="0">
                <a:solidFill>
                  <a:srgbClr val="002060"/>
                </a:solidFill>
              </a:rPr>
              <a:t>SPIKES</a:t>
            </a:r>
          </a:p>
          <a:p>
            <a:pPr algn="ctr"/>
            <a:endParaRPr lang="it-IT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Explore the spikes found in the histogram from the channeled particles</a:t>
            </a:r>
          </a:p>
          <a:p>
            <a:pPr algn="ctr"/>
            <a:endParaRPr lang="it-IT" sz="2000" dirty="0">
              <a:solidFill>
                <a:schemeClr val="tx1"/>
              </a:solidFill>
            </a:endParaRP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AE996907-1C92-5C32-265F-168B18C4415E}"/>
              </a:ext>
            </a:extLst>
          </p:cNvPr>
          <p:cNvSpPr/>
          <p:nvPr/>
        </p:nvSpPr>
        <p:spPr>
          <a:xfrm>
            <a:off x="7960244" y="1497270"/>
            <a:ext cx="3535758" cy="4791701"/>
          </a:xfrm>
          <a:prstGeom prst="round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t-IT" sz="2000" b="1" dirty="0">
              <a:solidFill>
                <a:srgbClr val="002060"/>
              </a:solidFill>
            </a:endParaRPr>
          </a:p>
          <a:p>
            <a:pPr algn="ctr"/>
            <a:endParaRPr lang="it-IT" sz="2000" b="1" dirty="0">
              <a:solidFill>
                <a:srgbClr val="002060"/>
              </a:solidFill>
            </a:endParaRPr>
          </a:p>
          <a:p>
            <a:pPr algn="ctr"/>
            <a:r>
              <a:rPr lang="it-IT" sz="2000" b="1" dirty="0">
                <a:solidFill>
                  <a:srgbClr val="002060"/>
                </a:solidFill>
              </a:rPr>
              <a:t>RUN 8650</a:t>
            </a:r>
          </a:p>
          <a:p>
            <a:pPr algn="ctr"/>
            <a:endParaRPr lang="it-IT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Understand why run 8650 shows an incompatible channeling peak.</a:t>
            </a:r>
            <a:endParaRPr lang="it-IT" sz="2000" dirty="0">
              <a:solidFill>
                <a:schemeClr val="tx1"/>
              </a:solidFill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0A7A72E2-5B8D-57F8-F8BE-67DBD8C8D5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231" b="61754"/>
          <a:stretch>
            <a:fillRect/>
          </a:stretch>
        </p:blipFill>
        <p:spPr>
          <a:xfrm>
            <a:off x="4586923" y="4403558"/>
            <a:ext cx="3018156" cy="165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2136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C6EFF-B9B4-605B-23DF-EDC01FF41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797431-BBE5-CB25-093B-D04D3DF2F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BACKUP SLIDES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B987156-1AA3-606D-F960-F5521BB0A1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89376CE-2672-8B5F-17F8-C7FABE69F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518D8F0-CFAD-5A22-0C45-35621E72D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23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19CCD89B-D23E-B601-CB0F-35F735A548A8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4868D235-E176-E7CA-EEBD-17788382E362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BB2D0B5E-0AD3-1AC2-900A-351764AC43C1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634786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418D0-178A-C93A-FF92-79CB23884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89A4B7-4387-2BB7-3C48-46DB19514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BACKUP SLIDES: SCHEMATIC LAYOUT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DBFB0E-FB82-3C32-FE20-89DEF3428F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DDDD74D-1EB9-2D22-F8E3-99411AEAD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7F57EDD-504C-8703-B373-775040D94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24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DA8C001C-29B0-3295-646E-77D6416186F8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E83A5A8-9F52-79AB-6097-3ED9E0DA104E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9D0E9B7-7CD4-2769-C5D2-C454E014F2EC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DD1CB2A6-1166-CF2E-28FE-9AF384B5B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09" y="1545256"/>
            <a:ext cx="11303581" cy="470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661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0868C-48AA-624D-FC8E-B8A0F7FD8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81BE3F-761B-C031-718C-B937798DE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BACKUP SLIDES: SPATIAL CUT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83A6044-8191-1821-ADA3-B644EAE134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A0F2C72-5ABE-0EBA-2479-43E5859BB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06C0F3-F1DF-3C2C-B4EF-0115636BF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25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B9F4022D-EA7D-42B8-B590-F13E113B4373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9037BDD-8530-1C71-AC3D-B5E42866C854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6BFC361-AD21-8A45-4798-C3D7486AEAE4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8D788910-F3D0-9CC6-0AAB-A1C89CE3D485}"/>
              </a:ext>
            </a:extLst>
          </p:cNvPr>
          <p:cNvGrpSpPr/>
          <p:nvPr/>
        </p:nvGrpSpPr>
        <p:grpSpPr>
          <a:xfrm>
            <a:off x="2629724" y="1358900"/>
            <a:ext cx="6932552" cy="4818615"/>
            <a:chOff x="3357897" y="2667753"/>
            <a:chExt cx="5476207" cy="3688596"/>
          </a:xfrm>
        </p:grpSpPr>
        <p:pic>
          <p:nvPicPr>
            <p:cNvPr id="8" name="Immagine 7">
              <a:extLst>
                <a:ext uri="{FF2B5EF4-FFF2-40B4-BE49-F238E27FC236}">
                  <a16:creationId xmlns:a16="http://schemas.microsoft.com/office/drawing/2014/main" id="{3B885F0C-3A52-E818-1FFE-79CA8492B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10" b="2210"/>
            <a:stretch/>
          </p:blipFill>
          <p:spPr>
            <a:xfrm>
              <a:off x="3357897" y="2667753"/>
              <a:ext cx="5476207" cy="3688596"/>
            </a:xfrm>
            <a:prstGeom prst="rect">
              <a:avLst/>
            </a:prstGeom>
          </p:spPr>
        </p:pic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171A131D-410B-0265-ADB7-86EA3B4EFF2F}"/>
                </a:ext>
              </a:extLst>
            </p:cNvPr>
            <p:cNvSpPr/>
            <p:nvPr/>
          </p:nvSpPr>
          <p:spPr>
            <a:xfrm>
              <a:off x="5196417" y="3907271"/>
              <a:ext cx="302683" cy="99161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2F82BAFF-9135-53DE-9837-BE4B01F3EB56}"/>
              </a:ext>
            </a:extLst>
          </p:cNvPr>
          <p:cNvSpPr txBox="1"/>
          <p:nvPr/>
        </p:nvSpPr>
        <p:spPr>
          <a:xfrm>
            <a:off x="4694745" y="4341592"/>
            <a:ext cx="908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2 mm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70D2CBEF-B1E0-9EA7-A712-FF2A323B86DA}"/>
              </a:ext>
            </a:extLst>
          </p:cNvPr>
          <p:cNvSpPr txBox="1"/>
          <p:nvPr/>
        </p:nvSpPr>
        <p:spPr>
          <a:xfrm>
            <a:off x="5305496" y="3398875"/>
            <a:ext cx="1158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12.8 mm</a:t>
            </a:r>
          </a:p>
        </p:txBody>
      </p:sp>
    </p:spTree>
    <p:extLst>
      <p:ext uri="{BB962C8B-B14F-4D97-AF65-F5344CB8AC3E}">
        <p14:creationId xmlns:p14="http://schemas.microsoft.com/office/powerpoint/2010/main" val="15443400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39A26-B793-2D85-3CAD-E2D79658E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F88687-BF13-F647-4364-E442CA109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BACKUP SLIDES: ANGLE SELECTION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2385FB3-6561-5C04-3B4A-79D0186CC2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1AACA59-250E-7219-30FF-8FCF7919E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550E125-E034-E05A-7A7B-63CD2B3E5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26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CDCFE4DC-AED6-5073-176B-DAA7D9E6B258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766DD3B-A09B-2B03-760F-4FD2350D7465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CCB820BB-33C0-FD49-8310-C67C15646B1F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1BBF9FFD-F79D-AA1B-DF5A-87466EEE68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8750" y="1222745"/>
            <a:ext cx="8432572" cy="5253769"/>
          </a:xfrm>
          <a:prstGeom prst="rect">
            <a:avLst/>
          </a:prstGeom>
        </p:spPr>
      </p:pic>
      <p:grpSp>
        <p:nvGrpSpPr>
          <p:cNvPr id="8" name="Gruppo 7">
            <a:extLst>
              <a:ext uri="{FF2B5EF4-FFF2-40B4-BE49-F238E27FC236}">
                <a16:creationId xmlns:a16="http://schemas.microsoft.com/office/drawing/2014/main" id="{33CB32C7-0FCA-E3A2-3F6E-CA232C9F465D}"/>
              </a:ext>
            </a:extLst>
          </p:cNvPr>
          <p:cNvGrpSpPr/>
          <p:nvPr/>
        </p:nvGrpSpPr>
        <p:grpSpPr>
          <a:xfrm>
            <a:off x="5650030" y="1568918"/>
            <a:ext cx="1822739" cy="567891"/>
            <a:chOff x="4340994" y="1588168"/>
            <a:chExt cx="1822739" cy="567891"/>
          </a:xfrm>
        </p:grpSpPr>
        <p:cxnSp>
          <p:nvCxnSpPr>
            <p:cNvPr id="9" name="Connettore 2 8">
              <a:extLst>
                <a:ext uri="{FF2B5EF4-FFF2-40B4-BE49-F238E27FC236}">
                  <a16:creationId xmlns:a16="http://schemas.microsoft.com/office/drawing/2014/main" id="{D8CF927E-5FAC-04F9-9C12-62E9DAC2A3CC}"/>
                </a:ext>
              </a:extLst>
            </p:cNvPr>
            <p:cNvCxnSpPr/>
            <p:nvPr/>
          </p:nvCxnSpPr>
          <p:spPr>
            <a:xfrm flipH="1">
              <a:off x="4340994" y="1876926"/>
              <a:ext cx="625642" cy="19250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ttangolo con angoli arrotondati 10">
                  <a:extLst>
                    <a:ext uri="{FF2B5EF4-FFF2-40B4-BE49-F238E27FC236}">
                      <a16:creationId xmlns:a16="http://schemas.microsoft.com/office/drawing/2014/main" id="{BB4D091A-960D-5AFF-1B6D-37F1F84E8EA1}"/>
                    </a:ext>
                  </a:extLst>
                </p:cNvPr>
                <p:cNvSpPr/>
                <p:nvPr/>
              </p:nvSpPr>
              <p:spPr>
                <a:xfrm>
                  <a:off x="4966636" y="1588168"/>
                  <a:ext cx="1197097" cy="567891"/>
                </a:xfrm>
                <a:prstGeom prst="roundRect">
                  <a:avLst/>
                </a:prstGeom>
                <a:solidFill>
                  <a:schemeClr val="bg1"/>
                </a:solidFill>
                <a:ln w="381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it-IT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±</m:t>
                      </m:r>
                      <m:f>
                        <m:fPr>
                          <m:ctrlPr>
                            <a:rPr lang="it-IT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it-IT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it-IT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a14:m>
                  <a:r>
                    <a:rPr lang="it-IT" dirty="0">
                      <a:solidFill>
                        <a:schemeClr val="tx1"/>
                      </a:solidFill>
                    </a:rPr>
                    <a:t> cut</a:t>
                  </a:r>
                </a:p>
              </p:txBody>
            </p:sp>
          </mc:Choice>
          <mc:Fallback xmlns="">
            <p:sp>
              <p:nvSpPr>
                <p:cNvPr id="11" name="Rettangolo con angoli arrotondati 10">
                  <a:extLst>
                    <a:ext uri="{FF2B5EF4-FFF2-40B4-BE49-F238E27FC236}">
                      <a16:creationId xmlns:a16="http://schemas.microsoft.com/office/drawing/2014/main" id="{BB4D091A-960D-5AFF-1B6D-37F1F84E8EA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6636" y="1588168"/>
                  <a:ext cx="1197097" cy="567891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38100"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A8798A75-C305-1750-5F2B-933C372D6414}"/>
                  </a:ext>
                </a:extLst>
              </p:cNvPr>
              <p:cNvSpPr txBox="1"/>
              <p:nvPr/>
            </p:nvSpPr>
            <p:spPr>
              <a:xfrm>
                <a:off x="696000" y="2269944"/>
                <a:ext cx="2601609" cy="32969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2000" dirty="0"/>
                  <a:t>For </a:t>
                </a:r>
                <a:r>
                  <a:rPr lang="it-IT" sz="2000" dirty="0" err="1"/>
                  <a:t>each</a:t>
                </a:r>
                <a:r>
                  <a:rPr lang="it-IT" sz="2000" dirty="0"/>
                  <a:t> </a:t>
                </a:r>
                <a:r>
                  <a:rPr lang="it-IT" sz="2000" dirty="0" err="1"/>
                  <a:t>square</a:t>
                </a:r>
                <a:r>
                  <a:rPr lang="it-IT" sz="2000" dirty="0"/>
                  <a:t> bin:</a:t>
                </a:r>
              </a:p>
              <a:p>
                <a:endParaRPr lang="it-IT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IT" sz="2000" dirty="0"/>
                  <a:t>variation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it-IT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IT" sz="2000" dirty="0" err="1"/>
                  <a:t>select</a:t>
                </a:r>
                <a:r>
                  <a:rPr lang="it-IT" sz="2000" dirty="0"/>
                  <a:t> </a:t>
                </a:r>
                <a:r>
                  <a:rPr lang="it-IT" sz="2000" dirty="0" err="1"/>
                  <a:t>particles</a:t>
                </a:r>
                <a:r>
                  <a:rPr lang="it-IT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it-IT" sz="2000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it-IT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it-IT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it-IT" sz="2000" i="1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endParaRPr lang="it-IT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IT" sz="2000" dirty="0"/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𝑐h</m:t>
                        </m:r>
                      </m:sub>
                    </m:sSub>
                  </m:oMath>
                </a14:m>
                <a:endParaRPr lang="it-IT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IT" sz="2000" dirty="0"/>
                  <a:t>select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sz="2000" dirty="0"/>
                  <a:t> that </a:t>
                </a:r>
                <a:r>
                  <a:rPr lang="it-IT" sz="2000" dirty="0" err="1"/>
                  <a:t>maximizes</a:t>
                </a:r>
                <a:r>
                  <a:rPr lang="it-IT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𝑐h</m:t>
                        </m:r>
                      </m:sub>
                    </m:sSub>
                  </m:oMath>
                </a14:m>
                <a:r>
                  <a:rPr lang="it-IT" sz="2000" dirty="0"/>
                  <a:t> (through </a:t>
                </a:r>
                <a:r>
                  <a:rPr lang="it-IT" sz="2000" dirty="0" err="1"/>
                  <a:t>gaussian</a:t>
                </a:r>
                <a:r>
                  <a:rPr lang="it-IT" sz="2000" dirty="0"/>
                  <a:t> </a:t>
                </a:r>
                <a:r>
                  <a:rPr lang="it-IT" sz="2000" dirty="0" err="1"/>
                  <a:t>fit</a:t>
                </a:r>
                <a:r>
                  <a:rPr lang="it-IT" sz="2000" dirty="0"/>
                  <a:t>)</a:t>
                </a:r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A8798A75-C305-1750-5F2B-933C372D6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00" y="2269944"/>
                <a:ext cx="2601609" cy="3296928"/>
              </a:xfrm>
              <a:prstGeom prst="rect">
                <a:avLst/>
              </a:prstGeom>
              <a:blipFill>
                <a:blip r:embed="rId5"/>
                <a:stretch>
                  <a:fillRect l="-2342" t="-924" b="-240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onnettore diritto 15">
            <a:extLst>
              <a:ext uri="{FF2B5EF4-FFF2-40B4-BE49-F238E27FC236}">
                <a16:creationId xmlns:a16="http://schemas.microsoft.com/office/drawing/2014/main" id="{ABD559CF-BD2C-1502-6F8B-FB36F8027603}"/>
              </a:ext>
            </a:extLst>
          </p:cNvPr>
          <p:cNvCxnSpPr>
            <a:cxnSpLocks/>
          </p:cNvCxnSpPr>
          <p:nvPr/>
        </p:nvCxnSpPr>
        <p:spPr>
          <a:xfrm>
            <a:off x="5393267" y="1764543"/>
            <a:ext cx="0" cy="4179057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diritto 17">
            <a:extLst>
              <a:ext uri="{FF2B5EF4-FFF2-40B4-BE49-F238E27FC236}">
                <a16:creationId xmlns:a16="http://schemas.microsoft.com/office/drawing/2014/main" id="{643DCC27-ABDA-24AC-98A5-A793CC17F949}"/>
              </a:ext>
            </a:extLst>
          </p:cNvPr>
          <p:cNvCxnSpPr>
            <a:cxnSpLocks/>
          </p:cNvCxnSpPr>
          <p:nvPr/>
        </p:nvCxnSpPr>
        <p:spPr>
          <a:xfrm>
            <a:off x="5590762" y="1764543"/>
            <a:ext cx="0" cy="4179057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B1A2FFA3-AE10-BF56-E55F-8018EA1DA0E5}"/>
              </a:ext>
            </a:extLst>
          </p:cNvPr>
          <p:cNvCxnSpPr>
            <a:cxnSpLocks/>
          </p:cNvCxnSpPr>
          <p:nvPr/>
        </p:nvCxnSpPr>
        <p:spPr>
          <a:xfrm>
            <a:off x="5590762" y="3660685"/>
            <a:ext cx="465021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32843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2EFCC-47DC-1162-54F2-1B8DF6575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96BC2B-5C4B-CD38-A1A5-363F4108D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BACKUP SLIDES: ANGLE SELECTION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14AF170-F176-9150-4073-0566855964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49DEB46-A533-2AC7-392E-2F4478CBB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227A459-8A5B-60AF-EF50-B54953049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27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57D3CE6C-5AA2-896F-F7AB-61E7C827AFDC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BF332A9-23E4-43A9-2288-004948EB3BD1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437B5CC6-6908-1CBA-19DF-AD28984B32C2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DC84D201-A301-E833-2DD3-94A7118EF9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91809" y="1222745"/>
            <a:ext cx="7826453" cy="52537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284AF226-3491-ED5E-32BB-BC47BA62E462}"/>
                  </a:ext>
                </a:extLst>
              </p:cNvPr>
              <p:cNvSpPr txBox="1"/>
              <p:nvPr/>
            </p:nvSpPr>
            <p:spPr>
              <a:xfrm>
                <a:off x="696000" y="2269944"/>
                <a:ext cx="2601609" cy="32969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2000" dirty="0"/>
                  <a:t>For </a:t>
                </a:r>
                <a:r>
                  <a:rPr lang="it-IT" sz="2000" dirty="0" err="1"/>
                  <a:t>each</a:t>
                </a:r>
                <a:r>
                  <a:rPr lang="it-IT" sz="2000" dirty="0"/>
                  <a:t> </a:t>
                </a:r>
                <a:r>
                  <a:rPr lang="it-IT" sz="2000" dirty="0" err="1"/>
                  <a:t>square</a:t>
                </a:r>
                <a:r>
                  <a:rPr lang="it-IT" sz="2000" dirty="0"/>
                  <a:t> bin:</a:t>
                </a:r>
              </a:p>
              <a:p>
                <a:endParaRPr lang="it-IT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IT" sz="2000" dirty="0"/>
                  <a:t>variation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it-IT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IT" sz="2000" dirty="0" err="1"/>
                  <a:t>select</a:t>
                </a:r>
                <a:r>
                  <a:rPr lang="it-IT" sz="2000" dirty="0"/>
                  <a:t> </a:t>
                </a:r>
                <a:r>
                  <a:rPr lang="it-IT" sz="2000" dirty="0" err="1"/>
                  <a:t>particles</a:t>
                </a:r>
                <a:r>
                  <a:rPr lang="it-IT" sz="20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it-IT" sz="2000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it-IT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it-IT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it-IT" sz="2000" i="1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endParaRPr lang="it-IT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IT" sz="2000" dirty="0"/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𝑐h</m:t>
                        </m:r>
                      </m:sub>
                    </m:sSub>
                  </m:oMath>
                </a14:m>
                <a:endParaRPr lang="it-IT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it-IT" sz="2000" dirty="0"/>
                  <a:t>select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sz="2000" dirty="0"/>
                  <a:t> that </a:t>
                </a:r>
                <a:r>
                  <a:rPr lang="it-IT" sz="2000" dirty="0" err="1"/>
                  <a:t>maximizes</a:t>
                </a:r>
                <a:r>
                  <a:rPr lang="it-IT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𝑐h</m:t>
                        </m:r>
                      </m:sub>
                    </m:sSub>
                  </m:oMath>
                </a14:m>
                <a:r>
                  <a:rPr lang="it-IT" sz="2000" dirty="0"/>
                  <a:t> (through </a:t>
                </a:r>
                <a:r>
                  <a:rPr lang="it-IT" sz="2000" dirty="0" err="1"/>
                  <a:t>gaussian</a:t>
                </a:r>
                <a:r>
                  <a:rPr lang="it-IT" sz="2000" dirty="0"/>
                  <a:t> </a:t>
                </a:r>
                <a:r>
                  <a:rPr lang="it-IT" sz="2000" dirty="0" err="1"/>
                  <a:t>fit</a:t>
                </a:r>
                <a:r>
                  <a:rPr lang="it-IT" sz="2000" dirty="0"/>
                  <a:t>)</a:t>
                </a:r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284AF226-3491-ED5E-32BB-BC47BA62E4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00" y="2269944"/>
                <a:ext cx="2601609" cy="3296928"/>
              </a:xfrm>
              <a:prstGeom prst="rect">
                <a:avLst/>
              </a:prstGeom>
              <a:blipFill>
                <a:blip r:embed="rId3"/>
                <a:stretch>
                  <a:fillRect l="-2342" t="-924" b="-240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ttangolo 2">
            <a:extLst>
              <a:ext uri="{FF2B5EF4-FFF2-40B4-BE49-F238E27FC236}">
                <a16:creationId xmlns:a16="http://schemas.microsoft.com/office/drawing/2014/main" id="{125C8486-5386-1A71-D52D-81CFE52FC7BC}"/>
              </a:ext>
            </a:extLst>
          </p:cNvPr>
          <p:cNvSpPr/>
          <p:nvPr/>
        </p:nvSpPr>
        <p:spPr>
          <a:xfrm>
            <a:off x="7708477" y="1774499"/>
            <a:ext cx="2814320" cy="12293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20700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47CD9-9B46-75B5-98FC-4741511B8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F2EC4C-C175-8469-9876-DC6FE74EC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BACKUP SLIDES: TORSION FIT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9214BAE-EEDC-8210-8550-44C6BB969E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05B57DB-25E8-F6FC-7054-82768A960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36298A0-CBCB-D3B7-B119-DAC2939E1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28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C5BF20B3-79F2-AE6F-29E8-77BA43A3E80C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DC5DF32F-680C-15DC-0F15-FAACF6D85031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DC0AA42-0B63-417E-776A-C75234B5BB86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80EEC406-2634-D2D7-4C73-AF8B01A7272E}"/>
              </a:ext>
            </a:extLst>
          </p:cNvPr>
          <p:cNvSpPr/>
          <p:nvPr/>
        </p:nvSpPr>
        <p:spPr>
          <a:xfrm>
            <a:off x="7708477" y="1774499"/>
            <a:ext cx="2814320" cy="12293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6577974F-522E-8494-1BB7-3C97ECD7F6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692" y="1814690"/>
            <a:ext cx="5576816" cy="4166724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85DEA55C-6BBD-BEDC-E7D4-9B39969B36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6133" y="1777573"/>
            <a:ext cx="5577573" cy="4163316"/>
          </a:xfrm>
          <a:prstGeom prst="rect">
            <a:avLst/>
          </a:prstGeom>
        </p:spPr>
      </p:pic>
      <p:sp>
        <p:nvSpPr>
          <p:cNvPr id="11" name="Rettangolo 10">
            <a:extLst>
              <a:ext uri="{FF2B5EF4-FFF2-40B4-BE49-F238E27FC236}">
                <a16:creationId xmlns:a16="http://schemas.microsoft.com/office/drawing/2014/main" id="{CFC836DD-22A0-6D56-43BC-6EB9C2821EB2}"/>
              </a:ext>
            </a:extLst>
          </p:cNvPr>
          <p:cNvSpPr/>
          <p:nvPr/>
        </p:nvSpPr>
        <p:spPr>
          <a:xfrm>
            <a:off x="3344612" y="1513249"/>
            <a:ext cx="3097369" cy="6028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998178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E96DB-8D5D-03C7-3FA3-2580E7433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B6C1CD1E-43F2-2E63-AEC6-105AF05F8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288"/>
            <a:ext cx="10515600" cy="47762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 dirty="0"/>
              <a:t>Crystal </a:t>
            </a:r>
            <a:r>
              <a:rPr lang="it-IT" sz="2400" dirty="0" err="1"/>
              <a:t>efficiency</a:t>
            </a:r>
            <a:r>
              <a:rPr lang="it-IT" sz="2400" dirty="0"/>
              <a:t> </a:t>
            </a:r>
            <a:r>
              <a:rPr lang="it-IT" sz="2400" dirty="0" err="1"/>
              <a:t>as</a:t>
            </a:r>
            <a:r>
              <a:rPr lang="it-IT" sz="2400" dirty="0"/>
              <a:t> a function of the incoming angle, after </a:t>
            </a:r>
            <a:r>
              <a:rPr lang="it-IT" sz="2400" dirty="0" err="1"/>
              <a:t>application</a:t>
            </a:r>
            <a:r>
              <a:rPr lang="it-IT" sz="2400" dirty="0"/>
              <a:t> of the </a:t>
            </a:r>
            <a:r>
              <a:rPr lang="it-IT" sz="2400" dirty="0" err="1"/>
              <a:t>torsion</a:t>
            </a:r>
            <a:r>
              <a:rPr lang="it-IT" sz="2400" dirty="0"/>
              <a:t> </a:t>
            </a:r>
            <a:r>
              <a:rPr lang="it-IT" sz="2400" dirty="0" err="1"/>
              <a:t>correction</a:t>
            </a:r>
            <a:r>
              <a:rPr lang="it-IT" sz="2400" dirty="0"/>
              <a:t>. The </a:t>
            </a:r>
            <a:r>
              <a:rPr lang="it-IT" sz="2400" dirty="0" err="1"/>
              <a:t>value</a:t>
            </a:r>
            <a:r>
              <a:rPr lang="it-IT" sz="2400" dirty="0"/>
              <a:t> of the </a:t>
            </a:r>
            <a:r>
              <a:rPr lang="it-IT" sz="2400" dirty="0" err="1"/>
              <a:t>peak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the </a:t>
            </a:r>
            <a:r>
              <a:rPr lang="it-IT" sz="2400" dirty="0" err="1"/>
              <a:t>efficiency</a:t>
            </a:r>
            <a:r>
              <a:rPr lang="it-IT" sz="2400" dirty="0"/>
              <a:t> of the </a:t>
            </a:r>
            <a:r>
              <a:rPr lang="it-IT" sz="2400" dirty="0" err="1"/>
              <a:t>crystal</a:t>
            </a:r>
            <a:r>
              <a:rPr lang="it-IT" sz="2400" dirty="0"/>
              <a:t> </a:t>
            </a:r>
            <a:r>
              <a:rPr lang="it-IT" sz="2400" dirty="0" err="1"/>
              <a:t>when</a:t>
            </a:r>
            <a:r>
              <a:rPr lang="it-IT" sz="2400" dirty="0"/>
              <a:t> it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perfectly</a:t>
            </a:r>
            <a:r>
              <a:rPr lang="it-IT" sz="2400" dirty="0"/>
              <a:t> </a:t>
            </a:r>
            <a:r>
              <a:rPr lang="it-IT" sz="2400" dirty="0" err="1"/>
              <a:t>aligned</a:t>
            </a:r>
            <a:r>
              <a:rPr lang="it-IT" sz="2400" dirty="0"/>
              <a:t> to the </a:t>
            </a:r>
            <a:r>
              <a:rPr lang="it-IT" sz="2400" dirty="0" err="1"/>
              <a:t>beam</a:t>
            </a:r>
            <a:r>
              <a:rPr lang="it-IT" sz="2400" dirty="0"/>
              <a:t>.</a:t>
            </a: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441F033-41FF-9EC2-CD18-6C1065E72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69651"/>
            <a:ext cx="12114000" cy="1153094"/>
          </a:xfrm>
          <a:prstGeom prst="roundRect">
            <a:avLst>
              <a:gd name="adj" fmla="val 36459"/>
            </a:avLst>
          </a:prstGeom>
          <a:noFill/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002060"/>
                </a:solidFill>
              </a:rPr>
              <a:t>	BACKUP SLIDES: EFFICIENCY CURVE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005E3A4-151D-9A1F-8186-E743AE292F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July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0ABE22A-648C-CB6A-CB96-BA0870020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356349"/>
            <a:ext cx="12192000" cy="432000"/>
          </a:xfrm>
        </p:spPr>
        <p:txBody>
          <a:bodyPr/>
          <a:lstStyle/>
          <a:p>
            <a:r>
              <a:rPr lang="it-IT" sz="1500" b="1" dirty="0">
                <a:solidFill>
                  <a:srgbClr val="002060"/>
                </a:solidFill>
              </a:rPr>
              <a:t>Anna Sofia Moro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6ED4E80-CE57-A7C6-53FF-A878B0C1F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432000"/>
          </a:xfrm>
        </p:spPr>
        <p:txBody>
          <a:bodyPr/>
          <a:lstStyle/>
          <a:p>
            <a:fld id="{0A318BD9-CA14-4A83-ACF0-03D5918EB402}" type="slidenum">
              <a:rPr lang="it-IT" sz="1500" b="1" smtClean="0">
                <a:solidFill>
                  <a:srgbClr val="002060"/>
                </a:solidFill>
              </a:rPr>
              <a:t>29</a:t>
            </a:fld>
            <a:endParaRPr lang="it-IT" sz="1500" b="1" dirty="0">
              <a:solidFill>
                <a:srgbClr val="002060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A2604C5D-7C9A-C092-C1C1-6CF4E44DA8A3}"/>
              </a:ext>
            </a:extLst>
          </p:cNvPr>
          <p:cNvCxnSpPr>
            <a:cxnSpLocks/>
          </p:cNvCxnSpPr>
          <p:nvPr/>
        </p:nvCxnSpPr>
        <p:spPr>
          <a:xfrm>
            <a:off x="696000" y="1155368"/>
            <a:ext cx="108000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5503126-5228-0AF4-215B-A7729A20AE8B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062E0088-D7C6-1059-05D7-BD2076C40D27}"/>
              </a:ext>
            </a:extLst>
          </p:cNvPr>
          <p:cNvSpPr txBox="1"/>
          <p:nvPr/>
        </p:nvSpPr>
        <p:spPr>
          <a:xfrm>
            <a:off x="3048886" y="32443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013A8E72-F1F7-0929-4122-8EF64E4A45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31"/>
          <a:stretch>
            <a:fillRect/>
          </a:stretch>
        </p:blipFill>
        <p:spPr>
          <a:xfrm>
            <a:off x="2992774" y="2452841"/>
            <a:ext cx="6204651" cy="4047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4949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3687</TotalTime>
  <Words>2035</Words>
  <Application>Microsoft Office PowerPoint</Application>
  <PresentationFormat>Widescreen</PresentationFormat>
  <Paragraphs>360</Paragraphs>
  <Slides>29</Slides>
  <Notes>18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29</vt:i4>
      </vt:variant>
    </vt:vector>
  </HeadingPairs>
  <TitlesOfParts>
    <vt:vector size="34" baseType="lpstr">
      <vt:lpstr>Aptos</vt:lpstr>
      <vt:lpstr>Aptos Display</vt:lpstr>
      <vt:lpstr>Arial</vt:lpstr>
      <vt:lpstr>Cambria Math</vt:lpstr>
      <vt:lpstr>Tema di Office</vt:lpstr>
      <vt:lpstr>Presentazione standard di PowerPoint</vt:lpstr>
      <vt:lpstr> 1. DATA ANALYZED</vt:lpstr>
      <vt:lpstr> 1. SCHEMATIC LAYOUT</vt:lpstr>
      <vt:lpstr> 2. PREVIOUS ANALYSIS</vt:lpstr>
      <vt:lpstr> 2. PREVIOUS ANALYSIS: ALIGNMENT</vt:lpstr>
      <vt:lpstr> BACKUP SLIDES: ALIGNMENT</vt:lpstr>
      <vt:lpstr> 2. PREVIOUS ANALYSIS: CRYSTAL EDGES</vt:lpstr>
      <vt:lpstr> 2. PREVIOUS ANALYSIS: CRYSTAL EDGES</vt:lpstr>
      <vt:lpstr> 2. PREVIOUS ANALYSIS: CRYSTAL EDGES</vt:lpstr>
      <vt:lpstr> 2. PREVIOUS ANALYSIS: CRYSTAL EDGES</vt:lpstr>
      <vt:lpstr> 3. ANALYSIS: TORSION EFFECT</vt:lpstr>
      <vt:lpstr> 3. ANALYSIS: TORSION EFFECT</vt:lpstr>
      <vt:lpstr> 3. ANALYSIS: TORSION EFFECT</vt:lpstr>
      <vt:lpstr> 3. ANALYSIS: TORSION FIT</vt:lpstr>
      <vt:lpstr> 3. ANALYSIS: TORSION EFFECT</vt:lpstr>
      <vt:lpstr> 3. ANALYSIS</vt:lpstr>
      <vt:lpstr> 3. ANALYSIS</vt:lpstr>
      <vt:lpstr> 4. RESULTS</vt:lpstr>
      <vt:lpstr> 4. RESULTS</vt:lpstr>
      <vt:lpstr> 4. COMBINED RESULTS</vt:lpstr>
      <vt:lpstr> 4. FINAL RESULTS</vt:lpstr>
      <vt:lpstr> 4. NEXT STEPS</vt:lpstr>
      <vt:lpstr> BACKUP SLIDES</vt:lpstr>
      <vt:lpstr> BACKUP SLIDES: SCHEMATIC LAYOUT</vt:lpstr>
      <vt:lpstr> BACKUP SLIDES: SPATIAL CUT</vt:lpstr>
      <vt:lpstr> BACKUP SLIDES: ANGLE SELECTION</vt:lpstr>
      <vt:lpstr> BACKUP SLIDES: ANGLE SELECTION</vt:lpstr>
      <vt:lpstr> BACKUP SLIDES: TORSION FIT</vt:lpstr>
      <vt:lpstr> BACKUP SLIDES: EFFICIENCY CURVE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 Sofia Moro</dc:creator>
  <cp:lastModifiedBy>Anna Sofia Moro</cp:lastModifiedBy>
  <cp:revision>37</cp:revision>
  <dcterms:created xsi:type="dcterms:W3CDTF">2026-07-09T15:21:04Z</dcterms:created>
  <dcterms:modified xsi:type="dcterms:W3CDTF">2026-07-28T14:23:02Z</dcterms:modified>
</cp:coreProperties>
</file>